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6c4895e-4332-7962-5489-574f29fff0e3}">
          <p14:sldIdLst>
            <p14:sldId id="256"/>
            <p14:sldId id="257"/>
            <p14:sldId id="258"/>
            <p14:sldId id="259"/>
            <p14:sldId id="260"/>
          </p14:sldIdLst>
        </p14:section>
        <p14:section name="Your team" id="{5ac08c9b-8d99-0e9c-2bad-5329fce54dd3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pprovals" id="{c1d73d1e-fa50-ae56-407c-7fb1645baa36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Team attendance and leave" id="{e6cad998-df56-3d71-a8fe-023ee608cb4a}">
          <p14:sldIdLst>
            <p14:sldId id="275"/>
            <p14:sldId id="276"/>
            <p14:sldId id="277"/>
            <p14:sldId id="278"/>
          </p14:sldIdLst>
        </p14:section>
        <p14:section name="Goals and performance" id="{4e437cf3-03bd-bd2c-4e78-5abe2bfca9e1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Development and support" id="{1d25faf5-0717-db45-9cb0-7974a79fe2d5}">
          <p14:sldIdLst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Summary" id="{c0b41314-8dfb-d938-13c0-7604e26c5454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Managers make most of the day-to-day decisions in PeopleOS. This session shows where they appear, what context you get, and where your access stops.
EVIDENCE: Captured on the training database on 21 Oct 2026 as Amit Verma, fictional manager of the Platform team at the fictional Demo Group (tools/capture/40-manager.mjs, 10-leave-flow.mjs, 20-attendance-flow.mjs).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trained on the real PeopleOS screens, not mock-ups. The practice database contains invented people only.
AVOID: promising dates for general availability or payroll. The release gate is NO-GO (docs/saas/SaaS-Final-Release-Gate.md (decision NO-GO, re-verified 13 October 2026 at 7314f7d)).
ASK: "Who has used an HR self-service portal before?"
SAY: Where PeopleOS stands today. This training uses the real application on a practice database with invented people. PeopleOS is not yet generally available.
- What works today: The screens in this deck were run end to end on the practice database: you will see exactly what you will use.
- Payroll is not live yet: Payslips appear only after a payroll run is finalised. Finalising is blocked until statutory rules are verified (0 of 24 today).
- Known issues are named: Where something does not work as it should, the slide says so and shows the workaround.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do:
1. See your team at a glance: Home lenses, My team, Directory
2. Read a team member's record: and know what is not shown to managers
3. Decide leave and attendance: with reason, overlap and balance
4. Support goals and reviews: check-ins, one-on-ones, feedback, appraisals
5. Develop your team: learning, career, HR requests, onboarding tasks
6. Use team insights: within your scope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architecture contract §6 relationship scope; captures 40-team-05, 40-team-07, 40-team-09. Amit's Platform-team scope is a team dimension assigned by the administrator.
SAY: Your reach as a manager.
- Who you see: Yourself and everyone who reports to you today (any reporting type), plus any team scope your administrator gave you.
- What you see: Timeline, employment, time, growth and personal details your role allows. Pay (Rewards) and Operations are not shown to managers.
- What you cannot do: Edit employee records, hire, change pay or open people outside your reach. Ask HR.
- Broader visibility: Only if your administrator adds organisation scope or HR permissions to your account.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Your team. Home, My team, the Directory and the employee register.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View as chips switch Home between For you and Your team. Your team shows who is in today, on leave, approvals pending and who needs attention.
ON SCREEN: Choose View as › Your team.
WALK THROUGH: (1) Team pulse.
LEARNERS SHOULD SEE: Team in today, on leave, approvals pending, need attention; team actions
SCREEN: Home › View as: Your team. Signed in as Amit Verma (Manager + Employee). 
EVIDENCE: screenshot screenshots/manager/40-team-02-home-team-lens.png,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Direct reports with today's status and what needs attention.
ON SCREEN: Open People › My team.
WALK THROUGH: (1) Team career. (2) Team learning.
LEARNERS SHOULD SEE: Direct reports with status today and what needs attention; Team career and Team learning tabs
SCREEN: People › My team. Signed in as Amit Verma (Manager + Employee). 
EVIDENCE: screenshot screenshots/manager/40-team-03-my-team.png,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Directory and register.
LEFT, Directory: Only the people you may see: your team and your own line.
RIGHT, Employees register: Seven people in scope, View only: no Edit, no Hire employee.
OBSERVE: point out what differs between the two screens.
EVIDENCE: left = manager/40-team-04-directory [Amit Verma (Manager + Employee), People › Directory (manager scope)]; right = manager/40-team-05-employee-register [Amit Verma (Manager + Employee), People › Lifecycle › Employees (manager)].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Status, probation end, what is next and recent changes.
ON SCREEN: Open a direct report from My team or the Directory.
WALK THROUGH: (1) Message. (2) Views.
LEARNERS SHOULD SEE: Status, probation end, what is next, recent changes; Message
SCREEN: Employee 360 › Now (Priya Nair, as her manager). Signed in as Amit Verma (Manager + Employee). 
EVIDENCE: screenshot screenshots/manager/40-team-06-member-360.png,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ISSUE: Records › Employment may show a server error when its lower tables load (new finding, 21 Oct 2026). Use Timeline for history.
SAY: What a manager sees in Records.
LEFT, Record tabs: Timeline, Employment, Time, Growth, Personal. Rewards and Operations are not offered.
RIGHT, Personal: Personal details a manager may see; HR additionally sees bank and identity details.
OBSERVE: point out what differs between the two screens.
EVIDENCE: left = manager/40-team-07-member-records [Amit Verma (Manager + Employee), Employee 360 › Records (as manager)]; right = manager/40-team-08-member-personal [Amit Verma (Manager + Employee), Employee 360 › Records › Personal (as manager)].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"We could not find that" (404): records outside your reach are not revealed, not even that they exist.
ON SCREEN: Open the address of an employee outside the manager’s scope (Neha Kapoor, HR).
WALK THROUGH: (1) Not found.
LEARNERS SHOULD SEE: HTTP 404 "We could not find that": records outside the scope are not revealed
SCREEN: Employee 360 of someone outside the team. Signed in as Amit Verma (Manager + Employee). 
EVIDENCE: screenshot screenshots/manager/40-team-09-outside-team.png,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Approvals. Leave and attendance decisions with the context you need.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Approve or reject your team's leave with the context you need: reason, overlap with others, and the balance after.
WHO: Line managers (any reporting type effective today).
WHERE: My work › Approvals (the Approval Center). Home shows how many decisions wait.
BEFORE YOU START: Nothing to configure. E-mail notices depend on notification rules set by HR.
SEQUENCE: START My work › Approvals → REVIEW Decision card → DECIDE Approve or Reject → CONFIRM Note or reason → RESULT Requester sees status
EVIDENCE: Executed on the training database on 21 Oct 2026 (tools/capture/10-leave-flow.mjs): Priya Nair (Employee) requested Casual leave 14–15 Dec 2026; Amit Verma (Manager) approved it; Amit rejected Rohan Pillai's request with a reason.
SAY: One place for every decision: leave, cancellations, attendance corrections, letters, workflow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Urgent means overdue, starting within a day, or flagged.
OBSERVE: 7 decisions at the time of capture.
AVOID: using A or R without reading the card: they only open the confirm box; nothing is decided without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Leave cannot be "sent back" for changes. If you need more information, ask the employee first, or reject with a reason they will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Nothing is decided until you confirm. Esc cancels.
ON SCREEN: Approve opens a confirmation with an optional note.
WALK THROUGH: (1) Write an optional note. (2) Select Confirm: Approve.
LEARNERS SHOULD SEE: Nothing is decided until Confirm
SCREEN: Approval Center › Approve. Signed in as Amit Verma (Manager + Employee). 
EVIDENCE: screenshot screenshots/manager/10-leave-09-approve-confirm.png,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 (tools/capture/10-leave-flow.mjs): Priya Nair (Employee) requested Casual leave 14–15 Dec 2026; Amit Verma (Manager) approved it; Amit rejected Rohan Pillai's request with a reason.
SAY: Write the reason for the employee, not for HR: what should they do next?
SAY: Rejecting needs a reason the employee will see.
LEFT, Reason missing: Confirm: Reject without a reason is stopped: "Please fill out this field."
RIGHT, Rejected with a reason: "Leave rejected." The item leaves your queue; the employee sees your reason.
OBSERVE: point out what differs between the two screens.
EVIDENCE: left = manager/10-leave-11-reject-reason-required [Amit Verma (Manager + Employee), Approval Center › Reject]; right = manager/10-leave-12-rejected [Amit Verma (Manager + Employee), Approval Center (after rejecting)].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AVOID: telling the requester "you have been notified": notification depends on rules configured by HR (finding F6).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Team attendance and leave. Corrections, exceptions and who is away.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Executed on the training database on 21 Oct 2026 (tools/capture/20-attendance-flow.mjs): Priya checked in, corrected a missed punch for 20 Oct, Amit approved it, Kavya Menon (Tenant HR Admin) recorded a manual punch and processed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Use the Exception centre weekly to spot missing punches before payroll cut-off.
SAY: Your team's corrections and exceptions.
LEFT, Regularisations (team): Filter by status; pending ones can be decided here or in the Approval Center.
RIGHT, Exception centre: Missing punch, late, absent and overtime counts for the last 30 days.
OBSERVE: point out what differs between the two screens.
EVIDENCE: left = manager/20-att-08-team-regularisations [Amit Verma (Manager + Employee), Regularisations (team)]; right = manager/20-att-09-exception-centre [Amit Verma (Manager + Employee), Exception centre].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Who is away and when, approved and pending (this month to the end of next; the rows here are pending). Reasons are never shown here.
ON SCREEN: Open the Leave calendar.
WALK THROUGH: (1) Team leave.
LEARNERS SHOULD SEE: Who in the team is away and when (approved and pending); reasons are never shown here
SCREEN: People › Time &amp; leave › Leave calendar. Signed in as Amit Verma (Manager + Employee). 
EVIDENCE: screenshot screenshots/manager/40-team-10-leave-calendar.png,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Goals and performance. Goals, reviews, one-on-ones and feedback.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Progress linked to the department goal (Priya's goal at 70% after her check-in).
ON SCREEN: Open Goals.
WALK THROUGH: (1) A team member's goal.
LEARNERS SHOULD SEE: The team’s goals and their progress, linked to the department goal
SCREEN: People › Growth › Goals (manager). Signed in as Amit Verma (Manager + Employee). 
EVIDENCE: screenshot screenshots/manager/40-team-11-team-goals.png,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manager review opens once the self review is in and HR opens the stage.
ON SCREEN: Open Appraisals.
WALK THROUGH: (1) Priya's appraisal.
LEARNERS SHOULD SEE: Team appraisals with their stage; the manager review opens once the self review is in
SCREEN: People › Growth › Appraisals (manager). Signed in as Amit Verma (Manager + Employee). 
EVIDENCE: screenshot screenshots/manager/40-team-12-team-appraisals.png,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Self review submitted; Manager review and Add reviewer (peer) are available
ON SCREEN: Open the team member’s appraisal after the self review is submitted.
WALK THROUGH: (1) Manager review. (2) Add reviewer (peer). (3) Self review (submitted).
LEARNERS SHOULD SEE: Self review submitted; Manager review and Add reviewer (peer) are available
SCREEN: Appraisals › Priya Nair (as manager). Signed in as Amit Verma (Manager + Employee). 
EVIDENCE: screenshot screenshots/manager/40-team-23-appraisal-manager-view.png,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Manager review: wait for the stage.
LEFT, Manager review form: Goals, overall rating, comments. The button is offered before the stage opens.
RIGHT, Refused: "Not allowed: The Manager review stage has not opened yet." HR must advance the cycle; stages do not advance by date (F21).
OBSERVE: point out what differs between the two screens.
EVIDENCE: left = manager/40-team-24-manager-review-form [Amit Verma (Manager + Employee), Appraisal › Manager review (dialog)]; right = manager/40-team-25-manager-review-stage-closed [Amit Verma (Manager + Employee), Appraisal (manager review refused)].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One-on-ones.
LEFT, Schedule: When and agenda; notes and action items are added on the meeting.
RIGHT, Scheduled: "Created": 28 Oct, 15:00, with Priya.
OBSERVE: point out what differs between the two screens.
EVIDENCE: left = manager/40-team-13-schedule-one-on-one [Amit Verma (Manager + Employee), One-on-ones › Schedule (dialog)]; right = manager/40-team-14-one-on-one-scheduled [Amit Verma (Manager + Employee), People › Growth › One-on-ones].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Give feedback.
LEFT, Give feedback: Type, visibility, message.
RIGHT, Shared: "Feedback shared"; Priya is notified.
OBSERVE: point out what differs between the two screens.
EVIDENCE: left = manager/40-team-15-give-feedback [Amit Verma (Manager + Employee), Feedback › Give feedback (dialog)]; right = manager/40-team-16-feedback-given [Amit Verma (Manager + Employee), People › Growth › Feedback].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Development and support. Learning, career, HR requests, onboarding tasks and insights.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Team learning and career.
LEFT, Team learning: Status, requests to decide, skill gaps; Assign learning.
RIGHT, Team career: What each person chose to share about aspirations.
OBSERVE: point out what differs between the two screens.
EVIDENCE: left = manager/40-team-17-team-learning [Amit Verma (Manager + Employee), People › My team › Team learning]; right = manager/40-team-18-team-career [Amit Verma (Manager + Employee), People › My team › Team career].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HR requests and tasks.
LEFT, Team HR requests: Empty at capture although Priya had an open request; which requests appear here was not verified. Confidential cases are never shown.
RIGHT, Onboarding tasks: Tasks for a new joiner in your team (Tanvi Joshi), with Done (and Skip where allowed).
OBSERVE: point out what differs between the two screens.
EVIDENCE: left = manager/40-team-19-team-hr-requests [Amit Verma (Manager + Employee), My work › Team HR requests]; right = manager/40-team-26-onboarding-tasks [Amit Verma (Manager + Employee), My work › Task inbox › Onboarding tasks].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Team insights and notifications.
LEFT, People analytics: Attendance and leave for people in your scope only; small groups hidden.
RIGHT, Notifications: Approvals and team updates, grouped.
OBSERVE: point out what differs between the two screens.
EVIDENCE: left = manager/40-team-22-people-analytics [Amit Verma (Manager + Employee), Insights › People analytics (manager scope)]; right = manager/40-team-21-notifications [Amit Verma (Manager + Employee), My work › Notifications (manager)].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Common mistakes.
- Approving without reading: A and R only open the confirm box. Read reason, overlap and balance first.
- Vague rejection reasons: The employee sees your reason. Say what to do next.
- Expecting to edit records: Managers view; HR edits. Raise team requests from My work › Team HR requests.
- Missing a request: If a request goes elsewhere, the reporting line may be wrong: ask HR to check it.
- Manager review refused: The stage is not open yet; HR advances the cycle.
- Sharing screenshots: Do not share team members' personal details outside PeopleOS.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give learners about 10 minutes in a practice tenant (never a live one). Walk around and help.
SUCCESS: each learner can show the result on screen.
ANSWERS: (1) Top of Urgent; the card says why (starts within a day or overdue). (2) "Please fill out this field."; with a reason, "Leave rejected". (3) "We could not find that". (4) People › Growth › One-on-ones ›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Answer key. 
- 1 | The first item under Urgent; its card explains why (overdue, starting within a day, or flagged).
- 2 | The browser stops it ("Please fill out this field."). With a reason, "Leave rejected" and the employee sees your reason.
- 3 | "We could not find that" (404): records outside your reach are not revealed.
- 4 | People › Growth › One-on-ones › Schedule: date and time, agenda, Create.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Recap the key points:
- Home and My work bring decisions to you, most urgent first.
- Every decision card shows reason, overlap and balance; rejections need a reason.
- You see your reports, not their pay; outside your team returns "not found".
- Reviews follow the cycle stages HR opens.
POINT TO: Ask PeopleOS (sidebar) explains with sources; Your HR partner for access or reporting-line changes; Deck 01: what your team sees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Manager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Manager training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02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Self-Service Training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team, decide requests with context, support goals and growth, and know exactly what you can and cannot see.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Line managers and team leads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manager/40-team-01-home" descr="Screenshot: Home (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PeopleOS stands today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uses the real application on a practice database with invented people. PeopleOS is not yet generally available.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in this deck were run end to end on the practice database: you will see exactly what you will use.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2978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1578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is not live yet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51578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appear only after a payroll run is finalised. Finalising is blocked until statutory rules are verified (0 of 24 today).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97317" y="2029968"/>
            <a:ext cx="3545738" cy="4233672"/>
          </a:xfrm>
          <a:prstGeom prst="roundRect">
            <a:avLst>
              <a:gd name="adj" fmla="val 2579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5917" y="2176272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are named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25917" y="2651760"/>
            <a:ext cx="3088538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does not work as it should, the slide says so and shows the workaround.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See your team at a glance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Home lenses, My team, Directory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 a team member's 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and know what is not shown to managers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Decide leave and attendance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with reason, overlap and balance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Support goals and reviews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check-ins, one-on-ones, feedback, appraisals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Develop your team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learning, career, HR requests, onboarding tasks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3008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1" name="Callout 6"/>
          <p:cNvSpPr txBox="1"/>
          <p:nvPr/>
        </p:nvSpPr>
        <p:spPr>
          <a:xfrm>
            <a:off x="6415888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 team insights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within your scope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reach as a manager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see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Yourself and everyone who reports to you today (any reporting type), plus any team scope your administrator gave you.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0148" y="14630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8748" y="16093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38748" y="20848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employment, time, growth and personal details your role allows. Pay (Rewards) and Operations are not shown to managers.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cannot do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employee records, hire, change pay or open people outside your reach. Ask HR.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148" y="3977640"/>
            <a:ext cx="543290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8748" y="4123944"/>
            <a:ext cx="497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visibility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38748" y="4599432"/>
            <a:ext cx="49757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your administrator adds organisation scope or HR permissions to your account.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My team, the Directory and the employee register.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Home: the Your team lens</a:t>
            </a:r>
            <a:endParaRPr lang="en-US" sz="2800" dirty="0"/>
          </a:p>
        </p:txBody>
      </p:sp>
      <p:pic>
        <p:nvPicPr>
          <p:cNvPr id="5" name="Screenshot manager/40-team-02-home-team-lens" descr="Screenshot: Home › View as: Your team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245454" y="5251298"/>
            <a:ext cx="495402" cy="129235"/>
          </a:xfrm>
          <a:prstGeom prst="roundRect">
            <a:avLst>
              <a:gd name="adj" fmla="val 3537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6117438" y="495869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pulse.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View as chips switch Home between For you and Your team. Your team shows who is in today, on leave, approvals pending and who needs attention.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Home › View as: Your 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team</a:t>
            </a:r>
            <a:endParaRPr lang="en-US" sz="2800" dirty="0"/>
          </a:p>
        </p:txBody>
      </p:sp>
      <p:pic>
        <p:nvPicPr>
          <p:cNvPr id="5" name="Screenshot manager/40-team-03-my-team" descr="Screenshot: People › My team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3323302" y="1815795"/>
            <a:ext cx="588738" cy="222572"/>
          </a:xfrm>
          <a:prstGeom prst="roundRect">
            <a:avLst>
              <a:gd name="adj" fmla="val 2054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3876142" y="1815795"/>
            <a:ext cx="653356" cy="222572"/>
          </a:xfrm>
          <a:prstGeom prst="roundRect">
            <a:avLst>
              <a:gd name="adj" fmla="val 20542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3195286" y="152318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3748126" y="152318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career.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learning.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Direct reports with today's status and what needs attention.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People › My 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 and register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Directory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04-directory" descr="Screenshot: People › Directory (manager scope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people you may see: your team and your own line.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Directory (manager scope)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Employees register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05-employee-register" descr="Screenshot: People › Lifecycle › Employees (manager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people in scope, View only: no Edit, no Hire employee.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Lifecycle › Employees (manager)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member's record</a:t>
            </a:r>
            <a:endParaRPr lang="en-US" sz="2800" dirty="0"/>
          </a:p>
        </p:txBody>
      </p:sp>
      <p:pic>
        <p:nvPicPr>
          <p:cNvPr id="5" name="Screenshot manager/40-team-06-member-360" descr="Screenshot: Employee 360 › Now (Priya Nair, as her 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7548575" y="1977339"/>
            <a:ext cx="635406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418656" y="2881986"/>
            <a:ext cx="441554" cy="287189"/>
          </a:xfrm>
          <a:prstGeom prst="roundRect">
            <a:avLst>
              <a:gd name="adj" fmla="val 1592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7420559" y="168473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290640" y="258937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Views.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Status, probation end, what is next and recent changes.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Employee 360 › Now (Priya Nair, as her 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manager sees in Records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Record tabs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07-member-records" descr="Screenshot: Employee 360 › Records (as 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Employment, Time, Growth, Personal. Rewards and Operations are not offered.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Employee 360 › Records (as manager)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Personal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08-member-personal" descr="Screenshot: Employee 360 › Records › Personal (as manager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a manager may see; HR additionally sees bank and identity details.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Employee 360 › Records › Personal (as 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YOUR TEAM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outside your team</a:t>
            </a:r>
            <a:endParaRPr lang="en-US" sz="2800" dirty="0"/>
          </a:p>
        </p:txBody>
      </p:sp>
      <p:pic>
        <p:nvPicPr>
          <p:cNvPr id="5" name="Screenshot manager/40-team-09-outside-team" descr="Screenshot: Employee 360 of someone outside the team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found.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"We could not find that" (404): records outside your reach are not revealed, not even that they exist.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Amit Verma (Manager + Employee) · Employee 360 of someone outside the 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and attendance decisions with the context you need.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leave requests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or reject your team's leave with the context you need: reason, overlap with others, and the balance after.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managers (any reporting type effective today).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07738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36338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36338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› Approvals (the Approval Center). Home shows how many decisions wait.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66837" y="2788920"/>
            <a:ext cx="3576218" cy="1600200"/>
          </a:xfrm>
          <a:prstGeom prst="roundRect">
            <a:avLst>
              <a:gd name="adj" fmla="val 571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5437" y="29260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95437" y="324612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configure. E-mail notices depend on notification rules set by HR.</a:t>
            </a:r>
            <a:endParaRPr lang="en-US" sz="1400" dirty="0"/>
          </a:p>
        </p:txBody>
      </p:sp>
      <p:sp>
        <p:nvSpPr>
          <p:cNvPr id="15" name="Status"/>
          <p:cNvSpPr txBox="1"/>
          <p:nvPr/>
        </p:nvSpPr>
        <p:spPr>
          <a:xfrm>
            <a:off x="8351215" y="1508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574BC4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4E2F7"/>
                </a:solidFill>
              </a:rPr>
              <a:t>My work › Approvals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79157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26045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17485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Decision card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5656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344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9488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DECIDE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Approve or Reject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33966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0854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72294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CONFIRM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Note or reason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411371" y="5166360"/>
            <a:ext cx="201168" cy="228600"/>
          </a:xfrm>
          <a:prstGeom prst="rightArrow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58259" y="4709160"/>
            <a:ext cx="1984797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74B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49699" y="4782312"/>
            <a:ext cx="1801917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Requester sees status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16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0A2"/>
                </a:solidFill>
              </a:rPr>
              <a:t>Conceptual diagram: sequence summary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Center</a:t>
            </a:r>
            <a:endParaRPr lang="en-US" sz="2800" dirty="0"/>
          </a:p>
        </p:txBody>
      </p:sp>
      <p:pic>
        <p:nvPicPr>
          <p:cNvPr id="5" name="Screenshot manager/10-leave-07-approval-center" descr="Screenshot: My work › Approvals (Approval Cent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22592" cy="43891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48640" y="1371600"/>
            <a:ext cx="7022592" cy="43891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1933651" y="1859280"/>
            <a:ext cx="2639974" cy="204826"/>
          </a:xfrm>
          <a:prstGeom prst="roundRect">
            <a:avLst>
              <a:gd name="adj" fmla="val 2232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1933651" y="2294941"/>
            <a:ext cx="1082650" cy="195072"/>
          </a:xfrm>
          <a:prstGeom prst="roundRect">
            <a:avLst>
              <a:gd name="adj" fmla="val 2343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622755" y="1833677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622755" y="226446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915400" y="1371600"/>
            <a:ext cx="272765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915400" y="1828800"/>
            <a:ext cx="274320" cy="27432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299448" y="1810512"/>
            <a:ext cx="2343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decisions wait</a:t>
            </a:r>
            <a:endParaRPr lang="en-US" sz="1300" dirty="0"/>
          </a:p>
        </p:txBody>
      </p:sp>
      <p:sp>
        <p:nvSpPr>
          <p:cNvPr id="14" name="Callout 2"/>
          <p:cNvSpPr txBox="1"/>
          <p:nvPr/>
        </p:nvSpPr>
        <p:spPr>
          <a:xfrm>
            <a:off x="8915400" y="2432304"/>
            <a:ext cx="274320" cy="274320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299448" y="2414016"/>
            <a:ext cx="23436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what is pending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7607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grouped Urgent, This week and Later, most urgent first; the new request is further down under Later. Keyboard: J/K move, A approve, R reject.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19963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Approvals (Approval Center)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context before you decide</a:t>
            </a:r>
            <a:endParaRPr lang="en-US" sz="2800" dirty="0"/>
          </a:p>
        </p:txBody>
      </p:sp>
      <p:pic>
        <p:nvPicPr>
          <p:cNvPr id="5" name="Screenshot manager/10-leave-08-decision-card" descr="Screenshot: Approval Center › decision card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4"/>
          <p:cNvSpPr/>
          <p:nvPr/>
        </p:nvSpPr>
        <p:spPr>
          <a:xfrm>
            <a:off x="4565396" y="4687689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5"/>
          <p:cNvSpPr/>
          <p:nvPr/>
        </p:nvSpPr>
        <p:spPr>
          <a:xfrm>
            <a:off x="5024899" y="4687689"/>
            <a:ext cx="37693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4254500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5456699" y="4667369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employee's reason.</a:t>
            </a:r>
            <a:endParaRPr lang="en-US" sz="1400" dirty="0"/>
          </a:p>
        </p:txBody>
      </p:sp>
      <p:sp>
        <p:nvSpPr>
          <p:cNvPr id="16" name="Bullet"/>
          <p:cNvSpPr/>
          <p:nvPr/>
        </p:nvSpPr>
        <p:spPr>
          <a:xfrm>
            <a:off x="8686800" y="233172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9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overlap, under the reason: "No one else in the team is away on these dates".</a:t>
            </a:r>
            <a:endParaRPr lang="en-US" sz="1400" dirty="0"/>
          </a:p>
        </p:txBody>
      </p:sp>
      <p:sp>
        <p:nvSpPr>
          <p:cNvPr id="18" name="Callout 2"/>
          <p:cNvSpPr txBox="1"/>
          <p:nvPr/>
        </p:nvSpPr>
        <p:spPr>
          <a:xfrm>
            <a:off x="8595360" y="323596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321767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Approve.</a:t>
            </a:r>
            <a:endParaRPr lang="en-US" sz="1400" dirty="0"/>
          </a:p>
        </p:txBody>
      </p:sp>
      <p:sp>
        <p:nvSpPr>
          <p:cNvPr id="20" name="Callout 3"/>
          <p:cNvSpPr txBox="1"/>
          <p:nvPr/>
        </p:nvSpPr>
        <p:spPr>
          <a:xfrm>
            <a:off x="8595360" y="3601720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35834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595360" y="4040632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2520" y="4132072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card also shows the dates and the balance before → after (Casual leave 7 → 5).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decision card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Approve: add an optional note, then Confirm</a:t>
            </a:r>
            <a:endParaRPr lang="en-US" sz="2800" dirty="0"/>
          </a:p>
        </p:txBody>
      </p:sp>
      <p:pic>
        <p:nvPicPr>
          <p:cNvPr id="5" name="Screenshot manager/10-leave-09-approve-confirm" descr="Screenshot: Approval Center › Approve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630014" y="4895901"/>
            <a:ext cx="3360115" cy="355397"/>
          </a:xfrm>
          <a:prstGeom prst="roundRect">
            <a:avLst>
              <a:gd name="adj" fmla="val 1286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630014" y="5251298"/>
            <a:ext cx="771821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4319118" y="494558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319118" y="523097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an optional note.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 Confirm: Approve.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is decided until you confirm. Esc cancels.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Approve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Rejecting needs a reason the employee will see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Reason missing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10-leave-11-reject-reason-required" descr="Screenshot: Approval Center › Reject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Reject without a reason is stopped: "Please fill out this field."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Approval Center › Reject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Rejected with a reason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10-leave-12-rejected" descr="Screenshot: Approval Center (after rejecting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rejected." The item leaves your queue; the employee sees your reason.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Approval Center (after rejecting)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APPROVALS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decision</a:t>
            </a:r>
            <a:endParaRPr lang="en-US" sz="2800" dirty="0"/>
          </a:p>
        </p:txBody>
      </p:sp>
      <p:pic>
        <p:nvPicPr>
          <p:cNvPr id="5" name="Screenshot manager/10-leave-10-approved" descr="Screenshot: Approval Center (after the decision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333858"/>
          </a:xfrm>
          <a:prstGeom prst="roundRect">
            <a:avLst>
              <a:gd name="adj" fmla="val 13694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1955800"/>
            <a:ext cx="2914972" cy="226162"/>
          </a:xfrm>
          <a:prstGeom prst="roundRect">
            <a:avLst>
              <a:gd name="adj" fmla="val 202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52085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99031" y="19408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"Leave approved" confirms the decision.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4363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418080"/>
            <a:ext cx="2636215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count of decisions waiting drops.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530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445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employee sees Approved and "Reviewed by" your name on their Leave requests.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(after the decision)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attendance and leave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Corrections, exceptions and who is away.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TEAM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an attendance correction</a:t>
            </a:r>
            <a:endParaRPr lang="en-US" sz="2800" dirty="0"/>
          </a:p>
        </p:txBody>
      </p:sp>
      <p:pic>
        <p:nvPicPr>
          <p:cNvPr id="5" name="Screenshot manager/20-att-06-correction-card" descr="Screenshot: Approval Center › attendance correction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4565396" y="3535341"/>
            <a:ext cx="3489350" cy="244111"/>
          </a:xfrm>
          <a:prstGeom prst="roundRect">
            <a:avLst>
              <a:gd name="adj" fmla="val 187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4565396" y="4655380"/>
            <a:ext cx="459503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4254500" y="3529381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254500" y="463506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reason; the Before → After box shows the requested in/out times.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65328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634996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Approve, then Confirm.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3092196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3183636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"Approved and attendance reprocessed": the day is recalculated straight away.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Approval Center › attendance correction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TEAM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team's corrections and exceptions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Regularisations (team)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20-att-08-team-regularisations" descr="Screenshot: Regularisations (team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status; pending ones can be decided here or in the Approval Center.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Regularisations (team)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Exception centre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20-att-09-exception-centre" descr="Screenshot: Exception centre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punch, late, absent and overtime counts for the last 30 days.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Exception centre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TEAM ATTENDANCE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calendar</a:t>
            </a:r>
            <a:endParaRPr lang="en-US" sz="2800" dirty="0"/>
          </a:p>
        </p:txBody>
      </p:sp>
      <p:pic>
        <p:nvPicPr>
          <p:cNvPr id="5" name="Screenshot manager/40-team-10-leave-calendar" descr="Screenshot: People › Time &amp; leave › Leave calendar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3492263"/>
            <a:ext cx="6074054" cy="373346"/>
          </a:xfrm>
          <a:prstGeom prst="roundRect">
            <a:avLst>
              <a:gd name="adj" fmla="val 1224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799031" y="355092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 leave.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Who is away and when, approved and pending (this month to the end of next; the rows here are pending). Reasons are never shown here.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People › Time &amp; leave › Leave calendar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and performance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reviews, one-on-ones and feedback.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goals</a:t>
            </a:r>
            <a:endParaRPr lang="en-US" sz="2800" dirty="0"/>
          </a:p>
        </p:txBody>
      </p:sp>
      <p:pic>
        <p:nvPicPr>
          <p:cNvPr id="5" name="Screenshot manager/40-team-11-team-goals" descr="Screenshot: People › Growth › Goals (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team member's goal.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Progress linked to the department goal (Priya's goal at 70% after her check-in).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People › Growth › Goals (manager)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appraisals</a:t>
            </a:r>
            <a:endParaRPr lang="en-US" sz="2800" dirty="0"/>
          </a:p>
        </p:txBody>
      </p:sp>
      <p:pic>
        <p:nvPicPr>
          <p:cNvPr id="5" name="Screenshot manager/40-team-12-team-appraisals" descr="Screenshot: People › Growth › Appraisals (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Priya's appraisal.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manager review opens once the self review is in and HR opens the stage.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People › Growth › Appraisals (manager)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self review</a:t>
            </a:r>
            <a:endParaRPr lang="en-US" sz="2800" dirty="0"/>
          </a:p>
        </p:txBody>
      </p:sp>
      <p:pic>
        <p:nvPicPr>
          <p:cNvPr id="5" name="Screenshot manager/40-team-23-appraisal-manager-view" descr="Screenshot: Appraisals › Priya Nair (as manag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633" y="1417320"/>
            <a:ext cx="5226135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844633" y="1417320"/>
            <a:ext cx="5226135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557397" y="2197560"/>
            <a:ext cx="730187" cy="194324"/>
          </a:xfrm>
          <a:prstGeom prst="roundRect">
            <a:avLst>
              <a:gd name="adj" fmla="val 2352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6302305" y="2197560"/>
            <a:ext cx="644802" cy="194324"/>
          </a:xfrm>
          <a:prstGeom prst="roundRect">
            <a:avLst>
              <a:gd name="adj" fmla="val 23528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box 3"/>
          <p:cNvSpPr/>
          <p:nvPr/>
        </p:nvSpPr>
        <p:spPr>
          <a:xfrm>
            <a:off x="1965349" y="5353851"/>
            <a:ext cx="4981758" cy="288542"/>
          </a:xfrm>
          <a:prstGeom prst="roundRect">
            <a:avLst>
              <a:gd name="adj" fmla="val 1584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10" name="Callout 1"/>
          <p:cNvSpPr txBox="1"/>
          <p:nvPr/>
        </p:nvSpPr>
        <p:spPr>
          <a:xfrm>
            <a:off x="5429381" y="19049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Callout 2"/>
          <p:cNvSpPr txBox="1"/>
          <p:nvPr/>
        </p:nvSpPr>
        <p:spPr>
          <a:xfrm>
            <a:off x="6174289" y="190495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Callout 3"/>
          <p:cNvSpPr txBox="1"/>
          <p:nvPr/>
        </p:nvSpPr>
        <p:spPr>
          <a:xfrm>
            <a:off x="1654453" y="537010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4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Manager review.</a:t>
            </a:r>
            <a:endParaRPr lang="en-US" sz="1400" dirty="0"/>
          </a:p>
        </p:txBody>
      </p:sp>
      <p:sp>
        <p:nvSpPr>
          <p:cNvPr id="16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reviewer (peer).</a:t>
            </a:r>
            <a:endParaRPr lang="en-US" sz="1400" dirty="0"/>
          </a:p>
        </p:txBody>
      </p:sp>
      <p:sp>
        <p:nvSpPr>
          <p:cNvPr id="18" name="Callout 3"/>
          <p:cNvSpPr txBox="1"/>
          <p:nvPr/>
        </p:nvSpPr>
        <p:spPr>
          <a:xfrm>
            <a:off x="8595360" y="262432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06840" y="260604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 review (submitted).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Amit Verma (Manager + Employee) · Appraisals › Priya Nair (as 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review: wait for the stage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Manager review form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24-manager-review-form" descr="Screenshot: Appraisal › Manager review (dialog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overall rating, comments. The button is offered before the stage opens.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Appraisal › Manager review (dialog)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Refused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FB3"/>
                </a:solidFill>
              </a:rPr>
              <a:t>After configuration</a:t>
            </a:r>
            <a:endParaRPr lang="en-US" sz="950" dirty="0"/>
          </a:p>
        </p:txBody>
      </p:sp>
      <p:pic>
        <p:nvPicPr>
          <p:cNvPr id="13" name="Screenshot manager/40-team-25-manager-review-stage-closed" descr="Screenshot: Appraisal (manager review refused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72" y="1755648"/>
            <a:ext cx="5193238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364272" y="1755648"/>
            <a:ext cx="5193238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allowed: The Manager review stage has not opened yet." HR must advance the cycle; stages do not advance by date (F21).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Appraisal (manager review refused)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One-on-ones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Schedule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13-schedule-one-on-one" descr="Screenshot: One-on-ones › Schedule (dialog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agenda; notes and action items are added on the meeting.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One-on-ones › Schedule (dialog)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Scheduled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14-one-on-one-scheduled" descr="Screenshot: People › Growth › One-on-ones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"Created": 28 Oct, 15:00, with Priya.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Growth › One-on-ones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feedback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Give feedback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15-give-feedback" descr="Screenshot: Feedback › Give feedback (dialog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959" y="1755648"/>
            <a:ext cx="5195689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32959" y="1755648"/>
            <a:ext cx="5195689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visibility, message.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Amit Verma (Manager + Employee) · Feedback › Give feedback (dialog)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Shared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16-feedback-given" descr="Screenshot: People › Growth › Feedback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"Feedback shared"; Priya is notified.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Growth › Feedback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and support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career, HR requests, onboarding tasks and insights.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learning and career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Team learning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17-team-learning" descr="Screenshot: People › My team › Team learning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requests to decide, skill gaps; Assign learning.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My team › Team learning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Team career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18-team-career" descr="Screenshot: People › My team › Team career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person chose to share about aspirations.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People › My team › Team career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requests and tasks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Team HR requests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Unable to verify</a:t>
            </a:r>
            <a:endParaRPr lang="en-US" sz="950" dirty="0"/>
          </a:p>
        </p:txBody>
      </p:sp>
      <p:pic>
        <p:nvPicPr>
          <p:cNvPr id="7" name="Screenshot manager/40-team-19-team-hr-requests" descr="Screenshot: My work › Team HR requests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at capture although Priya had an open request; which requests appear here was not verified. Confidential cases are never shown.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Team HR requests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Onboarding tasks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26-onboarding-tasks" descr="Screenshot: My work › Task inbox › Onboarding tasks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for a new joiner in your team (Tanvi Joshi), with Done (and Skip where allowed).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Task inbox › Onboarding tasks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insights and notifications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People analytics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manager/40-team-22-people-analytics" descr="Screenshot: Insights › People analytics (manager scope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leave for people in your scope only; small groups hidden.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Insights › People analytics (manager scope)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manager/40-team-21-notifications" descr="Screenshot: My work › Notifications (manager) (Amit Verma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team updates, grouped.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Amit Verma (Manager + Employee) · My work › Notifications (manager)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without reading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R only open the confirm box. Read reason, overlap and balance first.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rejection reasons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sees your reason. Say what to do next.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to edit records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view; HR edits. Raise team requests from My work › Team HR requests.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request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request goes elsewhere, the reporting line may be wrong: ask HR to check it.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 refused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is not open yet; HR advances the cycle.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screenshots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share team members' personal details outside PeopleOS.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(practice tenant only)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Approval Center. Which request is most urgent, and why?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16352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15184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 test request without a reason. What happens? Then reject it properly.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21024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3895344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94176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person outside your team from a link. What do you see?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700016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773168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one-on-one with a team member for next week.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5"/>
                </a:solidFill>
              </a:rPr>
              <a:t>Answer key: on the next slide, and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first item under Urgent; its card explains why (overdue, starting within a day, or flagged).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browser stops it ("Please fill out this field."). With a reason, "Leave rejected" and the employee sees your reason.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"We could not find that" (404): records outside your reach are not revealed.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People › Growth › One-on-ones › Schedule: date and time, agenda, Create.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Home and My work bring decisions to you, most urgent first.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Every decision card shows reason, overlap and balance; rejections need a reason.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You see your reports, not their pay; outside your team returns "not found".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Reviews follow the cycle stages HR opens.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Ask PeopleOS (sidebar) explains with sources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Your HR partner for access or reporting-line changes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01: what your team sees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Manager Self-Service Training</dc:title>
  <dc:subject>See your team, decide requests with context, support goals and growth, and know exactly what you can and cannot see.</dc:subject>
  <dc:creator>Markedge PeopleOS training</dc:creator>
  <cp:lastModifiedBy>Markedge PeopleOS training</cp:lastModifiedBy>
  <cp:revision>1</cp:revision>
  <dcterms:created xsi:type="dcterms:W3CDTF">2026-10-21T10:23:51Z</dcterms:created>
  <dcterms:modified xsi:type="dcterms:W3CDTF">2026-10-21T10:23:51Z</dcterms:modified>
</cp:coreProperties>
</file>