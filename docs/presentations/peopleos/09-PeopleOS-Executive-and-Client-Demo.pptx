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9470991-c78c-57f9-5941-c70b5d9d8361}">
          <p14:sldIdLst>
            <p14:sldId id="256"/>
            <p14:sldId id="257"/>
            <p14:sldId id="258"/>
          </p14:sldIdLst>
        </p14:section>
        <p14:section name="Employee experience" id="{e8f0502d-bc9b-c300-decd-178bc0e4c61f}">
          <p14:sldIdLst>
            <p14:sldId id="259"/>
            <p14:sldId id="260"/>
            <p14:sldId id="261"/>
            <p14:sldId id="262"/>
          </p14:sldIdLst>
        </p14:section>
        <p14:section name="Manager experience" id="{90da447a-ee3e-9517-9338-fafa1637b0e3}">
          <p14:sldIdLst>
            <p14:sldId id="263"/>
            <p14:sldId id="264"/>
            <p14:sldId id="265"/>
          </p14:sldIdLst>
        </p14:section>
        <p14:section name="HR operations and lifecycle" id="{55f15918-2890-3c99-c5ac-18fe5381601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Workflow and approvals" id="{192c4b7a-9be7-a117-584f-7e609a31d6e3}">
          <p14:sldIdLst>
            <p14:sldId id="272"/>
            <p14:sldId id="273"/>
          </p14:sldIdLst>
        </p14:section>
        <p14:section name="Workforce analytics" id="{60a1fbf1-32ed-b028-9aa1-eb641517a867}">
          <p14:sldIdLst>
            <p14:sldId id="274"/>
            <p14:sldId id="275"/>
            <p14:sldId id="276"/>
          </p14:sldIdLst>
        </p14:section>
        <p14:section name="Security, governance and SaaS operations" id="{5e2be088-c1ad-e730-d683-476e69a01cd8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Summary" id="{6d104d80-d7be-1a31-5b11-26545045353f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Everything you will see is the real PeopleOS, running on a demonstration database with invented people. I will also tell you exactly what is not live yet.
AVOID: promising dates, prices or service levels: none is set in the product documentation ("to be confirmed with the SaaS provider").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product blueprint principles; release gate (docs/saas/SaaS-Final-Release-Gate.md). Lead with the value, then be explicit about the gate.
SAY: PeopleOS in one slide.
- One lifetime record: Every person has one record from hire to alumni; every change is dated, explained and audited.
- Work comes to people: Home and the Approval Center rank what matters, with the context to decide.
- Governance built in: Tenant isolation, layered access, separation of duties and a verifiable audit chain.
- Not yet generally available: Release gate NO-GO: hosting, independent review, DR and statutory verification are open. Payroll finalisation is blocked until statutory rules are verified.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we will show:
1. Employee experience: self-service in minutes
2. Manager experience: decisions with context
3. HR operations and lifecycle: hire to exit, governed
4. Workflow and approvals: versioned, multi-person
5. Workforce analytics: facts with sources
6. Security, governance and SaaS operations: proof, not promises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Employee experience. Everything an employee needs, starting from Home.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Ranked items with their reason, a one-click Request leave, and facts with sources from PeopleOS Intelligence.
ON SCREEN: Read Home from top to bottom.
LEARNERS SHOULD SEE: For you, Need attention, Your day and PeopleOS Intelligence; each item says why it is there
SCREEN: Home. Signed in as Priya Nair (Employee). 
EVIDENCE: screenshot screenshots/employee/30-self-04-home.png,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Working days and the balance after the request, before it is sent.
ON SCREEN: Choose Casual leave, 14–15 Dec 2026, add a reason.
WALK THROUGH: (1) Type with balance. (2) From. (3) To. (·) Before → After preview. (4) Reason. (5) Submit.
LEARNERS SHOULD SEE: Before → After preview shows working days and the balance after approval
SCREEN: Request leave (dialog). Signed in as Priya Nair (Employee). 
EVIDENCE: screenshot screenshots/employee/10-leave-04-form-completed.png,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Help from HR, on any device.
LEFT, Ask HR: A numbered request with a target date.
RIGHT, Phone: Responsive web on phones (no native app).
OBSERVE: point out what differs between the two screens.
EVIDENCE: left = employee/30-self-37-ask-hr-submitted [Priya Nair (Employee), My HR (after submitting)]; right = employee/30-self-50-phone-home [Priya Nair (Employee), Home on a phone (390 × 844)].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Manager experience. Decide with the facts in front of you.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decision in one place, most urgent first, with a summary that explains and never decides.
ON SCREEN: Open My work › Approvals.
LEARNERS SHOULD SEE: Decisions grouped Urgent / This week / Later, most urgent first
SCREEN: My work › Approvals (Approval Center). Signed in as Amit Verma (Manager + Employee). 
EVIDENCE: screenshot screenshots/manager/10-leave-07-approval-center.png,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Balance before → after and the effective date on the same card.
ON SCREEN: Select the request to see its context.
WALK THROUGH: (1) Reason. (·) Team overlap. (2) Approve. (3) Reject (with a reason).
LEARNERS SHOULD SEE: Reason, team overlap, dates and the balance before → after
SCREEN: Approval Center › decision card. Signed in as Amit Verma (Manager + Employee). 
EVIDENCE: screenshot screenshots/manager/10-leave-08-decision-card.png,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HR operations and lifecycle. One record, guided changes, multi-person controls.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Status, tenure and manager; actions for every lifecycle change; views from Now to Records.
ON SCREEN: Open a person from the Directory or register.
LEARNERS SHOULD SEE: Header with status, tenure and manager; Summarise, Message, Request, Action, More; views Now … Records
SCREEN: Employee 360 › Now. Signed in as Kavya Menon (Tenant HR Admin + Employee). Prerequisite: employee.view; sensitive tabs need their own permissions.
EVIDENCE: screenshot screenshots/hr-admin/50-360-01-header-now.png,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 duplicates; history kept.
LEFT, Duplicate person refused: The hire wizard finds the existing person first.
RIGHT, Journey: Every dated change, from joining to today.
OBSERVE: point out what differs between the two screens.
EVIDENCE: left = hr-admin/50-hire-01-duplicate-refused [Kavya Menon (Tenant HR Admin + Employee), Hire employee › Person]; right = hr-admin/50-360-04-journey [Kavya Menon (Tenant HR Admin + Employee), Employee 360 › Journey].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Pay changes need four people.
LEFT, Reviewer cannot approve: Propose, review, approve and execute by four different people.
RIGHT, Executed: Scheduled for its effective date.
OBSERVE: point out what differs between the two screens.
EVIDENCE: left = security-compliance/62-comp-07-reviewer-cannot-approve [Kavya Menon (Tenant HR Admin + Employee), Compensation changes › row actions (after reviewing)]; right = hr-admin/62-comp-10-executed [Arjun Bose (Payroll Admin + Employee), Compensation changes (after execution)].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Resignation, clearance, full &amp; final settlement (net 38,254.06 in the example) and an alumni profile in one case. Gratuity is not calculated yet.
ON SCREEN: Calculate, Approve and Mark paid (executed in this order).
WALK THROUGH: (1) Breakdown: each line with its basis.
LEARNERS SHOULD SEE: Settlement: total earnings 43,400.06, deductions 5,146.00, net 38,254.06; status Paid with reference; Breakdown per line
SCREEN: Exit case › Full &amp; final. Signed in as Neha Kapoor (HR Manager + Employee). Prerequisite: exit.settle (Tenant HR Admin, HR Manager).
EVIDENCE: screenshot screenshots/hr-admin/70-exit-11-ff-settlement.png,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safeguard working. Payroll goes live only after statutory rules are verified (0 of 24 today) or payroll is excluded from scope in writing.
SAY: Payroll: safe by design.
LEFT, Control room: Readiness and the statutory rules that block finalisation.
RIGHT, Validation refused: No payslip on an unverified statutory rate: payroll finalisation is not live yet.
OBSERVE: point out what differs between the two screens.
EVIDENCE: left = hr-admin/60-pay-01-control-room [Arjun Bose (Payroll Admin + Employee), People › Pay › Control room (Payroll control room)]; right = hr-admin/60-pay-09-validate-blocked [Arjun Bose (Payroll Admin + Employee), Payroll run › Validate].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Workflow and approvals. Processes as versioned data.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Workflows you can change safely.
LEFT, Versions and builder: Steps for approvals, tasks and notifications; running cases keep their version.
RIGHT, Onboarding plan: Tasks for HR, the manager and the joiner, started automatically on hire.
OBSERVE: point out what differs between the two screens.
EVIDENCE: left = client-onboarding/85-wf-03-workflow-versions [Kavya Menon (Tenant HR Admin + Employee), Workflow › Versions &amp; builder]; right = hr-admin/50-onb-03-plan-tasks [Kavya Menon (Tenant HR Admin + Employee), Employee 360 › Records › Employment › Onboarding].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Workforce analytics. Facts from the records each viewer may see.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Headcount, attrition, absenteeism, trends and what needs attention. People cost appears once payroll is finalised.
ON SCREEN: Open Dashboards.
LEARNERS SHOULD SEE: Tiles: headcount, attrition (12 months), absenteeism (30 days), people cost, headcount trend and by department, needs attention, mandatory learning
SCREEN: Insights › Analytics › Dashboards (HR overview). Signed in as Kavya Menon (Tenant HR Admin + Employee). Prerequisite: Analytics permissions per dataset; privacy minimum group size.
EVIDENCE: screenshot screenshots/analytics/80-ins-04-hr-overview-dashboard.png,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GAP: executive dashboards need dataset permissions added to the Executive role (F45); custom report building has a defect (F44).
SAY: Pulse and answers with sources.
LEFT, Workforce pulse: What moved this month; select a figure to see the people behind it.
RIGHT, Ask PeopleOS: "What is our attrition?" 4.5%, with its source. Explains; never decides.
OBSERVE: point out what differs between the two screens.
EVIDENCE: left = analytics/80-ins-02-workforce-pulse [Kavya Menon (Tenant HR Admin + Employee), Insights › Analytics › Workforce Command Centre (Workforce pulse)]; right = analytics/80-ins-17-ask-peopleos [Kavya Menon (Tenant HR Admin + Employee), Ask PeopleOS panel (PeopleOS Assistant)].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Security, governance and SaaS operations. Controls you can see and verify.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Audit you can verify.
LEFT, Event integrity: Who, where, before → after; each event chained to the previous one.
RIGHT, Whole chain: "Chain intact: 287 events verified".
OBSERVE: point out what differs between the two screens.
EVIDENCE: left = security-compliance/80-ins-11b-audit-integrity [Kavya Menon (Tenant HR Admin + Employee), Change history › event (Who and where, Integrity expanded)]; right = client-onboarding/90-onb-90-audit-verified [Farah Khan (Tenant Super Admin (Northwind Retail, first administrator)), Change history › Verify integrity].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Access and isolation.
LEFT, Scope on an HR account: HR reach limited to one company.
RIGHT, Outside a manager's team: Not found: records outside reach are not revealed.
OBSERVE: point out what differs between the two screens.
EVIDENCE: left = security-compliance/85-acc-06b-user-company-scope [Kavya Menon (Tenant HR Admin + Employee), Admin › Setup › Users › Edit (Neha Kapoor)]; right = manager/40-team-09-outside-team [Amit Verma (Manager + Employee), Employee 360 of someone outside the team].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Operated as SaaS by Markedge.
LEFT, Tenants: Operators sign in with MFA; every tenant action carries a reason.
RIGHT, Readiness: PASS / WARN / FAIL / BLOCKED checks before any go-live.
OBSERVE: point out what differs between the two screens.
EVIDENCE: left = platform-admin/95-pl-05-tenants [Markedge Platform Admin (Platform operator), Admin › Platform › Tenants]; right = platform-admin/95-pl-23-readiness [Markedge Platform Admin (Platform operator), Admin › Platform › Platform readiness].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this training library's captures and FEATURE-TO-PRESENTATION-MATRIX.md; release gate. "Verified" means executed on a demonstration database, not released to customers.
SAY: What is live, and what is not yet (part 1 of 2). 
- Employee and manager self-service, approvals, attendance, leave | Verified in the running application
- Employee lifecycle: hire, changes, onboarding, documents, letters, exit (gratuity not calculated) | Verified in the running application
- Performance, learning, compensation governance, analytics, audit | Verified in the running application
- Payroll finalisation, payslips, statutory returns | Disabled by safety or commercial gates
- Bulk employee import from the screen | Incomplete · known defect or gap
- Custom report builder (Group by, filters, sort) | Incomplete · known defect or gap
- Executive dashboard report widgets (dataset permissions) | Available only after configuration
- Self-service signup, billing, tenant deletion | Disabled by safety or commercial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this training library's captures and FEATURE-TO-PRESENTATION-MATRIX.md; release gate. "Verified" means executed on a demonstration database, not released to customers.
SAY: What is live, and what is not yet (part 2 of 2). 
- Native mobile app; SAML SSO; SMS/WhatsApp notifications | Not implemented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How a customer goes live. Deck 04 details all 28 stages. Red items are blocked today by a defect or a release gate.
Plan: Scope and data owners, Payroll scope decision
Provision: Tenant by Markedge, Administrator activates
Structure: Organisation, Jobs and positions
People: Hire / load people, Bulk import (F25), Roles and scope
Policies: Time and leave, Pay components, Statutory rules
Validate: Reconcile, UAT, Access tests
Go live: Release gate GO, Hypercare, Handover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Recap the key points:
- See it with your own data model in a demonstration tenant.
- Agree scope, including whether payroll is in the first go-live.
- Plan the implementation with the 28-stage playbook.
- Release timing follows the release gate; we will not go live before it is GO.
POINT TO: Commercial terms, hosting region and service levels: agreed in the customer contract (not yet set); Deck 04: implementation playbook; Deck 08: security and compliance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Executive and client demo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Executive and client demo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09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PeopleOS: Executive and Client Demo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lifetime record per person, decisions with context, governance you can prove, shown on the real product, with an honest view of what is live today.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Customer executives and decision makers; Markedge leadership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analytics/80-ins-02-workforce-pulse" descr="Screenshot: Insights › Analytics › Workforce Command Centre (Workforce pulse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96482"/>
            <a:ext cx="3840480" cy="3647915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1696482"/>
            <a:ext cx="3840480" cy="364791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PeopleOS in one slide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lifetime record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has one record from hire to alumni; every change is dated, explained and audited.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comes to people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the Approval Center rank what matters, with the context to decide.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built in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isolation, layered access, separation of duties and a verifiable audit chain.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generally available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 NO-GO: hosting, independent review, DR and statutory verification are open. Payroll finalisation is blocked until statutory rules are verified.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Employee experience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self-service in minutes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Manager experience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decisions with context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HR operations and lifecycle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hire to exit, governed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Workflow and approvals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versioned, multi-person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Workforce analytics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facts with sources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Security, governance and SaaS operations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proof, not promises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experience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needs, starting from Home.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EMPLOYEE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Home: what matters today, and why</a:t>
            </a:r>
            <a:endParaRPr lang="en-US" sz="2800" dirty="0"/>
          </a:p>
        </p:txBody>
      </p:sp>
      <p:pic>
        <p:nvPicPr>
          <p:cNvPr id="5" name="Screenshot employee/30-self-04-home" descr="Screenshot: Hom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52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584552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items with their reason, a one-click Request leave, and facts with sources from PeopleOS Intelligence.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Home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EMPLOYEE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in under a minute</a:t>
            </a:r>
            <a:endParaRPr lang="en-US" sz="2800" dirty="0"/>
          </a:p>
        </p:txBody>
      </p:sp>
      <p:pic>
        <p:nvPicPr>
          <p:cNvPr id="5" name="Screenshot employee/10-leave-04-form-completed" descr="Screenshot: Request leave (dialo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595" y="1417320"/>
            <a:ext cx="5610210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52595" y="1417320"/>
            <a:ext cx="5610210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777823" y="2193733"/>
            <a:ext cx="5359754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1777823" y="2744736"/>
            <a:ext cx="262978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4507791" y="2744736"/>
            <a:ext cx="262978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5"/>
          <p:cNvSpPr/>
          <p:nvPr/>
        </p:nvSpPr>
        <p:spPr>
          <a:xfrm>
            <a:off x="1777823" y="4777602"/>
            <a:ext cx="5359754" cy="425775"/>
          </a:xfrm>
          <a:prstGeom prst="roundRect">
            <a:avLst>
              <a:gd name="adj" fmla="val 1073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box 6"/>
          <p:cNvSpPr/>
          <p:nvPr/>
        </p:nvSpPr>
        <p:spPr>
          <a:xfrm>
            <a:off x="1777823" y="5854562"/>
            <a:ext cx="847376" cy="275501"/>
          </a:xfrm>
          <a:prstGeom prst="roundRect">
            <a:avLst>
              <a:gd name="adj" fmla="val 1659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2" name="Callout 1"/>
          <p:cNvSpPr txBox="1"/>
          <p:nvPr/>
        </p:nvSpPr>
        <p:spPr>
          <a:xfrm>
            <a:off x="1466927" y="2203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Callout 2"/>
          <p:cNvSpPr txBox="1"/>
          <p:nvPr/>
        </p:nvSpPr>
        <p:spPr>
          <a:xfrm>
            <a:off x="1466927" y="27544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Callout 3"/>
          <p:cNvSpPr txBox="1"/>
          <p:nvPr/>
        </p:nvSpPr>
        <p:spPr>
          <a:xfrm>
            <a:off x="6607225" y="27544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Callout 4"/>
          <p:cNvSpPr txBox="1"/>
          <p:nvPr/>
        </p:nvSpPr>
        <p:spPr>
          <a:xfrm>
            <a:off x="1466927" y="48624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Callout 5"/>
          <p:cNvSpPr txBox="1"/>
          <p:nvPr/>
        </p:nvSpPr>
        <p:spPr>
          <a:xfrm>
            <a:off x="1649807" y="556195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8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with balance.</a:t>
            </a:r>
            <a:endParaRPr lang="en-US" sz="1400" dirty="0"/>
          </a:p>
        </p:txBody>
      </p:sp>
      <p:sp>
        <p:nvSpPr>
          <p:cNvPr id="20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From.</a:t>
            </a:r>
            <a:endParaRPr lang="en-US" sz="1400" dirty="0"/>
          </a:p>
        </p:txBody>
      </p:sp>
      <p:sp>
        <p:nvSpPr>
          <p:cNvPr id="22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To.</a:t>
            </a:r>
            <a:endParaRPr lang="en-US" sz="1400" dirty="0"/>
          </a:p>
        </p:txBody>
      </p:sp>
      <p:sp>
        <p:nvSpPr>
          <p:cNvPr id="24" name="Bullet"/>
          <p:cNvSpPr/>
          <p:nvPr/>
        </p:nvSpPr>
        <p:spPr>
          <a:xfrm>
            <a:off x="8686800" y="306324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Before → After preview.</a:t>
            </a:r>
            <a:endParaRPr lang="en-US" sz="1400" dirty="0"/>
          </a:p>
        </p:txBody>
      </p:sp>
      <p:sp>
        <p:nvSpPr>
          <p:cNvPr id="26" name="Callout 4"/>
          <p:cNvSpPr txBox="1"/>
          <p:nvPr/>
        </p:nvSpPr>
        <p:spPr>
          <a:xfrm>
            <a:off x="8595360" y="335584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06840" y="333756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Reason.</a:t>
            </a:r>
            <a:endParaRPr lang="en-US" sz="1400" dirty="0"/>
          </a:p>
        </p:txBody>
      </p:sp>
      <p:sp>
        <p:nvSpPr>
          <p:cNvPr id="28" name="Callout 5"/>
          <p:cNvSpPr txBox="1"/>
          <p:nvPr/>
        </p:nvSpPr>
        <p:spPr>
          <a:xfrm>
            <a:off x="8595360" y="37216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06840" y="37033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595360" y="4160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32520" y="4251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Working days and the balance after the request, before it is sent.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Request leave (dialog)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EMPLOYEE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from HR, on any device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Ask HR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employee/30-self-37-ask-hr-submitted" descr="Screenshot: My HR (after submitting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numbered request with a target date.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My HR (after submitting)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Phone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employee/30-self-50-phone-home" descr="Screenshot: Home on a phone (390 × 844) (Priya Nair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6" y="1755648"/>
            <a:ext cx="1584491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8168646" y="1755648"/>
            <a:ext cx="1584491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on phones (no native app).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Priya Nair (Employee) · Home on a phone (390 × 844)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experience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the facts in front of you.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MANAGER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Center</a:t>
            </a:r>
            <a:endParaRPr lang="en-US" sz="2800" dirty="0"/>
          </a:p>
        </p:txBody>
      </p:sp>
      <p:pic>
        <p:nvPicPr>
          <p:cNvPr id="5" name="Screenshot manager/10-leave-07-approval-center" descr="Screenshot: My work › Approvals (Approval Cent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52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584552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in one place, most urgent first, with a summary that explains and never decides.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Approvals (Approval Center)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MANAGER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for every decision</a:t>
            </a:r>
            <a:endParaRPr lang="en-US" sz="2800" dirty="0"/>
          </a:p>
        </p:txBody>
      </p:sp>
      <p:pic>
        <p:nvPicPr>
          <p:cNvPr id="5" name="Screenshot manager/10-leave-08-decision-card" descr="Screenshot: Approval Center › decision card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4"/>
          <p:cNvSpPr/>
          <p:nvPr/>
        </p:nvSpPr>
        <p:spPr>
          <a:xfrm>
            <a:off x="4565396" y="4687689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5"/>
          <p:cNvSpPr/>
          <p:nvPr/>
        </p:nvSpPr>
        <p:spPr>
          <a:xfrm>
            <a:off x="5024899" y="4687689"/>
            <a:ext cx="37693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254500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456699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Reason.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3317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overlap.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 (with a reason).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595360" y="342900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2520" y="352044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Balance before → after and the effective date on the same card.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decision card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operations and lifecycle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guided changes, multi-person controls.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360</a:t>
            </a:r>
            <a:endParaRPr lang="en-US" sz="2800" dirty="0"/>
          </a:p>
        </p:txBody>
      </p:sp>
      <p:pic>
        <p:nvPicPr>
          <p:cNvPr id="5" name="Screenshot hr-admin/50-360-01-header-now" descr="Screenshot: Employee 360 › Now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52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584552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tenure and manager; actions for every lifecycle change; views from Now to Records.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Now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duplicates; history kept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Duplicate person refused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hr-admin/50-hire-01-duplicate-refused" descr="Screenshot: Hire employee › Person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 wizard finds the existing person first.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Hire employee › Person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Journey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hr-admin/50-360-04-journey" descr="Screenshot: Employee 360 › Journey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dated change, from joining to today.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Journey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changes need four people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Reviewer cannot approve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62-comp-07-reviewer-cannot-approve" descr="Screenshot: Compensation changes › row actions (after reviewing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 review, approve and execute by four different people.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Compensation changes › row actions (after reviewing)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Executed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hr-admin/62-comp-10-executed" descr="Screenshot: Compensation changes (after execution) (Arjun Bose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for its effective date.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Compensation changes (after execution)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exit and alumni</a:t>
            </a:r>
            <a:endParaRPr lang="en-US" sz="2800" dirty="0"/>
          </a:p>
        </p:txBody>
      </p:sp>
      <p:pic>
        <p:nvPicPr>
          <p:cNvPr id="5" name="Screenshot hr-admin/70-exit-11-ff-settlement" descr="Screenshot: Exit case › Full &amp; final (Neha Kapoo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715" y="1417320"/>
            <a:ext cx="712597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894715" y="1417320"/>
            <a:ext cx="712597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7258602" y="5910641"/>
            <a:ext cx="504756" cy="158355"/>
          </a:xfrm>
          <a:prstGeom prst="roundRect">
            <a:avLst>
              <a:gd name="adj" fmla="val 2887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7130586" y="561803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Breakdown: each line with its basis.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Resignation, clearance, full &amp; final settlement (net 38,254.06 in the example) and an alumni profile in one case. Gratuity is not calculated yet.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Neha Kapoor (HR Manager + Employee) · Exit case › Full &amp; final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HR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Payroll: safe by design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Control room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hr-admin/60-pay-01-control-room" descr="Screenshot: People › Pay › Control room (Payroll control room)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and the statutory rules that block finalisation.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People › Pay › Control room (Payroll control room)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Validation refused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hr-admin/60-pay-09-validate-blocked" descr="Screenshot: Payroll run › Validate (Arjun Bose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payslip on an unverified statutory rate: payroll finalisation is not live yet.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Arjun Bose (Payroll Admin + Employee) · Payroll run › Validate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approvals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as versioned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WORKFLOW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 you can change safely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Versions and builder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85-wf-03-workflow-versions" descr="Screenshot: Workflow › Versions &amp; builder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for approvals, tasks and notifications; running cases keep their version.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Workflow › Versions &amp; builder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Onboarding plan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hr-admin/50-onb-03-plan-tasks" descr="Screenshot: Employee 360 › Records › Employment › Onboarding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for HR, the manager and the joiner, started automatically on hire.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Records › Employment › Onboarding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analytics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the records each viewer may see.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ANALYTICS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overview</a:t>
            </a:r>
            <a:endParaRPr lang="en-US" sz="2800" dirty="0"/>
          </a:p>
        </p:txBody>
      </p:sp>
      <p:pic>
        <p:nvPicPr>
          <p:cNvPr id="5" name="Screenshot analytics/80-ins-04-hr-overview-dashboard" descr="Screenshot: Insights › Analytics › Dashboards (HR overview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218" y="1371600"/>
            <a:ext cx="6935259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2628218" y="1371600"/>
            <a:ext cx="6935259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attrition, absenteeism, trends and what needs attention. People cost appears once payroll is finalised.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Insights › Analytics › Dashboards (HR overview)</a:t>
            </a:r>
            <a:endParaRPr lang="en-US" sz="900" dirty="0"/>
          </a:p>
        </p:txBody>
      </p:sp>
      <p:sp>
        <p:nvSpPr>
          <p:cNvPr id="9" name="Status"/>
          <p:cNvSpPr txBox="1"/>
          <p:nvPr/>
        </p:nvSpPr>
        <p:spPr>
          <a:xfrm>
            <a:off x="8534095" y="27432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ANALYTICS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and answers with sources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Workforce pulse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analytics/80-ins-02-workforce-pulse" descr="Screenshot: Insights › Analytics › Workforce Command Centre (Workforce pulse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this month; select a figure to see the people behind it.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Insights › Analytics › Workforce Command Centre (Workforce pulse)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Ask PeopleOS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analytics/80-ins-17-ask-peopleos" descr="Screenshot: Ask PeopleOS panel (PeopleOS Assistant)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our attrition?" 4.5%, with its source. Explains; never decides.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Ask PeopleOS panel (PeopleOS Assistant)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governance and SaaS operations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you can see and verify.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you can verify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Event integrity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0-ins-11b-audit-integrity" descr="Screenshot: Change history › event (Who and where, Integrity expanded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where, before → after; each event chained to the previous one.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Change history › event (Who and where, Integrity expanded)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Whole chain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90-audit-verified" descr="Screenshot: Change history › Verify integrity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"Chain intact: 287 events verified".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Change history › Verify integrity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and isolation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Scope on an HR account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ecurity-compliance/85-acc-06b-user-company-scope" descr="Screenshot: Admin › Setup › Users › Edit (Neha Kapoor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reach limited to one company.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Kavya Menon (Tenant HR Admin + Employee) · Admin › Setup › Users › Edit (Neha Kapoor)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Outside a manager's team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09-outside-team" descr="Screenshot: Employee 360 of someone outside the team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found: records outside reach are not revealed.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Employee 360 of someone outside the 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SAAS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Operated as SaaS by Markedge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Tenants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platform-admin/95-pl-05-tenants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sign in with MFA; every tenant action carries a reason.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Tenants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Readiness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platform-admin/95-pl-23-readiness" descr="Screenshot: Admin › Platform › Platform readines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WARN / FAIL / BLOCKED checks before any go-live.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Admin › Platform › Platform readiness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HONEST SCOPE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live, and what is not yet (1 of 2)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 today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Employee and manager self-service, approvals, attendance, leave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Employee lifecycle: hire, changes, onboarding, documents, letters, exit (gratuity not calculated)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Performance, learning, compensation governance, analytics, audit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Payroll finalisation, payslips, statutory returns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</a:rPr>
                        <a:t>Disabled (gate)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Bulk employee import from the screen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Custom report builder (Group by, filters, sort)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Incomplete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Executive dashboard report widgets (dataset permissions)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6FB3"/>
                          </a:solidFill>
                        </a:rPr>
                        <a:t>After configuration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Self-service signup, billing, tenant deletion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5A00"/>
                          </a:solidFill>
                        </a:rPr>
                        <a:t>Disabled (gate)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HONEST SCOPE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live, and what is not yet (2 of 2)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 today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Native mobile app; SAML SSO; SMS/WhatsApp notifications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Not implemented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customer goes live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Plan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Scope and data owners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Payroll scope decision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153151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Provision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153151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CEAF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Tenant by Markedge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153151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Administrator activates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757661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Structure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757661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Organisation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757661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Jobs and positions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362172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People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362172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Hire / load people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362172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Bulk import (F25)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362172" y="3319272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Roles and scope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966683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Policies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966683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Time and leave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66683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Pay components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966683" y="3319272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Statutory rules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71194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571194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Reconcile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71194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UAT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71194" y="3319272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Access tests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175704" y="1463040"/>
            <a:ext cx="1467351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 live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0175704" y="2148840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Release gate GO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175704" y="2734056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Hypercare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175704" y="3319272"/>
            <a:ext cx="1467351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Handover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815584"/>
            <a:ext cx="8168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04 details all 28 stages. Red items are blocked today by a defect or a release gate.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899855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diagram, not a screenshot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APPENDIX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APPENDIX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See it with your own data model in a demonstration tenant.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Agree scope, including whether payroll is in the first go-live.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Plan the implementation with the 28-stage playbook.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Release timing follows the release gate; we will not go live before it is GO.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Commercial terms, hosting region and service levels: agreed in the customer contract (not yet set)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04: implementation playbook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08: security and compliance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PeopleOS: Executive and Client Demo</dc:title>
  <dc:subject>One lifetime record per person, decisions with context, governance you can prove, shown on the real product, with an honest view of what is live today.</dc:subject>
  <dc:creator>Markedge PeopleOS training</dc:creator>
  <cp:lastModifiedBy>Markedge PeopleOS training</cp:lastModifiedBy>
  <cp:revision>1</cp:revision>
  <dcterms:created xsi:type="dcterms:W3CDTF">2026-10-21T10:25:51Z</dcterms:created>
  <dcterms:modified xsi:type="dcterms:W3CDTF">2026-10-21T10:25:51Z</dcterms:modified>
</cp:coreProperties>
</file>