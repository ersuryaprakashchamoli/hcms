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21c8448-aa97-fa2f-3166-6e0bffad908b}">
          <p14:sldIdLst>
            <p14:sldId id="256"/>
            <p14:sldId id="257"/>
            <p14:sldId id="258"/>
            <p14:sldId id="259"/>
          </p14:sldIdLst>
        </p14:section>
        <p14:section name="Product architecture" id="{759b8f7f-0b25-60b7-8f09-8dcf357fa4c1}">
          <p14:sldIdLst>
            <p14:sldId id="260"/>
            <p14:sldId id="261"/>
            <p14:sldId id="262"/>
          </p14:sldIdLst>
        </p14:section>
        <p14:section name="People Core" id="{a545d2c2-258f-2595-2f72-dfeffdc2eed1}">
          <p14:sldIdLst>
            <p14:sldId id="263"/>
            <p14:sldId id="264"/>
            <p14:sldId id="265"/>
            <p14:sldId id="266"/>
            <p14:sldId id="267"/>
          </p14:sldIdLst>
        </p14:section>
        <p14:section name="Tenant isolation and access" id="{65ceb0a6-49e2-16af-1c77-cbf3b437929f}">
          <p14:sldIdLst>
            <p14:sldId id="268"/>
            <p14:sldId id="269"/>
            <p14:sldId id="270"/>
            <p14:sldId id="271"/>
          </p14:sldIdLst>
        </p14:section>
        <p14:section name="Configuration platform" id="{e7b1fff4-54b7-23fc-2696-b008dadb0217}">
          <p14:sldIdLst>
            <p14:sldId id="272"/>
            <p14:sldId id="273"/>
            <p14:sldId id="274"/>
            <p14:sldId id="275"/>
          </p14:sldIdLst>
        </p14:section>
        <p14:section name="Audit and change history" id="{1832881e-8563-6e53-4151-fd90103bbf71}">
          <p14:sldIdLst>
            <p14:sldId id="276"/>
            <p14:sldId id="277"/>
            <p14:sldId id="278"/>
            <p14:sldId id="279"/>
            <p14:sldId id="280"/>
          </p14:sldIdLst>
        </p14:section>
        <p14:section name="Queues, scheduler and tenant context" id="{7360b89f-83b9-bea5-9126-3451dcffad33}">
          <p14:sldIdLst>
            <p14:sldId id="281"/>
            <p14:sldId id="282"/>
            <p14:sldId id="283"/>
          </p14:sldIdLst>
        </p14:section>
        <p14:section name="Payroll and statutory safeguards" id="{8146cd9c-60b1-88fb-1855-2f114506ff65}">
          <p14:sldIdLst>
            <p14:sldId id="284"/>
            <p14:sldId id="285"/>
            <p14:sldId id="286"/>
            <p14:sldId id="287"/>
          </p14:sldIdLst>
        </p14:section>
        <p14:section name="Export, offboarding and deletion" id="{a44064bf-df63-0dd9-67ef-bb0b97691c9c}">
          <p14:sldIdLst>
            <p14:sldId id="288"/>
            <p14:sldId id="289"/>
            <p14:sldId id="290"/>
          </p14:sldIdLst>
        </p14:section>
        <p14:section name="Integration boundaries" id="{6ea76dbb-41cb-6565-82fe-23a1b224d11f}">
          <p14:sldIdLst>
            <p14:sldId id="291"/>
            <p14:sldId id="292"/>
            <p14:sldId id="293"/>
            <p14:sldId id="294"/>
          </p14:sldIdLst>
        </p14:section>
        <p14:section name="Analytics and AI boundary" id="{ded4184c-93dd-72df-b51b-71a941904af0}">
          <p14:sldIdLst>
            <p14:sldId id="295"/>
            <p14:sldId id="296"/>
            <p14:sldId id="297"/>
          </p14:sldIdLst>
        </p14:section>
        <p14:section name="Summary" id="{92108e91-03aa-526a-1602-ee95dbd1eed7}">
          <p14:sldIdLst>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deck explains how PeopleOS is built, using the repository as evidence and real screens where they show the architecture at work.
AUDIENCE: architects, engineers, implementation leads.
SOURCES: docs/architecture/peopleos-architecture-contract.md, integration-contract.md, security-invariants.md, saas-9-offboarding.md, tests/Feature/Architecture/ArchitectureTest.php.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seven status labels. Every screenshot slide carries one of them in its top-right corner. Stress that "Verified in the running application" means we ran it on a disposable demonstration database, not that the feature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screenshot is a genuine capture from the running application on a disposable database. The full list, with what each one shows, is in SCREENSHOT-INVENTORY.md.
EVIDENCE: docs/presentations/peopleos/SCREENSHOT-INVENTORY.md and PEOPLEOS-PRESENTATION-ACCURACY-REGISTER.md.
SAY: How these screens were produced.
- Real application: PeopleOS at commit 72c96a73, run locally. No application file or setting was changed for the training.
- Disposable database: hcm_training_showcase, seeded with the guarded showcase seeder: invented people at the fictional Demo Group.
- Workflows executed: Requests were submitted, approved, rejected and processed so that every state shown really happened.
- Nothing switched on: Public signup, live payments and tenant deletion stayed off. The operator used MFA. No secret is shown.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By the end you should be able to sketch the layers, explain why tenant data cannot leak by default, and say which controls are enforced in code versus which depend on operations.
ASK: "Which of these have you had to explain to a customer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Product architecture. Five layers from the blueprint, realised as domain modules with thin delivery layers.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docs/peopleos-blueprint.md §3 (PEOPLE CORE, CONFIGURATION PLATFORM, EXPERIENCE, INTELLIGENCE, INTEGRATION HUB).
SAY: The blueprint lists more integration targets (biometric, ERP, banking, SMS, WhatsApp). Only what is on this slide is built. SMS, WhatsApp and push are offered as notification channels but send nothing (finding F19). No native mobile app exists.
AVOID: presenting blueprint targets as built.
SAY: Five layers, one product. 
LAYERS: Experience: Employee, Manager, HR, Payroll, Admin, Responsive web (no native app); Intelligence: Reports and datasets, Analytics pages, Ask PeopleOS (assistants), Payroll Auditor (rule-based); Configuration platform: Policies, Rules, Workflows and approvals, Forms and custom fields, Packs and blueprints; People Core: Identity, Organisation, People and employment, Time, leave, payroll, Growth, services, exit; Integration Hub: REST API v1, SCIM 2.0, OIDC single sign-on, Signed webhooks, Inbound events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§15. About 30 domain modules (Identity, Platform, Organisation, People, Employment, Lifecycle, … Audit).
SAY: When you look for where a rule lives, start in app/Domain, not in the screen.
SAY: Code structure and call flow. Arrows show calls; adapters implement contracts the domain defines (the domain never imports them). Business rules live in app/Domain/{Module}/{Models,Services,Actions,Policies,Enums}. Filament pages and HTTP controllers call services; they never hold business rules. app/Support holds cross-cutting primitives (tenancy, effective dating). Domain code does not import Filament, HTTP or vendor SDKs; adapters (AI provider, BGV, attendance devices, notification channels, SSO presets) sit behind contracts.
SEQUENCE: Delivery (app/Filament, app/Http: calls) → Application (Services and Actions: call) → Domain (Models, Policies; defines contracts) → Adapters (implement domain contracts)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2, People Core. One person, one lifetime record; employment facts are effective-dated so any past state can be reproduced.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§3 (ADR-0002). A unique (tenant_id, person_id) on employees prevents a second employee row for the same person. Re-employment reuses the same Employee (alumni → active); a dedicated rehire screen is not built.
SAY: This is why the hire wizard checks for an existing person before creating anyone.
SAY: One person, one lifetime record. 
LAYERS: Person: Names, date of birth, contacts, Addresses (effective-dated), Family, qualifications, skills; Employee (one per person per tenant): Employee code, work e-mail, Lifecycle state + immutable transitions, Login (optional user); Effective-dated facts: Positions: company … cost centre, Reporting relationships (typed), Salary assignments; Domain records: Time, leave, payroll, Performance, learning, assets, Requests, exit, letters, alumni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§7 (ADR-0007), config peopleos.lifecycle.transitions.
SAY: Lifecycle states and what each transition triggers. 
- Canonical states | pre_employee → preboarding → onboarding → joined → probation → confirmed → active → on_leave / suspended / notice_period → exited → alumni; alumni → active
- Where enforced | LifecycleEngine::transition(), permission employee.lifecycle, effective date and reason required; exit needs a cleared exit case
- Each transition produces | Domain event → audit event → timeline entry → notification rules → workflow triggers → downstream actions
- Downstream actions | Onboarding start on joining; login suspended on exit; Alumni role
- Not states | Transfer and promotion are position events on the timeline (new effective-dated position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Past positions and managers remain reproducible.
ON SCREEN: Open the Journey view.
WALK THROUGH: (1) The Journey view shows the history in order. (·) Each change is a dated entry, never an overwrite.
LEARNERS SHOULD SEE: Effective-dated history of the person: joining, changes, lifecycle
SCREEN: Employee 360 › Journey. Signed in as Kavya Menon (Tenant HR Admin + Employee). Prerequisite: employee.view; sensitive tabs need their own permissions.
EVIDENCE: screenshot screenshots/hr-admin/50-360-04-journey.png,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§2 and §4; documentation-gaps F10.
SAY: Units are effective-dated and never deleted while referenced; renames and moves are audited.
SAY: Organisation model: units are not interchangeable. 
- Company | Management unit | Root under the tenant
- Legal entity, establishment | Legal and statutory | Legal employer; registered place of work (ADR-0001)
- Location | Physical site | Company; cannot be linked to an establishment on screen (F10)
- Business unit, division, department, team | Reporting and operational | Company; organisation tree for the designer
- Cost centre, profit centre | Financial | Referenced by positions
- Job family, designation, level, grade | Job architecture (tenant-wide) | Referenced by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3, Tenant isolation and access. The tenant is the isolation boundary. Access is decided in layers that are never merged.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§1; tests/Feature/Architecture/ArchitectureTest.php ("scopes every domain model to a tenant except the documented platform-level models", "bypasses tenant scoping only in the documented platform services").
SAY: The user model is deliberately not tenant-scoped because sign-in happens before a tenant is known; listings use User::forCurrentTenant().
SAY: Tenant scoping fails closed. Without a bound tenant, tenant-owned queries return nothing. Platform code must call TenantContext::bypass() explicitly, and only allow-listed platform services may (architecture test "bypasses tenant scoping only in the documented platform services"). Platform operators reach a tenant only by explicitly entering it, and their actions are audited with the source.
SEQUENCE: Request (session or API key) → ResolveTenant (user → own tenant) → TenantContext (bound before model binding) → TenantScope (no tenant → no rows) → BelongsToTenant (stamps tenant_id, refuses cross-tenant writes)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§6 (ADR-0004, ADR-0005); data_classification in config/peopleos.php; ArchitectureTest "masks every highly sensitive attribute in the data classification map".
SAY: A Tenant Administrator is not automatically allowed to see sensitive fields.
SAY: Access is decided in layers. Permission keys are declared in config/peopleos.php and mirrored to the database by peopleos:sync-permissions. Organisation scope (user_access_scopes) limits HR to companies or units; with no scope rows, the documented rule gives tenant-wide reach (Home warns about it). Managers reach their own record and everyone who reports to them today. Sensitive fields (bank, PAN, Aadhaar reference, UAN, salary, payslips…) need *.sensitive.* permissions and are encrypted and masked.
SEQUENCE: Role (RBAC: what may this role do?) → Organisation scope (ABAC: which records?) → Relationship scope (whose records? (reports)) → Field protection (sensitive permissions, masking) → Record (policy allows())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§6 visibility matrix. Deck 8 shows the real allowed and restricted screens.
SAY: Who sees what (decided visibility matrix). 
- Employee | Own person and employee data, own transactions, published policies and announcements for their audience
- Manager | Direct reports (any reporting type, effective today) for the abilities their permissions grant
- HR roles | Every employee within their organisation scope; tenant-wide when no scope rows exist
- Tenant administrator | Tenant-wide by permissions; sensitive fields only with *.sensitive.*; never another tenant
- Executive | Dashboards and aggregates; record level only via scope and permissions
- Platform operator | Any tenant, only after explicitly entering it; every action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4, Configuration platform. Policies, rules and workflows are versioned data, not code. Running work keeps the version it started with.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§8 (ADR-0009, ADR-0010); documentation-gaps F29 (settings, feature flags, creates, deletes and tab edits apply immediately; no guard against approving one's own change).
SAY: Vocabulary that matters in implementation. 
- Configuration | Tenant or company values and reference data: settings, features, organisation units, calendars, components
- Policy | Versioned, effective-dated bundle of settings of one type (leave, attendance, overtime, probation, payroll…)
- Rule | Deterministic condition over the employee context (position dimensions, lifecycle, gender, tenure)
- Workflow | Versioned graph of nodes executed per subject; approvals single, sequential, parallel or majority
- Change Centre | Governed edits with draft → approval → publish; covers only some edit forms today (F29)
- Pack / blueprint | Starter configuration a tenant receives and then edits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§8 workflow versioning; documentation-gaps F33.
SAY: Workflow versioning rule (frozen). A workflow instance is pinned to its workflow_version_id. Escalation and timers run every five minutes; webhook nodes retry three times through the queue; other failed nodes are marked failed and resumed by an operator. Known limit: the "Generate document" step type is skipped at run time (F33).
SEQUENCE: Version 1 published (instances start on v1) → Version 2 published (new instances start on v2) → Running v1 instance (stays on v1 to the end) → Rollback (publish the previous version again)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Probation confirmation: v1 published, 6 nodes (manager recommendation, HR confirmation, record update, notification). A v2 would apply only to runs started after it is published (not exercised here).
ON SCREEN: Open Versions &amp; builder.
LEARNERS SHOULD SEE: Versioned definitions: a published version is immutable; changes are made in a new draft and published; running instances keep their version
SCREEN: Workflow › Versions &amp; builder. Signed in as Kavya Menon (Tenant HR Admin + Employee). Prerequisite: workflow.manage / policy.manage / notification.manage.
EVIDENCE: screenshot screenshots/client-onboarding/85-wf-03-workflow-versions.png,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5, Audit and change history. Who changed what is recorded in append-only events chained per tenant.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§9 (ADR-0008); ArchitectureTest "audits every domain model except the documented append-only or derived tables" and "deletes audit rows only in the deletion executor".
SAY: Audit events: append-only, chained, not purged.
- What is recorded: Tenant, actor and roles snapshot, action, module, entity, time, IP, user agent, source, request id, reason, approval reference, effective date and field-level before/after (masked when sensitive).
- Tamper evidence: Each tenant has a hash chain; a verifier and export commands check it. Rows cannot be updated or deleted through the model layer.
- Change history: Audit events per record (History tab) plus effective-dated rows make any past state reproducible.
- Limits to know: Deletion of audit rows exists only inside the tenant-deletion executor, which is switched off. Retention of other data needs owner decisions (D8).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Administrators and auditors read history; nobody edits it.
ON SCREEN: Open Change history.
WALK THROUGH: (1) When: every audited change with actor and time. (·) View an Update event for its field-level before and after.
LEARNERS SHOULD SEE: Every recorded change: when, action, module, record, who, reason; filter and open any event
SCREEN: Insights › Audit › Change history (Audit events). Signed in as Kavya Menon (Tenant HR Admin + Employee). Prerequisite: audit.view (Tenant HR Admin, HR Manager, Payroll Admin, Auditor, Account Owner).
EVIDENCE: screenshot screenshots/analytics/80-ins-10-change-history.png,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and where (actor, roles, source, IP, request id) and Integrity: Hash, Previous hash, "Hash verified ✓".
ON SCREEN: Expand Who and where and Integrity.
LEARNERS SHOULD SEE: Observed: Who and where (actor Kavya Menon, actor roles employee + tenant-hr-admin, source web, IP, user agent, request id) and Integrity (Hash, Previous hash, Hash verified ✓): each event is chained to the previous one
SCREEN: Change history › event (Who and where, Integrity expanded). Signed in as Kavya Menon (Tenant HR Admin + Employee). Prerequisite: audit.view.
EVIDENCE: screenshot screenshots/security-compliance/80-ins-11b-audit-integrity.png,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Operator actions are audited separately from tenants. The header shows "NOT RECENTLY VERIFIED: 0 of 3 chains verified": verification (peopleos:audit:verify) is scheduled, and no scheduler runs locally.
ON SCREEN: Open the platform audit trail.
LEARNERS SHOULD SEE: Operator actions across tenants (tenant provisioned, suspended, reactivated, MFA changed, statutory rule events) with filters
SCREEN: Admin › Platform › Platform audit trail. Signed in as Markedge Platform Admin (Platform operator). Prerequisite: Platform operator (is_platform_admin) signed in with MFA.
EVIDENCE: screenshot screenshots/platform-admin/95-pl-22-platform-audit.png,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6, Queues, scheduler and tenant context. Background work always runs inside one tenant.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§10 (ADR-0013); ArchitectureTest "makes every queued job tenant-aware"; release gate 8.
SAY: A control enforced in code still needs an operated environment.
SAY: Background work keeps its tenant.
- TenantAwareJob: Every queued job touching tenant data captures the tenant at dispatch and binds it with BindTenantContext middleware. The architecture test enforces it for every ShouldQueue class.
- Scheduler: routes/console.php; each entry withoutOverlapping()-&gt;onOneServer(); commands iterate tenants explicitly with runAs.
- Failures: Queued failures go to failed_jobs and the Platform › Operations page; integration failures become delivery or inbound-event states, never caller exceptions.
- Operational prerequisite: A queue worker and the scheduler must run in production. None runs in the local environment; hosting and on-call are blocked (gate 8).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Database, cache, queue, failed jobs, integrations and the scheduler heartbeat (WARN here: no scheduler runs locally, release gate 8), with per-tenant status.
ON SCREEN: Open Operations.
LEARNERS SHOULD SEE: Platform health, queue depth, failed jobs by job, scheduler heartbeat, per-tenant status
SCREEN: Admin › Platform › Operations. Signed in as Markedge Platform Admin (Platform operator). Prerequisite: Platform operator (is_platform_admin) signed in with MFA.
EVIDENCE: screenshot screenshots/platform-admin/95-pl-21-operations.png,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7, Payroll and statutory safeguards. Statutory rules are data, verified by people; payroll refuses to finalise on unverified rules.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ArchitectureTest "makes payroll consume attendance and leave outputs, never their internals, and keep statutory rates out of PHP"; docs/saas/SaaS-Final-Statutory-Verification-Register.md; FINAL programme commit 064c262.
SAY: Gratuity is not calculated (stored rule only; the settlement has no gratuity line).
SAY: Payroll cannot finalise on unverified rules.
- Rules are data: Statutory rates live in versioned compliance rules, never in PHP (architecture test). 23 India rules plus 1 UAE rule; 0 of 24 verified.
- Verification: Two platform administrators verify a rule with official evidence. Until then, enforcement blocks finalisation and payslips.
- No rules, no payroll: A run in a jurisdiction without statutory rules is blocked (USA, UK and EU have no rules; owner decision O-18).
- Separation of duties: The approver of a run must differ from its creator; compensation changes need four different people; payroll consumes attendance and leave outputs, never their internals.
ASK: "Which of these points needs more explanation for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Validate on the October run: "Not allowed: 19 employee(s) have blocking exceptions. Fix the inputs and recalculate." Approve and Finalize never appear. Nothing reaches a payslip on an unverified rate.
ON SCREEN: Validate (executed).
LEARNERS SHOULD SEE: Refused: "Not allowed — N employee(s) have blocking exceptions. Fix the inputs and recalculate." Approve and Finalize never appear while blocking exceptions remain
SCREEN: Payroll run › Validate. Signed in as Arjun Bose (Payroll Admin + Employee). Prerequisite: Statutory rules verified (0 of 24 today); PAN, bank account and attendance inputs complete.
EVIDENCE: screenshot screenshots/hr-admin/60-pay-09-validate-blocked.png,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breakdown shows statutory lines as exceptions because their rules are unverified.
ON SCREEN: Breakdown on one employee.
LEARNERS SHOULD SEE: Breakdown dialog: each statutory line with its basis and source, then the list of exceptions (unverified rules, pending statutory change, PAN missing, no bank account)
SCREEN: Payroll run › Breakdown (dialog). Signed in as Arjun Bose (Payroll Admin + Employee). Prerequisite: Payroll Admin role (payroll.*); salary assigned to employees.
EVIDENCE: screenshot screenshots/hr-admin/60-pay-06-breakdown.png,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8, Export, offboarding and deletion. A customer can leave with its data. Deletion exists in code and is switched off.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docs/architecture/saas-9-offboarding.md; SaaS.12 DeletionRegister and DeletionReconciliation; release gate 11.
EVIDENCE: platform-admin/95-pl-24 to 95-pl-28 (offboarding page, legal hold placed on Northwind, retention policies: none); security-compliance/85-sec-07-data-export-request (dialog only).
SAY: Offboarding controls and their state. 
- Tenant data export | Encrypted, passphrase-protected package of the tenant's data, requested by the Account Owner or an operator (request dialog opened; not generated, because it shows a one-time passphrase) | Implemented · not verified end to end
- Legal holds | Block deletion of a tenant while a hold is active (placed on the fictional Northwind tenant in this training) | Verified in the running application
- Retention policies | Decide what may be deleted and when; none shipped (D8) | Available only after configuration
- Deletion | Maker-checker plan, cooling-off, register on a separate disk, certificate, reconciliation after restore | Disabled by safety or commercial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"Tenant deletion is switched off in this environment." Captured before the Northwind legal hold was placed (Deck 5 shows the hold).
ON SCREEN: Open Offboarding.
LEARNERS SHOULD SEE: "Tenant deletion is switched off in this environment (PEOPLEOS_TENANT_DELETION_ENABLED)." Offboarding, exports, legal holds and retention work
SCREEN: Admin › Platform › Offboarding. Signed in as Markedge Platform Admin (Platform operator). Prerequisite: Platform operator (is_platform_admin) signed in with MFA.
EVIDENCE: screenshot screenshots/platform-admin/95-pl-24-offboarding.png,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9, Integration boundaries. External systems connect through the Integration Hub; PeopleOS owns its keys and never depends on another product's database.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docs/architecture/integration-contract.md; documentation-gaps F34, F37.
SAY: Integration channels. 
- REST API v1 | /api/v1, API key → tenant, JSON errors, pagination, 120/min rate limit, Idempotency-Key on writes; OpenAPI 3.1 in docs/api/openapi.json (131 operations)
- SCIM 2.0 | User provisioning with an API key carrying SCIM scopes
- Single sign-on | OIDC only (SAML not supported)
- Outbound webhooks | HMAC-SHA256 over timestamp.body; delivery id for de-duplication; retries, dead letter and audited replay
- Inbound events | Per-system secret and signature (±5 min), idempotency key, encrypted payload purged later, retry backoff, dead letter, audited reprocess
- Known limit | API key scopes are not limited by the issuer's own permissions (F37, recommend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integration-contract.md §5 (future recruitment boundary); ArchitectureTest line "never acquires a hard RecruitmentEdge / RMS dependency (contract §3)".
AVOID: describing recruitment features as part of PeopleOS. There is no shared database.
SAY: Recruitment systems stay outside. PeopleOS is a standalone HCM product with no recruitment module. A future RecruitmentEdge (RMS) or any ATS would hand over a selected candidate through POST /api/v1/pre-employees (idempotent on the offer's external reference) or inbound events, mapped by external identifiers. No RMS database, table, model or primary key may enter PeopleOS: the architecture test "never acquires a hard RecruitmentEdge / RMS dependency" enforces it.
SEQUENCE: External ATS / RMS (its own database) → Integration Hub (auth · validate · map · idempotency · audit) → PeopleOS (pre-employee with external references)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New integration system: identifiers and the inbound security settings (signed events, timestamp window). Inbound events are listed on their own page with their processing state. Opened, not saved.
ON SCREEN: Open the New integration system form (not saved).
LEARNERS SHOULD SEE: External systems are registered here with their identifiers and mappings; the Integration Hub is the only boundary to other products
SCREEN: Admin › Platform › Integration hub › New. Signed in as Kavya Menon (Tenant HR Admin + Employee). Prerequisite: Tenant HR Admin / Account Owner (security policy); Tenant HR Admin (SSO, API keys, webhooks, integration hub).
EVIDENCE: screenshot screenshots/security-compliance/85-sec-05-integration-hub-form.png, captured 2026-10-21 on the disposable training database (fictional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10, Analytics and AI boundary. Reports run on the same scoped queries as the screens. Assistants explain; they never decide or write.
SAY: Tell learners what they will be able to do by the end of this section, then move on.
ASK: "What questions do you have before we start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architecture contract §12 (ADR-0015) and §13; implementation-status 5.8.
SAY: The "AI Payroll Auditor" is rule-based despite its label.
SAY: AI requests pass every access layer first. Datasets query through the same scoped models as the UI; sensitive fields need the dataset's sensitive permission; every export is audited. Assistants never write; answers are logged with their sources; payroll and statutory rules are deterministic. The external language model (feature ai.llm) is off by default and no provider is configured, so answers are rule-based with sources.
SEQUENCE: User (signed in) → Permission (per assistant) → Scope (queries run as the user) → Field security (identifiers redacted) → Model (off by default)
LABEL: conceptual diagram, not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implementation-status.md, documentation-gaps.md, architecture contract §1 (deferred connection routing).
SAY: Blueprint versus what is built. 
- Native mobile app | Not implemented | Responsive web only
- SMS, WhatsApp, push notifications | Incomplete · known defect or gap | Offered as channels; send nothing (F19)
- Biometric, ERP, banking connectors | Not implemented | Generic device push (Generic JSON, eSSL) only; bank file from payroll
- SAML single sign-on | Not implemented | OIDC only (F34)
- Employee import from the screen | Incomplete · known defect or gap | Map columns fails (F25)
- Gratuity calculation | Not implemented | Stored rule only; no settlement line
- Dedicated databases per tier | Not implemented | Tier and region are metadata; routing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Controls in code are necessary but not sufficient: hosting, review, DR and statutory verification are still open.
SAY: Recap the key points:
- Five layers; business rules in app/Domain, screens are delivery only.
- Tenant scoping fails closed; access is layered: role, organisation scope, relationship scope, field protection.
- Facts that change over time are effective-dated; audit events are append-only and chained.
- Workflows and policies are versioned data; running work keeps its version.
- Payroll refuses unverified statutory rules; deletion is off; integrations never share a database.
POINT TO: Read docs/architecture/peopleos-architecture-contract.md; Run php artisan test --filter=Architecture; Deck 8 shows the controls on screen; Release gate: docs/saas/SaaS-Final-Release-Gate.md
ASK: "What will you do first in PeopleOS?" Collect questions you cannot answer and send them to the PeopleOS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EOPLEOS_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chemeClr val="tx2"/>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chemeClr val="accent2"/>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5B6275"/>
                </a:solidFill>
              </a:rPr>
              <a:t>Markedge PeopleOS training  ·  Architecture and workflows</a:t>
            </a:r>
            <a:endParaRPr lang="en-US" sz="900" dirty="0"/>
          </a:p>
        </p:txBody>
      </p:sp>
      <p:sp>
        <p:nvSpPr>
          <p:cNvPr id="5" name="Text 3"/>
          <p:cNvSpPr/>
          <p:nvPr>
            <p:ph idx="103" type="body" hasCustomPrompt="1"/>
          </p:nvPr>
        </p:nvSpPr>
        <p:spPr>
          <a:xfrm>
            <a:off x="548640" y="292608"/>
            <a:ext cx="8686800" cy="274320"/>
          </a:xfrm>
          <a:prstGeom prst="rect">
            <a:avLst/>
          </a:prstGeom>
          <a:noFill/>
          <a:ln/>
        </p:spPr>
        <p:txBody>
          <a:bodyPr wrap="square" rtlCol="0"/>
          <a:lstStyle>
            <a:lvl1pPr algn="l" indent="0" marL="0">
              <a:buNone/>
              <a:defRPr lang="en-US" sz="1100" b="1" spc="150" kern="0" dirty="0">
                <a:solidFill>
                  <a:schemeClr val="accent1"/>
                </a:solidFill>
              </a:defRPr>
            </a:lvl1pPr>
          </a:lstStyle>
          <a:p>
            <a:pPr algn="l" indent="0" marL="0">
              <a:buNone/>
            </a:pPr>
            <a:endParaRPr lang="en-US" sz="1100" dirty="0"/>
          </a:p>
        </p:txBody>
      </p:sp>
      <p:sp>
        <p:nvSpPr>
          <p:cNvPr id="6" name="Text 3"/>
          <p:cNvSpPr/>
          <p:nvPr>
            <p:ph idx="104" type="title" hasCustomPrompt="1"/>
          </p:nvPr>
        </p:nvSpPr>
        <p:spPr>
          <a:xfrm>
            <a:off x="548640" y="548640"/>
            <a:ext cx="11094415" cy="713232"/>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OPLEOS_DARK">
    <p:bg>
      <p:bgPr>
        <a:solidFill>
          <a:srgbClr val="141A30"/>
        </a:solidFill>
      </p:bgPr>
    </p:bg>
    <p:spTree>
      <p:nvGrpSpPr>
        <p:cNvPr id="1" name=""/>
        <p:cNvGrpSpPr/>
        <p:nvPr/>
      </p:nvGrpSpPr>
      <p:grpSpPr>
        <a:xfrm>
          <a:off x="0" y="0"/>
          <a:ext cx="0" cy="0"/>
          <a:chOff x="0" y="0"/>
          <a:chExt cx="0" cy="0"/>
        </a:xfrm>
      </p:grpSpPr>
      <p:sp>
        <p:nvSpPr>
          <p:cNvPr id="2" name="Text 0"/>
          <p:cNvSpPr txBox="1"/>
          <p:nvPr/>
        </p:nvSpPr>
        <p:spPr>
          <a:xfrm>
            <a:off x="548640" y="6419088"/>
            <a:ext cx="457200" cy="256032"/>
          </a:xfrm>
          <a:prstGeom prst="rect">
            <a:avLst/>
          </a:prstGeom>
          <a:noFill/>
          <a:ln/>
        </p:spPr>
        <p:txBody>
          <a:bodyPr wrap="square" lIns="0" tIns="0" rIns="0" bIns="0" rtlCol="0" anchor="ctr"/>
          <a:lstStyle/>
          <a:p>
            <a:pPr indent="0" marL="0">
              <a:buNone/>
            </a:pPr>
            <a:r>
              <a:rPr lang="en-US" sz="1000" b="1" dirty="0">
                <a:solidFill>
                  <a:srgbClr val="FFFFFF"/>
                </a:solidFill>
                <a:latin typeface="Cambria" pitchFamily="34" charset="0"/>
                <a:ea typeface="Cambria" pitchFamily="34" charset="-122"/>
                <a:cs typeface="Cambria" pitchFamily="34" charset="-120"/>
              </a:rPr>
              <a:t>People</a:t>
            </a:r>
            <a:endParaRPr lang="en-US" sz="1000" dirty="0"/>
          </a:p>
        </p:txBody>
      </p:sp>
      <p:sp>
        <p:nvSpPr>
          <p:cNvPr id="3" name="Text 1"/>
          <p:cNvSpPr txBox="1"/>
          <p:nvPr/>
        </p:nvSpPr>
        <p:spPr>
          <a:xfrm>
            <a:off x="982980" y="6419088"/>
            <a:ext cx="274320" cy="256032"/>
          </a:xfrm>
          <a:prstGeom prst="rect">
            <a:avLst/>
          </a:prstGeom>
          <a:noFill/>
          <a:ln/>
        </p:spPr>
        <p:txBody>
          <a:bodyPr wrap="square" lIns="0" tIns="0" rIns="0" bIns="0" rtlCol="0" anchor="ctr"/>
          <a:lstStyle/>
          <a:p>
            <a:pPr indent="0" marL="0">
              <a:buNone/>
            </a:pPr>
            <a:r>
              <a:rPr lang="en-US" sz="1000" b="1" dirty="0">
                <a:solidFill>
                  <a:srgbClr val="E6C98F"/>
                </a:solidFill>
                <a:latin typeface="Cambria" pitchFamily="34" charset="0"/>
                <a:ea typeface="Cambria" pitchFamily="34" charset="-122"/>
                <a:cs typeface="Cambria" pitchFamily="34" charset="-120"/>
              </a:rPr>
              <a:t>OS</a:t>
            </a:r>
            <a:endParaRPr lang="en-US" sz="1000" dirty="0"/>
          </a:p>
        </p:txBody>
      </p:sp>
      <p:sp>
        <p:nvSpPr>
          <p:cNvPr id="4" name="Text 2"/>
          <p:cNvSpPr txBox="1"/>
          <p:nvPr/>
        </p:nvSpPr>
        <p:spPr>
          <a:xfrm>
            <a:off x="1371600" y="6419088"/>
            <a:ext cx="6858000" cy="256032"/>
          </a:xfrm>
          <a:prstGeom prst="rect">
            <a:avLst/>
          </a:prstGeom>
          <a:noFill/>
          <a:ln/>
        </p:spPr>
        <p:txBody>
          <a:bodyPr wrap="square" lIns="0" tIns="0" rIns="0" bIns="0" rtlCol="0" anchor="ctr"/>
          <a:lstStyle/>
          <a:p>
            <a:pPr indent="0" marL="0">
              <a:buNone/>
            </a:pPr>
            <a:r>
              <a:rPr lang="en-US" sz="900" dirty="0">
                <a:solidFill>
                  <a:srgbClr val="AEB3C7"/>
                </a:solidFill>
              </a:rPr>
              <a:t>Markedge PeopleOS training  ·  Architecture and workflows</a:t>
            </a:r>
            <a:endParaRPr lang="en-US" sz="900" dirty="0"/>
          </a:p>
        </p:txBody>
      </p:sp>
      <p:sp>
        <p:nvSpPr>
          <p:cNvPr id="5" name="Text 3"/>
          <p:cNvSpPr/>
          <p:nvPr>
            <p:ph idx="103" type="title" hasCustomPrompt="1"/>
          </p:nvPr>
        </p:nvSpPr>
        <p:spPr>
          <a:xfrm>
            <a:off x="548640" y="2331720"/>
            <a:ext cx="7040880"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640080"/>
            <a:ext cx="6400800" cy="274320"/>
          </a:xfrm>
          <a:prstGeom prst="rect">
            <a:avLst/>
          </a:prstGeom>
          <a:noFill/>
          <a:ln/>
        </p:spPr>
        <p:txBody>
          <a:bodyPr wrap="square" lIns="0" tIns="0" rIns="0" bIns="0" rtlCol="0" anchor="ctr"/>
          <a:lstStyle/>
          <a:p>
            <a:pPr indent="0" marL="0">
              <a:buNone/>
            </a:pPr>
            <a:r>
              <a:rPr lang="en-US" sz="1200" b="1" spc="200" kern="0" dirty="0">
                <a:solidFill>
                  <a:srgbClr val="E6C98F"/>
                </a:solidFill>
              </a:rPr>
              <a:t>MARKEDGE PEOPLEOS  ·  TRAINING LIBRARY</a:t>
            </a:r>
            <a:endParaRPr lang="en-US" sz="1200" dirty="0"/>
          </a:p>
        </p:txBody>
      </p:sp>
      <p:sp>
        <p:nvSpPr>
          <p:cNvPr id="4" name="Text 1"/>
          <p:cNvSpPr txBox="1"/>
          <p:nvPr/>
        </p:nvSpPr>
        <p:spPr>
          <a:xfrm>
            <a:off x="548640" y="960120"/>
            <a:ext cx="3657600" cy="274320"/>
          </a:xfrm>
          <a:prstGeom prst="rect">
            <a:avLst/>
          </a:prstGeom>
          <a:noFill/>
          <a:ln/>
        </p:spPr>
        <p:txBody>
          <a:bodyPr wrap="square" lIns="0" tIns="0" rIns="0" bIns="0" rtlCol="0" anchor="ctr"/>
          <a:lstStyle/>
          <a:p>
            <a:pPr indent="0" marL="0">
              <a:buNone/>
            </a:pPr>
            <a:r>
              <a:rPr lang="en-US" sz="1200" dirty="0">
                <a:solidFill>
                  <a:srgbClr val="AEB3C7"/>
                </a:solidFill>
              </a:rPr>
              <a:t>Deck 10 of 12</a:t>
            </a:r>
            <a:endParaRPr lang="en-US" sz="1200" dirty="0"/>
          </a:p>
        </p:txBody>
      </p:sp>
      <p:sp>
        <p:nvSpPr>
          <p:cNvPr id="5"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HCM System Architecture and Workflows</a:t>
            </a:r>
            <a:endParaRPr lang="en-US" sz="4000" dirty="0"/>
          </a:p>
        </p:txBody>
      </p:sp>
      <p:sp>
        <p:nvSpPr>
          <p:cNvPr id="6" name="Text 3"/>
          <p:cNvSpPr txBox="1"/>
          <p:nvPr/>
        </p:nvSpPr>
        <p:spPr>
          <a:xfrm>
            <a:off x="548640" y="3794760"/>
            <a:ext cx="6675120" cy="91440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How PeopleOS is built: layers, tenancy, access control, effective dating, audit, workflows, payroll safeguards and integration boundaries.</a:t>
            </a:r>
            <a:endParaRPr lang="en-US" sz="1800" dirty="0"/>
          </a:p>
        </p:txBody>
      </p:sp>
      <p:sp>
        <p:nvSpPr>
          <p:cNvPr id="7" name="Text 4"/>
          <p:cNvSpPr txBox="1"/>
          <p:nvPr/>
        </p:nvSpPr>
        <p:spPr>
          <a:xfrm>
            <a:off x="548640" y="4846320"/>
            <a:ext cx="6766560" cy="960120"/>
          </a:xfrm>
          <a:prstGeom prst="rect">
            <a:avLst/>
          </a:prstGeom>
          <a:noFill/>
          <a:ln/>
        </p:spPr>
        <p:txBody>
          <a:bodyPr wrap="square" lIns="0" tIns="0" rIns="0" bIns="0" rtlCol="0" anchor="t"/>
          <a:lstStyle/>
          <a:p>
            <a:pPr indent="0" marL="0">
              <a:buNone/>
            </a:pPr>
            <a:r>
              <a:rPr lang="en-US" sz="1200" dirty="0">
                <a:solidFill>
                  <a:srgbClr val="AEB3C7"/>
                </a:solidFill>
                <a:latin typeface="Calibri" pitchFamily="34" charset="0"/>
                <a:ea typeface="Calibri" pitchFamily="34" charset="-122"/>
                <a:cs typeface="Calibri" pitchFamily="34" charset="-120"/>
              </a:rPr>
              <a:t>For: Solution architects, engineers, implementation leads and technical reviewers</a:t>
            </a:r>
            <a:endParaRPr lang="en-US" sz="1200" dirty="0"/>
          </a:p>
          <a:p>
            <a:pPr indent="0" marL="0">
              <a:buNone/>
            </a:pPr>
            <a:r>
              <a:rPr lang="en-US" sz="1200" dirty="0">
                <a:solidFill>
                  <a:srgbClr val="AEB3C7"/>
                </a:solidFill>
                <a:latin typeface="Calibri" pitchFamily="34" charset="0"/>
                <a:ea typeface="Calibri" pitchFamily="34" charset="-122"/>
                <a:cs typeface="Calibri" pitchFamily="34" charset="-120"/>
              </a:rPr>
              <a:t>Built from the running application (local, disposable database, fictional people) · 21 October 2026</a:t>
            </a:r>
            <a:endParaRPr lang="en-US" sz="1200" dirty="0"/>
          </a:p>
        </p:txBody>
      </p:sp>
      <p:pic>
        <p:nvPicPr>
          <p:cNvPr id="8" name="Screenshot security-compliance/80-ins-11b-audit-integrity" descr="Screenshot: Change history › event (Who and where, Integrity expanded) (Kavya Menon, fictional data)">    </p:cNvPr>
          <p:cNvPicPr>
            <a:picLocks noChangeAspect="1"/>
          </p:cNvPicPr>
          <p:nvPr/>
        </p:nvPicPr>
        <p:blipFill>
          <a:blip r:embed="rId1"/>
          <a:stretch>
            <a:fillRect/>
          </a:stretch>
        </p:blipFill>
        <p:spPr>
          <a:xfrm>
            <a:off x="7818120" y="1696482"/>
            <a:ext cx="3840480" cy="3647915"/>
          </a:xfrm>
          <a:prstGeom prst="rect">
            <a:avLst/>
          </a:prstGeom>
        </p:spPr>
      </p:pic>
      <p:sp>
        <p:nvSpPr>
          <p:cNvPr id="9" name="Screenshot frame"/>
          <p:cNvSpPr/>
          <p:nvPr/>
        </p:nvSpPr>
        <p:spPr>
          <a:xfrm>
            <a:off x="7818120" y="1696482"/>
            <a:ext cx="3840480" cy="3647915"/>
          </a:xfrm>
          <a:prstGeom prst="rect">
            <a:avLst/>
          </a:prstGeom>
          <a:ln w="9525">
            <a:solidFill>
              <a:srgbClr val="D9DCE3"/>
            </a:solidFill>
            <a:prstDash val="solid"/>
          </a:ln>
        </p:spPr>
      </p:sp>
      <p:sp>
        <p:nvSpPr>
          <p:cNvPr id="10" name="Text 6"/>
          <p:cNvSpPr txBox="1"/>
          <p:nvPr/>
        </p:nvSpPr>
        <p:spPr>
          <a:xfrm>
            <a:off x="7818120" y="5943600"/>
            <a:ext cx="3840480" cy="256032"/>
          </a:xfrm>
          <a:prstGeom prst="rect">
            <a:avLst/>
          </a:prstGeom>
          <a:noFill/>
          <a:ln/>
        </p:spPr>
        <p:txBody>
          <a:bodyPr wrap="square" lIns="0" tIns="0" rIns="0" bIns="0" rtlCol="0" anchor="ctr"/>
          <a:lstStyle/>
          <a:p>
            <a:pPr algn="ctr" indent="0" marL="0">
              <a:buNone/>
            </a:pPr>
            <a:r>
              <a:rPr lang="en-US" sz="1000" dirty="0">
                <a:solidFill>
                  <a:srgbClr val="AEB3C7"/>
                </a:solidFill>
              </a:rPr>
              <a:t>Real screen, fictional data</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BEFORE YOU START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to read this deck</a:t>
            </a:r>
            <a:endParaRPr lang="en-US" sz="2800" dirty="0"/>
          </a:p>
        </p:txBody>
      </p:sp>
      <p:sp>
        <p:nvSpPr>
          <p:cNvPr id="5" name="Status"/>
          <p:cNvSpPr txBox="1"/>
          <p:nvPr/>
        </p:nvSpPr>
        <p:spPr>
          <a:xfrm>
            <a:off x="548640" y="1463040"/>
            <a:ext cx="3749040"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6" name="Text 3"/>
          <p:cNvSpPr txBox="1"/>
          <p:nvPr/>
        </p:nvSpPr>
        <p:spPr>
          <a:xfrm>
            <a:off x="4526280" y="144475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We ran it on the training database and captured each step.</a:t>
            </a:r>
            <a:endParaRPr lang="en-US" sz="1200" dirty="0"/>
          </a:p>
        </p:txBody>
      </p:sp>
      <p:sp>
        <p:nvSpPr>
          <p:cNvPr id="7" name="Status"/>
          <p:cNvSpPr txBox="1"/>
          <p:nvPr/>
        </p:nvSpPr>
        <p:spPr>
          <a:xfrm>
            <a:off x="548640" y="2084832"/>
            <a:ext cx="3749040" cy="292608"/>
          </a:xfrm>
          <a:prstGeom prst="roundRect">
            <a:avLst>
              <a:gd name="adj" fmla="val 50000"/>
            </a:avLst>
          </a:prstGeom>
          <a:solidFill>
            <a:srgbClr val="ECEAFB"/>
          </a:solidFill>
          <a:ln/>
        </p:spPr>
        <p:txBody>
          <a:bodyPr wrap="square" lIns="0" tIns="0" rIns="0" bIns="0" rtlCol="0" anchor="ctr"/>
          <a:lstStyle/>
          <a:p>
            <a:pPr algn="ctr" indent="0" marL="0">
              <a:buNone/>
            </a:pPr>
            <a:r>
              <a:rPr lang="en-US" sz="1050" b="1" dirty="0">
                <a:solidFill>
                  <a:srgbClr val="3E3594"/>
                </a:solidFill>
              </a:rPr>
              <a:t>Implemented · not verified end to end</a:t>
            </a:r>
            <a:endParaRPr lang="en-US" sz="1050" dirty="0"/>
          </a:p>
        </p:txBody>
      </p:sp>
      <p:sp>
        <p:nvSpPr>
          <p:cNvPr id="8" name="Text 5"/>
          <p:cNvSpPr txBox="1"/>
          <p:nvPr/>
        </p:nvSpPr>
        <p:spPr>
          <a:xfrm>
            <a:off x="4526280" y="206654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The screen exists; the last steps need data or a second party we could not provide.</a:t>
            </a:r>
            <a:endParaRPr lang="en-US" sz="1200" dirty="0"/>
          </a:p>
        </p:txBody>
      </p:sp>
      <p:sp>
        <p:nvSpPr>
          <p:cNvPr id="9" name="Status"/>
          <p:cNvSpPr txBox="1"/>
          <p:nvPr/>
        </p:nvSpPr>
        <p:spPr>
          <a:xfrm>
            <a:off x="548640" y="2706624"/>
            <a:ext cx="3749040" cy="292608"/>
          </a:xfrm>
          <a:prstGeom prst="roundRect">
            <a:avLst>
              <a:gd name="adj" fmla="val 50000"/>
            </a:avLst>
          </a:prstGeom>
          <a:solidFill>
            <a:srgbClr val="E4EEF8"/>
          </a:solidFill>
          <a:ln/>
        </p:spPr>
        <p:txBody>
          <a:bodyPr wrap="square" lIns="0" tIns="0" rIns="0" bIns="0" rtlCol="0" anchor="ctr"/>
          <a:lstStyle/>
          <a:p>
            <a:pPr algn="ctr" indent="0" marL="0">
              <a:buNone/>
            </a:pPr>
            <a:r>
              <a:rPr lang="en-US" sz="1050" b="1" dirty="0">
                <a:solidFill>
                  <a:srgbClr val="2F6FB3"/>
                </a:solidFill>
              </a:rPr>
              <a:t>Available only after configuration</a:t>
            </a:r>
            <a:endParaRPr lang="en-US" sz="1050" dirty="0"/>
          </a:p>
        </p:txBody>
      </p:sp>
      <p:sp>
        <p:nvSpPr>
          <p:cNvPr id="10" name="Text 7"/>
          <p:cNvSpPr txBox="1"/>
          <p:nvPr/>
        </p:nvSpPr>
        <p:spPr>
          <a:xfrm>
            <a:off x="4526280" y="2688336"/>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Works once an administrator or Markedge has set it up.</a:t>
            </a:r>
            <a:endParaRPr lang="en-US" sz="1200" dirty="0"/>
          </a:p>
        </p:txBody>
      </p:sp>
      <p:sp>
        <p:nvSpPr>
          <p:cNvPr id="11" name="Status"/>
          <p:cNvSpPr txBox="1"/>
          <p:nvPr/>
        </p:nvSpPr>
        <p:spPr>
          <a:xfrm>
            <a:off x="548640" y="3328416"/>
            <a:ext cx="3749040"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12" name="Text 9"/>
          <p:cNvSpPr txBox="1"/>
          <p:nvPr/>
        </p:nvSpPr>
        <p:spPr>
          <a:xfrm>
            <a:off x="4526280" y="3310128"/>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Switched off on purpose until owner decisions and approvals arrive.</a:t>
            </a:r>
            <a:endParaRPr lang="en-US" sz="1200" dirty="0"/>
          </a:p>
        </p:txBody>
      </p:sp>
      <p:sp>
        <p:nvSpPr>
          <p:cNvPr id="13" name="Status"/>
          <p:cNvSpPr txBox="1"/>
          <p:nvPr/>
        </p:nvSpPr>
        <p:spPr>
          <a:xfrm>
            <a:off x="548640" y="3950208"/>
            <a:ext cx="3749040" cy="292608"/>
          </a:xfrm>
          <a:prstGeom prst="roundRect">
            <a:avLst>
              <a:gd name="adj" fmla="val 50000"/>
            </a:avLst>
          </a:prstGeom>
          <a:solidFill>
            <a:srgbClr val="FBE6E4"/>
          </a:solidFill>
          <a:ln/>
        </p:spPr>
        <p:txBody>
          <a:bodyPr wrap="square" lIns="0" tIns="0" rIns="0" bIns="0" rtlCol="0" anchor="ctr"/>
          <a:lstStyle/>
          <a:p>
            <a:pPr algn="ctr" indent="0" marL="0">
              <a:buNone/>
            </a:pPr>
            <a:r>
              <a:rPr lang="en-US" sz="1050" b="1" dirty="0">
                <a:solidFill>
                  <a:srgbClr val="B3261E"/>
                </a:solidFill>
              </a:rPr>
              <a:t>Incomplete · known defect or gap</a:t>
            </a:r>
            <a:endParaRPr lang="en-US" sz="1050" dirty="0"/>
          </a:p>
        </p:txBody>
      </p:sp>
      <p:sp>
        <p:nvSpPr>
          <p:cNvPr id="14" name="Text 11"/>
          <p:cNvSpPr txBox="1"/>
          <p:nvPr/>
        </p:nvSpPr>
        <p:spPr>
          <a:xfrm>
            <a:off x="4526280" y="3931920"/>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Partly working: a known defect or gap is stated on the slide.</a:t>
            </a:r>
            <a:endParaRPr lang="en-US" sz="1200" dirty="0"/>
          </a:p>
        </p:txBody>
      </p:sp>
      <p:sp>
        <p:nvSpPr>
          <p:cNvPr id="15" name="Status"/>
          <p:cNvSpPr txBox="1"/>
          <p:nvPr/>
        </p:nvSpPr>
        <p:spPr>
          <a:xfrm>
            <a:off x="548640" y="4572000"/>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Not implemented</a:t>
            </a:r>
            <a:endParaRPr lang="en-US" sz="1050" dirty="0"/>
          </a:p>
        </p:txBody>
      </p:sp>
      <p:sp>
        <p:nvSpPr>
          <p:cNvPr id="16" name="Text 13"/>
          <p:cNvSpPr txBox="1"/>
          <p:nvPr/>
        </p:nvSpPr>
        <p:spPr>
          <a:xfrm>
            <a:off x="4526280" y="4553712"/>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Not in the product today.</a:t>
            </a:r>
            <a:endParaRPr lang="en-US" sz="1200" dirty="0"/>
          </a:p>
        </p:txBody>
      </p:sp>
      <p:sp>
        <p:nvSpPr>
          <p:cNvPr id="17" name="Status"/>
          <p:cNvSpPr txBox="1"/>
          <p:nvPr/>
        </p:nvSpPr>
        <p:spPr>
          <a:xfrm>
            <a:off x="548640" y="5193792"/>
            <a:ext cx="3749040" cy="292608"/>
          </a:xfrm>
          <a:prstGeom prst="roundRect">
            <a:avLst>
              <a:gd name="adj" fmla="val 50000"/>
            </a:avLst>
          </a:prstGeom>
          <a:solidFill>
            <a:srgbClr val="EEEFF2"/>
          </a:solidFill>
          <a:ln/>
        </p:spPr>
        <p:txBody>
          <a:bodyPr wrap="square" lIns="0" tIns="0" rIns="0" bIns="0" rtlCol="0" anchor="ctr"/>
          <a:lstStyle/>
          <a:p>
            <a:pPr algn="ctr" indent="0" marL="0">
              <a:buNone/>
            </a:pPr>
            <a:r>
              <a:rPr lang="en-US" sz="1050" b="1" dirty="0">
                <a:solidFill>
                  <a:srgbClr val="6B7280"/>
                </a:solidFill>
              </a:rPr>
              <a:t>Unable to verify</a:t>
            </a:r>
            <a:endParaRPr lang="en-US" sz="1050" dirty="0"/>
          </a:p>
        </p:txBody>
      </p:sp>
      <p:sp>
        <p:nvSpPr>
          <p:cNvPr id="18" name="Text 15"/>
          <p:cNvSpPr txBox="1"/>
          <p:nvPr/>
        </p:nvSpPr>
        <p:spPr>
          <a:xfrm>
            <a:off x="4526280" y="5175504"/>
            <a:ext cx="3154680" cy="603504"/>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Could not be checked in this environment.</a:t>
            </a:r>
            <a:endParaRPr lang="en-US" sz="1200" dirty="0"/>
          </a:p>
        </p:txBody>
      </p:sp>
      <p:sp>
        <p:nvSpPr>
          <p:cNvPr id="19" name="Shape 16"/>
          <p:cNvSpPr/>
          <p:nvPr/>
        </p:nvSpPr>
        <p:spPr>
          <a:xfrm>
            <a:off x="7818120" y="1463040"/>
            <a:ext cx="3824935" cy="4206240"/>
          </a:xfrm>
          <a:prstGeom prst="roundRect">
            <a:avLst>
              <a:gd name="adj" fmla="val 2869"/>
            </a:avLst>
          </a:prstGeom>
          <a:solidFill>
            <a:srgbClr val="F4F5F8"/>
          </a:solidFill>
          <a:ln w="12700">
            <a:solidFill>
              <a:srgbClr val="F4F5F8"/>
            </a:solidFill>
            <a:prstDash val="solid"/>
          </a:ln>
        </p:spPr>
      </p:sp>
      <p:sp>
        <p:nvSpPr>
          <p:cNvPr id="20" name="Callout 1"/>
          <p:cNvSpPr txBox="1"/>
          <p:nvPr/>
        </p:nvSpPr>
        <p:spPr>
          <a:xfrm>
            <a:off x="8092440" y="1691640"/>
            <a:ext cx="329184" cy="329184"/>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8549640" y="1673352"/>
            <a:ext cx="2910535"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Numbered markers on a screenshot match the numbered steps beside it.</a:t>
            </a:r>
            <a:endParaRPr lang="en-US" sz="1300" dirty="0"/>
          </a:p>
        </p:txBody>
      </p:sp>
      <p:sp>
        <p:nvSpPr>
          <p:cNvPr id="22" name="Text 19"/>
          <p:cNvSpPr txBox="1"/>
          <p:nvPr/>
        </p:nvSpPr>
        <p:spPr>
          <a:xfrm>
            <a:off x="8092440" y="251460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screenshot is a real capture of PeopleOS. The people and companies in it are fictional.</a:t>
            </a:r>
            <a:endParaRPr lang="en-US" sz="1300" dirty="0"/>
          </a:p>
        </p:txBody>
      </p:sp>
      <p:sp>
        <p:nvSpPr>
          <p:cNvPr id="23" name="Text 20"/>
          <p:cNvSpPr txBox="1"/>
          <p:nvPr/>
        </p:nvSpPr>
        <p:spPr>
          <a:xfrm>
            <a:off x="8092440" y="3383280"/>
            <a:ext cx="3276295" cy="8229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Diagrams are marked "Conceptual diagram". They explain ideas; they are not screens.</a:t>
            </a:r>
            <a:endParaRPr lang="en-US" sz="1300" dirty="0"/>
          </a:p>
        </p:txBody>
      </p:sp>
      <p:sp>
        <p:nvSpPr>
          <p:cNvPr id="24" name="Text 21"/>
          <p:cNvSpPr txBox="1"/>
          <p:nvPr/>
        </p:nvSpPr>
        <p:spPr>
          <a:xfrm>
            <a:off x="8092440" y="4251960"/>
            <a:ext cx="3276295" cy="1280160"/>
          </a:xfrm>
          <a:prstGeom prst="rect">
            <a:avLst/>
          </a:prstGeom>
          <a:noFill/>
          <a:ln/>
        </p:spPr>
        <p:txBody>
          <a:bodyPr wrap="square" lIns="0" tIns="0" rIns="0" bIns="0" rtlCol="0" anchor="t"/>
          <a:lstStyle/>
          <a:p>
            <a:pPr indent="0" marL="0">
              <a:buNone/>
            </a:pPr>
            <a:r>
              <a:rPr lang="en-US" sz="1300" b="1" dirty="0">
                <a:solidFill>
                  <a:srgbClr val="B3261E"/>
                </a:solidFill>
                <a:latin typeface="Calibri" pitchFamily="34" charset="0"/>
                <a:ea typeface="Calibri" pitchFamily="34" charset="-122"/>
                <a:cs typeface="Calibri" pitchFamily="34" charset="-120"/>
              </a:rPr>
              <a:t>Release gate: NO-GO (10 of 14 gates blocked, re-verified 13 Oct 2026). Not yet generally available.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ABOUT THIS TRAINING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these screens were produced</a:t>
            </a:r>
            <a:endParaRPr lang="en-US" sz="2800" dirty="0"/>
          </a:p>
        </p:txBody>
      </p:sp>
      <p:sp>
        <p:nvSpPr>
          <p:cNvPr id="5" name="Shape 2"/>
          <p:cNvSpPr/>
          <p:nvPr/>
        </p:nvSpPr>
        <p:spPr>
          <a:xfrm>
            <a:off x="548640" y="1463040"/>
            <a:ext cx="5432908" cy="2286000"/>
          </a:xfrm>
          <a:prstGeom prst="roundRect">
            <a:avLst>
              <a:gd name="adj" fmla="val 4000"/>
            </a:avLst>
          </a:prstGeom>
          <a:solidFill>
            <a:srgbClr val="ECEAFB"/>
          </a:solidFill>
          <a:ln w="12700">
            <a:solidFill>
              <a:srgbClr val="ECEAFB"/>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Real application</a:t>
            </a:r>
            <a:endParaRPr lang="en-US" sz="1600" dirty="0"/>
          </a:p>
        </p:txBody>
      </p:sp>
      <p:sp>
        <p:nvSpPr>
          <p:cNvPr id="7" name="Text 4"/>
          <p:cNvSpPr txBox="1"/>
          <p:nvPr/>
        </p:nvSpPr>
        <p:spPr>
          <a:xfrm>
            <a:off x="777240"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PeopleOS at commit 72c96a73, run locally. No application file or setting was changed for the training.</a:t>
            </a:r>
            <a:endParaRPr lang="en-US" sz="1400" dirty="0"/>
          </a:p>
        </p:txBody>
      </p:sp>
      <p:sp>
        <p:nvSpPr>
          <p:cNvPr id="8" name="Shape 5"/>
          <p:cNvSpPr/>
          <p:nvPr/>
        </p:nvSpPr>
        <p:spPr>
          <a:xfrm>
            <a:off x="6210148" y="1463040"/>
            <a:ext cx="5432908" cy="2286000"/>
          </a:xfrm>
          <a:prstGeom prst="roundRect">
            <a:avLst>
              <a:gd name="adj" fmla="val 4000"/>
            </a:avLst>
          </a:prstGeom>
          <a:solidFill>
            <a:srgbClr val="ECEAFB"/>
          </a:solidFill>
          <a:ln w="12700">
            <a:solidFill>
              <a:srgbClr val="ECEAFB"/>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Disposable database</a:t>
            </a:r>
            <a:endParaRPr lang="en-US" sz="1600" dirty="0"/>
          </a:p>
        </p:txBody>
      </p:sp>
      <p:sp>
        <p:nvSpPr>
          <p:cNvPr id="10" name="Text 7"/>
          <p:cNvSpPr txBox="1"/>
          <p:nvPr/>
        </p:nvSpPr>
        <p:spPr>
          <a:xfrm>
            <a:off x="6438748"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hcm_training_showcase, seeded with the guarded showcase seeder: invented people at the fictional Demo Group.</a:t>
            </a:r>
            <a:endParaRPr lang="en-US" sz="1400" dirty="0"/>
          </a:p>
        </p:txBody>
      </p:sp>
      <p:sp>
        <p:nvSpPr>
          <p:cNvPr id="11" name="Shape 8"/>
          <p:cNvSpPr/>
          <p:nvPr/>
        </p:nvSpPr>
        <p:spPr>
          <a:xfrm>
            <a:off x="548640" y="3977640"/>
            <a:ext cx="5432908" cy="2286000"/>
          </a:xfrm>
          <a:prstGeom prst="roundRect">
            <a:avLst>
              <a:gd name="adj" fmla="val 4000"/>
            </a:avLst>
          </a:prstGeom>
          <a:solidFill>
            <a:srgbClr val="E3F3EA"/>
          </a:solidFill>
          <a:ln w="12700">
            <a:solidFill>
              <a:srgbClr val="E3F3EA"/>
            </a:solidFill>
            <a:prstDash val="solid"/>
          </a:ln>
        </p:spPr>
      </p:sp>
      <p:sp>
        <p:nvSpPr>
          <p:cNvPr id="12" name="Text 9"/>
          <p:cNvSpPr txBox="1"/>
          <p:nvPr/>
        </p:nvSpPr>
        <p:spPr>
          <a:xfrm>
            <a:off x="777240"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Workflows executed</a:t>
            </a:r>
            <a:endParaRPr lang="en-US" sz="1600" dirty="0"/>
          </a:p>
        </p:txBody>
      </p:sp>
      <p:sp>
        <p:nvSpPr>
          <p:cNvPr id="13" name="Text 10"/>
          <p:cNvSpPr txBox="1"/>
          <p:nvPr/>
        </p:nvSpPr>
        <p:spPr>
          <a:xfrm>
            <a:off x="777240"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Requests were submitted, approved, rejected and processed so that every state shown really happened.</a:t>
            </a:r>
            <a:endParaRPr lang="en-US" sz="1400" dirty="0"/>
          </a:p>
        </p:txBody>
      </p:sp>
      <p:sp>
        <p:nvSpPr>
          <p:cNvPr id="14" name="Shape 11"/>
          <p:cNvSpPr/>
          <p:nvPr/>
        </p:nvSpPr>
        <p:spPr>
          <a:xfrm>
            <a:off x="6210148" y="3977640"/>
            <a:ext cx="5432908" cy="2286000"/>
          </a:xfrm>
          <a:prstGeom prst="roundRect">
            <a:avLst>
              <a:gd name="adj" fmla="val 4000"/>
            </a:avLst>
          </a:prstGeom>
          <a:solidFill>
            <a:srgbClr val="E3F3EA"/>
          </a:solidFill>
          <a:ln w="12700">
            <a:solidFill>
              <a:srgbClr val="E3F3EA"/>
            </a:solidFill>
            <a:prstDash val="solid"/>
          </a:ln>
        </p:spPr>
      </p:sp>
      <p:sp>
        <p:nvSpPr>
          <p:cNvPr id="15" name="Text 12"/>
          <p:cNvSpPr txBox="1"/>
          <p:nvPr/>
        </p:nvSpPr>
        <p:spPr>
          <a:xfrm>
            <a:off x="6438748"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Nothing switched on</a:t>
            </a:r>
            <a:endParaRPr lang="en-US" sz="1600" dirty="0"/>
          </a:p>
        </p:txBody>
      </p:sp>
      <p:sp>
        <p:nvSpPr>
          <p:cNvPr id="16" name="Text 13"/>
          <p:cNvSpPr txBox="1"/>
          <p:nvPr/>
        </p:nvSpPr>
        <p:spPr>
          <a:xfrm>
            <a:off x="6438748"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Public signup, live payments and tenant deletion stayed off. The operator used MFA. No secret is shown.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LEARNING OBJECTIVES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you will be able to explain</a:t>
            </a:r>
            <a:endParaRPr lang="en-US" sz="2800" dirty="0"/>
          </a:p>
        </p:txBody>
      </p:sp>
      <p:sp>
        <p:nvSpPr>
          <p:cNvPr id="5" name="Shape 2"/>
          <p:cNvSpPr/>
          <p:nvPr/>
        </p:nvSpPr>
        <p:spPr>
          <a:xfrm>
            <a:off x="548640" y="1463040"/>
            <a:ext cx="5410048" cy="960120"/>
          </a:xfrm>
          <a:prstGeom prst="roundRect">
            <a:avLst>
              <a:gd name="adj" fmla="val 9524"/>
            </a:avLst>
          </a:prstGeom>
          <a:solidFill>
            <a:srgbClr val="F4F5F8"/>
          </a:solidFill>
          <a:ln w="12700">
            <a:solidFill>
              <a:srgbClr val="F4F5F8"/>
            </a:solidFill>
            <a:prstDash val="solid"/>
          </a:ln>
        </p:spPr>
      </p:sp>
      <p:sp>
        <p:nvSpPr>
          <p:cNvPr id="6" name="Callout 1"/>
          <p:cNvSpPr txBox="1"/>
          <p:nvPr/>
        </p:nvSpPr>
        <p:spPr>
          <a:xfrm>
            <a:off x="731520"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The five product layers</a:t>
            </a:r>
            <a:endParaRPr lang="en-US" sz="1500" dirty="0"/>
          </a:p>
          <a:p>
            <a:pPr indent="0" marL="0">
              <a:buNone/>
            </a:pPr>
            <a:r>
              <a:rPr lang="en-US" sz="1300" dirty="0">
                <a:solidFill>
                  <a:srgbClr val="5B6275"/>
                </a:solidFill>
              </a:rPr>
              <a:t>and which modules sit where</a:t>
            </a:r>
            <a:endParaRPr lang="en-US" sz="1500" dirty="0"/>
          </a:p>
        </p:txBody>
      </p:sp>
      <p:sp>
        <p:nvSpPr>
          <p:cNvPr id="8" name="Shape 5"/>
          <p:cNvSpPr/>
          <p:nvPr/>
        </p:nvSpPr>
        <p:spPr>
          <a:xfrm>
            <a:off x="548640" y="2587752"/>
            <a:ext cx="5410048" cy="960120"/>
          </a:xfrm>
          <a:prstGeom prst="roundRect">
            <a:avLst>
              <a:gd name="adj" fmla="val 9524"/>
            </a:avLst>
          </a:prstGeom>
          <a:solidFill>
            <a:srgbClr val="F4F5F8"/>
          </a:solidFill>
          <a:ln w="12700">
            <a:solidFill>
              <a:srgbClr val="F4F5F8"/>
            </a:solidFill>
            <a:prstDash val="solid"/>
          </a:ln>
        </p:spPr>
      </p:sp>
      <p:sp>
        <p:nvSpPr>
          <p:cNvPr id="9" name="Callout 2"/>
          <p:cNvSpPr txBox="1"/>
          <p:nvPr/>
        </p:nvSpPr>
        <p:spPr>
          <a:xfrm>
            <a:off x="731520"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1280160"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One person, one lifetime record</a:t>
            </a:r>
            <a:endParaRPr lang="en-US" sz="1500" dirty="0"/>
          </a:p>
          <a:p>
            <a:pPr indent="0" marL="0">
              <a:buNone/>
            </a:pPr>
            <a:r>
              <a:rPr lang="en-US" sz="1300" dirty="0">
                <a:solidFill>
                  <a:srgbClr val="5B6275"/>
                </a:solidFill>
              </a:rPr>
              <a:t>Person, Employee, effective-dated assignments</a:t>
            </a:r>
            <a:endParaRPr lang="en-US" sz="1500" dirty="0"/>
          </a:p>
        </p:txBody>
      </p:sp>
      <p:sp>
        <p:nvSpPr>
          <p:cNvPr id="11" name="Shape 8"/>
          <p:cNvSpPr/>
          <p:nvPr/>
        </p:nvSpPr>
        <p:spPr>
          <a:xfrm>
            <a:off x="548640" y="3712464"/>
            <a:ext cx="5410048" cy="960120"/>
          </a:xfrm>
          <a:prstGeom prst="roundRect">
            <a:avLst>
              <a:gd name="adj" fmla="val 9524"/>
            </a:avLst>
          </a:prstGeom>
          <a:solidFill>
            <a:srgbClr val="F4F5F8"/>
          </a:solidFill>
          <a:ln w="12700">
            <a:solidFill>
              <a:srgbClr val="F4F5F8"/>
            </a:solidFill>
            <a:prstDash val="solid"/>
          </a:ln>
        </p:spPr>
      </p:sp>
      <p:sp>
        <p:nvSpPr>
          <p:cNvPr id="12" name="Callout 3"/>
          <p:cNvSpPr txBox="1"/>
          <p:nvPr/>
        </p:nvSpPr>
        <p:spPr>
          <a:xfrm>
            <a:off x="731520"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0"/>
          <p:cNvSpPr txBox="1"/>
          <p:nvPr/>
        </p:nvSpPr>
        <p:spPr>
          <a:xfrm>
            <a:off x="1280160"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Tenant isolation and layered access</a:t>
            </a:r>
            <a:endParaRPr lang="en-US" sz="1500" dirty="0"/>
          </a:p>
          <a:p>
            <a:pPr indent="0" marL="0">
              <a:buNone/>
            </a:pPr>
            <a:r>
              <a:rPr lang="en-US" sz="1300" dirty="0">
                <a:solidFill>
                  <a:srgbClr val="5B6275"/>
                </a:solidFill>
              </a:rPr>
              <a:t>fail-closed tenancy, scopes, field protection</a:t>
            </a:r>
            <a:endParaRPr lang="en-US" sz="1500" dirty="0"/>
          </a:p>
        </p:txBody>
      </p:sp>
      <p:sp>
        <p:nvSpPr>
          <p:cNvPr id="14" name="Shape 11"/>
          <p:cNvSpPr/>
          <p:nvPr/>
        </p:nvSpPr>
        <p:spPr>
          <a:xfrm>
            <a:off x="6233008" y="1463040"/>
            <a:ext cx="5410048" cy="960120"/>
          </a:xfrm>
          <a:prstGeom prst="roundRect">
            <a:avLst>
              <a:gd name="adj" fmla="val 9524"/>
            </a:avLst>
          </a:prstGeom>
          <a:solidFill>
            <a:srgbClr val="F4F5F8"/>
          </a:solidFill>
          <a:ln w="12700">
            <a:solidFill>
              <a:srgbClr val="F4F5F8"/>
            </a:solidFill>
            <a:prstDash val="solid"/>
          </a:ln>
        </p:spPr>
      </p:sp>
      <p:sp>
        <p:nvSpPr>
          <p:cNvPr id="15" name="Callout 4"/>
          <p:cNvSpPr txBox="1"/>
          <p:nvPr/>
        </p:nvSpPr>
        <p:spPr>
          <a:xfrm>
            <a:off x="6415888" y="1751076"/>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6" name="Text 13"/>
          <p:cNvSpPr txBox="1"/>
          <p:nvPr/>
        </p:nvSpPr>
        <p:spPr>
          <a:xfrm>
            <a:off x="6964528" y="1536192"/>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Configuration and workflow versioning</a:t>
            </a:r>
            <a:endParaRPr lang="en-US" sz="1500" dirty="0"/>
          </a:p>
          <a:p>
            <a:pPr indent="0" marL="0">
              <a:buNone/>
            </a:pPr>
            <a:r>
              <a:rPr lang="en-US" sz="1300" dirty="0">
                <a:solidFill>
                  <a:srgbClr val="5B6275"/>
                </a:solidFill>
              </a:rPr>
              <a:t>policies, rules, pinned workflow versions</a:t>
            </a:r>
            <a:endParaRPr lang="en-US" sz="1500" dirty="0"/>
          </a:p>
        </p:txBody>
      </p:sp>
      <p:sp>
        <p:nvSpPr>
          <p:cNvPr id="17" name="Shape 14"/>
          <p:cNvSpPr/>
          <p:nvPr/>
        </p:nvSpPr>
        <p:spPr>
          <a:xfrm>
            <a:off x="6233008" y="2587752"/>
            <a:ext cx="5410048" cy="960120"/>
          </a:xfrm>
          <a:prstGeom prst="roundRect">
            <a:avLst>
              <a:gd name="adj" fmla="val 9524"/>
            </a:avLst>
          </a:prstGeom>
          <a:solidFill>
            <a:srgbClr val="F4F5F8"/>
          </a:solidFill>
          <a:ln w="12700">
            <a:solidFill>
              <a:srgbClr val="F4F5F8"/>
            </a:solidFill>
            <a:prstDash val="solid"/>
          </a:ln>
        </p:spPr>
      </p:sp>
      <p:sp>
        <p:nvSpPr>
          <p:cNvPr id="18" name="Callout 5"/>
          <p:cNvSpPr txBox="1"/>
          <p:nvPr/>
        </p:nvSpPr>
        <p:spPr>
          <a:xfrm>
            <a:off x="6415888" y="2875788"/>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9" name="Text 16"/>
          <p:cNvSpPr txBox="1"/>
          <p:nvPr/>
        </p:nvSpPr>
        <p:spPr>
          <a:xfrm>
            <a:off x="6964528" y="2660904"/>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Audit and change history</a:t>
            </a:r>
            <a:endParaRPr lang="en-US" sz="1500" dirty="0"/>
          </a:p>
          <a:p>
            <a:pPr indent="0" marL="0">
              <a:buNone/>
            </a:pPr>
            <a:r>
              <a:rPr lang="en-US" sz="1300" dirty="0">
                <a:solidFill>
                  <a:srgbClr val="5B6275"/>
                </a:solidFill>
              </a:rPr>
              <a:t>append-only events with a hash chain</a:t>
            </a:r>
            <a:endParaRPr lang="en-US" sz="1500" dirty="0"/>
          </a:p>
        </p:txBody>
      </p:sp>
      <p:sp>
        <p:nvSpPr>
          <p:cNvPr id="20" name="Shape 17"/>
          <p:cNvSpPr/>
          <p:nvPr/>
        </p:nvSpPr>
        <p:spPr>
          <a:xfrm>
            <a:off x="6233008" y="3712464"/>
            <a:ext cx="5410048" cy="960120"/>
          </a:xfrm>
          <a:prstGeom prst="roundRect">
            <a:avLst>
              <a:gd name="adj" fmla="val 9524"/>
            </a:avLst>
          </a:prstGeom>
          <a:solidFill>
            <a:srgbClr val="F4F5F8"/>
          </a:solidFill>
          <a:ln w="12700">
            <a:solidFill>
              <a:srgbClr val="F4F5F8"/>
            </a:solidFill>
            <a:prstDash val="solid"/>
          </a:ln>
        </p:spPr>
      </p:sp>
      <p:sp>
        <p:nvSpPr>
          <p:cNvPr id="21" name="Callout 6"/>
          <p:cNvSpPr txBox="1"/>
          <p:nvPr/>
        </p:nvSpPr>
        <p:spPr>
          <a:xfrm>
            <a:off x="6415888" y="4000500"/>
            <a:ext cx="384048" cy="384048"/>
          </a:xfrm>
          <a:prstGeom prst="ellipse">
            <a:avLst/>
          </a:prstGeom>
          <a:solidFill>
            <a:srgbClr val="574BC4"/>
          </a:solidFill>
          <a:ln w="19050">
            <a:solidFill>
              <a:srgbClr val="FFFFFF"/>
            </a:solid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2" name="Text 19"/>
          <p:cNvSpPr txBox="1"/>
          <p:nvPr/>
        </p:nvSpPr>
        <p:spPr>
          <a:xfrm>
            <a:off x="6964528" y="3785616"/>
            <a:ext cx="4495648" cy="813816"/>
          </a:xfrm>
          <a:prstGeom prst="rect">
            <a:avLst/>
          </a:prstGeom>
          <a:noFill/>
          <a:ln/>
        </p:spPr>
        <p:txBody>
          <a:bodyPr wrap="square" lIns="0" tIns="0" rIns="0" bIns="0" rtlCol="0" anchor="ctr"/>
          <a:lstStyle/>
          <a:p>
            <a:pPr indent="0" marL="0">
              <a:buNone/>
            </a:pPr>
            <a:r>
              <a:rPr lang="en-US" sz="1500" b="1" dirty="0">
                <a:solidFill>
                  <a:schemeClr val="tx2"/>
                </a:solidFill>
              </a:rPr>
              <a:t>Safeguards and boundaries</a:t>
            </a:r>
            <a:endParaRPr lang="en-US" sz="1500" dirty="0"/>
          </a:p>
          <a:p>
            <a:pPr indent="0" marL="0">
              <a:buNone/>
            </a:pPr>
            <a:r>
              <a:rPr lang="en-US" sz="1300" dirty="0">
                <a:solidFill>
                  <a:srgbClr val="5B6275"/>
                </a:solidFill>
              </a:rPr>
              <a:t>payroll gates, offboarding, integrations, AI</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01</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Product architecture</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Five layers from the blueprint, realised as domain modules with thin delivery layers.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PRODUCT ARCHITECTURE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Five layers, one product</a:t>
            </a:r>
            <a:endParaRPr lang="en-US" sz="2800" dirty="0"/>
          </a:p>
        </p:txBody>
      </p:sp>
      <p:sp>
        <p:nvSpPr>
          <p:cNvPr id="5" name="Shape 2"/>
          <p:cNvSpPr/>
          <p:nvPr/>
        </p:nvSpPr>
        <p:spPr>
          <a:xfrm>
            <a:off x="548640" y="1463040"/>
            <a:ext cx="2651760" cy="826618"/>
          </a:xfrm>
          <a:prstGeom prst="roundRect">
            <a:avLst>
              <a:gd name="adj" fmla="val 8850"/>
            </a:avLst>
          </a:prstGeom>
          <a:solidFill>
            <a:srgbClr val="574BC4"/>
          </a:solidFill>
          <a:ln w="12700">
            <a:solidFill>
              <a:srgbClr val="141A30"/>
            </a:solidFill>
            <a:prstDash val="solid"/>
          </a:ln>
        </p:spPr>
      </p:sp>
      <p:sp>
        <p:nvSpPr>
          <p:cNvPr id="6" name="Text 3"/>
          <p:cNvSpPr txBox="1"/>
          <p:nvPr/>
        </p:nvSpPr>
        <p:spPr>
          <a:xfrm>
            <a:off x="685800" y="1508760"/>
            <a:ext cx="2377440" cy="73517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Experience</a:t>
            </a:r>
            <a:endParaRPr lang="en-US" sz="1400" dirty="0"/>
          </a:p>
        </p:txBody>
      </p:sp>
      <p:sp>
        <p:nvSpPr>
          <p:cNvPr id="7" name="Shape 4"/>
          <p:cNvSpPr/>
          <p:nvPr/>
        </p:nvSpPr>
        <p:spPr>
          <a:xfrm>
            <a:off x="3383280" y="1463040"/>
            <a:ext cx="1300429" cy="826618"/>
          </a:xfrm>
          <a:prstGeom prst="roundRect">
            <a:avLst>
              <a:gd name="adj" fmla="val 8850"/>
            </a:avLst>
          </a:prstGeom>
          <a:solidFill>
            <a:srgbClr val="F4F5F8"/>
          </a:solidFill>
          <a:ln w="9525">
            <a:solidFill>
              <a:srgbClr val="D9DCE3"/>
            </a:solidFill>
            <a:prstDash val="solid"/>
          </a:ln>
        </p:spPr>
      </p:sp>
      <p:sp>
        <p:nvSpPr>
          <p:cNvPr id="8" name="Text 5"/>
          <p:cNvSpPr txBox="1"/>
          <p:nvPr/>
        </p:nvSpPr>
        <p:spPr>
          <a:xfrm>
            <a:off x="3456432"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Employee</a:t>
            </a:r>
            <a:endParaRPr lang="en-US" sz="1100" dirty="0"/>
          </a:p>
        </p:txBody>
      </p:sp>
      <p:sp>
        <p:nvSpPr>
          <p:cNvPr id="9" name="Shape 6"/>
          <p:cNvSpPr/>
          <p:nvPr/>
        </p:nvSpPr>
        <p:spPr>
          <a:xfrm>
            <a:off x="4775149" y="1463040"/>
            <a:ext cx="1300429" cy="826618"/>
          </a:xfrm>
          <a:prstGeom prst="roundRect">
            <a:avLst>
              <a:gd name="adj" fmla="val 8850"/>
            </a:avLst>
          </a:prstGeom>
          <a:solidFill>
            <a:srgbClr val="F4F5F8"/>
          </a:solidFill>
          <a:ln w="9525">
            <a:solidFill>
              <a:srgbClr val="D9DCE3"/>
            </a:solidFill>
            <a:prstDash val="solid"/>
          </a:ln>
        </p:spPr>
      </p:sp>
      <p:sp>
        <p:nvSpPr>
          <p:cNvPr id="10" name="Text 7"/>
          <p:cNvSpPr txBox="1"/>
          <p:nvPr/>
        </p:nvSpPr>
        <p:spPr>
          <a:xfrm>
            <a:off x="4848301"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Manager</a:t>
            </a:r>
            <a:endParaRPr lang="en-US" sz="1100" dirty="0"/>
          </a:p>
        </p:txBody>
      </p:sp>
      <p:sp>
        <p:nvSpPr>
          <p:cNvPr id="11" name="Shape 8"/>
          <p:cNvSpPr/>
          <p:nvPr/>
        </p:nvSpPr>
        <p:spPr>
          <a:xfrm>
            <a:off x="6167018" y="1463040"/>
            <a:ext cx="1300429" cy="826618"/>
          </a:xfrm>
          <a:prstGeom prst="roundRect">
            <a:avLst>
              <a:gd name="adj" fmla="val 8850"/>
            </a:avLst>
          </a:prstGeom>
          <a:solidFill>
            <a:srgbClr val="F4F5F8"/>
          </a:solidFill>
          <a:ln w="9525">
            <a:solidFill>
              <a:srgbClr val="D9DCE3"/>
            </a:solidFill>
            <a:prstDash val="solid"/>
          </a:ln>
        </p:spPr>
      </p:sp>
      <p:sp>
        <p:nvSpPr>
          <p:cNvPr id="12" name="Text 9"/>
          <p:cNvSpPr txBox="1"/>
          <p:nvPr/>
        </p:nvSpPr>
        <p:spPr>
          <a:xfrm>
            <a:off x="6240170"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HR</a:t>
            </a:r>
            <a:endParaRPr lang="en-US" sz="1100" dirty="0"/>
          </a:p>
        </p:txBody>
      </p:sp>
      <p:sp>
        <p:nvSpPr>
          <p:cNvPr id="13" name="Shape 10"/>
          <p:cNvSpPr/>
          <p:nvPr/>
        </p:nvSpPr>
        <p:spPr>
          <a:xfrm>
            <a:off x="7558888" y="1463040"/>
            <a:ext cx="1300429" cy="826618"/>
          </a:xfrm>
          <a:prstGeom prst="roundRect">
            <a:avLst>
              <a:gd name="adj" fmla="val 8850"/>
            </a:avLst>
          </a:prstGeom>
          <a:solidFill>
            <a:srgbClr val="F4F5F8"/>
          </a:solidFill>
          <a:ln w="9525">
            <a:solidFill>
              <a:srgbClr val="D9DCE3"/>
            </a:solidFill>
            <a:prstDash val="solid"/>
          </a:ln>
        </p:spPr>
      </p:sp>
      <p:sp>
        <p:nvSpPr>
          <p:cNvPr id="14" name="Text 11"/>
          <p:cNvSpPr txBox="1"/>
          <p:nvPr/>
        </p:nvSpPr>
        <p:spPr>
          <a:xfrm>
            <a:off x="7632040"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Payroll</a:t>
            </a:r>
            <a:endParaRPr lang="en-US" sz="1100" dirty="0"/>
          </a:p>
        </p:txBody>
      </p:sp>
      <p:sp>
        <p:nvSpPr>
          <p:cNvPr id="15" name="Shape 12"/>
          <p:cNvSpPr/>
          <p:nvPr/>
        </p:nvSpPr>
        <p:spPr>
          <a:xfrm>
            <a:off x="8950757" y="1463040"/>
            <a:ext cx="1300429" cy="826618"/>
          </a:xfrm>
          <a:prstGeom prst="roundRect">
            <a:avLst>
              <a:gd name="adj" fmla="val 8850"/>
            </a:avLst>
          </a:prstGeom>
          <a:solidFill>
            <a:srgbClr val="F4F5F8"/>
          </a:solidFill>
          <a:ln w="9525">
            <a:solidFill>
              <a:srgbClr val="D9DCE3"/>
            </a:solidFill>
            <a:prstDash val="solid"/>
          </a:ln>
        </p:spPr>
      </p:sp>
      <p:sp>
        <p:nvSpPr>
          <p:cNvPr id="16" name="Text 13"/>
          <p:cNvSpPr txBox="1"/>
          <p:nvPr/>
        </p:nvSpPr>
        <p:spPr>
          <a:xfrm>
            <a:off x="9023909"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Admin</a:t>
            </a:r>
            <a:endParaRPr lang="en-US" sz="1100" dirty="0"/>
          </a:p>
        </p:txBody>
      </p:sp>
      <p:sp>
        <p:nvSpPr>
          <p:cNvPr id="17" name="Shape 14"/>
          <p:cNvSpPr/>
          <p:nvPr/>
        </p:nvSpPr>
        <p:spPr>
          <a:xfrm>
            <a:off x="10342626" y="1463040"/>
            <a:ext cx="1300429" cy="826618"/>
          </a:xfrm>
          <a:prstGeom prst="roundRect">
            <a:avLst>
              <a:gd name="adj" fmla="val 8850"/>
            </a:avLst>
          </a:prstGeom>
          <a:solidFill>
            <a:srgbClr val="F4F5F8"/>
          </a:solidFill>
          <a:ln w="9525">
            <a:solidFill>
              <a:srgbClr val="D9DCE3"/>
            </a:solidFill>
            <a:prstDash val="solid"/>
          </a:ln>
        </p:spPr>
      </p:sp>
      <p:sp>
        <p:nvSpPr>
          <p:cNvPr id="18" name="Text 15"/>
          <p:cNvSpPr txBox="1"/>
          <p:nvPr/>
        </p:nvSpPr>
        <p:spPr>
          <a:xfrm>
            <a:off x="10415778" y="1499616"/>
            <a:ext cx="1154125"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Responsive web (no native app)</a:t>
            </a:r>
            <a:endParaRPr lang="en-US" sz="1100" dirty="0"/>
          </a:p>
        </p:txBody>
      </p:sp>
      <p:sp>
        <p:nvSpPr>
          <p:cNvPr id="19" name="Shape 16"/>
          <p:cNvSpPr/>
          <p:nvPr/>
        </p:nvSpPr>
        <p:spPr>
          <a:xfrm>
            <a:off x="548640" y="2399386"/>
            <a:ext cx="2651760" cy="826618"/>
          </a:xfrm>
          <a:prstGeom prst="roundRect">
            <a:avLst>
              <a:gd name="adj" fmla="val 8850"/>
            </a:avLst>
          </a:prstGeom>
          <a:solidFill>
            <a:srgbClr val="141A30"/>
          </a:solidFill>
          <a:ln w="12700">
            <a:solidFill>
              <a:srgbClr val="141A30"/>
            </a:solidFill>
            <a:prstDash val="solid"/>
          </a:ln>
        </p:spPr>
      </p:sp>
      <p:sp>
        <p:nvSpPr>
          <p:cNvPr id="20" name="Text 17"/>
          <p:cNvSpPr txBox="1"/>
          <p:nvPr/>
        </p:nvSpPr>
        <p:spPr>
          <a:xfrm>
            <a:off x="685800" y="2445106"/>
            <a:ext cx="2377440" cy="73517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Intelligence</a:t>
            </a:r>
            <a:endParaRPr lang="en-US" sz="1400" dirty="0"/>
          </a:p>
        </p:txBody>
      </p:sp>
      <p:sp>
        <p:nvSpPr>
          <p:cNvPr id="21" name="Shape 18"/>
          <p:cNvSpPr/>
          <p:nvPr/>
        </p:nvSpPr>
        <p:spPr>
          <a:xfrm>
            <a:off x="3383280" y="2399386"/>
            <a:ext cx="1996364" cy="826618"/>
          </a:xfrm>
          <a:prstGeom prst="roundRect">
            <a:avLst>
              <a:gd name="adj" fmla="val 8850"/>
            </a:avLst>
          </a:prstGeom>
          <a:solidFill>
            <a:srgbClr val="F4F5F8"/>
          </a:solidFill>
          <a:ln w="9525">
            <a:solidFill>
              <a:srgbClr val="D9DCE3"/>
            </a:solidFill>
            <a:prstDash val="solid"/>
          </a:ln>
        </p:spPr>
      </p:sp>
      <p:sp>
        <p:nvSpPr>
          <p:cNvPr id="22" name="Text 19"/>
          <p:cNvSpPr txBox="1"/>
          <p:nvPr/>
        </p:nvSpPr>
        <p:spPr>
          <a:xfrm>
            <a:off x="3456432" y="2435962"/>
            <a:ext cx="1850060" cy="753466"/>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Reports and datasets</a:t>
            </a:r>
            <a:endParaRPr lang="en-US" sz="1200" dirty="0"/>
          </a:p>
        </p:txBody>
      </p:sp>
      <p:sp>
        <p:nvSpPr>
          <p:cNvPr id="23" name="Shape 20"/>
          <p:cNvSpPr/>
          <p:nvPr/>
        </p:nvSpPr>
        <p:spPr>
          <a:xfrm>
            <a:off x="5471084" y="2399386"/>
            <a:ext cx="1996364" cy="826618"/>
          </a:xfrm>
          <a:prstGeom prst="roundRect">
            <a:avLst>
              <a:gd name="adj" fmla="val 8850"/>
            </a:avLst>
          </a:prstGeom>
          <a:solidFill>
            <a:srgbClr val="F4F5F8"/>
          </a:solidFill>
          <a:ln w="9525">
            <a:solidFill>
              <a:srgbClr val="D9DCE3"/>
            </a:solidFill>
            <a:prstDash val="solid"/>
          </a:ln>
        </p:spPr>
      </p:sp>
      <p:sp>
        <p:nvSpPr>
          <p:cNvPr id="24" name="Text 21"/>
          <p:cNvSpPr txBox="1"/>
          <p:nvPr/>
        </p:nvSpPr>
        <p:spPr>
          <a:xfrm>
            <a:off x="5544236" y="2435962"/>
            <a:ext cx="1850060" cy="753466"/>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Analytics pages</a:t>
            </a:r>
            <a:endParaRPr lang="en-US" sz="1200" dirty="0"/>
          </a:p>
        </p:txBody>
      </p:sp>
      <p:sp>
        <p:nvSpPr>
          <p:cNvPr id="25" name="Shape 22"/>
          <p:cNvSpPr/>
          <p:nvPr/>
        </p:nvSpPr>
        <p:spPr>
          <a:xfrm>
            <a:off x="7558888" y="2399386"/>
            <a:ext cx="1996364" cy="826618"/>
          </a:xfrm>
          <a:prstGeom prst="roundRect">
            <a:avLst>
              <a:gd name="adj" fmla="val 8850"/>
            </a:avLst>
          </a:prstGeom>
          <a:solidFill>
            <a:srgbClr val="F4F5F8"/>
          </a:solidFill>
          <a:ln w="9525">
            <a:solidFill>
              <a:srgbClr val="D9DCE3"/>
            </a:solidFill>
            <a:prstDash val="solid"/>
          </a:ln>
        </p:spPr>
      </p:sp>
      <p:sp>
        <p:nvSpPr>
          <p:cNvPr id="26" name="Text 23"/>
          <p:cNvSpPr txBox="1"/>
          <p:nvPr/>
        </p:nvSpPr>
        <p:spPr>
          <a:xfrm>
            <a:off x="7632040" y="2435962"/>
            <a:ext cx="1850060" cy="753466"/>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Ask PeopleOS (assistants)</a:t>
            </a:r>
            <a:endParaRPr lang="en-US" sz="1200" dirty="0"/>
          </a:p>
        </p:txBody>
      </p:sp>
      <p:sp>
        <p:nvSpPr>
          <p:cNvPr id="27" name="Shape 24"/>
          <p:cNvSpPr/>
          <p:nvPr/>
        </p:nvSpPr>
        <p:spPr>
          <a:xfrm>
            <a:off x="9646691" y="2399386"/>
            <a:ext cx="1996364" cy="826618"/>
          </a:xfrm>
          <a:prstGeom prst="roundRect">
            <a:avLst>
              <a:gd name="adj" fmla="val 8850"/>
            </a:avLst>
          </a:prstGeom>
          <a:solidFill>
            <a:srgbClr val="F4F5F8"/>
          </a:solidFill>
          <a:ln w="9525">
            <a:solidFill>
              <a:srgbClr val="D9DCE3"/>
            </a:solidFill>
            <a:prstDash val="solid"/>
          </a:ln>
        </p:spPr>
      </p:sp>
      <p:sp>
        <p:nvSpPr>
          <p:cNvPr id="28" name="Text 25"/>
          <p:cNvSpPr txBox="1"/>
          <p:nvPr/>
        </p:nvSpPr>
        <p:spPr>
          <a:xfrm>
            <a:off x="9719843" y="2435962"/>
            <a:ext cx="1850060" cy="753466"/>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Payroll Auditor (rule-based)</a:t>
            </a:r>
            <a:endParaRPr lang="en-US" sz="1200" dirty="0"/>
          </a:p>
        </p:txBody>
      </p:sp>
      <p:sp>
        <p:nvSpPr>
          <p:cNvPr id="29" name="Shape 26"/>
          <p:cNvSpPr/>
          <p:nvPr/>
        </p:nvSpPr>
        <p:spPr>
          <a:xfrm>
            <a:off x="548640" y="3335731"/>
            <a:ext cx="2651760" cy="826618"/>
          </a:xfrm>
          <a:prstGeom prst="roundRect">
            <a:avLst>
              <a:gd name="adj" fmla="val 8850"/>
            </a:avLst>
          </a:prstGeom>
          <a:solidFill>
            <a:srgbClr val="141A30"/>
          </a:solidFill>
          <a:ln w="12700">
            <a:solidFill>
              <a:srgbClr val="141A30"/>
            </a:solidFill>
            <a:prstDash val="solid"/>
          </a:ln>
        </p:spPr>
      </p:sp>
      <p:sp>
        <p:nvSpPr>
          <p:cNvPr id="30" name="Text 27"/>
          <p:cNvSpPr txBox="1"/>
          <p:nvPr/>
        </p:nvSpPr>
        <p:spPr>
          <a:xfrm>
            <a:off x="685800" y="3381451"/>
            <a:ext cx="2377440" cy="73517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Configuration platform</a:t>
            </a:r>
            <a:endParaRPr lang="en-US" sz="1400" dirty="0"/>
          </a:p>
        </p:txBody>
      </p:sp>
      <p:sp>
        <p:nvSpPr>
          <p:cNvPr id="31" name="Shape 28"/>
          <p:cNvSpPr/>
          <p:nvPr/>
        </p:nvSpPr>
        <p:spPr>
          <a:xfrm>
            <a:off x="3383280" y="3335731"/>
            <a:ext cx="1578803" cy="826618"/>
          </a:xfrm>
          <a:prstGeom prst="roundRect">
            <a:avLst>
              <a:gd name="adj" fmla="val 8850"/>
            </a:avLst>
          </a:prstGeom>
          <a:solidFill>
            <a:srgbClr val="F4F5F8"/>
          </a:solidFill>
          <a:ln w="9525">
            <a:solidFill>
              <a:srgbClr val="D9DCE3"/>
            </a:solidFill>
            <a:prstDash val="solid"/>
          </a:ln>
        </p:spPr>
      </p:sp>
      <p:sp>
        <p:nvSpPr>
          <p:cNvPr id="32" name="Text 29"/>
          <p:cNvSpPr txBox="1"/>
          <p:nvPr/>
        </p:nvSpPr>
        <p:spPr>
          <a:xfrm>
            <a:off x="3456432" y="3372307"/>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Policies</a:t>
            </a:r>
            <a:endParaRPr lang="en-US" sz="1100" dirty="0"/>
          </a:p>
        </p:txBody>
      </p:sp>
      <p:sp>
        <p:nvSpPr>
          <p:cNvPr id="33" name="Shape 30"/>
          <p:cNvSpPr/>
          <p:nvPr/>
        </p:nvSpPr>
        <p:spPr>
          <a:xfrm>
            <a:off x="5053523" y="3335731"/>
            <a:ext cx="1578803" cy="826618"/>
          </a:xfrm>
          <a:prstGeom prst="roundRect">
            <a:avLst>
              <a:gd name="adj" fmla="val 8850"/>
            </a:avLst>
          </a:prstGeom>
          <a:solidFill>
            <a:srgbClr val="F4F5F8"/>
          </a:solidFill>
          <a:ln w="9525">
            <a:solidFill>
              <a:srgbClr val="D9DCE3"/>
            </a:solidFill>
            <a:prstDash val="solid"/>
          </a:ln>
        </p:spPr>
      </p:sp>
      <p:sp>
        <p:nvSpPr>
          <p:cNvPr id="34" name="Text 31"/>
          <p:cNvSpPr txBox="1"/>
          <p:nvPr/>
        </p:nvSpPr>
        <p:spPr>
          <a:xfrm>
            <a:off x="5126675" y="3372307"/>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Rules</a:t>
            </a:r>
            <a:endParaRPr lang="en-US" sz="1100" dirty="0"/>
          </a:p>
        </p:txBody>
      </p:sp>
      <p:sp>
        <p:nvSpPr>
          <p:cNvPr id="35" name="Shape 32"/>
          <p:cNvSpPr/>
          <p:nvPr/>
        </p:nvSpPr>
        <p:spPr>
          <a:xfrm>
            <a:off x="6723766" y="3335731"/>
            <a:ext cx="1578803" cy="826618"/>
          </a:xfrm>
          <a:prstGeom prst="roundRect">
            <a:avLst>
              <a:gd name="adj" fmla="val 8850"/>
            </a:avLst>
          </a:prstGeom>
          <a:solidFill>
            <a:srgbClr val="F4F5F8"/>
          </a:solidFill>
          <a:ln w="9525">
            <a:solidFill>
              <a:srgbClr val="D9DCE3"/>
            </a:solidFill>
            <a:prstDash val="solid"/>
          </a:ln>
        </p:spPr>
      </p:sp>
      <p:sp>
        <p:nvSpPr>
          <p:cNvPr id="36" name="Text 33"/>
          <p:cNvSpPr txBox="1"/>
          <p:nvPr/>
        </p:nvSpPr>
        <p:spPr>
          <a:xfrm>
            <a:off x="6796918" y="3372307"/>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Workflows and approvals</a:t>
            </a:r>
            <a:endParaRPr lang="en-US" sz="1100" dirty="0"/>
          </a:p>
        </p:txBody>
      </p:sp>
      <p:sp>
        <p:nvSpPr>
          <p:cNvPr id="37" name="Shape 34"/>
          <p:cNvSpPr/>
          <p:nvPr/>
        </p:nvSpPr>
        <p:spPr>
          <a:xfrm>
            <a:off x="8394009" y="3335731"/>
            <a:ext cx="1578803" cy="826618"/>
          </a:xfrm>
          <a:prstGeom prst="roundRect">
            <a:avLst>
              <a:gd name="adj" fmla="val 8850"/>
            </a:avLst>
          </a:prstGeom>
          <a:solidFill>
            <a:srgbClr val="F4F5F8"/>
          </a:solidFill>
          <a:ln w="9525">
            <a:solidFill>
              <a:srgbClr val="D9DCE3"/>
            </a:solidFill>
            <a:prstDash val="solid"/>
          </a:ln>
        </p:spPr>
      </p:sp>
      <p:sp>
        <p:nvSpPr>
          <p:cNvPr id="38" name="Text 35"/>
          <p:cNvSpPr txBox="1"/>
          <p:nvPr/>
        </p:nvSpPr>
        <p:spPr>
          <a:xfrm>
            <a:off x="8467161" y="3372307"/>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Forms and custom fields</a:t>
            </a:r>
            <a:endParaRPr lang="en-US" sz="1100" dirty="0"/>
          </a:p>
        </p:txBody>
      </p:sp>
      <p:sp>
        <p:nvSpPr>
          <p:cNvPr id="39" name="Shape 36"/>
          <p:cNvSpPr/>
          <p:nvPr/>
        </p:nvSpPr>
        <p:spPr>
          <a:xfrm>
            <a:off x="10064252" y="3335731"/>
            <a:ext cx="1578803" cy="826618"/>
          </a:xfrm>
          <a:prstGeom prst="roundRect">
            <a:avLst>
              <a:gd name="adj" fmla="val 8850"/>
            </a:avLst>
          </a:prstGeom>
          <a:solidFill>
            <a:srgbClr val="F4F5F8"/>
          </a:solidFill>
          <a:ln w="9525">
            <a:solidFill>
              <a:srgbClr val="D9DCE3"/>
            </a:solidFill>
            <a:prstDash val="solid"/>
          </a:ln>
        </p:spPr>
      </p:sp>
      <p:sp>
        <p:nvSpPr>
          <p:cNvPr id="40" name="Text 37"/>
          <p:cNvSpPr txBox="1"/>
          <p:nvPr/>
        </p:nvSpPr>
        <p:spPr>
          <a:xfrm>
            <a:off x="10137404" y="3372307"/>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Packs and blueprints</a:t>
            </a:r>
            <a:endParaRPr lang="en-US" sz="1100" dirty="0"/>
          </a:p>
        </p:txBody>
      </p:sp>
      <p:sp>
        <p:nvSpPr>
          <p:cNvPr id="41" name="Shape 38"/>
          <p:cNvSpPr/>
          <p:nvPr/>
        </p:nvSpPr>
        <p:spPr>
          <a:xfrm>
            <a:off x="548640" y="4272077"/>
            <a:ext cx="2651760" cy="826618"/>
          </a:xfrm>
          <a:prstGeom prst="roundRect">
            <a:avLst>
              <a:gd name="adj" fmla="val 8850"/>
            </a:avLst>
          </a:prstGeom>
          <a:solidFill>
            <a:srgbClr val="141A30"/>
          </a:solidFill>
          <a:ln w="12700">
            <a:solidFill>
              <a:srgbClr val="141A30"/>
            </a:solidFill>
            <a:prstDash val="solid"/>
          </a:ln>
        </p:spPr>
      </p:sp>
      <p:sp>
        <p:nvSpPr>
          <p:cNvPr id="42" name="Text 39"/>
          <p:cNvSpPr txBox="1"/>
          <p:nvPr/>
        </p:nvSpPr>
        <p:spPr>
          <a:xfrm>
            <a:off x="685800" y="4317797"/>
            <a:ext cx="2377440" cy="73517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People Core</a:t>
            </a:r>
            <a:endParaRPr lang="en-US" sz="1400" dirty="0"/>
          </a:p>
        </p:txBody>
      </p:sp>
      <p:sp>
        <p:nvSpPr>
          <p:cNvPr id="43" name="Shape 40"/>
          <p:cNvSpPr/>
          <p:nvPr/>
        </p:nvSpPr>
        <p:spPr>
          <a:xfrm>
            <a:off x="3383280" y="4272077"/>
            <a:ext cx="1578803" cy="826618"/>
          </a:xfrm>
          <a:prstGeom prst="roundRect">
            <a:avLst>
              <a:gd name="adj" fmla="val 8850"/>
            </a:avLst>
          </a:prstGeom>
          <a:solidFill>
            <a:srgbClr val="F4F5F8"/>
          </a:solidFill>
          <a:ln w="9525">
            <a:solidFill>
              <a:srgbClr val="D9DCE3"/>
            </a:solidFill>
            <a:prstDash val="solid"/>
          </a:ln>
        </p:spPr>
      </p:sp>
      <p:sp>
        <p:nvSpPr>
          <p:cNvPr id="44" name="Text 41"/>
          <p:cNvSpPr txBox="1"/>
          <p:nvPr/>
        </p:nvSpPr>
        <p:spPr>
          <a:xfrm>
            <a:off x="3456432" y="4308653"/>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Identity</a:t>
            </a:r>
            <a:endParaRPr lang="en-US" sz="1100" dirty="0"/>
          </a:p>
        </p:txBody>
      </p:sp>
      <p:sp>
        <p:nvSpPr>
          <p:cNvPr id="45" name="Shape 42"/>
          <p:cNvSpPr/>
          <p:nvPr/>
        </p:nvSpPr>
        <p:spPr>
          <a:xfrm>
            <a:off x="5053523" y="4272077"/>
            <a:ext cx="1578803" cy="826618"/>
          </a:xfrm>
          <a:prstGeom prst="roundRect">
            <a:avLst>
              <a:gd name="adj" fmla="val 8850"/>
            </a:avLst>
          </a:prstGeom>
          <a:solidFill>
            <a:srgbClr val="F4F5F8"/>
          </a:solidFill>
          <a:ln w="9525">
            <a:solidFill>
              <a:srgbClr val="D9DCE3"/>
            </a:solidFill>
            <a:prstDash val="solid"/>
          </a:ln>
        </p:spPr>
      </p:sp>
      <p:sp>
        <p:nvSpPr>
          <p:cNvPr id="46" name="Text 43"/>
          <p:cNvSpPr txBox="1"/>
          <p:nvPr/>
        </p:nvSpPr>
        <p:spPr>
          <a:xfrm>
            <a:off x="5126675" y="4308653"/>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Organisation</a:t>
            </a:r>
            <a:endParaRPr lang="en-US" sz="1100" dirty="0"/>
          </a:p>
        </p:txBody>
      </p:sp>
      <p:sp>
        <p:nvSpPr>
          <p:cNvPr id="47" name="Shape 44"/>
          <p:cNvSpPr/>
          <p:nvPr/>
        </p:nvSpPr>
        <p:spPr>
          <a:xfrm>
            <a:off x="6723766" y="4272077"/>
            <a:ext cx="1578803" cy="826618"/>
          </a:xfrm>
          <a:prstGeom prst="roundRect">
            <a:avLst>
              <a:gd name="adj" fmla="val 8850"/>
            </a:avLst>
          </a:prstGeom>
          <a:solidFill>
            <a:srgbClr val="F4F5F8"/>
          </a:solidFill>
          <a:ln w="9525">
            <a:solidFill>
              <a:srgbClr val="D9DCE3"/>
            </a:solidFill>
            <a:prstDash val="solid"/>
          </a:ln>
        </p:spPr>
      </p:sp>
      <p:sp>
        <p:nvSpPr>
          <p:cNvPr id="48" name="Text 45"/>
          <p:cNvSpPr txBox="1"/>
          <p:nvPr/>
        </p:nvSpPr>
        <p:spPr>
          <a:xfrm>
            <a:off x="6796918" y="4308653"/>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People and employment</a:t>
            </a:r>
            <a:endParaRPr lang="en-US" sz="1100" dirty="0"/>
          </a:p>
        </p:txBody>
      </p:sp>
      <p:sp>
        <p:nvSpPr>
          <p:cNvPr id="49" name="Shape 46"/>
          <p:cNvSpPr/>
          <p:nvPr/>
        </p:nvSpPr>
        <p:spPr>
          <a:xfrm>
            <a:off x="8394009" y="4272077"/>
            <a:ext cx="1578803" cy="826618"/>
          </a:xfrm>
          <a:prstGeom prst="roundRect">
            <a:avLst>
              <a:gd name="adj" fmla="val 8850"/>
            </a:avLst>
          </a:prstGeom>
          <a:solidFill>
            <a:srgbClr val="F4F5F8"/>
          </a:solidFill>
          <a:ln w="9525">
            <a:solidFill>
              <a:srgbClr val="D9DCE3"/>
            </a:solidFill>
            <a:prstDash val="solid"/>
          </a:ln>
        </p:spPr>
      </p:sp>
      <p:sp>
        <p:nvSpPr>
          <p:cNvPr id="50" name="Text 47"/>
          <p:cNvSpPr txBox="1"/>
          <p:nvPr/>
        </p:nvSpPr>
        <p:spPr>
          <a:xfrm>
            <a:off x="8467161" y="4308653"/>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Time, leave, payroll</a:t>
            </a:r>
            <a:endParaRPr lang="en-US" sz="1100" dirty="0"/>
          </a:p>
        </p:txBody>
      </p:sp>
      <p:sp>
        <p:nvSpPr>
          <p:cNvPr id="51" name="Shape 48"/>
          <p:cNvSpPr/>
          <p:nvPr/>
        </p:nvSpPr>
        <p:spPr>
          <a:xfrm>
            <a:off x="10064252" y="4272077"/>
            <a:ext cx="1578803" cy="826618"/>
          </a:xfrm>
          <a:prstGeom prst="roundRect">
            <a:avLst>
              <a:gd name="adj" fmla="val 8850"/>
            </a:avLst>
          </a:prstGeom>
          <a:solidFill>
            <a:srgbClr val="F4F5F8"/>
          </a:solidFill>
          <a:ln w="9525">
            <a:solidFill>
              <a:srgbClr val="D9DCE3"/>
            </a:solidFill>
            <a:prstDash val="solid"/>
          </a:ln>
        </p:spPr>
      </p:sp>
      <p:sp>
        <p:nvSpPr>
          <p:cNvPr id="52" name="Text 49"/>
          <p:cNvSpPr txBox="1"/>
          <p:nvPr/>
        </p:nvSpPr>
        <p:spPr>
          <a:xfrm>
            <a:off x="10137404" y="4308653"/>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Growth, services, exit</a:t>
            </a:r>
            <a:endParaRPr lang="en-US" sz="1100" dirty="0"/>
          </a:p>
        </p:txBody>
      </p:sp>
      <p:sp>
        <p:nvSpPr>
          <p:cNvPr id="53" name="Shape 50"/>
          <p:cNvSpPr/>
          <p:nvPr/>
        </p:nvSpPr>
        <p:spPr>
          <a:xfrm>
            <a:off x="548640" y="5208422"/>
            <a:ext cx="2651760" cy="826618"/>
          </a:xfrm>
          <a:prstGeom prst="roundRect">
            <a:avLst>
              <a:gd name="adj" fmla="val 8850"/>
            </a:avLst>
          </a:prstGeom>
          <a:solidFill>
            <a:srgbClr val="141A30"/>
          </a:solidFill>
          <a:ln w="12700">
            <a:solidFill>
              <a:srgbClr val="141A30"/>
            </a:solidFill>
            <a:prstDash val="solid"/>
          </a:ln>
        </p:spPr>
      </p:sp>
      <p:sp>
        <p:nvSpPr>
          <p:cNvPr id="54" name="Text 51"/>
          <p:cNvSpPr txBox="1"/>
          <p:nvPr/>
        </p:nvSpPr>
        <p:spPr>
          <a:xfrm>
            <a:off x="685800" y="5254142"/>
            <a:ext cx="2377440" cy="73517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Integration Hub</a:t>
            </a:r>
            <a:endParaRPr lang="en-US" sz="1400" dirty="0"/>
          </a:p>
        </p:txBody>
      </p:sp>
      <p:sp>
        <p:nvSpPr>
          <p:cNvPr id="55" name="Shape 52"/>
          <p:cNvSpPr/>
          <p:nvPr/>
        </p:nvSpPr>
        <p:spPr>
          <a:xfrm>
            <a:off x="3383280" y="5208422"/>
            <a:ext cx="1578803" cy="826618"/>
          </a:xfrm>
          <a:prstGeom prst="roundRect">
            <a:avLst>
              <a:gd name="adj" fmla="val 8850"/>
            </a:avLst>
          </a:prstGeom>
          <a:solidFill>
            <a:srgbClr val="F4F5F8"/>
          </a:solidFill>
          <a:ln w="9525">
            <a:solidFill>
              <a:srgbClr val="D9DCE3"/>
            </a:solidFill>
            <a:prstDash val="solid"/>
          </a:ln>
        </p:spPr>
      </p:sp>
      <p:sp>
        <p:nvSpPr>
          <p:cNvPr id="56" name="Text 53"/>
          <p:cNvSpPr txBox="1"/>
          <p:nvPr/>
        </p:nvSpPr>
        <p:spPr>
          <a:xfrm>
            <a:off x="3456432" y="5244998"/>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REST API v1</a:t>
            </a:r>
            <a:endParaRPr lang="en-US" sz="1100" dirty="0"/>
          </a:p>
        </p:txBody>
      </p:sp>
      <p:sp>
        <p:nvSpPr>
          <p:cNvPr id="57" name="Shape 54"/>
          <p:cNvSpPr/>
          <p:nvPr/>
        </p:nvSpPr>
        <p:spPr>
          <a:xfrm>
            <a:off x="5053523" y="5208422"/>
            <a:ext cx="1578803" cy="826618"/>
          </a:xfrm>
          <a:prstGeom prst="roundRect">
            <a:avLst>
              <a:gd name="adj" fmla="val 8850"/>
            </a:avLst>
          </a:prstGeom>
          <a:solidFill>
            <a:srgbClr val="F4F5F8"/>
          </a:solidFill>
          <a:ln w="9525">
            <a:solidFill>
              <a:srgbClr val="D9DCE3"/>
            </a:solidFill>
            <a:prstDash val="solid"/>
          </a:ln>
        </p:spPr>
      </p:sp>
      <p:sp>
        <p:nvSpPr>
          <p:cNvPr id="58" name="Text 55"/>
          <p:cNvSpPr txBox="1"/>
          <p:nvPr/>
        </p:nvSpPr>
        <p:spPr>
          <a:xfrm>
            <a:off x="5126675" y="5244998"/>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SCIM 2.0</a:t>
            </a:r>
            <a:endParaRPr lang="en-US" sz="1100" dirty="0"/>
          </a:p>
        </p:txBody>
      </p:sp>
      <p:sp>
        <p:nvSpPr>
          <p:cNvPr id="59" name="Shape 56"/>
          <p:cNvSpPr/>
          <p:nvPr/>
        </p:nvSpPr>
        <p:spPr>
          <a:xfrm>
            <a:off x="6723766" y="5208422"/>
            <a:ext cx="1578803" cy="826618"/>
          </a:xfrm>
          <a:prstGeom prst="roundRect">
            <a:avLst>
              <a:gd name="adj" fmla="val 8850"/>
            </a:avLst>
          </a:prstGeom>
          <a:solidFill>
            <a:srgbClr val="F4F5F8"/>
          </a:solidFill>
          <a:ln w="9525">
            <a:solidFill>
              <a:srgbClr val="D9DCE3"/>
            </a:solidFill>
            <a:prstDash val="solid"/>
          </a:ln>
        </p:spPr>
      </p:sp>
      <p:sp>
        <p:nvSpPr>
          <p:cNvPr id="60" name="Text 57"/>
          <p:cNvSpPr txBox="1"/>
          <p:nvPr/>
        </p:nvSpPr>
        <p:spPr>
          <a:xfrm>
            <a:off x="6796918" y="5244998"/>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OIDC single sign-on</a:t>
            </a:r>
            <a:endParaRPr lang="en-US" sz="1100" dirty="0"/>
          </a:p>
        </p:txBody>
      </p:sp>
      <p:sp>
        <p:nvSpPr>
          <p:cNvPr id="61" name="Shape 58"/>
          <p:cNvSpPr/>
          <p:nvPr/>
        </p:nvSpPr>
        <p:spPr>
          <a:xfrm>
            <a:off x="8394009" y="5208422"/>
            <a:ext cx="1578803" cy="826618"/>
          </a:xfrm>
          <a:prstGeom prst="roundRect">
            <a:avLst>
              <a:gd name="adj" fmla="val 8850"/>
            </a:avLst>
          </a:prstGeom>
          <a:solidFill>
            <a:srgbClr val="F4F5F8"/>
          </a:solidFill>
          <a:ln w="9525">
            <a:solidFill>
              <a:srgbClr val="D9DCE3"/>
            </a:solidFill>
            <a:prstDash val="solid"/>
          </a:ln>
        </p:spPr>
      </p:sp>
      <p:sp>
        <p:nvSpPr>
          <p:cNvPr id="62" name="Text 59"/>
          <p:cNvSpPr txBox="1"/>
          <p:nvPr/>
        </p:nvSpPr>
        <p:spPr>
          <a:xfrm>
            <a:off x="8467161" y="5244998"/>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Signed webhooks</a:t>
            </a:r>
            <a:endParaRPr lang="en-US" sz="1100" dirty="0"/>
          </a:p>
        </p:txBody>
      </p:sp>
      <p:sp>
        <p:nvSpPr>
          <p:cNvPr id="63" name="Shape 60"/>
          <p:cNvSpPr/>
          <p:nvPr/>
        </p:nvSpPr>
        <p:spPr>
          <a:xfrm>
            <a:off x="10064252" y="5208422"/>
            <a:ext cx="1578803" cy="826618"/>
          </a:xfrm>
          <a:prstGeom prst="roundRect">
            <a:avLst>
              <a:gd name="adj" fmla="val 8850"/>
            </a:avLst>
          </a:prstGeom>
          <a:solidFill>
            <a:srgbClr val="F4F5F8"/>
          </a:solidFill>
          <a:ln w="9525">
            <a:solidFill>
              <a:srgbClr val="D9DCE3"/>
            </a:solidFill>
            <a:prstDash val="solid"/>
          </a:ln>
        </p:spPr>
      </p:sp>
      <p:sp>
        <p:nvSpPr>
          <p:cNvPr id="64" name="Text 61"/>
          <p:cNvSpPr txBox="1"/>
          <p:nvPr/>
        </p:nvSpPr>
        <p:spPr>
          <a:xfrm>
            <a:off x="10137404" y="5244998"/>
            <a:ext cx="1432499" cy="753466"/>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Inbound events</a:t>
            </a:r>
            <a:endParaRPr lang="en-US" sz="1100" dirty="0"/>
          </a:p>
        </p:txBody>
      </p:sp>
      <p:sp>
        <p:nvSpPr>
          <p:cNvPr id="65" name="Text 62"/>
          <p:cNvSpPr txBox="1"/>
          <p:nvPr/>
        </p:nvSpPr>
        <p:spPr>
          <a:xfrm>
            <a:off x="548640" y="605332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PRODUCT ARCHITECTURE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Code structure and call flow</a:t>
            </a:r>
            <a:endParaRPr lang="en-US" sz="2800" dirty="0"/>
          </a:p>
        </p:txBody>
      </p:sp>
      <p:sp>
        <p:nvSpPr>
          <p:cNvPr id="5" name="Shape 2"/>
          <p:cNvSpPr/>
          <p:nvPr/>
        </p:nvSpPr>
        <p:spPr>
          <a:xfrm>
            <a:off x="548640" y="2194560"/>
            <a:ext cx="2554148"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2371268" cy="996696"/>
          </a:xfrm>
          <a:prstGeom prst="rect">
            <a:avLst/>
          </a:prstGeom>
          <a:noFill/>
          <a:ln/>
        </p:spPr>
        <p:txBody>
          <a:bodyPr wrap="square" lIns="0" tIns="0" rIns="0" bIns="0" rtlCol="0" anchor="ctr"/>
          <a:lstStyle/>
          <a:p>
            <a:pPr algn="ctr" indent="0" marL="0">
              <a:buNone/>
            </a:pPr>
            <a:r>
              <a:rPr lang="en-US" sz="1300" b="1" dirty="0">
                <a:solidFill>
                  <a:srgbClr val="FFFFFF"/>
                </a:solidFill>
              </a:rPr>
              <a:t>Delivery</a:t>
            </a:r>
            <a:endParaRPr lang="en-US" sz="1300" dirty="0"/>
          </a:p>
          <a:p>
            <a:pPr algn="ctr" indent="0" marL="0">
              <a:buNone/>
            </a:pPr>
            <a:r>
              <a:rPr lang="en-US" sz="1100" dirty="0">
                <a:solidFill>
                  <a:srgbClr val="E4E2F7"/>
                </a:solidFill>
              </a:rPr>
              <a:t>app/Filament, app/Http: calls</a:t>
            </a:r>
            <a:endParaRPr lang="en-US" sz="1300" dirty="0"/>
          </a:p>
        </p:txBody>
      </p:sp>
      <p:sp>
        <p:nvSpPr>
          <p:cNvPr id="7" name="Shape 4"/>
          <p:cNvSpPr/>
          <p:nvPr/>
        </p:nvSpPr>
        <p:spPr>
          <a:xfrm>
            <a:off x="3148508"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3395396" y="2194560"/>
            <a:ext cx="2554148"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3486836"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Application</a:t>
            </a:r>
            <a:endParaRPr lang="en-US" sz="1300" dirty="0"/>
          </a:p>
          <a:p>
            <a:pPr algn="ctr" indent="0" marL="0">
              <a:buNone/>
            </a:pPr>
            <a:r>
              <a:rPr lang="en-US" sz="1100" dirty="0">
                <a:solidFill>
                  <a:srgbClr val="5B6275"/>
                </a:solidFill>
              </a:rPr>
              <a:t>Services and Actions: call</a:t>
            </a:r>
            <a:endParaRPr lang="en-US" sz="1300" dirty="0"/>
          </a:p>
        </p:txBody>
      </p:sp>
      <p:sp>
        <p:nvSpPr>
          <p:cNvPr id="10" name="Shape 7"/>
          <p:cNvSpPr/>
          <p:nvPr/>
        </p:nvSpPr>
        <p:spPr>
          <a:xfrm>
            <a:off x="5995264"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6242152" y="2194560"/>
            <a:ext cx="2554148"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6333592"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Domain</a:t>
            </a:r>
            <a:endParaRPr lang="en-US" sz="1300" dirty="0"/>
          </a:p>
          <a:p>
            <a:pPr algn="ctr" indent="0" marL="0">
              <a:buNone/>
            </a:pPr>
            <a:r>
              <a:rPr lang="en-US" sz="1100" dirty="0">
                <a:solidFill>
                  <a:srgbClr val="5B6275"/>
                </a:solidFill>
              </a:rPr>
              <a:t>Models, Policies; defines contracts</a:t>
            </a:r>
            <a:endParaRPr lang="en-US" sz="1300" dirty="0"/>
          </a:p>
        </p:txBody>
      </p:sp>
      <p:sp>
        <p:nvSpPr>
          <p:cNvPr id="13" name="Shape 10"/>
          <p:cNvSpPr/>
          <p:nvPr/>
        </p:nvSpPr>
        <p:spPr>
          <a:xfrm>
            <a:off x="8842019" y="2651760"/>
            <a:ext cx="201168" cy="228600"/>
          </a:xfrm>
          <a:prstGeom prst="rightArrow">
            <a:avLst/>
          </a:prstGeom>
          <a:solidFill>
            <a:srgbClr val="C9A45C"/>
          </a:solidFill>
          <a:ln w="12700">
            <a:solidFill>
              <a:srgbClr val="C9A45C"/>
            </a:solidFill>
            <a:prstDash val="solid"/>
          </a:ln>
        </p:spPr>
      </p:sp>
      <p:sp>
        <p:nvSpPr>
          <p:cNvPr id="14" name="Shape 11"/>
          <p:cNvSpPr/>
          <p:nvPr/>
        </p:nvSpPr>
        <p:spPr>
          <a:xfrm>
            <a:off x="9088907" y="2194560"/>
            <a:ext cx="2554148" cy="1143000"/>
          </a:xfrm>
          <a:prstGeom prst="roundRect">
            <a:avLst>
              <a:gd name="adj" fmla="val 8000"/>
            </a:avLst>
          </a:prstGeom>
          <a:solidFill>
            <a:srgbClr val="FFFFFF"/>
          </a:solidFill>
          <a:ln w="15875">
            <a:solidFill>
              <a:srgbClr val="574BC4"/>
            </a:solidFill>
            <a:prstDash val="solid"/>
          </a:ln>
        </p:spPr>
      </p:sp>
      <p:sp>
        <p:nvSpPr>
          <p:cNvPr id="15" name="Text 12"/>
          <p:cNvSpPr txBox="1"/>
          <p:nvPr/>
        </p:nvSpPr>
        <p:spPr>
          <a:xfrm>
            <a:off x="9180347"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Adapters</a:t>
            </a:r>
            <a:endParaRPr lang="en-US" sz="1300" dirty="0"/>
          </a:p>
          <a:p>
            <a:pPr algn="ctr" indent="0" marL="0">
              <a:buNone/>
            </a:pPr>
            <a:r>
              <a:rPr lang="en-US" sz="1100" dirty="0">
                <a:solidFill>
                  <a:srgbClr val="5B6275"/>
                </a:solidFill>
              </a:rPr>
              <a:t>implement domain contracts</a:t>
            </a:r>
            <a:endParaRPr lang="en-US" sz="1300" dirty="0"/>
          </a:p>
        </p:txBody>
      </p:sp>
      <p:sp>
        <p:nvSpPr>
          <p:cNvPr id="16" name="Text 13"/>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17" name="Text 14"/>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Arrows show calls; adapters implement contracts the domain defines (the domain never imports them). Business rules live in app/Domain/{Module}/{Models,Services,Actions,Policies,Enums}. Filament pages and HTTP controllers call services; they never hold business rules. app/Support holds cross-cutting primitives (tenancy, effective dating). Domain code does not import Filament, HTTP or vendor SDKs; adapters (AI provider, BGV, attendance devices, notification channels, SSO presets) sit behind contracts.</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02</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People Core</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One person, one lifetime record; employment facts are effective-dated so any past state can be reproduced.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CORE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One person, one lifetime record</a:t>
            </a:r>
            <a:endParaRPr lang="en-US" sz="2800" dirty="0"/>
          </a:p>
        </p:txBody>
      </p:sp>
      <p:sp>
        <p:nvSpPr>
          <p:cNvPr id="5" name="Shape 2"/>
          <p:cNvSpPr/>
          <p:nvPr/>
        </p:nvSpPr>
        <p:spPr>
          <a:xfrm>
            <a:off x="548640" y="1463040"/>
            <a:ext cx="2651760" cy="868680"/>
          </a:xfrm>
          <a:prstGeom prst="roundRect">
            <a:avLst>
              <a:gd name="adj" fmla="val 8421"/>
            </a:avLst>
          </a:prstGeom>
          <a:solidFill>
            <a:srgbClr val="574BC4"/>
          </a:solidFill>
          <a:ln w="12700">
            <a:solidFill>
              <a:srgbClr val="141A30"/>
            </a:solidFill>
            <a:prstDash val="solid"/>
          </a:ln>
        </p:spPr>
      </p:sp>
      <p:sp>
        <p:nvSpPr>
          <p:cNvPr id="6" name="Text 3"/>
          <p:cNvSpPr txBox="1"/>
          <p:nvPr/>
        </p:nvSpPr>
        <p:spPr>
          <a:xfrm>
            <a:off x="685800" y="1508760"/>
            <a:ext cx="23774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Person</a:t>
            </a:r>
            <a:endParaRPr lang="en-US" sz="1400" dirty="0"/>
          </a:p>
        </p:txBody>
      </p:sp>
      <p:sp>
        <p:nvSpPr>
          <p:cNvPr id="7" name="Shape 4"/>
          <p:cNvSpPr/>
          <p:nvPr/>
        </p:nvSpPr>
        <p:spPr>
          <a:xfrm>
            <a:off x="3383280" y="1463040"/>
            <a:ext cx="2692298" cy="868680"/>
          </a:xfrm>
          <a:prstGeom prst="roundRect">
            <a:avLst>
              <a:gd name="adj" fmla="val 8421"/>
            </a:avLst>
          </a:prstGeom>
          <a:solidFill>
            <a:srgbClr val="F4F5F8"/>
          </a:solidFill>
          <a:ln w="9525">
            <a:solidFill>
              <a:srgbClr val="D9DCE3"/>
            </a:solidFill>
            <a:prstDash val="solid"/>
          </a:ln>
        </p:spPr>
      </p:sp>
      <p:sp>
        <p:nvSpPr>
          <p:cNvPr id="8" name="Text 5"/>
          <p:cNvSpPr txBox="1"/>
          <p:nvPr/>
        </p:nvSpPr>
        <p:spPr>
          <a:xfrm>
            <a:off x="3456432" y="1499616"/>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Names, date of birth, contacts</a:t>
            </a:r>
            <a:endParaRPr lang="en-US" sz="1200" dirty="0"/>
          </a:p>
        </p:txBody>
      </p:sp>
      <p:sp>
        <p:nvSpPr>
          <p:cNvPr id="9" name="Shape 6"/>
          <p:cNvSpPr/>
          <p:nvPr/>
        </p:nvSpPr>
        <p:spPr>
          <a:xfrm>
            <a:off x="6167018" y="1463040"/>
            <a:ext cx="2692298" cy="868680"/>
          </a:xfrm>
          <a:prstGeom prst="roundRect">
            <a:avLst>
              <a:gd name="adj" fmla="val 8421"/>
            </a:avLst>
          </a:prstGeom>
          <a:solidFill>
            <a:srgbClr val="F4F5F8"/>
          </a:solidFill>
          <a:ln w="9525">
            <a:solidFill>
              <a:srgbClr val="D9DCE3"/>
            </a:solidFill>
            <a:prstDash val="solid"/>
          </a:ln>
        </p:spPr>
      </p:sp>
      <p:sp>
        <p:nvSpPr>
          <p:cNvPr id="10" name="Text 7"/>
          <p:cNvSpPr txBox="1"/>
          <p:nvPr/>
        </p:nvSpPr>
        <p:spPr>
          <a:xfrm>
            <a:off x="6240170" y="1499616"/>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Addresses (effective-dated)</a:t>
            </a:r>
            <a:endParaRPr lang="en-US" sz="1200" dirty="0"/>
          </a:p>
        </p:txBody>
      </p:sp>
      <p:sp>
        <p:nvSpPr>
          <p:cNvPr id="11" name="Shape 8"/>
          <p:cNvSpPr/>
          <p:nvPr/>
        </p:nvSpPr>
        <p:spPr>
          <a:xfrm>
            <a:off x="8950757" y="1463040"/>
            <a:ext cx="2692298" cy="868680"/>
          </a:xfrm>
          <a:prstGeom prst="roundRect">
            <a:avLst>
              <a:gd name="adj" fmla="val 8421"/>
            </a:avLst>
          </a:prstGeom>
          <a:solidFill>
            <a:srgbClr val="F4F5F8"/>
          </a:solidFill>
          <a:ln w="9525">
            <a:solidFill>
              <a:srgbClr val="D9DCE3"/>
            </a:solidFill>
            <a:prstDash val="solid"/>
          </a:ln>
        </p:spPr>
      </p:sp>
      <p:sp>
        <p:nvSpPr>
          <p:cNvPr id="12" name="Text 9"/>
          <p:cNvSpPr txBox="1"/>
          <p:nvPr/>
        </p:nvSpPr>
        <p:spPr>
          <a:xfrm>
            <a:off x="9023909" y="1499616"/>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Family, qualifications, skills</a:t>
            </a:r>
            <a:endParaRPr lang="en-US" sz="1200" dirty="0"/>
          </a:p>
        </p:txBody>
      </p:sp>
      <p:sp>
        <p:nvSpPr>
          <p:cNvPr id="13" name="Shape 10"/>
          <p:cNvSpPr/>
          <p:nvPr/>
        </p:nvSpPr>
        <p:spPr>
          <a:xfrm>
            <a:off x="548640" y="2441448"/>
            <a:ext cx="2651760" cy="868680"/>
          </a:xfrm>
          <a:prstGeom prst="roundRect">
            <a:avLst>
              <a:gd name="adj" fmla="val 8421"/>
            </a:avLst>
          </a:prstGeom>
          <a:solidFill>
            <a:srgbClr val="141A30"/>
          </a:solidFill>
          <a:ln w="12700">
            <a:solidFill>
              <a:srgbClr val="141A30"/>
            </a:solidFill>
            <a:prstDash val="solid"/>
          </a:ln>
        </p:spPr>
      </p:sp>
      <p:sp>
        <p:nvSpPr>
          <p:cNvPr id="14" name="Text 11"/>
          <p:cNvSpPr txBox="1"/>
          <p:nvPr/>
        </p:nvSpPr>
        <p:spPr>
          <a:xfrm>
            <a:off x="685800" y="2487168"/>
            <a:ext cx="23774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Employee (one per person per tenant)</a:t>
            </a:r>
            <a:endParaRPr lang="en-US" sz="1400" dirty="0"/>
          </a:p>
        </p:txBody>
      </p:sp>
      <p:sp>
        <p:nvSpPr>
          <p:cNvPr id="15" name="Shape 12"/>
          <p:cNvSpPr/>
          <p:nvPr/>
        </p:nvSpPr>
        <p:spPr>
          <a:xfrm>
            <a:off x="3383280" y="2441448"/>
            <a:ext cx="2692298" cy="868680"/>
          </a:xfrm>
          <a:prstGeom prst="roundRect">
            <a:avLst>
              <a:gd name="adj" fmla="val 8421"/>
            </a:avLst>
          </a:prstGeom>
          <a:solidFill>
            <a:srgbClr val="F4F5F8"/>
          </a:solidFill>
          <a:ln w="9525">
            <a:solidFill>
              <a:srgbClr val="D9DCE3"/>
            </a:solidFill>
            <a:prstDash val="solid"/>
          </a:ln>
        </p:spPr>
      </p:sp>
      <p:sp>
        <p:nvSpPr>
          <p:cNvPr id="16" name="Text 13"/>
          <p:cNvSpPr txBox="1"/>
          <p:nvPr/>
        </p:nvSpPr>
        <p:spPr>
          <a:xfrm>
            <a:off x="3456432" y="2478024"/>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Employee code, work e-mail</a:t>
            </a:r>
            <a:endParaRPr lang="en-US" sz="1200" dirty="0"/>
          </a:p>
        </p:txBody>
      </p:sp>
      <p:sp>
        <p:nvSpPr>
          <p:cNvPr id="17" name="Shape 14"/>
          <p:cNvSpPr/>
          <p:nvPr/>
        </p:nvSpPr>
        <p:spPr>
          <a:xfrm>
            <a:off x="6167018" y="2441448"/>
            <a:ext cx="2692298" cy="868680"/>
          </a:xfrm>
          <a:prstGeom prst="roundRect">
            <a:avLst>
              <a:gd name="adj" fmla="val 8421"/>
            </a:avLst>
          </a:prstGeom>
          <a:solidFill>
            <a:srgbClr val="F4F5F8"/>
          </a:solidFill>
          <a:ln w="9525">
            <a:solidFill>
              <a:srgbClr val="D9DCE3"/>
            </a:solidFill>
            <a:prstDash val="solid"/>
          </a:ln>
        </p:spPr>
      </p:sp>
      <p:sp>
        <p:nvSpPr>
          <p:cNvPr id="18" name="Text 15"/>
          <p:cNvSpPr txBox="1"/>
          <p:nvPr/>
        </p:nvSpPr>
        <p:spPr>
          <a:xfrm>
            <a:off x="6240170" y="2478024"/>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Lifecycle state + immutable transitions</a:t>
            </a:r>
            <a:endParaRPr lang="en-US" sz="1200" dirty="0"/>
          </a:p>
        </p:txBody>
      </p:sp>
      <p:sp>
        <p:nvSpPr>
          <p:cNvPr id="19" name="Shape 16"/>
          <p:cNvSpPr/>
          <p:nvPr/>
        </p:nvSpPr>
        <p:spPr>
          <a:xfrm>
            <a:off x="8950757" y="2441448"/>
            <a:ext cx="2692298" cy="868680"/>
          </a:xfrm>
          <a:prstGeom prst="roundRect">
            <a:avLst>
              <a:gd name="adj" fmla="val 8421"/>
            </a:avLst>
          </a:prstGeom>
          <a:solidFill>
            <a:srgbClr val="F4F5F8"/>
          </a:solidFill>
          <a:ln w="9525">
            <a:solidFill>
              <a:srgbClr val="D9DCE3"/>
            </a:solidFill>
            <a:prstDash val="solid"/>
          </a:ln>
        </p:spPr>
      </p:sp>
      <p:sp>
        <p:nvSpPr>
          <p:cNvPr id="20" name="Text 17"/>
          <p:cNvSpPr txBox="1"/>
          <p:nvPr/>
        </p:nvSpPr>
        <p:spPr>
          <a:xfrm>
            <a:off x="9023909" y="2478024"/>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Login (optional user)</a:t>
            </a:r>
            <a:endParaRPr lang="en-US" sz="1200" dirty="0"/>
          </a:p>
        </p:txBody>
      </p:sp>
      <p:sp>
        <p:nvSpPr>
          <p:cNvPr id="21" name="Shape 18"/>
          <p:cNvSpPr/>
          <p:nvPr/>
        </p:nvSpPr>
        <p:spPr>
          <a:xfrm>
            <a:off x="548640" y="3419856"/>
            <a:ext cx="2651760" cy="868680"/>
          </a:xfrm>
          <a:prstGeom prst="roundRect">
            <a:avLst>
              <a:gd name="adj" fmla="val 8421"/>
            </a:avLst>
          </a:prstGeom>
          <a:solidFill>
            <a:srgbClr val="141A30"/>
          </a:solidFill>
          <a:ln w="12700">
            <a:solidFill>
              <a:srgbClr val="141A30"/>
            </a:solidFill>
            <a:prstDash val="solid"/>
          </a:ln>
        </p:spPr>
      </p:sp>
      <p:sp>
        <p:nvSpPr>
          <p:cNvPr id="22" name="Text 19"/>
          <p:cNvSpPr txBox="1"/>
          <p:nvPr/>
        </p:nvSpPr>
        <p:spPr>
          <a:xfrm>
            <a:off x="685800" y="3465576"/>
            <a:ext cx="23774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Effective-dated facts</a:t>
            </a:r>
            <a:endParaRPr lang="en-US" sz="1400" dirty="0"/>
          </a:p>
        </p:txBody>
      </p:sp>
      <p:sp>
        <p:nvSpPr>
          <p:cNvPr id="23" name="Shape 20"/>
          <p:cNvSpPr/>
          <p:nvPr/>
        </p:nvSpPr>
        <p:spPr>
          <a:xfrm>
            <a:off x="3383280" y="3419856"/>
            <a:ext cx="2692298" cy="868680"/>
          </a:xfrm>
          <a:prstGeom prst="roundRect">
            <a:avLst>
              <a:gd name="adj" fmla="val 8421"/>
            </a:avLst>
          </a:prstGeom>
          <a:solidFill>
            <a:srgbClr val="F4F5F8"/>
          </a:solidFill>
          <a:ln w="9525">
            <a:solidFill>
              <a:srgbClr val="D9DCE3"/>
            </a:solidFill>
            <a:prstDash val="solid"/>
          </a:ln>
        </p:spPr>
      </p:sp>
      <p:sp>
        <p:nvSpPr>
          <p:cNvPr id="24" name="Text 21"/>
          <p:cNvSpPr txBox="1"/>
          <p:nvPr/>
        </p:nvSpPr>
        <p:spPr>
          <a:xfrm>
            <a:off x="3456432" y="3456432"/>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Positions: company … cost centre</a:t>
            </a:r>
            <a:endParaRPr lang="en-US" sz="1200" dirty="0"/>
          </a:p>
        </p:txBody>
      </p:sp>
      <p:sp>
        <p:nvSpPr>
          <p:cNvPr id="25" name="Shape 22"/>
          <p:cNvSpPr/>
          <p:nvPr/>
        </p:nvSpPr>
        <p:spPr>
          <a:xfrm>
            <a:off x="6167018" y="3419856"/>
            <a:ext cx="2692298" cy="868680"/>
          </a:xfrm>
          <a:prstGeom prst="roundRect">
            <a:avLst>
              <a:gd name="adj" fmla="val 8421"/>
            </a:avLst>
          </a:prstGeom>
          <a:solidFill>
            <a:srgbClr val="F4F5F8"/>
          </a:solidFill>
          <a:ln w="9525">
            <a:solidFill>
              <a:srgbClr val="D9DCE3"/>
            </a:solidFill>
            <a:prstDash val="solid"/>
          </a:ln>
        </p:spPr>
      </p:sp>
      <p:sp>
        <p:nvSpPr>
          <p:cNvPr id="26" name="Text 23"/>
          <p:cNvSpPr txBox="1"/>
          <p:nvPr/>
        </p:nvSpPr>
        <p:spPr>
          <a:xfrm>
            <a:off x="6240170" y="3456432"/>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Reporting relationships (typed)</a:t>
            </a:r>
            <a:endParaRPr lang="en-US" sz="1200" dirty="0"/>
          </a:p>
        </p:txBody>
      </p:sp>
      <p:sp>
        <p:nvSpPr>
          <p:cNvPr id="27" name="Shape 24"/>
          <p:cNvSpPr/>
          <p:nvPr/>
        </p:nvSpPr>
        <p:spPr>
          <a:xfrm>
            <a:off x="8950757" y="3419856"/>
            <a:ext cx="2692298" cy="868680"/>
          </a:xfrm>
          <a:prstGeom prst="roundRect">
            <a:avLst>
              <a:gd name="adj" fmla="val 8421"/>
            </a:avLst>
          </a:prstGeom>
          <a:solidFill>
            <a:srgbClr val="F4F5F8"/>
          </a:solidFill>
          <a:ln w="9525">
            <a:solidFill>
              <a:srgbClr val="D9DCE3"/>
            </a:solidFill>
            <a:prstDash val="solid"/>
          </a:ln>
        </p:spPr>
      </p:sp>
      <p:sp>
        <p:nvSpPr>
          <p:cNvPr id="28" name="Text 25"/>
          <p:cNvSpPr txBox="1"/>
          <p:nvPr/>
        </p:nvSpPr>
        <p:spPr>
          <a:xfrm>
            <a:off x="9023909" y="3456432"/>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Salary assignments</a:t>
            </a:r>
            <a:endParaRPr lang="en-US" sz="1200" dirty="0"/>
          </a:p>
        </p:txBody>
      </p:sp>
      <p:sp>
        <p:nvSpPr>
          <p:cNvPr id="29" name="Shape 26"/>
          <p:cNvSpPr/>
          <p:nvPr/>
        </p:nvSpPr>
        <p:spPr>
          <a:xfrm>
            <a:off x="548640" y="4398264"/>
            <a:ext cx="2651760" cy="868680"/>
          </a:xfrm>
          <a:prstGeom prst="roundRect">
            <a:avLst>
              <a:gd name="adj" fmla="val 8421"/>
            </a:avLst>
          </a:prstGeom>
          <a:solidFill>
            <a:srgbClr val="141A30"/>
          </a:solidFill>
          <a:ln w="12700">
            <a:solidFill>
              <a:srgbClr val="141A30"/>
            </a:solidFill>
            <a:prstDash val="solid"/>
          </a:ln>
        </p:spPr>
      </p:sp>
      <p:sp>
        <p:nvSpPr>
          <p:cNvPr id="30" name="Text 27"/>
          <p:cNvSpPr txBox="1"/>
          <p:nvPr/>
        </p:nvSpPr>
        <p:spPr>
          <a:xfrm>
            <a:off x="685800" y="4443984"/>
            <a:ext cx="23774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Domain records</a:t>
            </a:r>
            <a:endParaRPr lang="en-US" sz="1400" dirty="0"/>
          </a:p>
        </p:txBody>
      </p:sp>
      <p:sp>
        <p:nvSpPr>
          <p:cNvPr id="31" name="Shape 28"/>
          <p:cNvSpPr/>
          <p:nvPr/>
        </p:nvSpPr>
        <p:spPr>
          <a:xfrm>
            <a:off x="3383280" y="4398264"/>
            <a:ext cx="2692298" cy="868680"/>
          </a:xfrm>
          <a:prstGeom prst="roundRect">
            <a:avLst>
              <a:gd name="adj" fmla="val 8421"/>
            </a:avLst>
          </a:prstGeom>
          <a:solidFill>
            <a:srgbClr val="F4F5F8"/>
          </a:solidFill>
          <a:ln w="9525">
            <a:solidFill>
              <a:srgbClr val="D9DCE3"/>
            </a:solidFill>
            <a:prstDash val="solid"/>
          </a:ln>
        </p:spPr>
      </p:sp>
      <p:sp>
        <p:nvSpPr>
          <p:cNvPr id="32" name="Text 29"/>
          <p:cNvSpPr txBox="1"/>
          <p:nvPr/>
        </p:nvSpPr>
        <p:spPr>
          <a:xfrm>
            <a:off x="3456432" y="4434840"/>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Time, leave, payroll</a:t>
            </a:r>
            <a:endParaRPr lang="en-US" sz="1200" dirty="0"/>
          </a:p>
        </p:txBody>
      </p:sp>
      <p:sp>
        <p:nvSpPr>
          <p:cNvPr id="33" name="Shape 30"/>
          <p:cNvSpPr/>
          <p:nvPr/>
        </p:nvSpPr>
        <p:spPr>
          <a:xfrm>
            <a:off x="6167018" y="4398264"/>
            <a:ext cx="2692298" cy="868680"/>
          </a:xfrm>
          <a:prstGeom prst="roundRect">
            <a:avLst>
              <a:gd name="adj" fmla="val 8421"/>
            </a:avLst>
          </a:prstGeom>
          <a:solidFill>
            <a:srgbClr val="F4F5F8"/>
          </a:solidFill>
          <a:ln w="9525">
            <a:solidFill>
              <a:srgbClr val="D9DCE3"/>
            </a:solidFill>
            <a:prstDash val="solid"/>
          </a:ln>
        </p:spPr>
      </p:sp>
      <p:sp>
        <p:nvSpPr>
          <p:cNvPr id="34" name="Text 31"/>
          <p:cNvSpPr txBox="1"/>
          <p:nvPr/>
        </p:nvSpPr>
        <p:spPr>
          <a:xfrm>
            <a:off x="6240170" y="4434840"/>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Performance, learning, assets</a:t>
            </a:r>
            <a:endParaRPr lang="en-US" sz="1200" dirty="0"/>
          </a:p>
        </p:txBody>
      </p:sp>
      <p:sp>
        <p:nvSpPr>
          <p:cNvPr id="35" name="Shape 32"/>
          <p:cNvSpPr/>
          <p:nvPr/>
        </p:nvSpPr>
        <p:spPr>
          <a:xfrm>
            <a:off x="8950757" y="4398264"/>
            <a:ext cx="2692298" cy="868680"/>
          </a:xfrm>
          <a:prstGeom prst="roundRect">
            <a:avLst>
              <a:gd name="adj" fmla="val 8421"/>
            </a:avLst>
          </a:prstGeom>
          <a:solidFill>
            <a:srgbClr val="F4F5F8"/>
          </a:solidFill>
          <a:ln w="9525">
            <a:solidFill>
              <a:srgbClr val="D9DCE3"/>
            </a:solidFill>
            <a:prstDash val="solid"/>
          </a:ln>
        </p:spPr>
      </p:sp>
      <p:sp>
        <p:nvSpPr>
          <p:cNvPr id="36" name="Text 33"/>
          <p:cNvSpPr txBox="1"/>
          <p:nvPr/>
        </p:nvSpPr>
        <p:spPr>
          <a:xfrm>
            <a:off x="9023909" y="4434840"/>
            <a:ext cx="2545994" cy="795528"/>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Requests, exit, letters, alumni</a:t>
            </a:r>
            <a:endParaRPr lang="en-US" sz="1200" dirty="0"/>
          </a:p>
        </p:txBody>
      </p:sp>
      <p:sp>
        <p:nvSpPr>
          <p:cNvPr id="37" name="Text 34"/>
          <p:cNvSpPr txBox="1"/>
          <p:nvPr/>
        </p:nvSpPr>
        <p:spPr>
          <a:xfrm>
            <a:off x="548640" y="605332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CORE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Lifecycle states and what each transition triggers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26080"/>
                <a:gridCol w="8165592"/>
              </a:tblGrid>
              <a:tr h="384048">
                <a:tc>
                  <a:txBody>
                    <a:bodyPr/>
                    <a:lstStyle/>
                    <a:p>
                      <a:pPr indent="0" marL="0">
                        <a:buNone/>
                      </a:pPr>
                      <a:r>
                        <a:rPr lang="en-US" sz="1250" b="1" dirty="0">
                          <a:solidFill>
                            <a:srgbClr val="FFFFFF"/>
                          </a:solidFill>
                        </a:rPr>
                        <a:t>Item</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Implementation</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Canonical states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pre_employee → preboarding → onboarding → joined → probation → confirmed → active → on_leave / suspended / notice_period → exited → alumni; alumni → active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Where enforced</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LifecycleEngine::transition(), permission employee.lifecycle, effective date and reason required; exit needs a cleared exit case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Each transition produces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Domain event → audit event → timeline entry → notification rules → workflow triggers → downstream actions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Downstream actions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Onboarding start on joining; login suspended on exit; Alumni role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Not states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Transfer and promotion are position events on the timeline (new effective-dated position row)</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CORE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Effective dating, as the user sees it</a:t>
            </a:r>
            <a:endParaRPr lang="en-US" sz="2800" dirty="0"/>
          </a:p>
        </p:txBody>
      </p:sp>
      <p:pic>
        <p:nvPicPr>
          <p:cNvPr id="5" name="Screenshot hr-admin/50-360-04-journey" descr="Screenshot: Employee 360 › Journey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418656" y="3161995"/>
            <a:ext cx="452323" cy="287189"/>
          </a:xfrm>
          <a:prstGeom prst="roundRect">
            <a:avLst>
              <a:gd name="adj" fmla="val 15920"/>
            </a:avLst>
          </a:prstGeom>
          <a:ln w="25400">
            <a:solidFill>
              <a:srgbClr val="D97706"/>
            </a:solidFill>
            <a:prstDash val="solid"/>
          </a:ln>
        </p:spPr>
      </p:sp>
      <p:sp>
        <p:nvSpPr>
          <p:cNvPr id="8" name="Callout 1"/>
          <p:cNvSpPr txBox="1"/>
          <p:nvPr/>
        </p:nvSpPr>
        <p:spPr>
          <a:xfrm>
            <a:off x="2290640" y="2869387"/>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The Journey view shows the history in order.</a:t>
            </a:r>
            <a:endParaRPr lang="en-US" sz="1400" dirty="0"/>
          </a:p>
        </p:txBody>
      </p:sp>
      <p:sp>
        <p:nvSpPr>
          <p:cNvPr id="12" name="Bullet"/>
          <p:cNvSpPr/>
          <p:nvPr/>
        </p:nvSpPr>
        <p:spPr>
          <a:xfrm>
            <a:off x="8686800" y="2509520"/>
            <a:ext cx="109728" cy="109728"/>
          </a:xfrm>
          <a:prstGeom prst="ellipse">
            <a:avLst/>
          </a:prstGeom>
          <a:solidFill>
            <a:srgbClr val="8A90A2"/>
          </a:solidFill>
          <a:ln w="12700">
            <a:solidFill>
              <a:srgbClr val="8A90A2"/>
            </a:solidFill>
            <a:prstDash val="solid"/>
          </a:ln>
        </p:spPr>
      </p:sp>
      <p:sp>
        <p:nvSpPr>
          <p:cNvPr id="13" name="Text 9"/>
          <p:cNvSpPr txBox="1"/>
          <p:nvPr/>
        </p:nvSpPr>
        <p:spPr>
          <a:xfrm>
            <a:off x="9006840" y="2418080"/>
            <a:ext cx="2636215" cy="506984"/>
          </a:xfrm>
          <a:prstGeom prst="rect">
            <a:avLst/>
          </a:prstGeom>
          <a:noFill/>
          <a:ln/>
        </p:spPr>
        <p:txBody>
          <a:bodyPr wrap="square" lIns="0" tIns="0" rIns="0" bIns="0" rtlCol="0" anchor="t"/>
          <a:lstStyle/>
          <a:p>
            <a:pPr indent="0" marL="0">
              <a:buNone/>
            </a:pPr>
            <a:r>
              <a:rPr lang="en-US" sz="1400" dirty="0">
                <a:solidFill>
                  <a:schemeClr val="tx1"/>
                </a:solidFill>
              </a:rPr>
              <a:t>Each change is a dated entry, never an overwrite.</a:t>
            </a:r>
            <a:endParaRPr lang="en-US" sz="1400" dirty="0"/>
          </a:p>
        </p:txBody>
      </p:sp>
      <p:sp>
        <p:nvSpPr>
          <p:cNvPr id="14" name="Shape 10"/>
          <p:cNvSpPr/>
          <p:nvPr/>
        </p:nvSpPr>
        <p:spPr>
          <a:xfrm>
            <a:off x="8595360" y="3053080"/>
            <a:ext cx="3047695" cy="625094"/>
          </a:xfrm>
          <a:prstGeom prst="roundRect">
            <a:avLst>
              <a:gd name="adj" fmla="val 11703"/>
            </a:avLst>
          </a:prstGeom>
          <a:solidFill>
            <a:srgbClr val="F4F5F8"/>
          </a:solidFill>
          <a:ln w="12700">
            <a:solidFill>
              <a:srgbClr val="F4F5F8"/>
            </a:solidFill>
            <a:prstDash val="solid"/>
          </a:ln>
        </p:spPr>
      </p:sp>
      <p:sp>
        <p:nvSpPr>
          <p:cNvPr id="15" name="Text 11"/>
          <p:cNvSpPr txBox="1"/>
          <p:nvPr/>
        </p:nvSpPr>
        <p:spPr>
          <a:xfrm>
            <a:off x="8732520" y="3144520"/>
            <a:ext cx="2773375" cy="4422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Past positions and managers remain reproducible.</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Employee 360 › Journey</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PEOPLE CORE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Organisation model: units are not interchangeable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00400"/>
                <a:gridCol w="3291840"/>
                <a:gridCol w="4599432"/>
              </a:tblGrid>
              <a:tr h="384048">
                <a:tc>
                  <a:txBody>
                    <a:bodyPr/>
                    <a:lstStyle/>
                    <a:p>
                      <a:pPr indent="0" marL="0">
                        <a:buNone/>
                      </a:pPr>
                      <a:r>
                        <a:rPr lang="en-US" sz="1250" b="1" dirty="0">
                          <a:solidFill>
                            <a:srgbClr val="FFFFFF"/>
                          </a:solidFill>
                        </a:rPr>
                        <a:t>Unit</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Nature</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Relation</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Company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Management unit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Root under the tenant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Legal entity, establishment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Legal and statutory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Legal employer; registered place of work (ADR-0001)</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Location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Physical site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Company; cannot be linked to an establishment on screen (F10)</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Business unit, division, department, team</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Reporting and operational</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Company; organisation tree for the designer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Cost centre, profit centre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Financial</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Referenced by positions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Job family, designation, level, grade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Job architecture (tenant-wide)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Referenced by positions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03</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Tenant isolation and access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The tenant is the isolation boundary. Access is decided in layers that are never merged.</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TENANT ISOLATION</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Tenant scoping fails closed</a:t>
            </a:r>
            <a:endParaRPr lang="en-US" sz="2800" dirty="0"/>
          </a:p>
        </p:txBody>
      </p:sp>
      <p:sp>
        <p:nvSpPr>
          <p:cNvPr id="5" name="Shape 2"/>
          <p:cNvSpPr/>
          <p:nvPr/>
        </p:nvSpPr>
        <p:spPr>
          <a:xfrm>
            <a:off x="548640" y="2194560"/>
            <a:ext cx="1984797"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Request</a:t>
            </a:r>
            <a:endParaRPr lang="en-US" sz="1300" dirty="0"/>
          </a:p>
          <a:p>
            <a:pPr algn="ctr" indent="0" marL="0">
              <a:buNone/>
            </a:pPr>
            <a:r>
              <a:rPr lang="en-US" sz="1100" dirty="0">
                <a:solidFill>
                  <a:srgbClr val="E4E2F7"/>
                </a:solidFill>
              </a:rPr>
              <a:t>session or API key</a:t>
            </a:r>
            <a:endParaRPr lang="en-US" sz="1300" dirty="0"/>
          </a:p>
        </p:txBody>
      </p:sp>
      <p:sp>
        <p:nvSpPr>
          <p:cNvPr id="7" name="Shape 4"/>
          <p:cNvSpPr/>
          <p:nvPr/>
        </p:nvSpPr>
        <p:spPr>
          <a:xfrm>
            <a:off x="2579157"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2826045" y="2194560"/>
            <a:ext cx="1984797"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2917485"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ResolveTenant</a:t>
            </a:r>
            <a:endParaRPr lang="en-US" sz="1300" dirty="0"/>
          </a:p>
          <a:p>
            <a:pPr algn="ctr" indent="0" marL="0">
              <a:buNone/>
            </a:pPr>
            <a:r>
              <a:rPr lang="en-US" sz="1100" dirty="0">
                <a:solidFill>
                  <a:srgbClr val="5B6275"/>
                </a:solidFill>
              </a:rPr>
              <a:t>user → own tenant</a:t>
            </a:r>
            <a:endParaRPr lang="en-US" sz="1300" dirty="0"/>
          </a:p>
        </p:txBody>
      </p:sp>
      <p:sp>
        <p:nvSpPr>
          <p:cNvPr id="10" name="Shape 7"/>
          <p:cNvSpPr/>
          <p:nvPr/>
        </p:nvSpPr>
        <p:spPr>
          <a:xfrm>
            <a:off x="4856561"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5103449" y="2194560"/>
            <a:ext cx="1984797"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519488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TenantContext</a:t>
            </a:r>
            <a:endParaRPr lang="en-US" sz="1300" dirty="0"/>
          </a:p>
          <a:p>
            <a:pPr algn="ctr" indent="0" marL="0">
              <a:buNone/>
            </a:pPr>
            <a:r>
              <a:rPr lang="en-US" sz="1100" dirty="0">
                <a:solidFill>
                  <a:srgbClr val="5B6275"/>
                </a:solidFill>
              </a:rPr>
              <a:t>bound before model binding</a:t>
            </a:r>
            <a:endParaRPr lang="en-US" sz="1300" dirty="0"/>
          </a:p>
        </p:txBody>
      </p:sp>
      <p:sp>
        <p:nvSpPr>
          <p:cNvPr id="13" name="Shape 10"/>
          <p:cNvSpPr/>
          <p:nvPr/>
        </p:nvSpPr>
        <p:spPr>
          <a:xfrm>
            <a:off x="7133966" y="2651760"/>
            <a:ext cx="201168" cy="228600"/>
          </a:xfrm>
          <a:prstGeom prst="rightArrow">
            <a:avLst/>
          </a:prstGeom>
          <a:solidFill>
            <a:srgbClr val="C9A45C"/>
          </a:solidFill>
          <a:ln w="12700">
            <a:solidFill>
              <a:srgbClr val="C9A45C"/>
            </a:solidFill>
            <a:prstDash val="solid"/>
          </a:ln>
        </p:spPr>
      </p:sp>
      <p:sp>
        <p:nvSpPr>
          <p:cNvPr id="14" name="Shape 11"/>
          <p:cNvSpPr/>
          <p:nvPr/>
        </p:nvSpPr>
        <p:spPr>
          <a:xfrm>
            <a:off x="7380854" y="2194560"/>
            <a:ext cx="1984797" cy="1143000"/>
          </a:xfrm>
          <a:prstGeom prst="roundRect">
            <a:avLst>
              <a:gd name="adj" fmla="val 8000"/>
            </a:avLst>
          </a:prstGeom>
          <a:solidFill>
            <a:srgbClr val="FFFFFF"/>
          </a:solidFill>
          <a:ln w="15875">
            <a:solidFill>
              <a:srgbClr val="574BC4"/>
            </a:solidFill>
            <a:prstDash val="solid"/>
          </a:ln>
        </p:spPr>
      </p:sp>
      <p:sp>
        <p:nvSpPr>
          <p:cNvPr id="15" name="Text 12"/>
          <p:cNvSpPr txBox="1"/>
          <p:nvPr/>
        </p:nvSpPr>
        <p:spPr>
          <a:xfrm>
            <a:off x="7472294"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TenantScope</a:t>
            </a:r>
            <a:endParaRPr lang="en-US" sz="1300" dirty="0"/>
          </a:p>
          <a:p>
            <a:pPr algn="ctr" indent="0" marL="0">
              <a:buNone/>
            </a:pPr>
            <a:r>
              <a:rPr lang="en-US" sz="1100" dirty="0">
                <a:solidFill>
                  <a:srgbClr val="5B6275"/>
                </a:solidFill>
              </a:rPr>
              <a:t>no tenant → no rows</a:t>
            </a:r>
            <a:endParaRPr lang="en-US" sz="1300" dirty="0"/>
          </a:p>
        </p:txBody>
      </p:sp>
      <p:sp>
        <p:nvSpPr>
          <p:cNvPr id="16" name="Shape 13"/>
          <p:cNvSpPr/>
          <p:nvPr/>
        </p:nvSpPr>
        <p:spPr>
          <a:xfrm>
            <a:off x="9411371" y="2651760"/>
            <a:ext cx="201168" cy="228600"/>
          </a:xfrm>
          <a:prstGeom prst="rightArrow">
            <a:avLst/>
          </a:prstGeom>
          <a:solidFill>
            <a:srgbClr val="C9A45C"/>
          </a:solidFill>
          <a:ln w="12700">
            <a:solidFill>
              <a:srgbClr val="C9A45C"/>
            </a:solidFill>
            <a:prstDash val="solid"/>
          </a:ln>
        </p:spPr>
      </p:sp>
      <p:sp>
        <p:nvSpPr>
          <p:cNvPr id="17" name="Shape 14"/>
          <p:cNvSpPr/>
          <p:nvPr/>
        </p:nvSpPr>
        <p:spPr>
          <a:xfrm>
            <a:off x="9658259" y="2194560"/>
            <a:ext cx="1984797" cy="1143000"/>
          </a:xfrm>
          <a:prstGeom prst="roundRect">
            <a:avLst>
              <a:gd name="adj" fmla="val 8000"/>
            </a:avLst>
          </a:prstGeom>
          <a:solidFill>
            <a:srgbClr val="FFFFFF"/>
          </a:solidFill>
          <a:ln w="15875">
            <a:solidFill>
              <a:srgbClr val="574BC4"/>
            </a:solidFill>
            <a:prstDash val="solid"/>
          </a:ln>
        </p:spPr>
      </p:sp>
      <p:sp>
        <p:nvSpPr>
          <p:cNvPr id="18" name="Text 15"/>
          <p:cNvSpPr txBox="1"/>
          <p:nvPr/>
        </p:nvSpPr>
        <p:spPr>
          <a:xfrm>
            <a:off x="974969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BelongsToTenant</a:t>
            </a:r>
            <a:endParaRPr lang="en-US" sz="1300" dirty="0"/>
          </a:p>
          <a:p>
            <a:pPr algn="ctr" indent="0" marL="0">
              <a:buNone/>
            </a:pPr>
            <a:r>
              <a:rPr lang="en-US" sz="1100" dirty="0">
                <a:solidFill>
                  <a:srgbClr val="5B6275"/>
                </a:solidFill>
              </a:rPr>
              <a:t>stamps tenant_id, refuses cross-tenant writes</a:t>
            </a:r>
            <a:endParaRPr lang="en-US" sz="1300" dirty="0"/>
          </a:p>
        </p:txBody>
      </p:sp>
      <p:sp>
        <p:nvSpPr>
          <p:cNvPr id="19" name="Text 16"/>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20" name="Text 17"/>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Without a bound tenant, tenant-owned queries return nothing. Platform code must call TenantContext::bypass() explicitly, and only allow-listed platform services may (architecture test "bypasses tenant scoping only in the documented platform services"). Platform operators reach a tenant only by explicitly entering it, and their actions are audited with the source.</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ACCESS CONTROL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Access is decided in layers</a:t>
            </a:r>
            <a:endParaRPr lang="en-US" sz="2800" dirty="0"/>
          </a:p>
        </p:txBody>
      </p:sp>
      <p:sp>
        <p:nvSpPr>
          <p:cNvPr id="5" name="Shape 2"/>
          <p:cNvSpPr/>
          <p:nvPr/>
        </p:nvSpPr>
        <p:spPr>
          <a:xfrm>
            <a:off x="548640" y="2194560"/>
            <a:ext cx="1984797"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Role</a:t>
            </a:r>
            <a:endParaRPr lang="en-US" sz="1300" dirty="0"/>
          </a:p>
          <a:p>
            <a:pPr algn="ctr" indent="0" marL="0">
              <a:buNone/>
            </a:pPr>
            <a:r>
              <a:rPr lang="en-US" sz="1100" dirty="0">
                <a:solidFill>
                  <a:srgbClr val="E4E2F7"/>
                </a:solidFill>
              </a:rPr>
              <a:t>RBAC: what may this role do?</a:t>
            </a:r>
            <a:endParaRPr lang="en-US" sz="1300" dirty="0"/>
          </a:p>
        </p:txBody>
      </p:sp>
      <p:sp>
        <p:nvSpPr>
          <p:cNvPr id="7" name="Shape 4"/>
          <p:cNvSpPr/>
          <p:nvPr/>
        </p:nvSpPr>
        <p:spPr>
          <a:xfrm>
            <a:off x="2579157"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2826045" y="2194560"/>
            <a:ext cx="1984797"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2917485"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Organisation scope</a:t>
            </a:r>
            <a:endParaRPr lang="en-US" sz="1300" dirty="0"/>
          </a:p>
          <a:p>
            <a:pPr algn="ctr" indent="0" marL="0">
              <a:buNone/>
            </a:pPr>
            <a:r>
              <a:rPr lang="en-US" sz="1100" dirty="0">
                <a:solidFill>
                  <a:srgbClr val="5B6275"/>
                </a:solidFill>
              </a:rPr>
              <a:t>ABAC: which records?</a:t>
            </a:r>
            <a:endParaRPr lang="en-US" sz="1300" dirty="0"/>
          </a:p>
        </p:txBody>
      </p:sp>
      <p:sp>
        <p:nvSpPr>
          <p:cNvPr id="10" name="Shape 7"/>
          <p:cNvSpPr/>
          <p:nvPr/>
        </p:nvSpPr>
        <p:spPr>
          <a:xfrm>
            <a:off x="4856561"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5103449" y="2194560"/>
            <a:ext cx="1984797"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519488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Relationship scope</a:t>
            </a:r>
            <a:endParaRPr lang="en-US" sz="1300" dirty="0"/>
          </a:p>
          <a:p>
            <a:pPr algn="ctr" indent="0" marL="0">
              <a:buNone/>
            </a:pPr>
            <a:r>
              <a:rPr lang="en-US" sz="1100" dirty="0">
                <a:solidFill>
                  <a:srgbClr val="5B6275"/>
                </a:solidFill>
              </a:rPr>
              <a:t>whose records? (reports)</a:t>
            </a:r>
            <a:endParaRPr lang="en-US" sz="1300" dirty="0"/>
          </a:p>
        </p:txBody>
      </p:sp>
      <p:sp>
        <p:nvSpPr>
          <p:cNvPr id="13" name="Shape 10"/>
          <p:cNvSpPr/>
          <p:nvPr/>
        </p:nvSpPr>
        <p:spPr>
          <a:xfrm>
            <a:off x="7133966" y="2651760"/>
            <a:ext cx="201168" cy="228600"/>
          </a:xfrm>
          <a:prstGeom prst="rightArrow">
            <a:avLst/>
          </a:prstGeom>
          <a:solidFill>
            <a:srgbClr val="C9A45C"/>
          </a:solidFill>
          <a:ln w="12700">
            <a:solidFill>
              <a:srgbClr val="C9A45C"/>
            </a:solidFill>
            <a:prstDash val="solid"/>
          </a:ln>
        </p:spPr>
      </p:sp>
      <p:sp>
        <p:nvSpPr>
          <p:cNvPr id="14" name="Shape 11"/>
          <p:cNvSpPr/>
          <p:nvPr/>
        </p:nvSpPr>
        <p:spPr>
          <a:xfrm>
            <a:off x="7380854" y="2194560"/>
            <a:ext cx="1984797" cy="1143000"/>
          </a:xfrm>
          <a:prstGeom prst="roundRect">
            <a:avLst>
              <a:gd name="adj" fmla="val 8000"/>
            </a:avLst>
          </a:prstGeom>
          <a:solidFill>
            <a:srgbClr val="FFFFFF"/>
          </a:solidFill>
          <a:ln w="15875">
            <a:solidFill>
              <a:srgbClr val="574BC4"/>
            </a:solidFill>
            <a:prstDash val="solid"/>
          </a:ln>
        </p:spPr>
      </p:sp>
      <p:sp>
        <p:nvSpPr>
          <p:cNvPr id="15" name="Text 12"/>
          <p:cNvSpPr txBox="1"/>
          <p:nvPr/>
        </p:nvSpPr>
        <p:spPr>
          <a:xfrm>
            <a:off x="7472294"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Field protection</a:t>
            </a:r>
            <a:endParaRPr lang="en-US" sz="1300" dirty="0"/>
          </a:p>
          <a:p>
            <a:pPr algn="ctr" indent="0" marL="0">
              <a:buNone/>
            </a:pPr>
            <a:r>
              <a:rPr lang="en-US" sz="1100" dirty="0">
                <a:solidFill>
                  <a:srgbClr val="5B6275"/>
                </a:solidFill>
              </a:rPr>
              <a:t>sensitive permissions, masking</a:t>
            </a:r>
            <a:endParaRPr lang="en-US" sz="1300" dirty="0"/>
          </a:p>
        </p:txBody>
      </p:sp>
      <p:sp>
        <p:nvSpPr>
          <p:cNvPr id="16" name="Shape 13"/>
          <p:cNvSpPr/>
          <p:nvPr/>
        </p:nvSpPr>
        <p:spPr>
          <a:xfrm>
            <a:off x="9411371" y="2651760"/>
            <a:ext cx="201168" cy="228600"/>
          </a:xfrm>
          <a:prstGeom prst="rightArrow">
            <a:avLst/>
          </a:prstGeom>
          <a:solidFill>
            <a:srgbClr val="C9A45C"/>
          </a:solidFill>
          <a:ln w="12700">
            <a:solidFill>
              <a:srgbClr val="C9A45C"/>
            </a:solidFill>
            <a:prstDash val="solid"/>
          </a:ln>
        </p:spPr>
      </p:sp>
      <p:sp>
        <p:nvSpPr>
          <p:cNvPr id="17" name="Shape 14"/>
          <p:cNvSpPr/>
          <p:nvPr/>
        </p:nvSpPr>
        <p:spPr>
          <a:xfrm>
            <a:off x="9658259" y="2194560"/>
            <a:ext cx="1984797" cy="1143000"/>
          </a:xfrm>
          <a:prstGeom prst="roundRect">
            <a:avLst>
              <a:gd name="adj" fmla="val 8000"/>
            </a:avLst>
          </a:prstGeom>
          <a:solidFill>
            <a:srgbClr val="FFFFFF"/>
          </a:solidFill>
          <a:ln w="15875">
            <a:solidFill>
              <a:srgbClr val="574BC4"/>
            </a:solidFill>
            <a:prstDash val="solid"/>
          </a:ln>
        </p:spPr>
      </p:sp>
      <p:sp>
        <p:nvSpPr>
          <p:cNvPr id="18" name="Text 15"/>
          <p:cNvSpPr txBox="1"/>
          <p:nvPr/>
        </p:nvSpPr>
        <p:spPr>
          <a:xfrm>
            <a:off x="974969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Record</a:t>
            </a:r>
            <a:endParaRPr lang="en-US" sz="1300" dirty="0"/>
          </a:p>
          <a:p>
            <a:pPr algn="ctr" indent="0" marL="0">
              <a:buNone/>
            </a:pPr>
            <a:r>
              <a:rPr lang="en-US" sz="1100" dirty="0">
                <a:solidFill>
                  <a:srgbClr val="5B6275"/>
                </a:solidFill>
              </a:rPr>
              <a:t>policy allows()</a:t>
            </a:r>
            <a:endParaRPr lang="en-US" sz="1300" dirty="0"/>
          </a:p>
        </p:txBody>
      </p:sp>
      <p:sp>
        <p:nvSpPr>
          <p:cNvPr id="19" name="Text 16"/>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20" name="Text 17"/>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Permission keys are declared in config/peopleos.php and mirrored to the database by peopleos:sync-permissions. Organisation scope (user_access_scopes) limits HR to companies or units; with no scope rows, the documented rule gives tenant-wide reach (Home warns about it). Managers reach their own record and everyone who reports to them today. Sensitive fields (bank, PAN, Aadhaar reference, UAN, salary, payslips…) need *.sensitive.* permissions and are encrypted and masked.</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ACCESS CONTROL</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Who sees what (decided visibility matrix)</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26080"/>
                <a:gridCol w="8165592"/>
              </a:tblGrid>
              <a:tr h="384048">
                <a:tc>
                  <a:txBody>
                    <a:bodyPr/>
                    <a:lstStyle/>
                    <a:p>
                      <a:pPr indent="0" marL="0">
                        <a:buNone/>
                      </a:pPr>
                      <a:r>
                        <a:rPr lang="en-US" sz="1250" b="1" dirty="0">
                          <a:solidFill>
                            <a:srgbClr val="FFFFFF"/>
                          </a:solidFill>
                        </a:rPr>
                        <a:t>Actor</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Sees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Employee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Own person and employee data, own transactions, published policies and announcements for their audience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Manager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Direct reports (any reporting type, effective today) for the abilities their permissions grant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HR roles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Every employee within their organisation scope; tenant-wide when no scope rows exist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Tenant administrator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Tenant-wide by permissions; sensitive fields only with *.sensitive.*; never another tenant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Executive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Dashboards and aggregates; record level only via scope and permissions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Platform operator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Any tenant, only after explicitly entering it; every action audited</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04</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Configuration platform</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Policies, rules and workflows are versioned data, not code. Running work keeps the version it started with.</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CONFIGURATION PLATFORM</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Vocabulary that matters in implementation</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8714232"/>
              </a:tblGrid>
              <a:tr h="384048">
                <a:tc>
                  <a:txBody>
                    <a:bodyPr/>
                    <a:lstStyle/>
                    <a:p>
                      <a:pPr indent="0" marL="0">
                        <a:buNone/>
                      </a:pPr>
                      <a:r>
                        <a:rPr lang="en-US" sz="1250" b="1" dirty="0">
                          <a:solidFill>
                            <a:srgbClr val="FFFFFF"/>
                          </a:solidFill>
                        </a:rPr>
                        <a:t>Term</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Meaning in PeopleOS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Configuration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Tenant or company values and reference data: settings, features, organisation units, calendars, components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Policy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Versioned, effective-dated bundle of settings of one type (leave, attendance, overtime, probation, payroll…)</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Rule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Deterministic condition over the employee context (position dimensions, lifecycle, gender, tenure)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Workflow</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Versioned graph of nodes executed per subject; approvals single, sequential, parallel or majority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Change Centre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Governed edits with draft → approval → publish; covers only some edit forms today (F29)</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Pack / blueprint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Starter configuration a tenant receives and then edits freely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CONFIGURATION PLATFORM</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Workflow versioning rule (frozen)</a:t>
            </a:r>
            <a:endParaRPr lang="en-US" sz="2800" dirty="0"/>
          </a:p>
        </p:txBody>
      </p:sp>
      <p:sp>
        <p:nvSpPr>
          <p:cNvPr id="5" name="Shape 2"/>
          <p:cNvSpPr/>
          <p:nvPr/>
        </p:nvSpPr>
        <p:spPr>
          <a:xfrm>
            <a:off x="548640" y="2194560"/>
            <a:ext cx="2554148"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2371268" cy="996696"/>
          </a:xfrm>
          <a:prstGeom prst="rect">
            <a:avLst/>
          </a:prstGeom>
          <a:noFill/>
          <a:ln/>
        </p:spPr>
        <p:txBody>
          <a:bodyPr wrap="square" lIns="0" tIns="0" rIns="0" bIns="0" rtlCol="0" anchor="ctr"/>
          <a:lstStyle/>
          <a:p>
            <a:pPr algn="ctr" indent="0" marL="0">
              <a:buNone/>
            </a:pPr>
            <a:r>
              <a:rPr lang="en-US" sz="1300" b="1" dirty="0">
                <a:solidFill>
                  <a:srgbClr val="FFFFFF"/>
                </a:solidFill>
              </a:rPr>
              <a:t>Version 1 published</a:t>
            </a:r>
            <a:endParaRPr lang="en-US" sz="1300" dirty="0"/>
          </a:p>
          <a:p>
            <a:pPr algn="ctr" indent="0" marL="0">
              <a:buNone/>
            </a:pPr>
            <a:r>
              <a:rPr lang="en-US" sz="1100" dirty="0">
                <a:solidFill>
                  <a:srgbClr val="E4E2F7"/>
                </a:solidFill>
              </a:rPr>
              <a:t>instances start on v1</a:t>
            </a:r>
            <a:endParaRPr lang="en-US" sz="1300" dirty="0"/>
          </a:p>
        </p:txBody>
      </p:sp>
      <p:sp>
        <p:nvSpPr>
          <p:cNvPr id="7" name="Shape 4"/>
          <p:cNvSpPr/>
          <p:nvPr/>
        </p:nvSpPr>
        <p:spPr>
          <a:xfrm>
            <a:off x="3148508"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3395396" y="2194560"/>
            <a:ext cx="2554148"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3486836"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Version 2 published</a:t>
            </a:r>
            <a:endParaRPr lang="en-US" sz="1300" dirty="0"/>
          </a:p>
          <a:p>
            <a:pPr algn="ctr" indent="0" marL="0">
              <a:buNone/>
            </a:pPr>
            <a:r>
              <a:rPr lang="en-US" sz="1100" dirty="0">
                <a:solidFill>
                  <a:srgbClr val="5B6275"/>
                </a:solidFill>
              </a:rPr>
              <a:t>new instances start on v2</a:t>
            </a:r>
            <a:endParaRPr lang="en-US" sz="1300" dirty="0"/>
          </a:p>
        </p:txBody>
      </p:sp>
      <p:sp>
        <p:nvSpPr>
          <p:cNvPr id="10" name="Shape 7"/>
          <p:cNvSpPr/>
          <p:nvPr/>
        </p:nvSpPr>
        <p:spPr>
          <a:xfrm>
            <a:off x="5995264"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6242152" y="2194560"/>
            <a:ext cx="2554148"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6333592"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Running v1 instance</a:t>
            </a:r>
            <a:endParaRPr lang="en-US" sz="1300" dirty="0"/>
          </a:p>
          <a:p>
            <a:pPr algn="ctr" indent="0" marL="0">
              <a:buNone/>
            </a:pPr>
            <a:r>
              <a:rPr lang="en-US" sz="1100" dirty="0">
                <a:solidFill>
                  <a:srgbClr val="5B6275"/>
                </a:solidFill>
              </a:rPr>
              <a:t>stays on v1 to the end</a:t>
            </a:r>
            <a:endParaRPr lang="en-US" sz="1300" dirty="0"/>
          </a:p>
        </p:txBody>
      </p:sp>
      <p:sp>
        <p:nvSpPr>
          <p:cNvPr id="13" name="Shape 10"/>
          <p:cNvSpPr/>
          <p:nvPr/>
        </p:nvSpPr>
        <p:spPr>
          <a:xfrm>
            <a:off x="8842019" y="2651760"/>
            <a:ext cx="201168" cy="228600"/>
          </a:xfrm>
          <a:prstGeom prst="rightArrow">
            <a:avLst/>
          </a:prstGeom>
          <a:solidFill>
            <a:srgbClr val="C9A45C"/>
          </a:solidFill>
          <a:ln w="12700">
            <a:solidFill>
              <a:srgbClr val="C9A45C"/>
            </a:solidFill>
            <a:prstDash val="solid"/>
          </a:ln>
        </p:spPr>
      </p:sp>
      <p:sp>
        <p:nvSpPr>
          <p:cNvPr id="14" name="Shape 11"/>
          <p:cNvSpPr/>
          <p:nvPr/>
        </p:nvSpPr>
        <p:spPr>
          <a:xfrm>
            <a:off x="9088907" y="2194560"/>
            <a:ext cx="2554148" cy="1143000"/>
          </a:xfrm>
          <a:prstGeom prst="roundRect">
            <a:avLst>
              <a:gd name="adj" fmla="val 8000"/>
            </a:avLst>
          </a:prstGeom>
          <a:solidFill>
            <a:srgbClr val="FFFFFF"/>
          </a:solidFill>
          <a:ln w="15875">
            <a:solidFill>
              <a:srgbClr val="574BC4"/>
            </a:solidFill>
            <a:prstDash val="solid"/>
          </a:ln>
        </p:spPr>
      </p:sp>
      <p:sp>
        <p:nvSpPr>
          <p:cNvPr id="15" name="Text 12"/>
          <p:cNvSpPr txBox="1"/>
          <p:nvPr/>
        </p:nvSpPr>
        <p:spPr>
          <a:xfrm>
            <a:off x="9180347" y="2267712"/>
            <a:ext cx="2371268" cy="996696"/>
          </a:xfrm>
          <a:prstGeom prst="rect">
            <a:avLst/>
          </a:prstGeom>
          <a:noFill/>
          <a:ln/>
        </p:spPr>
        <p:txBody>
          <a:bodyPr wrap="square" lIns="0" tIns="0" rIns="0" bIns="0" rtlCol="0" anchor="ctr"/>
          <a:lstStyle/>
          <a:p>
            <a:pPr algn="ctr" indent="0" marL="0">
              <a:buNone/>
            </a:pPr>
            <a:r>
              <a:rPr lang="en-US" sz="1300" b="1" dirty="0">
                <a:solidFill>
                  <a:schemeClr val="tx2"/>
                </a:solidFill>
              </a:rPr>
              <a:t>Rollback</a:t>
            </a:r>
            <a:endParaRPr lang="en-US" sz="1300" dirty="0"/>
          </a:p>
          <a:p>
            <a:pPr algn="ctr" indent="0" marL="0">
              <a:buNone/>
            </a:pPr>
            <a:r>
              <a:rPr lang="en-US" sz="1100" dirty="0">
                <a:solidFill>
                  <a:srgbClr val="5B6275"/>
                </a:solidFill>
              </a:rPr>
              <a:t>publish the previous version again</a:t>
            </a:r>
            <a:endParaRPr lang="en-US" sz="1300" dirty="0"/>
          </a:p>
        </p:txBody>
      </p:sp>
      <p:sp>
        <p:nvSpPr>
          <p:cNvPr id="16" name="Text 13"/>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17" name="Text 14"/>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 workflow instance is pinned to its workflow_version_id. Escalation and timers run every five minutes; webhook nodes retry three times through the queue; other failed nodes are marked failed and resumed by an operator. Known limit: the "Generate document" step type is skipped at run time (F33).</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CONFIGURATION PLATFORM</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Versions as the administrator sees them</a:t>
            </a:r>
            <a:endParaRPr lang="en-US" sz="2800" dirty="0"/>
          </a:p>
        </p:txBody>
      </p:sp>
      <p:pic>
        <p:nvPicPr>
          <p:cNvPr id="5" name="Screenshot client-onboarding/85-wf-03-workflow-versions" descr="Screenshot: Workflow › Versions &amp; builder (Kavya Menon, fictional data)">    </p:cNvPr>
          <p:cNvPicPr>
            <a:picLocks noChangeAspect="1"/>
          </p:cNvPicPr>
          <p:nvPr/>
        </p:nvPicPr>
        <p:blipFill>
          <a:blip r:embed="rId1"/>
          <a:stretch>
            <a:fillRect/>
          </a:stretch>
        </p:blipFill>
        <p:spPr>
          <a:xfrm>
            <a:off x="548640" y="1417320"/>
            <a:ext cx="7818120" cy="3091912"/>
          </a:xfrm>
          <a:prstGeom prst="rect">
            <a:avLst/>
          </a:prstGeom>
        </p:spPr>
      </p:pic>
      <p:sp>
        <p:nvSpPr>
          <p:cNvPr id="6" name="Screenshot frame"/>
          <p:cNvSpPr/>
          <p:nvPr/>
        </p:nvSpPr>
        <p:spPr>
          <a:xfrm>
            <a:off x="548640" y="1417320"/>
            <a:ext cx="7818120" cy="3091912"/>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593469"/>
          </a:xfrm>
          <a:prstGeom prst="roundRect">
            <a:avLst>
              <a:gd name="adj" fmla="val 4591"/>
            </a:avLst>
          </a:prstGeom>
          <a:solidFill>
            <a:srgbClr val="F4F5F8"/>
          </a:solidFill>
          <a:ln w="12700">
            <a:solidFill>
              <a:srgbClr val="F4F5F8"/>
            </a:solidFill>
            <a:prstDash val="solid"/>
          </a:ln>
        </p:spPr>
      </p:sp>
      <p:sp>
        <p:nvSpPr>
          <p:cNvPr id="9" name="Text 5"/>
          <p:cNvSpPr txBox="1"/>
          <p:nvPr/>
        </p:nvSpPr>
        <p:spPr>
          <a:xfrm>
            <a:off x="8732520" y="19659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Probation confirmation: v1 published, 6 nodes (manager recommendation, HR confirmation, record update, notification). A v2 would apply only to runs started after it is published (not exercised here).</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Workflow › Versions &amp; builder</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05</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Audit and change history</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Who changed what is recorded in append-only events chained per tenant.</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Audit events: append-only, chained, not purged</a:t>
            </a:r>
            <a:endParaRPr lang="en-US" sz="2800" dirty="0"/>
          </a:p>
        </p:txBody>
      </p:sp>
      <p:sp>
        <p:nvSpPr>
          <p:cNvPr id="5" name="Shape 2"/>
          <p:cNvSpPr/>
          <p:nvPr/>
        </p:nvSpPr>
        <p:spPr>
          <a:xfrm>
            <a:off x="548640" y="1463040"/>
            <a:ext cx="5432908" cy="2286000"/>
          </a:xfrm>
          <a:prstGeom prst="roundRect">
            <a:avLst>
              <a:gd name="adj" fmla="val 4000"/>
            </a:avLst>
          </a:prstGeom>
          <a:solidFill>
            <a:srgbClr val="F4F5F8"/>
          </a:solidFill>
          <a:ln w="12700">
            <a:solidFill>
              <a:srgbClr val="F4F5F8"/>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is recorded</a:t>
            </a:r>
            <a:endParaRPr lang="en-US" sz="1600" dirty="0"/>
          </a:p>
        </p:txBody>
      </p:sp>
      <p:sp>
        <p:nvSpPr>
          <p:cNvPr id="7" name="Text 4"/>
          <p:cNvSpPr txBox="1"/>
          <p:nvPr/>
        </p:nvSpPr>
        <p:spPr>
          <a:xfrm>
            <a:off x="777240"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Tenant, actor and roles snapshot, action, module, entity, time, IP, user agent, source, request id, reason, approval reference, effective date and field-level before/after (masked when sensitive).</a:t>
            </a:r>
            <a:endParaRPr lang="en-US" sz="1400" dirty="0"/>
          </a:p>
        </p:txBody>
      </p:sp>
      <p:sp>
        <p:nvSpPr>
          <p:cNvPr id="8" name="Shape 5"/>
          <p:cNvSpPr/>
          <p:nvPr/>
        </p:nvSpPr>
        <p:spPr>
          <a:xfrm>
            <a:off x="6210148" y="1463040"/>
            <a:ext cx="5432908" cy="2286000"/>
          </a:xfrm>
          <a:prstGeom prst="roundRect">
            <a:avLst>
              <a:gd name="adj" fmla="val 4000"/>
            </a:avLst>
          </a:prstGeom>
          <a:solidFill>
            <a:srgbClr val="F4F5F8"/>
          </a:solidFill>
          <a:ln w="12700">
            <a:solidFill>
              <a:srgbClr val="F4F5F8"/>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Tamper evidence</a:t>
            </a:r>
            <a:endParaRPr lang="en-US" sz="1600" dirty="0"/>
          </a:p>
        </p:txBody>
      </p:sp>
      <p:sp>
        <p:nvSpPr>
          <p:cNvPr id="10" name="Text 7"/>
          <p:cNvSpPr txBox="1"/>
          <p:nvPr/>
        </p:nvSpPr>
        <p:spPr>
          <a:xfrm>
            <a:off x="6438748"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Each tenant has a hash chain; a verifier and export commands check it. Rows cannot be updated or deleted through the model layer.</a:t>
            </a:r>
            <a:endParaRPr lang="en-US" sz="1400" dirty="0"/>
          </a:p>
        </p:txBody>
      </p:sp>
      <p:sp>
        <p:nvSpPr>
          <p:cNvPr id="11" name="Shape 8"/>
          <p:cNvSpPr/>
          <p:nvPr/>
        </p:nvSpPr>
        <p:spPr>
          <a:xfrm>
            <a:off x="548640" y="3977640"/>
            <a:ext cx="5432908" cy="2286000"/>
          </a:xfrm>
          <a:prstGeom prst="roundRect">
            <a:avLst>
              <a:gd name="adj" fmla="val 4000"/>
            </a:avLst>
          </a:prstGeom>
          <a:solidFill>
            <a:srgbClr val="F4F5F8"/>
          </a:solidFill>
          <a:ln w="12700">
            <a:solidFill>
              <a:srgbClr val="F4F5F8"/>
            </a:solidFill>
            <a:prstDash val="solid"/>
          </a:ln>
        </p:spPr>
      </p:sp>
      <p:sp>
        <p:nvSpPr>
          <p:cNvPr id="12" name="Text 9"/>
          <p:cNvSpPr txBox="1"/>
          <p:nvPr/>
        </p:nvSpPr>
        <p:spPr>
          <a:xfrm>
            <a:off x="777240"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Change history</a:t>
            </a:r>
            <a:endParaRPr lang="en-US" sz="1600" dirty="0"/>
          </a:p>
        </p:txBody>
      </p:sp>
      <p:sp>
        <p:nvSpPr>
          <p:cNvPr id="13" name="Text 10"/>
          <p:cNvSpPr txBox="1"/>
          <p:nvPr/>
        </p:nvSpPr>
        <p:spPr>
          <a:xfrm>
            <a:off x="777240"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Audit events per record (History tab) plus effective-dated rows make any past state reproducible.</a:t>
            </a:r>
            <a:endParaRPr lang="en-US" sz="1400" dirty="0"/>
          </a:p>
        </p:txBody>
      </p:sp>
      <p:sp>
        <p:nvSpPr>
          <p:cNvPr id="14" name="Shape 11"/>
          <p:cNvSpPr/>
          <p:nvPr/>
        </p:nvSpPr>
        <p:spPr>
          <a:xfrm>
            <a:off x="6210148" y="3977640"/>
            <a:ext cx="5432908" cy="2286000"/>
          </a:xfrm>
          <a:prstGeom prst="roundRect">
            <a:avLst>
              <a:gd name="adj" fmla="val 4000"/>
            </a:avLst>
          </a:prstGeom>
          <a:solidFill>
            <a:srgbClr val="FDF0DD"/>
          </a:solidFill>
          <a:ln w="12700">
            <a:solidFill>
              <a:srgbClr val="FDF0DD"/>
            </a:solidFill>
            <a:prstDash val="solid"/>
          </a:ln>
        </p:spPr>
      </p:sp>
      <p:sp>
        <p:nvSpPr>
          <p:cNvPr id="15" name="Text 12"/>
          <p:cNvSpPr txBox="1"/>
          <p:nvPr/>
        </p:nvSpPr>
        <p:spPr>
          <a:xfrm>
            <a:off x="6438748"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Limits to know</a:t>
            </a:r>
            <a:endParaRPr lang="en-US" sz="1600" dirty="0"/>
          </a:p>
        </p:txBody>
      </p:sp>
      <p:sp>
        <p:nvSpPr>
          <p:cNvPr id="16" name="Text 13"/>
          <p:cNvSpPr txBox="1"/>
          <p:nvPr/>
        </p:nvSpPr>
        <p:spPr>
          <a:xfrm>
            <a:off x="6438748"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Deletion of audit rows exists only inside the tenant-deletion executor, which is switched off. Retention of other data needs owner decisions (D8).</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Change history in the application</a:t>
            </a:r>
            <a:endParaRPr lang="en-US" sz="2800" dirty="0"/>
          </a:p>
        </p:txBody>
      </p:sp>
      <p:pic>
        <p:nvPicPr>
          <p:cNvPr id="5" name="Screenshot analytics/80-ins-10-change-history" descr="Screenshot: Insights › Audit › Change history (Audit events)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2109927" y="3061479"/>
            <a:ext cx="958494" cy="305139"/>
          </a:xfrm>
          <a:prstGeom prst="roundRect">
            <a:avLst>
              <a:gd name="adj" fmla="val 14983"/>
            </a:avLst>
          </a:prstGeom>
          <a:ln w="25400">
            <a:solidFill>
              <a:srgbClr val="D97706"/>
            </a:solidFill>
            <a:prstDash val="solid"/>
          </a:ln>
        </p:spPr>
      </p:sp>
      <p:sp>
        <p:nvSpPr>
          <p:cNvPr id="8" name="Callout 1"/>
          <p:cNvSpPr txBox="1"/>
          <p:nvPr/>
        </p:nvSpPr>
        <p:spPr>
          <a:xfrm>
            <a:off x="1981911" y="2768871"/>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506984"/>
          </a:xfrm>
          <a:prstGeom prst="rect">
            <a:avLst/>
          </a:prstGeom>
          <a:noFill/>
          <a:ln/>
        </p:spPr>
        <p:txBody>
          <a:bodyPr wrap="square" lIns="0" tIns="0" rIns="0" bIns="0" rtlCol="0" anchor="t"/>
          <a:lstStyle/>
          <a:p>
            <a:pPr indent="0" marL="0">
              <a:buNone/>
            </a:pPr>
            <a:r>
              <a:rPr lang="en-US" sz="1400" dirty="0">
                <a:solidFill>
                  <a:schemeClr val="tx1"/>
                </a:solidFill>
              </a:rPr>
              <a:t>When: every audited change with actor and time.</a:t>
            </a:r>
            <a:endParaRPr lang="en-US" sz="1400" dirty="0"/>
          </a:p>
        </p:txBody>
      </p:sp>
      <p:sp>
        <p:nvSpPr>
          <p:cNvPr id="12" name="Bullet"/>
          <p:cNvSpPr/>
          <p:nvPr/>
        </p:nvSpPr>
        <p:spPr>
          <a:xfrm>
            <a:off x="8686800" y="2509520"/>
            <a:ext cx="109728" cy="109728"/>
          </a:xfrm>
          <a:prstGeom prst="ellipse">
            <a:avLst/>
          </a:prstGeom>
          <a:solidFill>
            <a:srgbClr val="8A90A2"/>
          </a:solidFill>
          <a:ln w="12700">
            <a:solidFill>
              <a:srgbClr val="8A90A2"/>
            </a:solidFill>
            <a:prstDash val="solid"/>
          </a:ln>
        </p:spPr>
      </p:sp>
      <p:sp>
        <p:nvSpPr>
          <p:cNvPr id="13" name="Text 9"/>
          <p:cNvSpPr txBox="1"/>
          <p:nvPr/>
        </p:nvSpPr>
        <p:spPr>
          <a:xfrm>
            <a:off x="9006840" y="2418080"/>
            <a:ext cx="2636215" cy="723900"/>
          </a:xfrm>
          <a:prstGeom prst="rect">
            <a:avLst/>
          </a:prstGeom>
          <a:noFill/>
          <a:ln/>
        </p:spPr>
        <p:txBody>
          <a:bodyPr wrap="square" lIns="0" tIns="0" rIns="0" bIns="0" rtlCol="0" anchor="t"/>
          <a:lstStyle/>
          <a:p>
            <a:pPr indent="0" marL="0">
              <a:buNone/>
            </a:pPr>
            <a:r>
              <a:rPr lang="en-US" sz="1400" dirty="0">
                <a:solidFill>
                  <a:schemeClr val="tx1"/>
                </a:solidFill>
              </a:rPr>
              <a:t>View an Update event for its field-level before and after.</a:t>
            </a:r>
            <a:endParaRPr lang="en-US" sz="1400" dirty="0"/>
          </a:p>
        </p:txBody>
      </p:sp>
      <p:sp>
        <p:nvSpPr>
          <p:cNvPr id="14" name="Shape 10"/>
          <p:cNvSpPr/>
          <p:nvPr/>
        </p:nvSpPr>
        <p:spPr>
          <a:xfrm>
            <a:off x="8595360" y="3269996"/>
            <a:ext cx="3047695" cy="818769"/>
          </a:xfrm>
          <a:prstGeom prst="roundRect">
            <a:avLst>
              <a:gd name="adj" fmla="val 8934"/>
            </a:avLst>
          </a:prstGeom>
          <a:solidFill>
            <a:srgbClr val="F4F5F8"/>
          </a:solidFill>
          <a:ln w="12700">
            <a:solidFill>
              <a:srgbClr val="F4F5F8"/>
            </a:solidFill>
            <a:prstDash val="solid"/>
          </a:ln>
        </p:spPr>
      </p:sp>
      <p:sp>
        <p:nvSpPr>
          <p:cNvPr id="15" name="Text 11"/>
          <p:cNvSpPr txBox="1"/>
          <p:nvPr/>
        </p:nvSpPr>
        <p:spPr>
          <a:xfrm>
            <a:off x="8732520" y="3361436"/>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Administrators and auditors read history; nobody edits it.</a:t>
            </a:r>
            <a:endParaRPr lang="en-US" sz="1050" dirty="0"/>
          </a:p>
        </p:txBody>
      </p:sp>
      <p:sp>
        <p:nvSpPr>
          <p:cNvPr id="16" name="Text 12"/>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Insights › Audit › Change history (Audit events)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hash chain on one event</a:t>
            </a:r>
            <a:endParaRPr lang="en-US" sz="2800" dirty="0"/>
          </a:p>
        </p:txBody>
      </p:sp>
      <p:pic>
        <p:nvPicPr>
          <p:cNvPr id="5" name="Screenshot security-compliance/80-ins-11b-audit-integrity" descr="Screenshot: Change history › event (Who and where, Integrity expanded) (Kavya Menon, fictional data)">    </p:cNvPr>
          <p:cNvPicPr>
            <a:picLocks noChangeAspect="1"/>
          </p:cNvPicPr>
          <p:nvPr/>
        </p:nvPicPr>
        <p:blipFill>
          <a:blip r:embed="rId1"/>
          <a:stretch>
            <a:fillRect/>
          </a:stretch>
        </p:blipFill>
        <p:spPr>
          <a:xfrm>
            <a:off x="1906627" y="1417320"/>
            <a:ext cx="5102146" cy="4846320"/>
          </a:xfrm>
          <a:prstGeom prst="rect">
            <a:avLst/>
          </a:prstGeom>
        </p:spPr>
      </p:pic>
      <p:sp>
        <p:nvSpPr>
          <p:cNvPr id="6" name="Screenshot frame"/>
          <p:cNvSpPr/>
          <p:nvPr/>
        </p:nvSpPr>
        <p:spPr>
          <a:xfrm>
            <a:off x="1906627" y="1417320"/>
            <a:ext cx="5102146"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012444"/>
          </a:xfrm>
          <a:prstGeom prst="roundRect">
            <a:avLst>
              <a:gd name="adj" fmla="val 7225"/>
            </a:avLst>
          </a:prstGeom>
          <a:solidFill>
            <a:srgbClr val="F4F5F8"/>
          </a:solidFill>
          <a:ln w="12700">
            <a:solidFill>
              <a:srgbClr val="F4F5F8"/>
            </a:solidFill>
            <a:prstDash val="solid"/>
          </a:ln>
        </p:spPr>
      </p:sp>
      <p:sp>
        <p:nvSpPr>
          <p:cNvPr id="9" name="Text 5"/>
          <p:cNvSpPr txBox="1"/>
          <p:nvPr/>
        </p:nvSpPr>
        <p:spPr>
          <a:xfrm>
            <a:off x="8732520" y="1965960"/>
            <a:ext cx="2773375" cy="82956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Who and where (actor, roles, source, IP, request id) and Integrity: Hash, Previous hash, "Hash verified ✓".</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Kavya Menon (Tenant HR Admin + Employee) · Change history › event (Who and where, Integrity expanded)</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AUDIT</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Platform audit trail</a:t>
            </a:r>
            <a:endParaRPr lang="en-US" sz="2800" dirty="0"/>
          </a:p>
        </p:txBody>
      </p:sp>
      <p:pic>
        <p:nvPicPr>
          <p:cNvPr id="5" name="Screenshot platform-admin/95-pl-22-platform-audit" descr="Screenshot: Admin › Platform › Platform audit trail (Markedge Platform Admin, fictional data)">    </p:cNvPr>
          <p:cNvPicPr>
            <a:picLocks noChangeAspect="1"/>
          </p:cNvPicPr>
          <p:nvPr/>
        </p:nvPicPr>
        <p:blipFill>
          <a:blip r:embed="rId1"/>
          <a:stretch>
            <a:fillRect/>
          </a:stretch>
        </p:blipFill>
        <p:spPr>
          <a:xfrm>
            <a:off x="1906627" y="1417320"/>
            <a:ext cx="5102146" cy="4846320"/>
          </a:xfrm>
          <a:prstGeom prst="rect">
            <a:avLst/>
          </a:prstGeom>
        </p:spPr>
      </p:pic>
      <p:sp>
        <p:nvSpPr>
          <p:cNvPr id="6" name="Screenshot frame"/>
          <p:cNvSpPr/>
          <p:nvPr/>
        </p:nvSpPr>
        <p:spPr>
          <a:xfrm>
            <a:off x="1906627" y="1417320"/>
            <a:ext cx="5102146"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593469"/>
          </a:xfrm>
          <a:prstGeom prst="roundRect">
            <a:avLst>
              <a:gd name="adj" fmla="val 4591"/>
            </a:avLst>
          </a:prstGeom>
          <a:solidFill>
            <a:srgbClr val="F4F5F8"/>
          </a:solidFill>
          <a:ln w="12700">
            <a:solidFill>
              <a:srgbClr val="F4F5F8"/>
            </a:solidFill>
            <a:prstDash val="solid"/>
          </a:ln>
        </p:spPr>
      </p:sp>
      <p:sp>
        <p:nvSpPr>
          <p:cNvPr id="9" name="Text 5"/>
          <p:cNvSpPr txBox="1"/>
          <p:nvPr/>
        </p:nvSpPr>
        <p:spPr>
          <a:xfrm>
            <a:off x="8732520" y="19659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Operator actions are audited separately from tenants. The header shows "NOT RECENTLY VERIFIED: 0 of 3 chains verified": verification (peopleos:audit:verify) is scheduled, and no scheduler runs locally.</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Markedge Platform Admin (Platform operator) · Admin › Platform › Platform audit trail</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06</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Queues, scheduler and tenant context</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Background work always runs inside one tenant.</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QUEUES AND SCHEDULER</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Background work keeps its tenant</a:t>
            </a:r>
            <a:endParaRPr lang="en-US" sz="2800" dirty="0"/>
          </a:p>
        </p:txBody>
      </p:sp>
      <p:sp>
        <p:nvSpPr>
          <p:cNvPr id="5" name="Shape 2"/>
          <p:cNvSpPr/>
          <p:nvPr/>
        </p:nvSpPr>
        <p:spPr>
          <a:xfrm>
            <a:off x="548640" y="1463040"/>
            <a:ext cx="5432908" cy="2286000"/>
          </a:xfrm>
          <a:prstGeom prst="roundRect">
            <a:avLst>
              <a:gd name="adj" fmla="val 4000"/>
            </a:avLst>
          </a:prstGeom>
          <a:solidFill>
            <a:srgbClr val="E3F3EA"/>
          </a:solidFill>
          <a:ln w="12700">
            <a:solidFill>
              <a:srgbClr val="E3F3EA"/>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TenantAwareJob</a:t>
            </a:r>
            <a:endParaRPr lang="en-US" sz="1600" dirty="0"/>
          </a:p>
        </p:txBody>
      </p:sp>
      <p:sp>
        <p:nvSpPr>
          <p:cNvPr id="7" name="Text 4"/>
          <p:cNvSpPr txBox="1"/>
          <p:nvPr/>
        </p:nvSpPr>
        <p:spPr>
          <a:xfrm>
            <a:off x="777240"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Every queued job touching tenant data captures the tenant at dispatch and binds it with BindTenantContext middleware. The architecture test enforces it for every ShouldQueue class.</a:t>
            </a:r>
            <a:endParaRPr lang="en-US" sz="1400" dirty="0"/>
          </a:p>
        </p:txBody>
      </p:sp>
      <p:sp>
        <p:nvSpPr>
          <p:cNvPr id="8" name="Shape 5"/>
          <p:cNvSpPr/>
          <p:nvPr/>
        </p:nvSpPr>
        <p:spPr>
          <a:xfrm>
            <a:off x="6210148" y="1463040"/>
            <a:ext cx="5432908" cy="2286000"/>
          </a:xfrm>
          <a:prstGeom prst="roundRect">
            <a:avLst>
              <a:gd name="adj" fmla="val 4000"/>
            </a:avLst>
          </a:prstGeom>
          <a:solidFill>
            <a:srgbClr val="E3F3EA"/>
          </a:solidFill>
          <a:ln w="12700">
            <a:solidFill>
              <a:srgbClr val="E3F3EA"/>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Scheduler</a:t>
            </a:r>
            <a:endParaRPr lang="en-US" sz="1600" dirty="0"/>
          </a:p>
        </p:txBody>
      </p:sp>
      <p:sp>
        <p:nvSpPr>
          <p:cNvPr id="10" name="Text 7"/>
          <p:cNvSpPr txBox="1"/>
          <p:nvPr/>
        </p:nvSpPr>
        <p:spPr>
          <a:xfrm>
            <a:off x="6438748"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routes/console.php; each entry withoutOverlapping()-&gt;onOneServer(); commands iterate tenants explicitly with runAs.</a:t>
            </a:r>
            <a:endParaRPr lang="en-US" sz="1400" dirty="0"/>
          </a:p>
        </p:txBody>
      </p:sp>
      <p:sp>
        <p:nvSpPr>
          <p:cNvPr id="11" name="Shape 8"/>
          <p:cNvSpPr/>
          <p:nvPr/>
        </p:nvSpPr>
        <p:spPr>
          <a:xfrm>
            <a:off x="548640" y="3977640"/>
            <a:ext cx="5432908" cy="2286000"/>
          </a:xfrm>
          <a:prstGeom prst="roundRect">
            <a:avLst>
              <a:gd name="adj" fmla="val 4000"/>
            </a:avLst>
          </a:prstGeom>
          <a:solidFill>
            <a:srgbClr val="F4F5F8"/>
          </a:solidFill>
          <a:ln w="12700">
            <a:solidFill>
              <a:srgbClr val="F4F5F8"/>
            </a:solidFill>
            <a:prstDash val="solid"/>
          </a:ln>
        </p:spPr>
      </p:sp>
      <p:sp>
        <p:nvSpPr>
          <p:cNvPr id="12" name="Text 9"/>
          <p:cNvSpPr txBox="1"/>
          <p:nvPr/>
        </p:nvSpPr>
        <p:spPr>
          <a:xfrm>
            <a:off x="777240"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Failures</a:t>
            </a:r>
            <a:endParaRPr lang="en-US" sz="1600" dirty="0"/>
          </a:p>
        </p:txBody>
      </p:sp>
      <p:sp>
        <p:nvSpPr>
          <p:cNvPr id="13" name="Text 10"/>
          <p:cNvSpPr txBox="1"/>
          <p:nvPr/>
        </p:nvSpPr>
        <p:spPr>
          <a:xfrm>
            <a:off x="777240"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Queued failures go to failed_jobs and the Platform › Operations page; integration failures become delivery or inbound-event states, never caller exceptions.</a:t>
            </a:r>
            <a:endParaRPr lang="en-US" sz="1400" dirty="0"/>
          </a:p>
        </p:txBody>
      </p:sp>
      <p:sp>
        <p:nvSpPr>
          <p:cNvPr id="14" name="Shape 11"/>
          <p:cNvSpPr/>
          <p:nvPr/>
        </p:nvSpPr>
        <p:spPr>
          <a:xfrm>
            <a:off x="6210148" y="3977640"/>
            <a:ext cx="5432908" cy="2286000"/>
          </a:xfrm>
          <a:prstGeom prst="roundRect">
            <a:avLst>
              <a:gd name="adj" fmla="val 4000"/>
            </a:avLst>
          </a:prstGeom>
          <a:solidFill>
            <a:srgbClr val="FDF0DD"/>
          </a:solidFill>
          <a:ln w="12700">
            <a:solidFill>
              <a:srgbClr val="FDF0DD"/>
            </a:solidFill>
            <a:prstDash val="solid"/>
          </a:ln>
        </p:spPr>
      </p:sp>
      <p:sp>
        <p:nvSpPr>
          <p:cNvPr id="15" name="Text 12"/>
          <p:cNvSpPr txBox="1"/>
          <p:nvPr/>
        </p:nvSpPr>
        <p:spPr>
          <a:xfrm>
            <a:off x="6438748"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Operational prerequisite</a:t>
            </a:r>
            <a:endParaRPr lang="en-US" sz="1600" dirty="0"/>
          </a:p>
        </p:txBody>
      </p:sp>
      <p:sp>
        <p:nvSpPr>
          <p:cNvPr id="16" name="Text 13"/>
          <p:cNvSpPr txBox="1"/>
          <p:nvPr/>
        </p:nvSpPr>
        <p:spPr>
          <a:xfrm>
            <a:off x="6438748"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queue worker and the scheduler must run in production. None runs in the local environment; hosting and on-call are blocked (gate 8).</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QUEUES AND SCHEDULER</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Where operators see queues and failures</a:t>
            </a:r>
            <a:endParaRPr lang="en-US" sz="2800" dirty="0"/>
          </a:p>
        </p:txBody>
      </p:sp>
      <p:pic>
        <p:nvPicPr>
          <p:cNvPr id="5" name="Screenshot platform-admin/95-pl-21-operations" descr="Screenshot: Admin › Platform › Operations (Markedge Platform Admi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399794"/>
          </a:xfrm>
          <a:prstGeom prst="roundRect">
            <a:avLst>
              <a:gd name="adj" fmla="val 5226"/>
            </a:avLst>
          </a:prstGeom>
          <a:solidFill>
            <a:srgbClr val="F4F5F8"/>
          </a:solidFill>
          <a:ln w="12700">
            <a:solidFill>
              <a:srgbClr val="F4F5F8"/>
            </a:solidFill>
            <a:prstDash val="solid"/>
          </a:ln>
        </p:spPr>
      </p:sp>
      <p:sp>
        <p:nvSpPr>
          <p:cNvPr id="9" name="Text 5"/>
          <p:cNvSpPr txBox="1"/>
          <p:nvPr/>
        </p:nvSpPr>
        <p:spPr>
          <a:xfrm>
            <a:off x="8732520" y="1965960"/>
            <a:ext cx="2773375" cy="1216914"/>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Database, cache, queue, failed jobs, integrations and the scheduler heartbeat (WARN here: no scheduler runs locally, release gate 8), with per-tenant status.</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(cropped) · Markedge Platform Admin (Platform operator) · Admin › Platform › Operations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07</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Payroll and statutory safeguards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Statutory rules are data, verified by people; payroll refuses to finalise on unverified rules.</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 SAFEGUARDS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Payroll cannot finalise on unverified rules</a:t>
            </a:r>
            <a:endParaRPr lang="en-US" sz="2800" dirty="0"/>
          </a:p>
        </p:txBody>
      </p:sp>
      <p:sp>
        <p:nvSpPr>
          <p:cNvPr id="5" name="Shape 2"/>
          <p:cNvSpPr/>
          <p:nvPr/>
        </p:nvSpPr>
        <p:spPr>
          <a:xfrm>
            <a:off x="548640" y="1463040"/>
            <a:ext cx="5432908" cy="2286000"/>
          </a:xfrm>
          <a:prstGeom prst="roundRect">
            <a:avLst>
              <a:gd name="adj" fmla="val 4000"/>
            </a:avLst>
          </a:prstGeom>
          <a:solidFill>
            <a:srgbClr val="F4F5F8"/>
          </a:solidFill>
          <a:ln w="12700">
            <a:solidFill>
              <a:srgbClr val="F4F5F8"/>
            </a:solidFill>
            <a:prstDash val="solid"/>
          </a:ln>
        </p:spPr>
      </p:sp>
      <p:sp>
        <p:nvSpPr>
          <p:cNvPr id="6" name="Text 3"/>
          <p:cNvSpPr txBox="1"/>
          <p:nvPr/>
        </p:nvSpPr>
        <p:spPr>
          <a:xfrm>
            <a:off x="777240"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Rules are data</a:t>
            </a:r>
            <a:endParaRPr lang="en-US" sz="1600" dirty="0"/>
          </a:p>
        </p:txBody>
      </p:sp>
      <p:sp>
        <p:nvSpPr>
          <p:cNvPr id="7" name="Text 4"/>
          <p:cNvSpPr txBox="1"/>
          <p:nvPr/>
        </p:nvSpPr>
        <p:spPr>
          <a:xfrm>
            <a:off x="777240"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Statutory rates live in versioned compliance rules, never in PHP (architecture test). 23 India rules plus 1 UAE rule; 0 of 24 verified.</a:t>
            </a:r>
            <a:endParaRPr lang="en-US" sz="1400" dirty="0"/>
          </a:p>
        </p:txBody>
      </p:sp>
      <p:sp>
        <p:nvSpPr>
          <p:cNvPr id="8" name="Shape 5"/>
          <p:cNvSpPr/>
          <p:nvPr/>
        </p:nvSpPr>
        <p:spPr>
          <a:xfrm>
            <a:off x="6210148" y="1463040"/>
            <a:ext cx="5432908" cy="2286000"/>
          </a:xfrm>
          <a:prstGeom prst="roundRect">
            <a:avLst>
              <a:gd name="adj" fmla="val 4000"/>
            </a:avLst>
          </a:prstGeom>
          <a:solidFill>
            <a:srgbClr val="FDF0DD"/>
          </a:solidFill>
          <a:ln w="12700">
            <a:solidFill>
              <a:srgbClr val="FDF0DD"/>
            </a:solidFill>
            <a:prstDash val="solid"/>
          </a:ln>
        </p:spPr>
      </p:sp>
      <p:sp>
        <p:nvSpPr>
          <p:cNvPr id="9" name="Text 6"/>
          <p:cNvSpPr txBox="1"/>
          <p:nvPr/>
        </p:nvSpPr>
        <p:spPr>
          <a:xfrm>
            <a:off x="6438748" y="16093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Verification</a:t>
            </a:r>
            <a:endParaRPr lang="en-US" sz="1600" dirty="0"/>
          </a:p>
        </p:txBody>
      </p:sp>
      <p:sp>
        <p:nvSpPr>
          <p:cNvPr id="10" name="Text 7"/>
          <p:cNvSpPr txBox="1"/>
          <p:nvPr/>
        </p:nvSpPr>
        <p:spPr>
          <a:xfrm>
            <a:off x="6438748" y="20848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Two platform administrators verify a rule with official evidence. Until then, enforcement blocks finalisation and payslips.</a:t>
            </a:r>
            <a:endParaRPr lang="en-US" sz="1400" dirty="0"/>
          </a:p>
        </p:txBody>
      </p:sp>
      <p:sp>
        <p:nvSpPr>
          <p:cNvPr id="11" name="Shape 8"/>
          <p:cNvSpPr/>
          <p:nvPr/>
        </p:nvSpPr>
        <p:spPr>
          <a:xfrm>
            <a:off x="548640" y="3977640"/>
            <a:ext cx="5432908" cy="2286000"/>
          </a:xfrm>
          <a:prstGeom prst="roundRect">
            <a:avLst>
              <a:gd name="adj" fmla="val 4000"/>
            </a:avLst>
          </a:prstGeom>
          <a:solidFill>
            <a:srgbClr val="FDF0DD"/>
          </a:solidFill>
          <a:ln w="12700">
            <a:solidFill>
              <a:srgbClr val="FDF0DD"/>
            </a:solidFill>
            <a:prstDash val="solid"/>
          </a:ln>
        </p:spPr>
      </p:sp>
      <p:sp>
        <p:nvSpPr>
          <p:cNvPr id="12" name="Text 9"/>
          <p:cNvSpPr txBox="1"/>
          <p:nvPr/>
        </p:nvSpPr>
        <p:spPr>
          <a:xfrm>
            <a:off x="777240"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 rules, no payroll</a:t>
            </a:r>
            <a:endParaRPr lang="en-US" sz="1600" dirty="0"/>
          </a:p>
        </p:txBody>
      </p:sp>
      <p:sp>
        <p:nvSpPr>
          <p:cNvPr id="13" name="Text 10"/>
          <p:cNvSpPr txBox="1"/>
          <p:nvPr/>
        </p:nvSpPr>
        <p:spPr>
          <a:xfrm>
            <a:off x="777240"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run in a jurisdiction without statutory rules is blocked (USA, UK and EU have no rules; owner decision O-18).</a:t>
            </a:r>
            <a:endParaRPr lang="en-US" sz="1400" dirty="0"/>
          </a:p>
        </p:txBody>
      </p:sp>
      <p:sp>
        <p:nvSpPr>
          <p:cNvPr id="14" name="Shape 11"/>
          <p:cNvSpPr/>
          <p:nvPr/>
        </p:nvSpPr>
        <p:spPr>
          <a:xfrm>
            <a:off x="6210148" y="3977640"/>
            <a:ext cx="5432908" cy="2286000"/>
          </a:xfrm>
          <a:prstGeom prst="roundRect">
            <a:avLst>
              <a:gd name="adj" fmla="val 4000"/>
            </a:avLst>
          </a:prstGeom>
          <a:solidFill>
            <a:srgbClr val="F4F5F8"/>
          </a:solidFill>
          <a:ln w="12700">
            <a:solidFill>
              <a:srgbClr val="F4F5F8"/>
            </a:solidFill>
            <a:prstDash val="solid"/>
          </a:ln>
        </p:spPr>
      </p:sp>
      <p:sp>
        <p:nvSpPr>
          <p:cNvPr id="15" name="Text 12"/>
          <p:cNvSpPr txBox="1"/>
          <p:nvPr/>
        </p:nvSpPr>
        <p:spPr>
          <a:xfrm>
            <a:off x="6438748" y="4123944"/>
            <a:ext cx="497570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Separation of duties</a:t>
            </a:r>
            <a:endParaRPr lang="en-US" sz="1600" dirty="0"/>
          </a:p>
        </p:txBody>
      </p:sp>
      <p:sp>
        <p:nvSpPr>
          <p:cNvPr id="16" name="Text 13"/>
          <p:cNvSpPr txBox="1"/>
          <p:nvPr/>
        </p:nvSpPr>
        <p:spPr>
          <a:xfrm>
            <a:off x="6438748" y="4599432"/>
            <a:ext cx="4975708" cy="15544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approver of a run must differ from its creator; compensation changes need four different people; payroll consumes attendance and leave outputs, never their internals.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 SAFEGUARDS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safeguard as payroll staff see it</a:t>
            </a:r>
            <a:endParaRPr lang="en-US" sz="2800" dirty="0"/>
          </a:p>
        </p:txBody>
      </p:sp>
      <p:pic>
        <p:nvPicPr>
          <p:cNvPr id="5" name="Screenshot hr-admin/60-pay-09-validate-blocked" descr="Screenshot: Payroll run › Validate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Callout box 1"/>
          <p:cNvSpPr/>
          <p:nvPr/>
        </p:nvSpPr>
        <p:spPr>
          <a:xfrm>
            <a:off x="6159297" y="1481938"/>
            <a:ext cx="2110842" cy="570789"/>
          </a:xfrm>
          <a:prstGeom prst="roundRect">
            <a:avLst>
              <a:gd name="adj" fmla="val 8010"/>
            </a:avLst>
          </a:prstGeom>
          <a:ln w="25400">
            <a:solidFill>
              <a:srgbClr val="D97706"/>
            </a:solidFill>
            <a:prstDash val="solid"/>
          </a:ln>
        </p:spPr>
      </p:sp>
      <p:sp>
        <p:nvSpPr>
          <p:cNvPr id="8" name="Callout 1"/>
          <p:cNvSpPr txBox="1"/>
          <p:nvPr/>
        </p:nvSpPr>
        <p:spPr>
          <a:xfrm>
            <a:off x="5848401" y="1639316"/>
            <a:ext cx="256032" cy="256032"/>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Status"/>
          <p:cNvSpPr txBox="1"/>
          <p:nvPr/>
        </p:nvSpPr>
        <p:spPr>
          <a:xfrm>
            <a:off x="8595360" y="1417320"/>
            <a:ext cx="3047695"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10" name="Callout 1"/>
          <p:cNvSpPr txBox="1"/>
          <p:nvPr/>
        </p:nvSpPr>
        <p:spPr>
          <a:xfrm>
            <a:off x="8595360" y="1892808"/>
            <a:ext cx="292608" cy="292608"/>
          </a:xfrm>
          <a:prstGeom prst="ellipse">
            <a:avLst/>
          </a:prstGeom>
          <a:solidFill>
            <a:srgbClr val="D97706"/>
          </a:solidFill>
          <a:ln w="19050">
            <a:solidFill>
              <a:srgbClr val="FFFFFF"/>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7"/>
          <p:cNvSpPr txBox="1"/>
          <p:nvPr/>
        </p:nvSpPr>
        <p:spPr>
          <a:xfrm>
            <a:off x="9006840" y="1874520"/>
            <a:ext cx="2636215" cy="329184"/>
          </a:xfrm>
          <a:prstGeom prst="rect">
            <a:avLst/>
          </a:prstGeom>
          <a:noFill/>
          <a:ln/>
        </p:spPr>
        <p:txBody>
          <a:bodyPr wrap="square" lIns="0" tIns="0" rIns="0" bIns="0" rtlCol="0" anchor="t"/>
          <a:lstStyle/>
          <a:p>
            <a:pPr indent="0" marL="0">
              <a:buNone/>
            </a:pPr>
            <a:r>
              <a:rPr lang="en-US" sz="1400" dirty="0">
                <a:solidFill>
                  <a:schemeClr val="tx1"/>
                </a:solidFill>
              </a:rPr>
              <a:t>Blocking message.</a:t>
            </a:r>
            <a:endParaRPr lang="en-US" sz="1400" dirty="0"/>
          </a:p>
        </p:txBody>
      </p:sp>
      <p:sp>
        <p:nvSpPr>
          <p:cNvPr id="12" name="Shape 8"/>
          <p:cNvSpPr/>
          <p:nvPr/>
        </p:nvSpPr>
        <p:spPr>
          <a:xfrm>
            <a:off x="8595360" y="2331720"/>
            <a:ext cx="3047695" cy="1593469"/>
          </a:xfrm>
          <a:prstGeom prst="roundRect">
            <a:avLst>
              <a:gd name="adj" fmla="val 4591"/>
            </a:avLst>
          </a:prstGeom>
          <a:solidFill>
            <a:srgbClr val="F4F5F8"/>
          </a:solidFill>
          <a:ln w="12700">
            <a:solidFill>
              <a:srgbClr val="F4F5F8"/>
            </a:solidFill>
            <a:prstDash val="solid"/>
          </a:ln>
        </p:spPr>
      </p:sp>
      <p:sp>
        <p:nvSpPr>
          <p:cNvPr id="13" name="Text 9"/>
          <p:cNvSpPr txBox="1"/>
          <p:nvPr/>
        </p:nvSpPr>
        <p:spPr>
          <a:xfrm>
            <a:off x="8732520" y="24231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Validate on the October run: "Not allowed: 19 employee(s) have blocking exceptions. Fix the inputs and recalculate." Approve and Finalize never appear. Nothing reaches a payslip on an unverified rate.</a:t>
            </a:r>
            <a:endParaRPr lang="en-US" sz="1050" dirty="0"/>
          </a:p>
        </p:txBody>
      </p:sp>
      <p:sp>
        <p:nvSpPr>
          <p:cNvPr id="14" name="Text 10"/>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Payroll run › Validate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PAYROLL SAFEGUARDS</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Why: statutory lines are exceptions</a:t>
            </a:r>
            <a:endParaRPr lang="en-US" sz="2800" dirty="0"/>
          </a:p>
        </p:txBody>
      </p:sp>
      <p:pic>
        <p:nvPicPr>
          <p:cNvPr id="5" name="Screenshot hr-admin/60-pay-06-breakdown" descr="Screenshot: Payroll run › Breakdown (dialog) (Arjun Bose,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818769"/>
          </a:xfrm>
          <a:prstGeom prst="roundRect">
            <a:avLst>
              <a:gd name="adj" fmla="val 8934"/>
            </a:avLst>
          </a:prstGeom>
          <a:solidFill>
            <a:srgbClr val="F4F5F8"/>
          </a:solidFill>
          <a:ln w="12700">
            <a:solidFill>
              <a:srgbClr val="F4F5F8"/>
            </a:solidFill>
            <a:prstDash val="solid"/>
          </a:ln>
        </p:spPr>
      </p:sp>
      <p:sp>
        <p:nvSpPr>
          <p:cNvPr id="9" name="Text 5"/>
          <p:cNvSpPr txBox="1"/>
          <p:nvPr/>
        </p:nvSpPr>
        <p:spPr>
          <a:xfrm>
            <a:off x="8732520" y="1965960"/>
            <a:ext cx="2773375" cy="6358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The breakdown shows statutory lines as exceptions because their rules are unverified.</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Arjun Bose (Payroll Admin + Employee) · Payroll run › Breakdown (dialog)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08</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Export, offboarding and deletion</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A customer can leave with its data. Deletion exists in code and is switched off.</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OFFBOARDING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Offboarding controls and their state</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286000"/>
                <a:gridCol w="6035040"/>
                <a:gridCol w="2770632"/>
              </a:tblGrid>
              <a:tr h="384048">
                <a:tc>
                  <a:txBody>
                    <a:bodyPr/>
                    <a:lstStyle/>
                    <a:p>
                      <a:pPr indent="0" marL="0">
                        <a:buNone/>
                      </a:pPr>
                      <a:r>
                        <a:rPr lang="en-US" sz="1250" b="1" dirty="0">
                          <a:solidFill>
                            <a:srgbClr val="FFFFFF"/>
                          </a:solidFill>
                        </a:rPr>
                        <a:t>Control</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What it does</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State today</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Tenant data export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Encrypted, passphrase-protected package of the tenant's data, requested by the Account Owner or an operator (request dialog opened; not generated, because it shows a one-time passphrase)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3E3594"/>
                          </a:solidFill>
                        </a:rPr>
                        <a:t>Not verified end to end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CEAFB"/>
                    </a:solidFill>
                  </a:tcPr>
                </a:tc>
              </a:tr>
              <a:tr h="384048">
                <a:tc>
                  <a:txBody>
                    <a:bodyPr/>
                    <a:lstStyle/>
                    <a:p>
                      <a:pPr indent="0" marL="0">
                        <a:buNone/>
                      </a:pPr>
                      <a:r>
                        <a:rPr lang="en-US" sz="1300" dirty="0">
                          <a:solidFill>
                            <a:srgbClr val="1F2433"/>
                          </a:solidFill>
                        </a:rPr>
                        <a:t>Legal holds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Block deletion of a tenant while a hold is active (placed on the fictional Northwind tenant in this training)</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1E7F4F"/>
                          </a:solidFill>
                        </a:rPr>
                        <a:t>Verified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F3EA"/>
                    </a:solidFill>
                  </a:tcPr>
                </a:tc>
              </a:tr>
              <a:tr h="384048">
                <a:tc>
                  <a:txBody>
                    <a:bodyPr/>
                    <a:lstStyle/>
                    <a:p>
                      <a:pPr indent="0" marL="0">
                        <a:buNone/>
                      </a:pPr>
                      <a:r>
                        <a:rPr lang="en-US" sz="1300" dirty="0">
                          <a:solidFill>
                            <a:srgbClr val="1F2433"/>
                          </a:solidFill>
                        </a:rPr>
                        <a:t>Retention policies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Decide what may be deleted and when; none shipped (D8)</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2F6FB3"/>
                          </a:solidFill>
                        </a:rPr>
                        <a:t>After configuration</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4EEF8"/>
                    </a:solidFill>
                  </a:tcPr>
                </a:tc>
              </a:tr>
              <a:tr h="384048">
                <a:tc>
                  <a:txBody>
                    <a:bodyPr/>
                    <a:lstStyle/>
                    <a:p>
                      <a:pPr indent="0" marL="0">
                        <a:buNone/>
                      </a:pPr>
                      <a:r>
                        <a:rPr lang="en-US" sz="1300" dirty="0">
                          <a:solidFill>
                            <a:srgbClr val="1F2433"/>
                          </a:solidFill>
                        </a:rPr>
                        <a:t>Deletion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Maker-checker plan, cooling-off, register on a separate disk, certificate, reconciliation after restore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8A5A00"/>
                          </a:solidFill>
                        </a:rPr>
                        <a:t>Disabled (gate)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DF0DD"/>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OFFBOARDING</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Offboarding page: deletion is switched off</a:t>
            </a:r>
            <a:endParaRPr lang="en-US" sz="2800" dirty="0"/>
          </a:p>
        </p:txBody>
      </p:sp>
      <p:pic>
        <p:nvPicPr>
          <p:cNvPr id="5" name="Screenshot platform-admin/95-pl-24-offboarding" descr="Screenshot: Admin › Platform › Offboarding (Markedge Platform Admi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FDF0DD"/>
          </a:solidFill>
          <a:ln/>
        </p:spPr>
        <p:txBody>
          <a:bodyPr wrap="square" lIns="0" tIns="0" rIns="0" bIns="0" rtlCol="0" anchor="ctr"/>
          <a:lstStyle/>
          <a:p>
            <a:pPr algn="ctr" indent="0" marL="0">
              <a:buNone/>
            </a:pPr>
            <a:r>
              <a:rPr lang="en-US" sz="1050" b="1" dirty="0">
                <a:solidFill>
                  <a:srgbClr val="8A5A00"/>
                </a:solidFill>
              </a:rPr>
              <a:t>Disabled by safety or commercial gates</a:t>
            </a:r>
            <a:endParaRPr lang="en-US" sz="1050" dirty="0"/>
          </a:p>
        </p:txBody>
      </p:sp>
      <p:sp>
        <p:nvSpPr>
          <p:cNvPr id="8" name="Shape 4"/>
          <p:cNvSpPr/>
          <p:nvPr/>
        </p:nvSpPr>
        <p:spPr>
          <a:xfrm>
            <a:off x="8595360" y="1874520"/>
            <a:ext cx="3047695" cy="1206119"/>
          </a:xfrm>
          <a:prstGeom prst="roundRect">
            <a:avLst>
              <a:gd name="adj" fmla="val 6065"/>
            </a:avLst>
          </a:prstGeom>
          <a:solidFill>
            <a:srgbClr val="F4F5F8"/>
          </a:solidFill>
          <a:ln w="12700">
            <a:solidFill>
              <a:srgbClr val="F4F5F8"/>
            </a:solidFill>
            <a:prstDash val="solid"/>
          </a:ln>
        </p:spPr>
      </p:sp>
      <p:sp>
        <p:nvSpPr>
          <p:cNvPr id="9" name="Text 5"/>
          <p:cNvSpPr txBox="1"/>
          <p:nvPr/>
        </p:nvSpPr>
        <p:spPr>
          <a:xfrm>
            <a:off x="8732520" y="1965960"/>
            <a:ext cx="2773375" cy="102323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"Tenant deletion is switched off in this environment." Captured before the Northwind legal hold was placed (Deck 5 shows the hold).</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Markedge Platform Admin (Platform operator) · Admin › Platform › Offboarding</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09</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Integration boundaries</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External systems connect through the Integration Hub; PeopleOS owns its keys and never depends on another product's database.</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INTEGRATION HUB</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Integration channels</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60320"/>
                <a:gridCol w="8531352"/>
              </a:tblGrid>
              <a:tr h="384048">
                <a:tc>
                  <a:txBody>
                    <a:bodyPr/>
                    <a:lstStyle/>
                    <a:p>
                      <a:pPr indent="0" marL="0">
                        <a:buNone/>
                      </a:pPr>
                      <a:r>
                        <a:rPr lang="en-US" sz="1250" b="1" dirty="0">
                          <a:solidFill>
                            <a:srgbClr val="FFFFFF"/>
                          </a:solidFill>
                        </a:rPr>
                        <a:t>Channel</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Security and behaviour</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REST API v1</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/api/v1, API key → tenant, JSON errors, pagination, 120/min rate limit, Idempotency-Key on writes; OpenAPI 3.1 in docs/api/openapi.json (131 operations)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SCIM 2.0</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User provisioning with an API key carrying SCIM scopes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Single sign-on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OIDC only (SAML not supported)</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Outbound webhooks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HMAC-SHA256 over timestamp.body; delivery id for de-duplication; retries, dead letter and audited replay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Inbound events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dirty="0">
                          <a:solidFill>
                            <a:srgbClr val="1F2433"/>
                          </a:solidFill>
                        </a:rPr>
                        <a:t>Per-system secret and signature (±5 min), idempotency key, encrypted payload purged later, retry backoff, dead letter, audited reprocess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Known limit</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300" dirty="0">
                          <a:solidFill>
                            <a:srgbClr val="1F2433"/>
                          </a:solidFill>
                        </a:rPr>
                        <a:t>API key scopes are not limited by the issuer's own permissions (F37, recommend review)</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INTEGRATION HUB</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Recruitment systems stay outside</a:t>
            </a:r>
            <a:endParaRPr lang="en-US" sz="2800" dirty="0"/>
          </a:p>
        </p:txBody>
      </p:sp>
      <p:sp>
        <p:nvSpPr>
          <p:cNvPr id="5" name="Shape 2"/>
          <p:cNvSpPr/>
          <p:nvPr/>
        </p:nvSpPr>
        <p:spPr>
          <a:xfrm>
            <a:off x="548640" y="2194560"/>
            <a:ext cx="3503066"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3320186" cy="996696"/>
          </a:xfrm>
          <a:prstGeom prst="rect">
            <a:avLst/>
          </a:prstGeom>
          <a:noFill/>
          <a:ln/>
        </p:spPr>
        <p:txBody>
          <a:bodyPr wrap="square" lIns="0" tIns="0" rIns="0" bIns="0" rtlCol="0" anchor="ctr"/>
          <a:lstStyle/>
          <a:p>
            <a:pPr algn="ctr" indent="0" marL="0">
              <a:buNone/>
            </a:pPr>
            <a:r>
              <a:rPr lang="en-US" sz="1300" b="1" dirty="0">
                <a:solidFill>
                  <a:srgbClr val="FFFFFF"/>
                </a:solidFill>
              </a:rPr>
              <a:t>External ATS / RMS</a:t>
            </a:r>
            <a:endParaRPr lang="en-US" sz="1300" dirty="0"/>
          </a:p>
          <a:p>
            <a:pPr algn="ctr" indent="0" marL="0">
              <a:buNone/>
            </a:pPr>
            <a:r>
              <a:rPr lang="en-US" sz="1100" dirty="0">
                <a:solidFill>
                  <a:srgbClr val="E4E2F7"/>
                </a:solidFill>
              </a:rPr>
              <a:t>its own database</a:t>
            </a:r>
            <a:endParaRPr lang="en-US" sz="1300" dirty="0"/>
          </a:p>
        </p:txBody>
      </p:sp>
      <p:sp>
        <p:nvSpPr>
          <p:cNvPr id="7" name="Shape 4"/>
          <p:cNvSpPr/>
          <p:nvPr/>
        </p:nvSpPr>
        <p:spPr>
          <a:xfrm>
            <a:off x="4097426"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4344314" y="2194560"/>
            <a:ext cx="3503066"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4435754" y="2267712"/>
            <a:ext cx="3320186" cy="996696"/>
          </a:xfrm>
          <a:prstGeom prst="rect">
            <a:avLst/>
          </a:prstGeom>
          <a:noFill/>
          <a:ln/>
        </p:spPr>
        <p:txBody>
          <a:bodyPr wrap="square" lIns="0" tIns="0" rIns="0" bIns="0" rtlCol="0" anchor="ctr"/>
          <a:lstStyle/>
          <a:p>
            <a:pPr algn="ctr" indent="0" marL="0">
              <a:buNone/>
            </a:pPr>
            <a:r>
              <a:rPr lang="en-US" sz="1300" b="1" dirty="0">
                <a:solidFill>
                  <a:schemeClr val="tx2"/>
                </a:solidFill>
              </a:rPr>
              <a:t>Integration Hub</a:t>
            </a:r>
            <a:endParaRPr lang="en-US" sz="1300" dirty="0"/>
          </a:p>
          <a:p>
            <a:pPr algn="ctr" indent="0" marL="0">
              <a:buNone/>
            </a:pPr>
            <a:r>
              <a:rPr lang="en-US" sz="1100" dirty="0">
                <a:solidFill>
                  <a:srgbClr val="5B6275"/>
                </a:solidFill>
              </a:rPr>
              <a:t>auth · validate · map · idempotency · audit</a:t>
            </a:r>
            <a:endParaRPr lang="en-US" sz="1300" dirty="0"/>
          </a:p>
        </p:txBody>
      </p:sp>
      <p:sp>
        <p:nvSpPr>
          <p:cNvPr id="10" name="Shape 7"/>
          <p:cNvSpPr/>
          <p:nvPr/>
        </p:nvSpPr>
        <p:spPr>
          <a:xfrm>
            <a:off x="7893101"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8139989" y="2194560"/>
            <a:ext cx="3503066"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8231429" y="2267712"/>
            <a:ext cx="3320186" cy="996696"/>
          </a:xfrm>
          <a:prstGeom prst="rect">
            <a:avLst/>
          </a:prstGeom>
          <a:noFill/>
          <a:ln/>
        </p:spPr>
        <p:txBody>
          <a:bodyPr wrap="square" lIns="0" tIns="0" rIns="0" bIns="0" rtlCol="0" anchor="ctr"/>
          <a:lstStyle/>
          <a:p>
            <a:pPr algn="ctr" indent="0" marL="0">
              <a:buNone/>
            </a:pPr>
            <a:r>
              <a:rPr lang="en-US" sz="1300" b="1" dirty="0">
                <a:solidFill>
                  <a:schemeClr val="tx2"/>
                </a:solidFill>
              </a:rPr>
              <a:t>PeopleOS</a:t>
            </a:r>
            <a:endParaRPr lang="en-US" sz="1300" dirty="0"/>
          </a:p>
          <a:p>
            <a:pPr algn="ctr" indent="0" marL="0">
              <a:buNone/>
            </a:pPr>
            <a:r>
              <a:rPr lang="en-US" sz="1100" dirty="0">
                <a:solidFill>
                  <a:srgbClr val="5B6275"/>
                </a:solidFill>
              </a:rPr>
              <a:t>pre-employee with external references</a:t>
            </a:r>
            <a:endParaRPr lang="en-US" sz="1300" dirty="0"/>
          </a:p>
        </p:txBody>
      </p:sp>
      <p:sp>
        <p:nvSpPr>
          <p:cNvPr id="13" name="Text 10"/>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14" name="Text 11"/>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PeopleOS is a standalone HCM product with no recruitment module. A future RecruitmentEdge (RMS) or any ATS would hand over a selected candidate through POST /api/v1/pre-employees (idempotent on the offer's external reference) or inbound events, mapped by external identifiers. No RMS database, table, model or primary key may enter PeopleOS: the architecture test "never acquires a hard RecruitmentEdge / RMS dependency" enforces it.</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INTEGRATION HUB</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Integration hub in the application</a:t>
            </a:r>
            <a:endParaRPr lang="en-US" sz="2800" dirty="0"/>
          </a:p>
        </p:txBody>
      </p:sp>
      <p:pic>
        <p:nvPicPr>
          <p:cNvPr id="5" name="Screenshot security-compliance/85-sec-05-integration-hub-form" descr="Screenshot: Admin › Platform › Integration hub › New (Kavya Menon, fictional data)">    </p:cNvPr>
          <p:cNvPicPr>
            <a:picLocks noChangeAspect="1"/>
          </p:cNvPicPr>
          <p:nvPr/>
        </p:nvPicPr>
        <p:blipFill>
          <a:blip r:embed="rId1"/>
          <a:stretch>
            <a:fillRect/>
          </a:stretch>
        </p:blipFill>
        <p:spPr>
          <a:xfrm>
            <a:off x="580644" y="1417320"/>
            <a:ext cx="7754112" cy="4846320"/>
          </a:xfrm>
          <a:prstGeom prst="rect">
            <a:avLst/>
          </a:prstGeom>
        </p:spPr>
      </p:pic>
      <p:sp>
        <p:nvSpPr>
          <p:cNvPr id="6" name="Screenshot frame"/>
          <p:cNvSpPr/>
          <p:nvPr/>
        </p:nvSpPr>
        <p:spPr>
          <a:xfrm>
            <a:off x="580644" y="1417320"/>
            <a:ext cx="7754112" cy="4846320"/>
          </a:xfrm>
          <a:prstGeom prst="rect">
            <a:avLst/>
          </a:prstGeom>
          <a:ln w="9525">
            <a:solidFill>
              <a:srgbClr val="D9DCE3"/>
            </a:solidFill>
            <a:prstDash val="solid"/>
          </a:ln>
        </p:spPr>
      </p:sp>
      <p:sp>
        <p:nvSpPr>
          <p:cNvPr id="7" name="Status"/>
          <p:cNvSpPr txBox="1"/>
          <p:nvPr/>
        </p:nvSpPr>
        <p:spPr>
          <a:xfrm>
            <a:off x="8595360" y="1417320"/>
            <a:ext cx="3047695" cy="292608"/>
          </a:xfrm>
          <a:prstGeom prst="roundRect">
            <a:avLst>
              <a:gd name="adj" fmla="val 50000"/>
            </a:avLst>
          </a:prstGeom>
          <a:solidFill>
            <a:srgbClr val="E3F3EA"/>
          </a:solidFill>
          <a:ln/>
        </p:spPr>
        <p:txBody>
          <a:bodyPr wrap="square" lIns="0" tIns="0" rIns="0" bIns="0" rtlCol="0" anchor="ctr"/>
          <a:lstStyle/>
          <a:p>
            <a:pPr algn="ctr" indent="0" marL="0">
              <a:buNone/>
            </a:pPr>
            <a:r>
              <a:rPr lang="en-US" sz="1050" b="1" dirty="0">
                <a:solidFill>
                  <a:srgbClr val="1E7F4F"/>
                </a:solidFill>
              </a:rPr>
              <a:t>Verified in the running application</a:t>
            </a:r>
            <a:endParaRPr lang="en-US" sz="1050" dirty="0"/>
          </a:p>
        </p:txBody>
      </p:sp>
      <p:sp>
        <p:nvSpPr>
          <p:cNvPr id="8" name="Shape 4"/>
          <p:cNvSpPr/>
          <p:nvPr/>
        </p:nvSpPr>
        <p:spPr>
          <a:xfrm>
            <a:off x="8595360" y="1874520"/>
            <a:ext cx="3047695" cy="1593469"/>
          </a:xfrm>
          <a:prstGeom prst="roundRect">
            <a:avLst>
              <a:gd name="adj" fmla="val 4591"/>
            </a:avLst>
          </a:prstGeom>
          <a:solidFill>
            <a:srgbClr val="F4F5F8"/>
          </a:solidFill>
          <a:ln w="12700">
            <a:solidFill>
              <a:srgbClr val="F4F5F8"/>
            </a:solidFill>
            <a:prstDash val="solid"/>
          </a:ln>
        </p:spPr>
      </p:sp>
      <p:sp>
        <p:nvSpPr>
          <p:cNvPr id="9" name="Text 5"/>
          <p:cNvSpPr txBox="1"/>
          <p:nvPr/>
        </p:nvSpPr>
        <p:spPr>
          <a:xfrm>
            <a:off x="8732520" y="1965960"/>
            <a:ext cx="2773375" cy="1410589"/>
          </a:xfrm>
          <a:prstGeom prst="rect">
            <a:avLst/>
          </a:prstGeom>
          <a:noFill/>
          <a:ln/>
        </p:spPr>
        <p:txBody>
          <a:bodyPr wrap="square" lIns="0" tIns="0" rIns="0" bIns="0" rtlCol="0" anchor="t"/>
          <a:lstStyle/>
          <a:p>
            <a:pPr indent="0" marL="0">
              <a:buNone/>
            </a:pPr>
            <a:r>
              <a:rPr lang="en-US" sz="1050" b="1" spc="100" kern="0" dirty="0">
                <a:solidFill>
                  <a:schemeClr val="accent1"/>
                </a:solidFill>
              </a:rPr>
              <a:t>RESULT  </a:t>
            </a:r>
            <a:pPr indent="0" marL="0">
              <a:buNone/>
            </a:pPr>
            <a:r>
              <a:rPr lang="en-US" sz="1250" dirty="0">
                <a:solidFill>
                  <a:schemeClr val="tx1"/>
                </a:solidFill>
              </a:rPr>
              <a:t>New integration system: identifiers and the inbound security settings (signed events, timestamp window). Inbound events are listed on their own page with their processing state. Opened, not saved.</a:t>
            </a:r>
            <a:endParaRPr lang="en-US" sz="1050" dirty="0"/>
          </a:p>
        </p:txBody>
      </p:sp>
      <p:sp>
        <p:nvSpPr>
          <p:cNvPr id="10" name="Text 6"/>
          <p:cNvSpPr txBox="1"/>
          <p:nvPr/>
        </p:nvSpPr>
        <p:spPr>
          <a:xfrm>
            <a:off x="8595360" y="5742432"/>
            <a:ext cx="3047695" cy="621792"/>
          </a:xfrm>
          <a:prstGeom prst="rect">
            <a:avLst/>
          </a:prstGeom>
          <a:noFill/>
          <a:ln/>
        </p:spPr>
        <p:txBody>
          <a:bodyPr wrap="square" lIns="0" tIns="0" rIns="0" bIns="0" rtlCol="0" anchor="t"/>
          <a:lstStyle/>
          <a:p>
            <a:pPr indent="0" marL="0">
              <a:buNone/>
            </a:pPr>
            <a:r>
              <a:rPr lang="en-US" sz="900" dirty="0">
                <a:solidFill>
                  <a:srgbClr val="8A90A2"/>
                </a:solidFill>
                <a:latin typeface="Calibri" pitchFamily="34" charset="0"/>
                <a:ea typeface="Calibri" pitchFamily="34" charset="-122"/>
                <a:cs typeface="Calibri" pitchFamily="34" charset="-120"/>
              </a:rPr>
              <a:t>Real screen · Kavya Menon (Tenant HR Admin + Employee) · Admin › Platform › Integration hub › New</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ext 0"/>
          <p:cNvSpPr txBox="1"/>
          <p:nvPr/>
        </p:nvSpPr>
        <p:spPr>
          <a:xfrm>
            <a:off x="548640" y="1280160"/>
            <a:ext cx="2011680" cy="914400"/>
          </a:xfrm>
          <a:prstGeom prst="rect">
            <a:avLst/>
          </a:prstGeom>
          <a:noFill/>
          <a:ln/>
        </p:spPr>
        <p:txBody>
          <a:bodyPr wrap="square" lIns="0" tIns="0" rIns="0" bIns="0" rtlCol="0" anchor="ctr"/>
          <a:lstStyle/>
          <a:p>
            <a:pPr indent="0" marL="0">
              <a:buNone/>
            </a:pPr>
            <a:r>
              <a:rPr lang="en-US" sz="5400" b="1" dirty="0">
                <a:solidFill>
                  <a:srgbClr val="E6C98F"/>
                </a:solidFill>
                <a:latin typeface="Cambria" pitchFamily="34" charset="0"/>
                <a:ea typeface="Cambria" pitchFamily="34" charset="-122"/>
                <a:cs typeface="Cambria" pitchFamily="34" charset="-120"/>
              </a:rPr>
              <a:t>10</a:t>
            </a:r>
            <a:endParaRPr lang="en-US" sz="5400" dirty="0"/>
          </a:p>
        </p:txBody>
      </p:sp>
      <p:sp>
        <p:nvSpPr>
          <p:cNvPr id="4"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Analytics and AI boundary</a:t>
            </a:r>
            <a:endParaRPr lang="en-US" sz="4000" dirty="0"/>
          </a:p>
        </p:txBody>
      </p:sp>
      <p:sp>
        <p:nvSpPr>
          <p:cNvPr id="5" name="Text 2"/>
          <p:cNvSpPr txBox="1"/>
          <p:nvPr/>
        </p:nvSpPr>
        <p:spPr>
          <a:xfrm>
            <a:off x="548640" y="3840480"/>
            <a:ext cx="7863840" cy="1280160"/>
          </a:xfrm>
          <a:prstGeom prst="rect">
            <a:avLst/>
          </a:prstGeom>
          <a:noFill/>
          <a:ln/>
        </p:spPr>
        <p:txBody>
          <a:bodyPr wrap="square" lIns="0" tIns="0" rIns="0" bIns="0" rtlCol="0" anchor="t"/>
          <a:lstStyle/>
          <a:p>
            <a:pPr indent="0" marL="0">
              <a:buNone/>
            </a:pPr>
            <a:r>
              <a:rPr lang="en-US" sz="1800" dirty="0">
                <a:solidFill>
                  <a:srgbClr val="D5D8E6"/>
                </a:solidFill>
                <a:latin typeface="Calibri" pitchFamily="34" charset="0"/>
                <a:ea typeface="Calibri" pitchFamily="34" charset="-122"/>
                <a:cs typeface="Calibri" pitchFamily="34" charset="-120"/>
              </a:rPr>
              <a:t>Reports run on the same scoped queries as the screens. Assistants explain; they never decide or write.</a:t>
            </a:r>
            <a:endParaRPr lang="en-US" sz="18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ANALYTICS AND AI</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AI requests pass every access layer first</a:t>
            </a:r>
            <a:endParaRPr lang="en-US" sz="2800" dirty="0"/>
          </a:p>
        </p:txBody>
      </p:sp>
      <p:sp>
        <p:nvSpPr>
          <p:cNvPr id="5" name="Shape 2"/>
          <p:cNvSpPr/>
          <p:nvPr/>
        </p:nvSpPr>
        <p:spPr>
          <a:xfrm>
            <a:off x="548640" y="2194560"/>
            <a:ext cx="1984797" cy="1143000"/>
          </a:xfrm>
          <a:prstGeom prst="roundRect">
            <a:avLst>
              <a:gd name="adj" fmla="val 8000"/>
            </a:avLst>
          </a:prstGeom>
          <a:solidFill>
            <a:srgbClr val="574BC4"/>
          </a:solidFill>
          <a:ln w="15875">
            <a:solidFill>
              <a:srgbClr val="574BC4"/>
            </a:solidFill>
            <a:prstDash val="solid"/>
          </a:ln>
        </p:spPr>
      </p:sp>
      <p:sp>
        <p:nvSpPr>
          <p:cNvPr id="6" name="Text 3"/>
          <p:cNvSpPr txBox="1"/>
          <p:nvPr/>
        </p:nvSpPr>
        <p:spPr>
          <a:xfrm>
            <a:off x="640080" y="2267712"/>
            <a:ext cx="1801917" cy="996696"/>
          </a:xfrm>
          <a:prstGeom prst="rect">
            <a:avLst/>
          </a:prstGeom>
          <a:noFill/>
          <a:ln/>
        </p:spPr>
        <p:txBody>
          <a:bodyPr wrap="square" lIns="0" tIns="0" rIns="0" bIns="0" rtlCol="0" anchor="ctr"/>
          <a:lstStyle/>
          <a:p>
            <a:pPr algn="ctr" indent="0" marL="0">
              <a:buNone/>
            </a:pPr>
            <a:r>
              <a:rPr lang="en-US" sz="1300" b="1" dirty="0">
                <a:solidFill>
                  <a:srgbClr val="FFFFFF"/>
                </a:solidFill>
              </a:rPr>
              <a:t>User</a:t>
            </a:r>
            <a:endParaRPr lang="en-US" sz="1300" dirty="0"/>
          </a:p>
          <a:p>
            <a:pPr algn="ctr" indent="0" marL="0">
              <a:buNone/>
            </a:pPr>
            <a:r>
              <a:rPr lang="en-US" sz="1100" dirty="0">
                <a:solidFill>
                  <a:srgbClr val="E4E2F7"/>
                </a:solidFill>
              </a:rPr>
              <a:t>signed in</a:t>
            </a:r>
            <a:endParaRPr lang="en-US" sz="1300" dirty="0"/>
          </a:p>
        </p:txBody>
      </p:sp>
      <p:sp>
        <p:nvSpPr>
          <p:cNvPr id="7" name="Shape 4"/>
          <p:cNvSpPr/>
          <p:nvPr/>
        </p:nvSpPr>
        <p:spPr>
          <a:xfrm>
            <a:off x="2579157" y="2651760"/>
            <a:ext cx="201168" cy="228600"/>
          </a:xfrm>
          <a:prstGeom prst="rightArrow">
            <a:avLst/>
          </a:prstGeom>
          <a:solidFill>
            <a:srgbClr val="C9A45C"/>
          </a:solidFill>
          <a:ln w="12700">
            <a:solidFill>
              <a:srgbClr val="C9A45C"/>
            </a:solidFill>
            <a:prstDash val="solid"/>
          </a:ln>
        </p:spPr>
      </p:sp>
      <p:sp>
        <p:nvSpPr>
          <p:cNvPr id="8" name="Shape 5"/>
          <p:cNvSpPr/>
          <p:nvPr/>
        </p:nvSpPr>
        <p:spPr>
          <a:xfrm>
            <a:off x="2826045" y="2194560"/>
            <a:ext cx="1984797" cy="1143000"/>
          </a:xfrm>
          <a:prstGeom prst="roundRect">
            <a:avLst>
              <a:gd name="adj" fmla="val 8000"/>
            </a:avLst>
          </a:prstGeom>
          <a:solidFill>
            <a:srgbClr val="FFFFFF"/>
          </a:solidFill>
          <a:ln w="15875">
            <a:solidFill>
              <a:srgbClr val="574BC4"/>
            </a:solidFill>
            <a:prstDash val="solid"/>
          </a:ln>
        </p:spPr>
      </p:sp>
      <p:sp>
        <p:nvSpPr>
          <p:cNvPr id="9" name="Text 6"/>
          <p:cNvSpPr txBox="1"/>
          <p:nvPr/>
        </p:nvSpPr>
        <p:spPr>
          <a:xfrm>
            <a:off x="2917485"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Permission</a:t>
            </a:r>
            <a:endParaRPr lang="en-US" sz="1300" dirty="0"/>
          </a:p>
          <a:p>
            <a:pPr algn="ctr" indent="0" marL="0">
              <a:buNone/>
            </a:pPr>
            <a:r>
              <a:rPr lang="en-US" sz="1100" dirty="0">
                <a:solidFill>
                  <a:srgbClr val="5B6275"/>
                </a:solidFill>
              </a:rPr>
              <a:t>per assistant</a:t>
            </a:r>
            <a:endParaRPr lang="en-US" sz="1300" dirty="0"/>
          </a:p>
        </p:txBody>
      </p:sp>
      <p:sp>
        <p:nvSpPr>
          <p:cNvPr id="10" name="Shape 7"/>
          <p:cNvSpPr/>
          <p:nvPr/>
        </p:nvSpPr>
        <p:spPr>
          <a:xfrm>
            <a:off x="4856561" y="2651760"/>
            <a:ext cx="201168" cy="228600"/>
          </a:xfrm>
          <a:prstGeom prst="rightArrow">
            <a:avLst/>
          </a:prstGeom>
          <a:solidFill>
            <a:srgbClr val="C9A45C"/>
          </a:solidFill>
          <a:ln w="12700">
            <a:solidFill>
              <a:srgbClr val="C9A45C"/>
            </a:solidFill>
            <a:prstDash val="solid"/>
          </a:ln>
        </p:spPr>
      </p:sp>
      <p:sp>
        <p:nvSpPr>
          <p:cNvPr id="11" name="Shape 8"/>
          <p:cNvSpPr/>
          <p:nvPr/>
        </p:nvSpPr>
        <p:spPr>
          <a:xfrm>
            <a:off x="5103449" y="2194560"/>
            <a:ext cx="1984797" cy="1143000"/>
          </a:xfrm>
          <a:prstGeom prst="roundRect">
            <a:avLst>
              <a:gd name="adj" fmla="val 8000"/>
            </a:avLst>
          </a:prstGeom>
          <a:solidFill>
            <a:srgbClr val="FFFFFF"/>
          </a:solidFill>
          <a:ln w="15875">
            <a:solidFill>
              <a:srgbClr val="574BC4"/>
            </a:solidFill>
            <a:prstDash val="solid"/>
          </a:ln>
        </p:spPr>
      </p:sp>
      <p:sp>
        <p:nvSpPr>
          <p:cNvPr id="12" name="Text 9"/>
          <p:cNvSpPr txBox="1"/>
          <p:nvPr/>
        </p:nvSpPr>
        <p:spPr>
          <a:xfrm>
            <a:off x="519488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Scope</a:t>
            </a:r>
            <a:endParaRPr lang="en-US" sz="1300" dirty="0"/>
          </a:p>
          <a:p>
            <a:pPr algn="ctr" indent="0" marL="0">
              <a:buNone/>
            </a:pPr>
            <a:r>
              <a:rPr lang="en-US" sz="1100" dirty="0">
                <a:solidFill>
                  <a:srgbClr val="5B6275"/>
                </a:solidFill>
              </a:rPr>
              <a:t>queries run as the user</a:t>
            </a:r>
            <a:endParaRPr lang="en-US" sz="1300" dirty="0"/>
          </a:p>
        </p:txBody>
      </p:sp>
      <p:sp>
        <p:nvSpPr>
          <p:cNvPr id="13" name="Shape 10"/>
          <p:cNvSpPr/>
          <p:nvPr/>
        </p:nvSpPr>
        <p:spPr>
          <a:xfrm>
            <a:off x="7133966" y="2651760"/>
            <a:ext cx="201168" cy="228600"/>
          </a:xfrm>
          <a:prstGeom prst="rightArrow">
            <a:avLst/>
          </a:prstGeom>
          <a:solidFill>
            <a:srgbClr val="C9A45C"/>
          </a:solidFill>
          <a:ln w="12700">
            <a:solidFill>
              <a:srgbClr val="C9A45C"/>
            </a:solidFill>
            <a:prstDash val="solid"/>
          </a:ln>
        </p:spPr>
      </p:sp>
      <p:sp>
        <p:nvSpPr>
          <p:cNvPr id="14" name="Shape 11"/>
          <p:cNvSpPr/>
          <p:nvPr/>
        </p:nvSpPr>
        <p:spPr>
          <a:xfrm>
            <a:off x="7380854" y="2194560"/>
            <a:ext cx="1984797" cy="1143000"/>
          </a:xfrm>
          <a:prstGeom prst="roundRect">
            <a:avLst>
              <a:gd name="adj" fmla="val 8000"/>
            </a:avLst>
          </a:prstGeom>
          <a:solidFill>
            <a:srgbClr val="FFFFFF"/>
          </a:solidFill>
          <a:ln w="15875">
            <a:solidFill>
              <a:srgbClr val="574BC4"/>
            </a:solidFill>
            <a:prstDash val="solid"/>
          </a:ln>
        </p:spPr>
      </p:sp>
      <p:sp>
        <p:nvSpPr>
          <p:cNvPr id="15" name="Text 12"/>
          <p:cNvSpPr txBox="1"/>
          <p:nvPr/>
        </p:nvSpPr>
        <p:spPr>
          <a:xfrm>
            <a:off x="7472294"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Field security</a:t>
            </a:r>
            <a:endParaRPr lang="en-US" sz="1300" dirty="0"/>
          </a:p>
          <a:p>
            <a:pPr algn="ctr" indent="0" marL="0">
              <a:buNone/>
            </a:pPr>
            <a:r>
              <a:rPr lang="en-US" sz="1100" dirty="0">
                <a:solidFill>
                  <a:srgbClr val="5B6275"/>
                </a:solidFill>
              </a:rPr>
              <a:t>identifiers redacted</a:t>
            </a:r>
            <a:endParaRPr lang="en-US" sz="1300" dirty="0"/>
          </a:p>
        </p:txBody>
      </p:sp>
      <p:sp>
        <p:nvSpPr>
          <p:cNvPr id="16" name="Shape 13"/>
          <p:cNvSpPr/>
          <p:nvPr/>
        </p:nvSpPr>
        <p:spPr>
          <a:xfrm>
            <a:off x="9411371" y="2651760"/>
            <a:ext cx="201168" cy="228600"/>
          </a:xfrm>
          <a:prstGeom prst="rightArrow">
            <a:avLst/>
          </a:prstGeom>
          <a:solidFill>
            <a:srgbClr val="C9A45C"/>
          </a:solidFill>
          <a:ln w="12700">
            <a:solidFill>
              <a:srgbClr val="C9A45C"/>
            </a:solidFill>
            <a:prstDash val="solid"/>
          </a:ln>
        </p:spPr>
      </p:sp>
      <p:sp>
        <p:nvSpPr>
          <p:cNvPr id="17" name="Shape 14"/>
          <p:cNvSpPr/>
          <p:nvPr/>
        </p:nvSpPr>
        <p:spPr>
          <a:xfrm>
            <a:off x="9658259" y="2194560"/>
            <a:ext cx="1984797" cy="1143000"/>
          </a:xfrm>
          <a:prstGeom prst="roundRect">
            <a:avLst>
              <a:gd name="adj" fmla="val 8000"/>
            </a:avLst>
          </a:prstGeom>
          <a:solidFill>
            <a:srgbClr val="FFFFFF"/>
          </a:solidFill>
          <a:ln w="15875">
            <a:solidFill>
              <a:srgbClr val="574BC4"/>
            </a:solidFill>
            <a:prstDash val="solid"/>
          </a:ln>
        </p:spPr>
      </p:sp>
      <p:sp>
        <p:nvSpPr>
          <p:cNvPr id="18" name="Text 15"/>
          <p:cNvSpPr txBox="1"/>
          <p:nvPr/>
        </p:nvSpPr>
        <p:spPr>
          <a:xfrm>
            <a:off x="9749699" y="2267712"/>
            <a:ext cx="1801917" cy="996696"/>
          </a:xfrm>
          <a:prstGeom prst="rect">
            <a:avLst/>
          </a:prstGeom>
          <a:noFill/>
          <a:ln/>
        </p:spPr>
        <p:txBody>
          <a:bodyPr wrap="square" lIns="0" tIns="0" rIns="0" bIns="0" rtlCol="0" anchor="ctr"/>
          <a:lstStyle/>
          <a:p>
            <a:pPr algn="ctr" indent="0" marL="0">
              <a:buNone/>
            </a:pPr>
            <a:r>
              <a:rPr lang="en-US" sz="1300" b="1" dirty="0">
                <a:solidFill>
                  <a:schemeClr val="tx2"/>
                </a:solidFill>
              </a:rPr>
              <a:t>Model</a:t>
            </a:r>
            <a:endParaRPr lang="en-US" sz="1300" dirty="0"/>
          </a:p>
          <a:p>
            <a:pPr algn="ctr" indent="0" marL="0">
              <a:buNone/>
            </a:pPr>
            <a:r>
              <a:rPr lang="en-US" sz="1100" dirty="0">
                <a:solidFill>
                  <a:srgbClr val="5B6275"/>
                </a:solidFill>
              </a:rPr>
              <a:t>off by default</a:t>
            </a:r>
            <a:endParaRPr lang="en-US" sz="1300" dirty="0"/>
          </a:p>
        </p:txBody>
      </p:sp>
      <p:sp>
        <p:nvSpPr>
          <p:cNvPr id="19" name="Text 16"/>
          <p:cNvSpPr txBox="1"/>
          <p:nvPr/>
        </p:nvSpPr>
        <p:spPr>
          <a:xfrm>
            <a:off x="548640" y="3401568"/>
            <a:ext cx="4572000" cy="228600"/>
          </a:xfrm>
          <a:prstGeom prst="rect">
            <a:avLst/>
          </a:prstGeom>
          <a:noFill/>
          <a:ln/>
        </p:spPr>
        <p:txBody>
          <a:bodyPr wrap="square" lIns="0" tIns="0" rIns="0" bIns="0" rtlCol="0" anchor="ctr"/>
          <a:lstStyle/>
          <a:p>
            <a:pPr indent="0" marL="0">
              <a:buNone/>
            </a:pPr>
            <a:r>
              <a:rPr lang="en-US" sz="1000" i="1" dirty="0">
                <a:solidFill>
                  <a:srgbClr val="8A90A2"/>
                </a:solidFill>
              </a:rPr>
              <a:t>Conceptual diagram, not a screenshot</a:t>
            </a:r>
            <a:endParaRPr lang="en-US" sz="1000" dirty="0"/>
          </a:p>
        </p:txBody>
      </p:sp>
      <p:sp>
        <p:nvSpPr>
          <p:cNvPr id="20" name="Text 17"/>
          <p:cNvSpPr txBox="1"/>
          <p:nvPr/>
        </p:nvSpPr>
        <p:spPr>
          <a:xfrm>
            <a:off x="548640" y="3931920"/>
            <a:ext cx="11094415" cy="219456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Datasets query through the same scoped models as the UI; sensitive fields need the dataset's sensitive permission; every export is audited. Assistants never write; answers are logged with their sources; payroll and statutory rules are deterministic. The external language model (feature ai.llm) is off by default and no provider is configured, so answers are rule-based with sources.</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ext 3"/>
          <p:cNvSpPr/>
          <p:nvPr>
            <p:ph idx="103" type="body" hasCustomPrompt="1"/>
          </p:nvPr>
        </p:nvSpPr>
        <p:spPr>
          <a:xfrm>
            <a:off x="548640" y="292608"/>
            <a:ext cx="8686800" cy="27432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HONEST SCOPE</a:t>
            </a:r>
            <a:endParaRPr lang="en-US" sz="1100" dirty="0"/>
          </a:p>
        </p:txBody>
      </p:sp>
      <p:sp>
        <p:nvSpPr>
          <p:cNvPr id="4" name="Text 3"/>
          <p:cNvSpPr/>
          <p:nvPr>
            <p:ph idx="104" type="title" hasCustomPrompt="1"/>
          </p:nvPr>
        </p:nvSpPr>
        <p:spPr>
          <a:xfrm>
            <a:off x="548640" y="548640"/>
            <a:ext cx="11094415" cy="713232"/>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Blueprint versus what is built</a:t>
            </a:r>
            <a:endParaRPr lang="en-US" sz="2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31920"/>
                <a:gridCol w="2743200"/>
                <a:gridCol w="4416552"/>
              </a:tblGrid>
              <a:tr h="384048">
                <a:tc>
                  <a:txBody>
                    <a:bodyPr/>
                    <a:lstStyle/>
                    <a:p>
                      <a:pPr indent="0" marL="0">
                        <a:buNone/>
                      </a:pPr>
                      <a:r>
                        <a:rPr lang="en-US" sz="1250" b="1" dirty="0">
                          <a:solidFill>
                            <a:srgbClr val="FFFFFF"/>
                          </a:solidFill>
                        </a:rPr>
                        <a:t>Blueprint item</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State</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c>
                  <a:txBody>
                    <a:bodyPr/>
                    <a:lstStyle/>
                    <a:p>
                      <a:pPr indent="0" marL="0">
                        <a:buNone/>
                      </a:pPr>
                      <a:r>
                        <a:rPr lang="en-US" sz="1250" b="1" dirty="0">
                          <a:solidFill>
                            <a:srgbClr val="FFFFFF"/>
                          </a:solidFill>
                        </a:rPr>
                        <a:t>Evidence</a:t>
                      </a:r>
                      <a:endParaRPr lang="en-US" sz="125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41A30"/>
                    </a:solidFill>
                  </a:tcPr>
                </a:tc>
              </a:tr>
              <a:tr h="384048">
                <a:tc>
                  <a:txBody>
                    <a:bodyPr/>
                    <a:lstStyle/>
                    <a:p>
                      <a:pPr indent="0" marL="0">
                        <a:buNone/>
                      </a:pPr>
                      <a:r>
                        <a:rPr lang="en-US" sz="1300" dirty="0">
                          <a:solidFill>
                            <a:srgbClr val="1F2433"/>
                          </a:solidFill>
                        </a:rPr>
                        <a:t>Native mobile app</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c>
                  <a:txBody>
                    <a:bodyPr/>
                    <a:lstStyle/>
                    <a:p>
                      <a:pPr indent="0" marL="0">
                        <a:buNone/>
                      </a:pPr>
                      <a:r>
                        <a:rPr lang="en-US" sz="1300" dirty="0">
                          <a:solidFill>
                            <a:srgbClr val="1F2433"/>
                          </a:solidFill>
                        </a:rPr>
                        <a:t>Responsive web only</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SMS, WhatsApp, push notifications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B3261E"/>
                          </a:solidFill>
                        </a:rPr>
                        <a:t>Incomplete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300" dirty="0">
                          <a:solidFill>
                            <a:srgbClr val="1F2433"/>
                          </a:solidFill>
                        </a:rPr>
                        <a:t>Offered as channels; send nothing (F19)</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Biometric, ERP, banking connectors</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c>
                  <a:txBody>
                    <a:bodyPr/>
                    <a:lstStyle/>
                    <a:p>
                      <a:pPr indent="0" marL="0">
                        <a:buNone/>
                      </a:pPr>
                      <a:r>
                        <a:rPr lang="en-US" sz="1300" dirty="0">
                          <a:solidFill>
                            <a:srgbClr val="1F2433"/>
                          </a:solidFill>
                        </a:rPr>
                        <a:t>Generic device push (Generic JSON, eSSL) only; bank file from payroll</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SAML single sign-on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c>
                  <a:txBody>
                    <a:bodyPr/>
                    <a:lstStyle/>
                    <a:p>
                      <a:pPr indent="0" marL="0">
                        <a:buNone/>
                      </a:pPr>
                      <a:r>
                        <a:rPr lang="en-US" sz="1300" dirty="0">
                          <a:solidFill>
                            <a:srgbClr val="1F2433"/>
                          </a:solidFill>
                        </a:rPr>
                        <a:t>OIDC only (F34)</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Employee import from the screen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B3261E"/>
                          </a:solidFill>
                        </a:rPr>
                        <a:t>Incomplete</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E6E4"/>
                    </a:solidFill>
                  </a:tcPr>
                </a:tc>
                <a:tc>
                  <a:txBody>
                    <a:bodyPr/>
                    <a:lstStyle/>
                    <a:p>
                      <a:pPr indent="0" marL="0">
                        <a:buNone/>
                      </a:pPr>
                      <a:r>
                        <a:rPr lang="en-US" sz="1300" dirty="0">
                          <a:solidFill>
                            <a:srgbClr val="1F2433"/>
                          </a:solidFill>
                        </a:rPr>
                        <a:t>Map columns fails (F25)</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F2433"/>
                          </a:solidFill>
                        </a:rPr>
                        <a:t>Gratuity calculation</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c>
                  <a:txBody>
                    <a:bodyPr/>
                    <a:lstStyle/>
                    <a:p>
                      <a:pPr indent="0" marL="0">
                        <a:buNone/>
                      </a:pPr>
                      <a:r>
                        <a:rPr lang="en-US" sz="1300" dirty="0">
                          <a:solidFill>
                            <a:srgbClr val="1F2433"/>
                          </a:solidFill>
                        </a:rPr>
                        <a:t>Stored rule only; no settlement line</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4F5F8"/>
                    </a:solidFill>
                  </a:tcPr>
                </a:tc>
              </a:tr>
              <a:tr h="384048">
                <a:tc>
                  <a:txBody>
                    <a:bodyPr/>
                    <a:lstStyle/>
                    <a:p>
                      <a:pPr indent="0" marL="0">
                        <a:buNone/>
                      </a:pPr>
                      <a:r>
                        <a:rPr lang="en-US" sz="1300" dirty="0">
                          <a:solidFill>
                            <a:srgbClr val="1F2433"/>
                          </a:solidFill>
                        </a:rPr>
                        <a:t>Dedicated databases per tier</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200" b="1" dirty="0">
                          <a:solidFill>
                            <a:srgbClr val="6B7280"/>
                          </a:solidFill>
                        </a:rPr>
                        <a:t>Not implemented</a:t>
                      </a:r>
                      <a:endParaRPr lang="en-US" sz="12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EEFF2"/>
                    </a:solidFill>
                  </a:tcPr>
                </a:tc>
                <a:tc>
                  <a:txBody>
                    <a:bodyPr/>
                    <a:lstStyle/>
                    <a:p>
                      <a:pPr indent="0" marL="0">
                        <a:buNone/>
                      </a:pPr>
                      <a:r>
                        <a:rPr lang="en-US" sz="1300" dirty="0">
                          <a:solidFill>
                            <a:srgbClr val="1F2433"/>
                          </a:solidFill>
                        </a:rPr>
                        <a:t>Tier and region are metadata; routing deferred</a:t>
                      </a:r>
                      <a:endParaRPr lang="en-US" sz="1300" dirty="0"/>
                    </a:p>
                  </a:txBody>
                  <a:tcPr marL="76200" marR="76200" marT="50800" marB="5080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27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ext 0"/>
          <p:cNvSpPr txBox="1"/>
          <p:nvPr/>
        </p:nvSpPr>
        <p:spPr>
          <a:xfrm>
            <a:off x="548640" y="54864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4" name="Text 1"/>
          <p:cNvSpPr txBox="1"/>
          <p:nvPr/>
        </p:nvSpPr>
        <p:spPr>
          <a:xfrm>
            <a:off x="548640" y="1463040"/>
            <a:ext cx="6766560" cy="42062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E4E6F0"/>
                </a:solidFill>
              </a:rPr>
              <a:t>Five layers; business rules in app/Domain, screens are delivery only.</a:t>
            </a:r>
            <a:endParaRPr lang="en-US" sz="1600" dirty="0"/>
          </a:p>
          <a:p>
            <a:pPr marL="228600" indent="-228600">
              <a:spcAft>
                <a:spcPts val="800"/>
              </a:spcAft>
              <a:buSzPct val="100000"/>
              <a:buChar char="•"/>
            </a:pPr>
            <a:r>
              <a:rPr lang="en-US" sz="1600" dirty="0">
                <a:solidFill>
                  <a:srgbClr val="E4E6F0"/>
                </a:solidFill>
              </a:rPr>
              <a:t>Tenant scoping fails closed; access is layered: role, organisation scope, relationship scope, field protection.</a:t>
            </a:r>
            <a:endParaRPr lang="en-US" sz="1600" dirty="0"/>
          </a:p>
          <a:p>
            <a:pPr marL="228600" indent="-228600">
              <a:spcAft>
                <a:spcPts val="800"/>
              </a:spcAft>
              <a:buSzPct val="100000"/>
              <a:buChar char="•"/>
            </a:pPr>
            <a:r>
              <a:rPr lang="en-US" sz="1600" dirty="0">
                <a:solidFill>
                  <a:srgbClr val="E4E6F0"/>
                </a:solidFill>
              </a:rPr>
              <a:t>Facts that change over time are effective-dated; audit events are append-only and chained.</a:t>
            </a:r>
            <a:endParaRPr lang="en-US" sz="1600" dirty="0"/>
          </a:p>
          <a:p>
            <a:pPr marL="228600" indent="-228600">
              <a:spcAft>
                <a:spcPts val="800"/>
              </a:spcAft>
              <a:buSzPct val="100000"/>
              <a:buChar char="•"/>
            </a:pPr>
            <a:r>
              <a:rPr lang="en-US" sz="1600" dirty="0">
                <a:solidFill>
                  <a:srgbClr val="E4E6F0"/>
                </a:solidFill>
              </a:rPr>
              <a:t>Workflows and policies are versioned data; running work keeps its version.</a:t>
            </a:r>
            <a:endParaRPr lang="en-US" sz="1600" dirty="0"/>
          </a:p>
          <a:p>
            <a:pPr marL="228600" indent="-228600">
              <a:spcAft>
                <a:spcPts val="800"/>
              </a:spcAft>
              <a:buSzPct val="100000"/>
              <a:buChar char="•"/>
            </a:pPr>
            <a:r>
              <a:rPr lang="en-US" sz="1600" dirty="0">
                <a:solidFill>
                  <a:srgbClr val="E4E6F0"/>
                </a:solidFill>
              </a:rPr>
              <a:t>Payroll refuses unverified statutory rules; deletion is off; integrations never share a database.</a:t>
            </a:r>
            <a:endParaRPr lang="en-US" sz="1600" dirty="0"/>
          </a:p>
        </p:txBody>
      </p:sp>
      <p:sp>
        <p:nvSpPr>
          <p:cNvPr id="5" name="Shape 2"/>
          <p:cNvSpPr/>
          <p:nvPr/>
        </p:nvSpPr>
        <p:spPr>
          <a:xfrm>
            <a:off x="7680960" y="1463040"/>
            <a:ext cx="3962095" cy="4206240"/>
          </a:xfrm>
          <a:prstGeom prst="roundRect">
            <a:avLst>
              <a:gd name="adj" fmla="val 2769"/>
            </a:avLst>
          </a:prstGeom>
          <a:solidFill>
            <a:srgbClr val="1E2542"/>
          </a:solidFill>
          <a:ln w="12700">
            <a:solidFill>
              <a:srgbClr val="2A3255"/>
            </a:solidFill>
            <a:prstDash val="solid"/>
          </a:ln>
        </p:spPr>
      </p:sp>
      <p:sp>
        <p:nvSpPr>
          <p:cNvPr id="6" name="Text 3"/>
          <p:cNvSpPr txBox="1"/>
          <p:nvPr/>
        </p:nvSpPr>
        <p:spPr>
          <a:xfrm>
            <a:off x="7909560" y="1645920"/>
            <a:ext cx="3566160" cy="274320"/>
          </a:xfrm>
          <a:prstGeom prst="rect">
            <a:avLst/>
          </a:prstGeom>
          <a:noFill/>
          <a:ln/>
        </p:spPr>
        <p:txBody>
          <a:bodyPr wrap="square" lIns="0" tIns="0" rIns="0" bIns="0" rtlCol="0" anchor="ctr"/>
          <a:lstStyle/>
          <a:p>
            <a:pPr indent="0" marL="0">
              <a:buNone/>
            </a:pPr>
            <a:r>
              <a:rPr lang="en-US" sz="1100" b="1" spc="150" kern="0" dirty="0">
                <a:solidFill>
                  <a:srgbClr val="E6C98F"/>
                </a:solidFill>
              </a:rPr>
              <a:t>NEXT STEPS &amp; HELP</a:t>
            </a:r>
            <a:endParaRPr lang="en-US" sz="1100" dirty="0"/>
          </a:p>
        </p:txBody>
      </p:sp>
      <p:sp>
        <p:nvSpPr>
          <p:cNvPr id="7" name="Text 4"/>
          <p:cNvSpPr txBox="1"/>
          <p:nvPr/>
        </p:nvSpPr>
        <p:spPr>
          <a:xfrm>
            <a:off x="7909560" y="2011680"/>
            <a:ext cx="3504895" cy="34747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D5D8E6"/>
                </a:solidFill>
              </a:rPr>
              <a:t>Read docs/architecture/peopleos-architecture-contract.md</a:t>
            </a:r>
            <a:endParaRPr lang="en-US" sz="1350" dirty="0"/>
          </a:p>
          <a:p>
            <a:pPr marL="203200" indent="-203200">
              <a:spcAft>
                <a:spcPts val="600"/>
              </a:spcAft>
              <a:buSzPct val="100000"/>
              <a:buChar char="•"/>
            </a:pPr>
            <a:r>
              <a:rPr lang="en-US" sz="1350" dirty="0">
                <a:solidFill>
                  <a:srgbClr val="D5D8E6"/>
                </a:solidFill>
              </a:rPr>
              <a:t>Run php artisan test --filter=Architecture</a:t>
            </a:r>
            <a:endParaRPr lang="en-US" sz="1350" dirty="0"/>
          </a:p>
          <a:p>
            <a:pPr marL="203200" indent="-203200">
              <a:spcAft>
                <a:spcPts val="600"/>
              </a:spcAft>
              <a:buSzPct val="100000"/>
              <a:buChar char="•"/>
            </a:pPr>
            <a:r>
              <a:rPr lang="en-US" sz="1350" dirty="0">
                <a:solidFill>
                  <a:srgbClr val="D5D8E6"/>
                </a:solidFill>
              </a:rPr>
              <a:t>Deck 8 shows the controls on screen</a:t>
            </a:r>
            <a:endParaRPr lang="en-US" sz="1350" dirty="0"/>
          </a:p>
          <a:p>
            <a:pPr marL="203200" indent="-203200">
              <a:spcAft>
                <a:spcPts val="600"/>
              </a:spcAft>
              <a:buSzPct val="100000"/>
              <a:buChar char="•"/>
            </a:pPr>
            <a:r>
              <a:rPr lang="en-US" sz="1350" dirty="0">
                <a:solidFill>
                  <a:srgbClr val="D5D8E6"/>
                </a:solidFill>
              </a:rPr>
              <a:t>Release gate: docs/saas/SaaS-Final-Release-Gate.md</a:t>
            </a:r>
            <a:endParaRPr lang="en-US" sz="1350" dirty="0"/>
          </a:p>
        </p:txBody>
      </p:sp>
      <p:sp>
        <p:nvSpPr>
          <p:cNvPr id="8" name="Text 5"/>
          <p:cNvSpPr txBox="1"/>
          <p:nvPr/>
        </p:nvSpPr>
        <p:spPr>
          <a:xfrm>
            <a:off x="548640" y="5852160"/>
            <a:ext cx="11094415" cy="320040"/>
          </a:xfrm>
          <a:prstGeom prst="rect">
            <a:avLst/>
          </a:prstGeom>
          <a:noFill/>
          <a:ln/>
        </p:spPr>
        <p:txBody>
          <a:bodyPr wrap="square" lIns="0" tIns="0" rIns="0" bIns="0" rtlCol="0" anchor="ctr"/>
          <a:lstStyle/>
          <a:p>
            <a:pPr indent="0" marL="0">
              <a:buNone/>
            </a:pPr>
            <a:r>
              <a:rPr lang="en-US" sz="1100" dirty="0">
                <a:solidFill>
                  <a:srgbClr val="E6C98F"/>
                </a:solidFill>
              </a:rPr>
              <a:t>Release gate: NO-GO (10 of 14 gates blocked, re-verified 13 Oct 2026). Not yet generally available.</a:t>
            </a:r>
            <a:endParaRPr lang="en-US" sz="1100" dirty="0"/>
          </a:p>
        </p:txBody>
      </p:sp>
      <p:sp>
        <p:nvSpPr>
          <p:cNvPr id="9" name="Text 3"/>
          <p:cNvSpPr/>
          <p:nvPr>
            <p:ph idx="103" type="title" hasCustomPrompt="1"/>
          </p:nvPr>
        </p:nvSpPr>
        <p:spPr>
          <a:xfrm>
            <a:off x="548640" y="2331720"/>
            <a:ext cx="7040880" cy="1371600"/>
          </a:xfrm>
          <a:prstGeom prst="rect">
            <a:avLst/>
          </a:prstGeom>
          <a:noFill/>
          <a:ln/>
        </p:spPr>
        <p:txBody>
          <a:bodyPr wrap="square" lIns="0" tIns="0" rIns="0" bIns="0" rtlCol="0" anchor="t"/>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AEB3C7"/>
                </a:solidFil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PeopleOS Training">
  <a:themeElements>
    <a:clrScheme name="PeopleOS">
      <a:dk1>
        <a:srgbClr val="1F2433"/>
      </a:dk1>
      <a:lt1>
        <a:srgbClr val="FFFFFF"/>
      </a:lt1>
      <a:dk2>
        <a:srgbClr val="141A30"/>
      </a:dk2>
      <a:lt2>
        <a:srgbClr val="F4F5F8"/>
      </a:lt2>
      <a:accent1>
        <a:srgbClr val="574BC4"/>
      </a:accent1>
      <a:accent2>
        <a:srgbClr val="C9A45C"/>
      </a:accent2>
      <a:accent3>
        <a:srgbClr val="1E7F4F"/>
      </a:accent3>
      <a:accent4>
        <a:srgbClr val="B3261E"/>
      </a:accent4>
      <a:accent5>
        <a:srgbClr val="2F6FB3"/>
      </a:accent5>
      <a:accent6>
        <a:srgbClr val="D97706"/>
      </a:accent6>
      <a:hlink>
        <a:srgbClr val="574BC4"/>
      </a:hlink>
      <a:folHlink>
        <a:srgbClr val="3E3594"/>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Markedge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PeopleOS · HCM System Architecture and Workflows</dc:title>
  <dc:subject>How PeopleOS is built: layers, tenancy, access control, effective dating, audit, workflows, payroll safeguards and integration boundaries.</dc:subject>
  <dc:creator>Markedge PeopleOS training</dc:creator>
  <cp:lastModifiedBy>Markedge PeopleOS training</cp:lastModifiedBy>
  <cp:revision>1</cp:revision>
  <dcterms:created xsi:type="dcterms:W3CDTF">2026-10-21T10:25:53Z</dcterms:created>
  <dcterms:modified xsi:type="dcterms:W3CDTF">2026-10-21T10:25:53Z</dcterms:modified>
</cp:coreProperties>
</file>