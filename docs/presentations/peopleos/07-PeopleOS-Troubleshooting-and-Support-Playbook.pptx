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1ff72e8-a5a3-eefe-2e49-a83252fc836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ign-in and account activation" id="{9a88b727-cfe7-84d8-bb08-5230b9c41ddb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Missing menus and restricted pages" id="{723bafe6-94ab-c410-68cb-d2af33a63a70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Employee data problems" id="{a4bfdf8a-a9b7-8a0c-9fcb-073836ed4d0b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Attendance and leave" id="{97218fa7-fc45-9bbb-c9a5-6e2a7969e31c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Payroll" id="{17d9f70a-ace1-1a87-32cc-72b091626ac5}">
          <p14:sldIdLst>
            <p14:sldId id="292"/>
            <p14:sldId id="293"/>
            <p14:sldId id="294"/>
          </p14:sldIdLst>
        </p14:section>
        <p14:section name="Platform, notifications and offboarding" id="{a9b4dbf2-a034-07c5-16c3-6f191f1aaced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Summary" id="{c0e43d5e-5e0b-29bb-534e-41ddd936bcf6}">
          <p14:sldIdLst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symptom in this deck was reproduced in the running application on a training database. Where we could not reproduce something, the slide says so.
AVOID: inventing error messages for customers. Quote what the screen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seven status labels. Every screenshot slide carries one of them in its top-right corner. Stress that "Verified in the running application" means we ran it on a disposable demonstration database, not that the feature is released.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1 of 2). Status as written in the release gate document. Ten of fourteen gates are blocked by owner decisions, external parties or missing infrastructure.
- 1 | Application and architecture integrity | PASS (workstation) | Repeat the full suites in staging
- 2 | Credential exposure and repository remediation | BLOCKED | Owner: rotation confirmation, repository visibility (O-1 to O-3)
- 3 | Authentication and operator MFA | BLOCKED | Operators enrol MFA in the target environment (O-14, O-7)
- 4 | Independent security review | BLOCKED | Engage a reviewer; triage and retest findings (O-4)
- 5 | Statutory verification and gratuity | BLOCKED | 0 of 24 rules verified; gratuity not implemented (O-5, O-12, O-18)
- 6 | Data protection, retention, legal holds | PASS (controls) / BLOCKED (policy) | Retention decisions with counsel (D8); privacy review
- 7 | Backup, restore and disaster recovery | BLOCKED | Recovery objectives and an isolated target (O-6, O-7)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docs/saas/SaaS-Final-Release-Gate.md (decision NO-GO, re-verified 13 October 2026 at 7314f7d); owner actions in docs/saas/SaaS-Final-Owner-Action-Register.md.
SAY: The application passes its automated suites on the workstation, but release is blocked by decisions and infrastructure, not by code alone.
AVOID: describing any gate as resolved. Nothing in this training changes a gate.
SAY: Release gate: NO-GO until these are resolved (part 2 of 2). Status as written in the release gate document. Ten of fourteen gates are blocked by owner decisions, external parties or missing infrastructure.
- 8 | Hosting, monitoring and on-call | BLOCKED | Environment, alerting, on-call (O-7, O-10, O-11)
- 9 | Signup and tenant provisioning | PASS (disabled) / BLOCKED (activation) | Only if self-service signup is wanted at launch (D10)
- 10 | Billing, tax and payment controls | PASS (disabled) / BLOCKED (activation) | Only for paid billing (B-4, B-7, B-8, B-9)
- 11 | Tenant deletion and offboarding | PASS (disabled) / BLOCKED (activation) | Retention decisions, register disk, review (D8)
- 12 | Regression and target-environment testing | BLOCKED | A staging environment (O-7, O-8)
- 13 | Owner decisions and written approvals | BLOCKED | All owner action items
- 14 | Deployment, rollback, post-deployment checks | BLOCKED | Rehearse in staging; authorise (O-7 to O-9)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What you will be able to do:
1. Triage by symptom: sign-in, access, data, time and leave, payroll, notifications, platform
2. Collect the right evidence: without exposing personal data or secrets
3. Apply safe fixes: resend invitations, scope checks, documented workarounds
4. Escalate correctly: customer administrator, Markedge support, engineering, platform operator
5. Recognise known defects: F25, F38, F44, F17, F26 and new findings
ASK: "Which of these matters most to you?" Return to the answer in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Ground rules for every ticket.
- Ask for the exact message: Screenshot plus time, user e-mail and the page address. Most sign-in messages are deliberately generic.
- Never ask for passwords: Not for MFA codes, recovery codes or reset links either. Resend an invitation or reset instead.
- Personal data stays in PeopleOS: Do not copy PAN, Aadhaar, bank or salary into tickets or chat; reference the employee code.
- Check the role first: A missing menu is usually a role or scope question, not a fault.
- Look for a known defect: Compare with the known-defects slide before escalating.
- Operators act with reasons: Entering a tenant needs a ticket reference; it is audited and ends after 60 minutes.
ASK: "Which of these points needs more explanation for your team?"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1, Sign-in and account activation. Generic messages by design: diagnose from the account, not the screen.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"These credentials do not match our records." after entering e-mail and password.
DIAGNOSE: Admin › Setup › Users: is the account Active, Invited or Suspended? Platform › Tenants (operator): is the tenant Suspended? Was the e-mail changed recently (verification)?
EXPECTED VS ACTUAL: The message is the same for a wrong password, an unknown e-mail, an invited (never activated) account and a suspended account or tenant. It never says which.
SAFE FIX: Wrong password: the user selects Forgot password? on the sign-in page. Invited: resend the invitation. Suspended user: the customer administrator reactivates. Suspended tenant: operator decision only.
ESCALATE: Customer administrator (user status); Markedge platform operator (tenant status).
EVIDENCE: User e-mail, time of attempt, Users list status, tenant status.
NEVER: Never reset a password on the user's behalf by setting one, never read the database to "check" a password, never reactivate a tenant without the documented approval.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Identical for every cause: protects accounts from probing.
ON SCREEN: Sign in with a wrong password.
WALK THROUGH: (1) Generic message. (2) Forgot password?
LEARNERS SHOULD SEE: "These credentials do not match our records." — the same message for a wrong password, an unknown e-mail, an invited (not activated) or a suspended account
SCREEN: Sign in (failed). Signed in as Signed out (Visitor). Prerequisite: None (public pages).
EVIDENCE: screenshot screenshots/support/99-sup-01-wrong-password.png,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Invited, never activated.
LEFT, Users list: Status Invited, last login Never: the invitation link (72 hours) was not used.
RIGHT, Their sign-in attempt: Generic message. Fix: resend the invitation (Users for staff; Tenants › Send invitation for a first administrator).
OBSERVE: point out what differs between the two screens.
EVIDENCE: left = support/99-sup-07-user-invited [Farah Khan (Tenant Super Admin (Northwind Retail, first administrator)), Admin › Setup › Users]; right = support/99-sup-08-invited-cannot-sign-in [Signed out (Visitor), Sign in (invited user)].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Password reset: request.
LEFT, Forgot password?: E-mail address and Send email.
RIGHT, Neutral answer (the toast): "If an account uses that address, we have sent it a link…" The link expires in 60 minutes; requests are rate-limited.
OBSERVE: point out what differs between the two screens.
EVIDENCE: left = support/99-sup-02-forgot-password [Signed out (Visitor), Forgot password?]; right = support/99-sup-03-reset-requested [Signed out (Visitor), Forgot password? (after Send email)].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Password reset: complete.
LEFT, Reset form (from the e-mail link): New password, confirmation, Reset password.
RIGHT, Done (the toast): "Your password has been changed. Sign in with it now." Other sessions end.
OBSERVE: point out what differs between the two screens.
EVIDENCE: left = support/99-sup-04-reset-form [Signed out (Visitor), Reset your password (link from the e-mail)]; right = support/99-sup-05-reset-done [Signed out (Visitor), Sign in (after the reset)].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Used or expired links.
LEFT, Reset link used twice: One message for any bad, used or expired reset link: request a new one.
RIGHT, Invitation used twice: "This invitation link is invalid or has expired. Ask your administrator to send a new one."
OBSERVE: point out what differs between the two screens.
EVIDENCE: left = support/99-sup-06-reset-link-used [Signed out (Visitor), Reset your password (used link)]; right = client-onboarding/90-onb-11-invitation-used [Signed out (Visitor), Accept your invitation (used link)].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user of a suspended tenant gets the generic message. Operator: check Platform › Tenants; reactivation needs the documented approval and a reason.
ON SCREEN: The Northwind administrator signs in with the correct password while the tenant is suspended.
WALK THROUGH: (1) The generic message.
LEARNERS SHOULD SEE: Sign-in refused with the generic credentials message (by design, no hint that the tenant is suspended)
SCREEN: Sign in (tenant suspended). Signed in as Farah Khan (Tenant Super Admin (Northwind Retail, first administrator)). Prerequisite: Platform operator (is_platform_admin) signed in with MFA.
EVIDENCE: screenshot screenshots/platform-admin/95-pl-08-suspended-sign-in.png,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"The password field must be at least 8 characters." The account stays invited until a valid password is set.
ON SCREEN: Submit a short password that does not match its confirmation.
WALK THROUGH: (1) Validation message.
LEARNERS SHOULD SEE: "The password field must be at least 8 characters."; the account stays invited
SCREEN: Accept your invitation (validation). Signed in as Farah Khan (invited, not yet active) (Invited first administrator). Prerequisite: Tenant provisioned by the operator; invitation e-mail delivered.
EVIDENCE: screenshot screenshots/client-onboarding/90-onb-09-password-rules.png,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2, Missing menus and restricted pages. Role, scope and relationship decide what each person sees.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A menu item a colleague has is not shown, or a page says "This page is not available to you".
DIAGNOSE: Admin › Setup › Users › the user: roles and access scope. Compare with the role table in Deck 3. For managers: is the person a direct report effective today?
EXPECTED VS ACTUAL: Pages appear only with the permission; records only within scope or reporting line. A 403 page is the control working.
SAFE FIX: If the access is intended, the customer administrator changes the role or scope (Tenant Super Admin for role permissions). Otherwise explain the boundary.
ESCALATE: Customer administrator for roles and scope; Markedge support only if the role table says the access should exist.
EVIDENCE: User e-mail, page address, roles and scope screenshot.
NEVER: Never grant Tenant Super Admin to "make it work", and never ask an operator to enter the tenant to show someone data they are not allowed to see.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HTTP 403 "This page is not available to you": only a Tenant Super Admin edits role permissions (F5).
ON SCREEN: Tenant HR Admin opens /admin/roles/4/edit (the HR Manager role).
WALK THROUGH: (1) Access refused.
LEARNERS SHOULD SEE: HTTP 403 "This page is not available to you": the Tenant HR Admin holds role.view only and cannot change role permissions (finding F5); the Tenant Super Admin can
SCREEN: Roles › HR Manager › Edit (as Tenant HR Admin). Signed in as Kavya Menon (Tenant HR Admin + Employee). Prerequisite: role.manage (Tenant Super Admin only by default, F5).
EVIDENCE: screenshot screenshots/security-compliance/85-acc-08-role-edit-denied-hr-admin.png,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HTTP 403 "This page is not available to you" with Go to Home and Go back.
ON SCREEN: Open an HR-only address directly.
WALK THROUGH: (1) Not available. (2) Go to Home.
LEARNERS SHOULD SEE: HTTP 403: "This page is not available to you", with Go to Home and Go back
SCREEN: People › Lifecycle › Employees (HR register) as an employee. Signed in as Priya Nair (Employee). 
EVIDENCE: screenshot screenshots/employee/30-self-52-restricted-page.png,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"We could not find that" (404), not 403: records outside a manager's reach are not revealed. If they should report to the manager, fix the reporting line (Change manager), not the role.
ON SCREEN: Open the address of an employee outside the manager’s scope (Neha Kapoor, HR).
LEARNERS SHOULD SEE: HTTP 404 "We could not find that": records outside the scope are not revealed
SCREEN: Employee 360 of someone outside the team. Signed in as Amit Verma (Manager + Employee). 
EVIDENCE: screenshot screenshots/manager/40-team-09-outside-team.png,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Refused: the HR Executive role does not include role.view. Expected behaviour.
ON SCREEN: The HR Executive opens the Roles screen directly.
LEARNERS SHOULD SEE: Refused: the role does not include role.view
SCREEN: Roles (as HR Executive). Signed in as Rohit Menon (HR Executive (Northwind Retail)). Prerequisite: Signed in as the tenant administrator (user.manage, role.view).
EVIDENCE: screenshot screenshots/client-onboarding/90-onb-60-hr-executive-roles-denied.png,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3, Employee data problems. Imports, duplicates and record errors.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After Upload and Inspect, Map columns shows "Failed — Undefined variable $svc"; the import stays inspected.
DIAGNOSE: People › Lifecycle › Employee imports › the import: status inspected; reproduce once with a 2-row file.
EXPECTED VS ACTUAL: Expected: mapping saved, then Validate, Approve, Run. Actual: known defect F25 (same code serves punch imports).
SAFE FIX: Discard the import. Load people with the Hire employee wizard, or have Markedge load them through POST /api/v1/employees (documented; not exercised in the training).
ESCALATE: Markedge engineering: defect F25 (app/Filament/Support/ImportActions.php map action).
EVIDENCE: Import number, screenshot of the failure, row count.
NEVER: Never edit import data in the database or bypass validation to push rows in.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Observed in two tenants on 21 Oct 2026.
ON SCREEN: Submit the column mapping.
WALK THROUGH: (1) Error.
LEARNERS SHOULD SEE: Observed: "Failed
Undefined variable $svc" — the mapping is not saved, so the import cannot pass "inspected" from the screen (known defect F25)
SCREEN: Employee import (after Map columns). Signed in as Farah Khan (Tenant Super Admin (Northwind Retail, first administrator)). Prerequisite: Signed in as the tenant administrator.
EVIDENCE: screenshot screenshots/client-onboarding/90-onb-93-import-map-fails.png,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Hire employee refuses to continue: "This person already exists".
DIAGNOSE: Search the Directory by name, employee code and personal e-mail. Check whether the existing person is alumni (re-employment).
EXPECTED VS ACTUAL: Definite duplicates (same personal e-mail, phone or work e-mail) are refused; possible duplicates are warned.
SAFE FIX: Re-use the existing person in the wizard, or correct the typo. For a returning employee use Change lifecycle state (alumni → active); a dedicated rehire screen does not exist.
ESCALATE: Customer HR lead; Markedge support if a real duplicate already exists (merge is not available on screen).
EVIDENCE: Both employee codes and the wizard message.
NEVER: Never change someone's personal e-mail just to get past the duplicate check.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"This person already exists: Priya Nair (EMP00004), same personal email."
ON SCREEN: Enter a person whose personal e-mail already exists and press Next.
LEARNERS SHOULD SEE: "This person already exists — Priya Nair (EMP00004) — same personal email." The wizard does not move on
SCREEN: Hire employee › Person. Signed in as Kavya Menon (Tenant HR Admin + Employee). Prerequisite: employee.create (Tenant HR Admin, HR Manager, HR Executive, Account Owner).
EVIDENCE: screenshot screenshots/hr-admin/50-hire-01-duplicate-refused.png,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Development-mode debug page, as captured. In production the user sees a generic server-error dialog; the support diagnosis is the same.
WORKAROUND: use Insights › Audit › Change history for history. Report the page address and time to engineering.
SAY: Server errors on record screens (development mode).
LEFT, History tab (F26): LazyLoadingViolationException. Seen on Employee 360, payroll run, letters and users in non-production.
RIGHT, Records › Employment (new): TypeError in a lazily loaded section on scroll.
OBSERVE: point out what differs between the two screens.
EVIDENCE: left = hr-admin/50-360-10-records-history [Kavya Menon (Tenant HR Admin + Employee), Employee 360 › Records › History]; right = support/50-360-err-01-records-employment [Kavya Menon (Tenant HR Admin + Employee), Employee 360 › Records › Employment]. Real screens, fictional data (SCREENSHOT-INVENTORY.md).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4, Attendance and leave. Discrepancies, failures and approvals that do not appear.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"Cannot apply" with a reason, or a server error when HR uses Apply on behalf.
DIAGNOSE: Read the reason: policy (probation, notice, maximum days, balance). For HR: was it Leave requests › Apply on behalf?
EXPECTED VS ACTUAL: Policy refusals are intended (e.g. "Earned leave is not available during probation."). Apply on behalf failing is defect F38.
SAFE FIX: Policy: choose an eligible type or dates. F38: use Employee 360 › Records › Time › Leave › Apply for leave.
ESCALATE: Customer HR for policy questions; Markedge engineering for F38.
EVIDENCE: Leave type, dates, message, employee code.
NEVER: Never adjust a balance to get around a policy refusal without HR approval; adjustments are ledger entries and audited.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Intended behaviour: the leave policy refuses Earned leave during probation.
ON SCREEN: Submit Earned leave while still on probation.
WALK THROUGH: (1) Policy message.
LEARNERS SHOULD SEE: Refused by the leave policy: "Earned leave is not available during probation."
SCREEN: Request leave (dialog) with policy message. Signed in as Priya Nair (Employee). 
EVIDENCE: screenshot screenshots/employee/10-leave-03-policy-refusal.png,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Development-mode debug page, as captured. In production the user sees a generic server-error dialog; the support diagnosis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An employee submitted a request but their manager does not see it in Approvals.
DIAGNOSE: Employee 360 › Records › Employment: who is the primary line manager effective today? Is a workflow running for the request (Workflows › Runs, then Task inbox)?
EXPECTED VS ACTUAL: Leave and attendance corrections go to the primary line manager effective on the request date. Requests with a running workflow are decided in the Task inbox.
SAFE FIX: Fix the reporting line with Change manager (effective date). Ask the approver to check My work › Task inbox.
ESCALATE: Customer HR (reporting lines); Markedge support for workflow configuration.
EVIDENCE: Request date, employee code, manager history.
NEVER: Never approve on someone else's behalf by signing in as them.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My work › Approvals groups decisions Urgent, This week and Later.
ON SCREEN: Open My work › Approvals.
LEARNERS SHOULD SEE: Decisions grouped Urgent / This week / Later, most urgent first
SCREEN: My work › Approvals (Approval Center). Signed in as Amit Verma (Manager + Employee). 
EVIDENCE: screenshot screenshots/manager/10-leave-07-approval-center.png,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A day shows absent, missing punch or "worked on holiday" although the employee worked normally.
DIAGNOSE: Attendance records for the date; Punches (source and status); holiday calendar and work schedule assigned; was the day processed after a correction?
EXPECTED VS ACTUAL: Records are computed from punches, schedule and calendar when the day is processed; approved corrections reprocess the day.
SAFE FIX: Employee: Fix my attendance. HR: Manual punch, then Process day. Note: holiday half-days are ignored (F39); late-mark actions are not applied (F40).
ESCALATE: Customer attendance admin; Markedge support for device or calendar issues.
EVIDENCE: Date, employee code, punches list, schedule and calendar names.
NEVER: Never delete punches; corrections are added, the history stays.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Priya's 20 Oct row: Present 09:05–18:10 with the exception "Worked on holiday / weekly off": 20 Oct is Dussehra in the demonstration calendar.
ON SCREEN: People › Time &amp; leave › Exception centre.
WALK THROUGH: (·) Exception counts at the top; each row shows its exceptions.
LEARNERS SHOULD SEE: Missing punches, late, absent and overtime for the last 30 days
SCREEN: Exception centre. Signed in as Amit Verma (Manager + Employee). 
EVIDENCE: screenshot screenshots/manager/20-att-09-exception-centre.png,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Development-mode debug page, as captured. In production the user sees a generic server-error dialog; the support diagnosis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5, Payroll. Blocked by design until statutory rules are verified.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Validate says "Not allowed"; Approve and Finalize never appear; no payslips.
DIAGNOSE: Payroll run › Employees tab › Issues (unverified_statutory_rule…). Compliance control room: rules verified?
EXPECTED VS ACTUAL: Intended: finalisation is blocked while statutory rules are unverified (0 of 24). Runs in jurisdictions without rules are blocked.
SAFE FIX: Nothing to fix in the tenant. Calculate and check runs; pay outside PeopleOS until verification. Explain the release gate.
ESCALATE: Markedge platform operators (rule verification) and the owner (O-5, O-12, O-18).
EVIDENCE: Run, Issues column, control-room screenshot.
NEVER: Never ask engineering to switch enforcement off, and never mark a rule verified without official evidence and a second operator.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"Not allowed": 19 employee(s) have blocking exceptions. Fix the inputs and recalculate.
ON SCREEN: Validate (executed).
LEARNERS SHOULD SEE: Refused: "Not allowed — N employee(s) have blocking exceptions. Fix the inputs and recalculate." Approve and Finalize never appear while blocking exceptions remain
SCREEN: Payroll run › Validate. Signed in as Arjun Bose (Payroll Admin + Employee). Prerequisite: Statutory rules verified (0 of 24 today); PAN, bank account and attendance inputs complete.
EVIDENCE: screenshot screenshots/hr-admin/60-pay-09-validate-blocked.png,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Section 6, Platform, notifications and offboarding. Background work, notifications and the safeguards around leaving.
SAY: Tell learners what they will be able to do by the end of this section, then move on.
ASK: "What questions do you have before we start this section?"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Users expect an e-mail for leave or approvals and receive nothing; an SMS or WhatsApp never arrives.
DIAGNOSE: Communication › Notification rules: is there a rule for the event? Delivery log: queued, sent or failed? Is the queue worker running (Platform › Operations)?
EXPECTED VS ACTUAL: Notices go only where a rule exists. No role can create or delete rules on screen (F18). SMS, WhatsApp and push send nothing (F19).
SAFE FIX: Customer: edit existing rules and templates. Markedge: seed missing rules; ensure the worker runs; Send again on failed deliveries.
ESCALATE: Markedge support (rules, F18/F19); platform operations (queue).
EVIDENCE: Event, time, delivery log row.
NEVER: Never promise e-mail for an event that has no rule.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 empty Notification rules list in a new tenant (F18).
ON SCREEN: Open Notification rules in a new tenant.
LEARNERS SHOULD SEE: No rules and no "New" action: rules cannot be created or deleted from the screen (known limitation F18), so e-mail notices for leave and approvals are not sent unless a rule exists
SCREEN: Communication › Notification rules. Signed in as Farah Khan (Tenant Super Admin (Northwind Retail, first administrator)). Prerequisite: Signed in as the tenant administrator.
EVIDENCE: screenshot screenshots/client-onboarding/90-onb-84-notification-rules.png,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Exports never finish, scheduled reports do not run, deliveries stay queued, audit chains "not recently verified".
DIAGNOSE: Platform › Operations: queue depth, failed jobs by job, scheduler heartbeat. Platform readiness for WARN/FAIL lines.
EXPECTED VS ACTUAL: A worker and the scheduler run in production; every job carries its tenant. Locally none runs, so queued work waits.
SAFE FIX: Operations restarts the worker or scheduler and retries failed jobs once the cause is fixed.
ESCALATE: Platform operations / on-call (gate 8: not yet in place).
EVIDENCE: Operations screenshot, failed job name and time.
NEVER: Never delete failed jobs before recording them; never run a tenant job without its tenant context.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Queue, failed jobs, scheduler heartbeat and per-tenant status.
ON SCREEN: Open Operations.
LEARNERS SHOULD SEE: Platform health, queue depth, failed jobs by job, scheduler heartbeat, per-tenant status
SCREEN: Admin › Platform › Operations. Signed in as Markedge Platform Admin (Platform operator). Prerequisite: Platform operator (is_platform_admin) signed in with MFA.
EVIDENCE: screenshot screenshots/platform-admin/95-pl-21-operations.png,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SYMPTOM: A customer asks to delete their tenant; an export does not complete; a legal hold cannot be released.
DIAGNOSE: Platform › Offboarding › tenant: holds, retention eligibility, export status.
EXPECTED VS ACTUAL: Deletion is switched off. Exports run in the background (worker). Releasing a hold needs a second operator. No retention policy exists yet.
SAFE FIX: Explain the safeguards; provide the export when the worker is available; a second operator approves releases.
ESCALATE: Markedge platform operator and the owner (D8 retention decisions).
EVIDENCE: Tenant, hold reference (e.g. LH-2026-01), export request time.
NEVER: Never enable deletion or remove a legal hold to satisfy a request.
ASK: "What would you check first?"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Release requested; the hold stays active until another operator approves.
ON SCREEN: Submit the release request.
WALK THROUGH: (1) The result.
LEARNERS SHOULD SEE: The hold stays active until a second operator approves the release; only one operator exists in this environment, so it stays pending
SCREEN: Offboarding › Legal holds (release requested). Signed in as Markedge Platform Admin (Platform operator). Prerequisite: Platform operator with MFA.
EVIDENCE: screenshot screenshots/platform-admin/95-pl-34-release-pending.png,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employee sees "Not allowed" with a raw database message (including server details) although the feedback is saved; HR is not notified. Ask HR to check the Feedback inbox. Escalate: the toast exposes technical details.
ON SCREEN: Submit.
LEARNERS SHOULD SEE: Observed: Not allowed SQLSTATE[HY000]: General error: 1366 Incorrect integer value: 'b1e6fae4-6e91-4a6a-b6ae-3b1ea825a59e' for column 'source_id' at row 1 (Connection: my
SCREEN: My HR › Give feedback (after Submit). Signed in as Priya Nair (Employee). 
EVIDENCE: screenshot screenshots/employee/30-self-45-give-feedback-error.png, captured 2026-10-21 on the disposable training database (fictional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docs/reports/documentation-gaps.md and the 21 Oct 2026 captures (support/*, security-compliance/50-doc-03).
SAY: Known defects and their workarounds. 
- F25 | Import Map columns: "Undefined variable $svc" | Hire wizard; API load by Markedge | Engineering
- F38 | Apply on behalf: server error | Employee 360 › Records › Time › Apply for leave | Engineering
- F44 | Report builder field lists empty | Starter reports; People analytics | Engineering
- F17 | Give feedback: error, HR not notified | HR checks the Feedback inbox | Engineering
- F26 | History tabs error (non-production) | Change history | Engineering
- New | Uploader verifying own document: server error | A second HR person verifies | Engineering
- New | Balances name search: database error | Use filters | Engineering
- New | Employee 360 Records › Employment section error; onboarding template items error | Upper sections and Change history |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give learners about 10 minutes in a practice tenant (never a live one). Walk around and help.
SUCCESS: each learner can show the result on screen.
ANSWERS: (1) Likely a suspended tenant: operator checks Platform › Tenants. (2) Check the reporting line effective today; Change manager. (3) F25: discard; hire wizard or Markedge API load. (4) Statutory gate: cannot be bypassed; pay outside PeopleOS; escalate to Markedge.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Answer key. 
- 1 | Likely a suspended tenant (generic message for everyone). The operator checks Platform › Tenants and follows the reactivation approval.
- 2 | The approver is the primary line manager effective on the request date: fix the reporting line with Change manager.
- 3 | Known defect F25: discard the import; load with the Hire employee wizard or a Markedge API load; escalate to engineering.
- 4 | The statutory safeguard: finalisation is blocked until rules are verified. It cannot be bypassed; pay outside PeopleOS and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Recap the key points:
- Quote the screen; many messages are deliberately generic.
- Check status, role, scope and reporting line before anything else.
- Use documented workarounds for known defects; escalate with evidence.
- Never handle passwords, codes or personal data in tickets.
- Never weaken a safeguard to close a ticket.
POINT TO: Deck 03: HR screens; Deck 05: operator actions; Deck 08: security boundaries
ASK: "What will you do first in PeopleOS?" Collect questions you cannot answer and send them to the PeopleOS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5"/>
                </a:solidFill>
              </a:rPr>
              <a:t>Markedge PeopleOS training  ·  Troubleshooting and support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OPLEOS_DARK">
    <p:bg>
      <p:bgPr>
        <a:solidFill>
          <a:srgbClr val="14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82980" y="6419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64190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3C7"/>
                </a:solidFill>
              </a:rPr>
              <a:t>Markedge PeopleOS training  ·  Troubleshooting and support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C98F"/>
                </a:solidFill>
              </a:rPr>
              <a:t>MARKEDGE PEOPLEOS  ·  TRAINING LIBRARY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</a:rPr>
              <a:t>Deck 07 of 12</a:t>
            </a:r>
            <a:endParaRPr lang="en-US" sz="12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and Support Playbook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real PeopleOS symptoms, diagnose them safely, fix what support may fix, and escalate the rest with the right evidence.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Markedge support staff and customer HR helpdesk leads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running application (local, disposable database, fictional people) · 21 October 2026</a:t>
            </a:r>
            <a:endParaRPr lang="en-US" sz="1200" dirty="0"/>
          </a:p>
        </p:txBody>
      </p:sp>
      <p:pic>
        <p:nvPicPr>
          <p:cNvPr id="8" name="Screenshot support/55-lv-err-01-apply-on-behalf" descr="Screenshot: Leave requests › Apply on behalf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320290"/>
            <a:ext cx="3840480" cy="2400300"/>
          </a:xfrm>
          <a:prstGeom prst="rect">
            <a:avLst/>
          </a:prstGeom>
        </p:spPr>
      </p:pic>
      <p:sp>
        <p:nvSpPr>
          <p:cNvPr id="9" name="Screenshot frame"/>
          <p:cNvSpPr/>
          <p:nvPr/>
        </p:nvSpPr>
        <p:spPr>
          <a:xfrm>
            <a:off x="7818120" y="2320290"/>
            <a:ext cx="3840480" cy="24003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5943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3C7"/>
                </a:solidFill>
              </a:rPr>
              <a:t>Real screen, fictional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BEFORE YOU START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2800" dirty="0"/>
          </a:p>
        </p:txBody>
      </p:sp>
      <p:sp>
        <p:nvSpPr>
          <p:cNvPr id="5" name="Status"/>
          <p:cNvSpPr txBox="1"/>
          <p:nvPr/>
        </p:nvSpPr>
        <p:spPr>
          <a:xfrm>
            <a:off x="548640" y="146304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14447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it on the training database and captured each step.</a:t>
            </a:r>
            <a:endParaRPr lang="en-US" sz="1200" dirty="0"/>
          </a:p>
        </p:txBody>
      </p:sp>
      <p:sp>
        <p:nvSpPr>
          <p:cNvPr id="7" name="Status"/>
          <p:cNvSpPr txBox="1"/>
          <p:nvPr/>
        </p:nvSpPr>
        <p:spPr>
          <a:xfrm>
            <a:off x="548640" y="208483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3594"/>
                </a:solidFill>
              </a:rPr>
              <a:t>Implemented · not verified end to end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20665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exists; the last steps need data or a second party we could not provide.</a:t>
            </a:r>
            <a:endParaRPr lang="en-US" sz="1200" dirty="0"/>
          </a:p>
        </p:txBody>
      </p:sp>
      <p:sp>
        <p:nvSpPr>
          <p:cNvPr id="9" name="Status"/>
          <p:cNvSpPr txBox="1"/>
          <p:nvPr/>
        </p:nvSpPr>
        <p:spPr>
          <a:xfrm>
            <a:off x="548640" y="2706624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8833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an administrator or Markedge has set it up.</a:t>
            </a:r>
            <a:endParaRPr lang="en-US" sz="1200" dirty="0"/>
          </a:p>
        </p:txBody>
      </p:sp>
      <p:sp>
        <p:nvSpPr>
          <p:cNvPr id="11" name="Status"/>
          <p:cNvSpPr txBox="1"/>
          <p:nvPr/>
        </p:nvSpPr>
        <p:spPr>
          <a:xfrm>
            <a:off x="548640" y="3328416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31012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on purpose until owner decisions and approvals arrive.</a:t>
            </a:r>
            <a:endParaRPr lang="en-US" sz="1200" dirty="0"/>
          </a:p>
        </p:txBody>
      </p:sp>
      <p:sp>
        <p:nvSpPr>
          <p:cNvPr id="13" name="Status"/>
          <p:cNvSpPr txBox="1"/>
          <p:nvPr/>
        </p:nvSpPr>
        <p:spPr>
          <a:xfrm>
            <a:off x="548640" y="3950208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9319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working: a known defect or gap is stated on the slide.</a:t>
            </a:r>
            <a:endParaRPr lang="en-US" sz="1200" dirty="0"/>
          </a:p>
        </p:txBody>
      </p:sp>
      <p:sp>
        <p:nvSpPr>
          <p:cNvPr id="15" name="Status"/>
          <p:cNvSpPr txBox="1"/>
          <p:nvPr/>
        </p:nvSpPr>
        <p:spPr>
          <a:xfrm>
            <a:off x="548640" y="4572000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Not implemented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553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product today.</a:t>
            </a:r>
            <a:endParaRPr lang="en-US" sz="1200" dirty="0"/>
          </a:p>
        </p:txBody>
      </p:sp>
      <p:sp>
        <p:nvSpPr>
          <p:cNvPr id="17" name="Status"/>
          <p:cNvSpPr txBox="1"/>
          <p:nvPr/>
        </p:nvSpPr>
        <p:spPr>
          <a:xfrm>
            <a:off x="548640" y="5193792"/>
            <a:ext cx="3749040" cy="292608"/>
          </a:xfrm>
          <a:prstGeom prst="roundRect">
            <a:avLst>
              <a:gd name="adj" fmla="val 50000"/>
            </a:avLst>
          </a:prstGeom>
          <a:solidFill>
            <a:srgbClr val="EEEF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Unable to verify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517550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checked in this environment.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18120" y="1463040"/>
            <a:ext cx="3824935" cy="4206240"/>
          </a:xfrm>
          <a:prstGeom prst="roundRect">
            <a:avLst>
              <a:gd name="adj" fmla="val 286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0" name="Callout 1"/>
          <p:cNvSpPr txBox="1"/>
          <p:nvPr/>
        </p:nvSpPr>
        <p:spPr>
          <a:xfrm>
            <a:off x="8092440" y="1691640"/>
            <a:ext cx="329184" cy="329184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1673352"/>
            <a:ext cx="2910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markers on a screenshot match the numbered steps beside 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251460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is a real capture of PeopleOS. The people and companies in it are fictional.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338328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marked "Conceptual diagram". They explain ideas; they are not screens.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251960"/>
            <a:ext cx="3276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gate: NO-GO (10 of 14 gates blocked, re-verified 13 Oct 2026). Not yet generally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(1 of 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5331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written in the release gate document. Ten of fourteen gates are blocked by owner decisions, external parties or missing infrastructure.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Application and architecture integrity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</a:rPr>
                        <a:t>PASS (workstation)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Repeat the full suites in staging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Credential exposure and repository remediation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Owner: rotation confirmation, repository visibility (O-1 to O-3)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Authentication and operator MFA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Operators enrol MFA in the target environment (O-14,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Independent security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Engage a reviewer; triage and retest findings (O-4)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Statutory verification and gratuity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0 of 24 rules verified; gratuity not implemented (O-5, O-12, O-18)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Data protection, retention, legal holds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(controls) / BLOCKED (policy)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 with counsel (D8); privacy review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Backup, restore and disaster recovery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Recovery objectives and an isolated target (O-6, O-7)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RELEASE STATUS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gate: NO-GO until these are resolved (2 of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749040"/>
                <a:gridCol w="2514600"/>
                <a:gridCol w="4416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Gate status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dependency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Hosting, monitoring and on-call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Environment, alerting, on-call (O-7, O-10, O-11)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Signup and tenant provisioning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if self-service signup is wanted at launch (D10)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Billing, tax and payment controls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Only for paid billing (B-4, B-7, B-8, B-9)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Tenant deletion and offboarding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</a:rPr>
                        <a:t>PASS (disabled) / BLOCKED (activation)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Retention decisions, register disk, review (D8)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Regression and target-environment testing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 staging environment (O-7, O-8)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Owner decisions and written approvals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All owner action items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Deployment, rollback, post-deployment checks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BLOCKED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</a:rPr>
                        <a:t>Rehearse in staging; authorise (O-7 to O-9)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LEARNING OBJECTIVES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Triage by symptom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sign-in, access, data, time and leave, payroll, notifications, platform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Collect the right evidence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without exposing personal data or secrets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12464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4000500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85616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Apply safe fixes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resend invitations, scope checks, documented workarounds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33008" y="146304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6415888" y="1751076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1536192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Escalate correctly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customer administrator, Markedge support, engineering, platform operator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33008" y="2587752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Callout 5"/>
          <p:cNvSpPr txBox="1"/>
          <p:nvPr/>
        </p:nvSpPr>
        <p:spPr>
          <a:xfrm>
            <a:off x="6415888" y="2875788"/>
            <a:ext cx="384048" cy="384048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64528" y="2660904"/>
            <a:ext cx="4495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Recognise known defects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</a:rPr>
              <a:t>F25, F38, F44, F17, F26 and new findings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SUPPORT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for every ticket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exact message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plus time, user e-mail and the page address. Most sign-in messages are deliberately generic.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22978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51578" y="16093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 for passwords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51578" y="20848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MFA codes, recovery codes or reset links either. Resend an invitation or reset instead.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7317" y="14630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DF0DD"/>
          </a:solidFill>
          <a:ln w="12700">
            <a:solidFill>
              <a:srgbClr val="FDF0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5917" y="1609344"/>
            <a:ext cx="3088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stays in PeopleOS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25917" y="2286000"/>
            <a:ext cx="308853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copy PAN, Aadhaar, bank or salary into tickets or chat; reference the employee code.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role first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menu is usually a role or scope question, not a fault.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2978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1578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known defect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551578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known-defects slide before escalating.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7317" y="3977640"/>
            <a:ext cx="3545738" cy="2286000"/>
          </a:xfrm>
          <a:prstGeom prst="roundRect">
            <a:avLst>
              <a:gd name="adj" fmla="val 4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5917" y="4123944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act with reasons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5917" y="4599432"/>
            <a:ext cx="30885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tenant needs a ticket reference; it is audited and ends after 60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and account activation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messages by design: diagnose from the account, not the screen.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sign in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"These credentials do not match our records." after entering e-mail and password.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 › Setup › Users: is the account Active, Invited or Suspended? Platform › Tenants (operator): is the tenant Suspended? Was the e-mail changed recently (verification)?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message is the same for a wrong password, an unknown e-mail, an invited (never activated) account and a suspended account or tenant. It never says which.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Wrong password: the user selects Forgot password? on the sign-in page. Invited: resend the invitation. Suspended user: the customer administrator reactivates. Suspended tenant: operator decision only.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 (user status); Markedge platform operator (tenant status).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e-mail, time of attempt, Users list status, tenant status.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reset a password on the user's behalf by setting one, never read the database to "check" a password, never reactivate a tenant without the documented approval.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generic sign-in message</a:t>
            </a:r>
            <a:endParaRPr lang="en-US" sz="2800" dirty="0"/>
          </a:p>
        </p:txBody>
      </p:sp>
      <p:pic>
        <p:nvPicPr>
          <p:cNvPr id="5" name="Screenshot support/99-sup-01-wrong-password" descr="Screenshot: Sign in (failed)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190" y="1417320"/>
            <a:ext cx="5105020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5190" y="1417320"/>
            <a:ext cx="5105020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629551" y="3630645"/>
            <a:ext cx="3656298" cy="241454"/>
          </a:xfrm>
          <a:prstGeom prst="roundRect">
            <a:avLst>
              <a:gd name="adj" fmla="val 1893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5199308" y="4015821"/>
            <a:ext cx="1086541" cy="258700"/>
          </a:xfrm>
          <a:prstGeom prst="roundRect">
            <a:avLst>
              <a:gd name="adj" fmla="val 176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2318655" y="36233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4888412" y="40171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Generic message.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Forgot password?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Identical for every cause: protects accounts from probing.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Signed out (Visitor) · Sign in (failed)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Invited, never activated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Users list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upport/99-sup-07-user-invited" descr="Screenshot: Admin › Setup › User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Invited, last login Never: the invitation link (72 hours) was not used.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Farah Khan (Tenant Super Admin (Northwind Retail, first administrator)) · Admin › Setup › Users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Their sign-in attempt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upport/99-sup-08-invited-cannot-sign-in" descr="Screenshot: Sign in (invited user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870" y="1755648"/>
            <a:ext cx="3612043" cy="3429000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7154870" y="1755648"/>
            <a:ext cx="3612043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message. Fix: resend the invitation (Users for staff; Tenants › Send invitation for a first administrator).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Sign in (invited user)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reset: request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Forgot password?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upport/99-sup-02-forgot-password" descr="Screenshot: Forgot password?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376" y="1755648"/>
            <a:ext cx="4720856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870376" y="1755648"/>
            <a:ext cx="4720856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address and Send email.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Forgot password?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Neutral answer (the toast)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upport/99-sup-03-reset-requested" descr="Screenshot: Forgot password? (after Send email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609298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609298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an account uses that address, we have sent it a link…" The link expires in 60 minutes; requests are rate-limited.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Forgot password? (after Send email)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reset: complete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Reset form (from the e-mail link)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upport/99-sup-04-reset-form" descr="Screenshot: Reset your password (link from the e-mail)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679" y="1755648"/>
            <a:ext cx="3524250" cy="342900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1468679" y="1755648"/>
            <a:ext cx="3524250" cy="342900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password, confirmation, Reset password.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Reset your password (link from the e-mail)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</a:rPr>
              <a:t>Done (the toast)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support/99-sup-05-reset-done" descr="Screenshot: Sign in (after the reset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1609298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1609298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password has been changed. Sign in with it now." Other sessions end.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Sign in (after the reset)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or expired links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Reset link used twice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7" name="Screenshot support/99-sup-06-reset-link-used" descr="Screenshot: Reset your password (used link) (Signed out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for any bad, used or expired reset link: request a new one.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Signed out (Visitor) · Reset your password (used link)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Invitation used twice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F4F"/>
                </a:solidFill>
              </a:rPr>
              <a:t>Verified</a:t>
            </a:r>
            <a:endParaRPr lang="en-US" sz="950" dirty="0"/>
          </a:p>
        </p:txBody>
      </p:sp>
      <p:pic>
        <p:nvPicPr>
          <p:cNvPr id="13" name="Screenshot client-onboarding/90-onb-11-invitation-used" descr="Screenshot: Accept your invitation (used link) (Signed out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117109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117109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invitation link is invalid or has expired. Ask your administrator to send a new one."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(cropped) · Signed out (Visitor) · Accept your invitation (used link)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whole organisation cannot sign in</a:t>
            </a:r>
            <a:endParaRPr lang="en-US" sz="2800" dirty="0"/>
          </a:p>
        </p:txBody>
      </p:sp>
      <p:pic>
        <p:nvPicPr>
          <p:cNvPr id="5" name="Screenshot platform-admin/95-pl-08-suspended-sign-in" descr="Screenshot: Sign in (tenant suspended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190" y="1417320"/>
            <a:ext cx="5105020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5190" y="1417320"/>
            <a:ext cx="5105020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629551" y="3630645"/>
            <a:ext cx="3656298" cy="241454"/>
          </a:xfrm>
          <a:prstGeom prst="roundRect">
            <a:avLst>
              <a:gd name="adj" fmla="val 18935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2318655" y="362335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generic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399794"/>
          </a:xfrm>
          <a:prstGeom prst="roundRect">
            <a:avLst>
              <a:gd name="adj" fmla="val 5226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21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user of a suspended tenant gets the generic message. Operator: check Platform › Tenants; reactivation needs the documented approval and a reason.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(Tenant Super Admin (Northwind Retail, first administrator)) · Sign in (tenant suspended)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SIGN-IN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refused: password rules</a:t>
            </a:r>
            <a:endParaRPr lang="en-US" sz="2800" dirty="0"/>
          </a:p>
        </p:txBody>
      </p:sp>
      <p:pic>
        <p:nvPicPr>
          <p:cNvPr id="5" name="Screenshot client-onboarding/90-onb-09-password-rules" descr="Screenshot: Accept your invitation (validation) (Farah Khan (invited, not yet active)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732" y="1417320"/>
            <a:ext cx="527393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820732" y="1417320"/>
            <a:ext cx="527393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569061" y="3947384"/>
            <a:ext cx="3777279" cy="249443"/>
          </a:xfrm>
          <a:prstGeom prst="roundRect">
            <a:avLst>
              <a:gd name="adj" fmla="val 1832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2258165" y="394409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"The password field must be at least 8 characters." The account stays invited until a valid password is set.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Farah Khan (invited, not yet active) (Invited first administrator) · Accept your invitation (validation)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menus and restricted pages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scope and relationship decide what each person sees.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menu or page is missing, or "not available"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menu item a colleague has is not shown, or a page says "This page is not available to you".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› Setup › Users › the user: roles and access scope. Compare with the role table in Deck 3. For managers: is the person a direct report effective today?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Pages appear only with the permission; records only within scope or reporting line. A 403 page is the control working.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If the access is intended, the customer administrator changes the role or scope (Tenant Super Admin for role permissions). Otherwise explain the boundary.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administrator for roles and scope; Markedge support only if the role table says the access should exist.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 e-mail, page address, roles and scope screenshot.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grant Tenant Super Admin to "make it work", and never ask an operator to enter the tenant to show someone data they are not allowed to see.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Tenant HR Admin opening role edit</a:t>
            </a:r>
            <a:endParaRPr lang="en-US" sz="2800" dirty="0"/>
          </a:p>
        </p:txBody>
      </p:sp>
      <p:pic>
        <p:nvPicPr>
          <p:cNvPr id="5" name="Screenshot security-compliance/85-acc-08-role-edit-denied-hr-admin" descr="Screenshot: Roles › HR Manager › Edit (as Tenant HR Admin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Access refused.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HTTP 403 "This page is not available to you": only a Tenant Super Admin edits role permissions (F5).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Kavya Menon (Tenant HR Admin + Employee) · Roles › HR Manager › Edit (as Tenant HR Admin)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employee opening an HR page</a:t>
            </a:r>
            <a:endParaRPr lang="en-US" sz="2800" dirty="0"/>
          </a:p>
        </p:txBody>
      </p:sp>
      <p:pic>
        <p:nvPicPr>
          <p:cNvPr id="5" name="Screenshot employee/30-self-52-restricted-page" descr="Screenshot: People › Lifecycle › Employees (HR register) as an employe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237204" y="5071152"/>
            <a:ext cx="1127871" cy="405329"/>
          </a:xfrm>
          <a:prstGeom prst="roundRect">
            <a:avLst>
              <a:gd name="adj" fmla="val 1128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2109188" y="477854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available.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 to Home.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HTTP 403 "This page is not available to you" with Go to Home and Go back.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Priya Nair (Employee) · People › Lifecycle › Employees (HR register) as an employee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employee visibility: outside the team</a:t>
            </a:r>
            <a:endParaRPr lang="en-US" sz="2800" dirty="0"/>
          </a:p>
        </p:txBody>
      </p:sp>
      <p:pic>
        <p:nvPicPr>
          <p:cNvPr id="5" name="Screenshot manager/40-team-09-outside-team" descr="Screenshot: Employee 360 of someone outside the team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237204" y="2357212"/>
            <a:ext cx="4440991" cy="393580"/>
          </a:xfrm>
          <a:prstGeom prst="roundRect">
            <a:avLst>
              <a:gd name="adj" fmla="val 116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1926308" y="242598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found.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593469"/>
          </a:xfrm>
          <a:prstGeom prst="roundRect">
            <a:avLst>
              <a:gd name="adj" fmla="val 4591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41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"We could not find that" (404), not 403: records outside a manager's reach are not revealed. If they should report to the manager, fix the reporting line (Change manager), not the role.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Amit Verma (Manager + Employee) · Employee 360 of someone outside the 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ACCESS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Executive and the Roles page</a:t>
            </a:r>
            <a:endParaRPr lang="en-US" sz="2800" dirty="0"/>
          </a:p>
        </p:txBody>
      </p:sp>
      <p:pic>
        <p:nvPicPr>
          <p:cNvPr id="5" name="Screenshot client-onboarding/90-onb-60-hr-executive-roles-denied" descr="Screenshot: Roles (as HR Executive) (Rohit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23" y="1417320"/>
            <a:ext cx="5639354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638023" y="1417320"/>
            <a:ext cx="5639354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Refused: the HR Executive role does not include role.view. Expected behaviour.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Rohit Menon (HR Executive (Northwind Retail)) · Roles (as HR Executive)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data problems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Imports, duplicates and record errors.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import stops at "inspected"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Upload and Inspect, Map columns shows "Failed — Undefined variable $svc"; the import stays inspected.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People › Lifecycle › Employee imports › the import: status inspected; reproduce once with a 2-row file.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Expected: mapping saved, then Validate, Approve, Run. Actual: known defect F25 (same code serves punch imports).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Discard the import. Load people with the Hire employee wizard, or have Markedge load them through POST /api/v1/employees (documented; not exercised in the training).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engineering: defect F25 (app/Filament/Support/ImportActions.php map action).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Import number, screenshot of the failure, row count.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edit import data in the database or bypass validation to push rows in.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reproduced in a new tenant</a:t>
            </a:r>
            <a:endParaRPr lang="en-US" sz="2800" dirty="0"/>
          </a:p>
        </p:txBody>
      </p:sp>
      <p:pic>
        <p:nvPicPr>
          <p:cNvPr id="5" name="Screenshot client-onboarding/90-onb-93-import-map-fails" descr="Screenshot: Employee import (after Map columns)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63093"/>
          </a:xfrm>
          <a:prstGeom prst="roundRect">
            <a:avLst>
              <a:gd name="adj" fmla="val 98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85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625094"/>
          </a:xfrm>
          <a:prstGeom prst="roundRect">
            <a:avLst>
              <a:gd name="adj" fmla="val 1170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44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Observed in two tenants on 21 Oct 2026.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Employee import (after Map columns)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person or employee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Hire employee refuses to continue: "This person already exists".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 the Directory by name, employee code and personal e-mail. Check whether the existing person is alumni (re-employment).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Definite duplicates (same personal e-mail, phone or work e-mail) are refused; possible duplicates are warned.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Re-use the existing person in the wizard, or correct the typo. For a returning employee use Change lifecycle state (alumni → active); a dedicated rehire screen does not exist.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lead; Markedge support if a real duplicate already exists (merge is not available on screen).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Both employee codes and the wizard message.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change someone's personal e-mail just to get past the duplicate check.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duplicate check</a:t>
            </a:r>
            <a:endParaRPr lang="en-US" sz="2800" dirty="0"/>
          </a:p>
        </p:txBody>
      </p:sp>
      <p:pic>
        <p:nvPicPr>
          <p:cNvPr id="5" name="Screenshot hr-admin/50-hire-01-duplicate-refused" descr="Screenshot: Hire employee › Person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678485"/>
          </a:xfrm>
          <a:prstGeom prst="roundRect">
            <a:avLst>
              <a:gd name="adj" fmla="val 6739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5445150"/>
            <a:ext cx="1967247" cy="236931"/>
          </a:xfrm>
          <a:prstGeom prst="roundRect">
            <a:avLst>
              <a:gd name="adj" fmla="val 19297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5848401" y="1693164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99031" y="5435600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refused.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Matching field.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"This person already exists: Priya Nair (EMP00004), same personal email."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Kavya Menon (Tenant HR Admin + Employee) · Hire employee › Person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DATA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errors on record screens (development mode)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History tab (F26)</a:t>
            </a:r>
            <a:endParaRPr lang="en-US" sz="1300" dirty="0"/>
          </a:p>
        </p:txBody>
      </p:sp>
      <p:sp>
        <p:nvSpPr>
          <p:cNvPr id="6" name="Status"/>
          <p:cNvSpPr txBox="1"/>
          <p:nvPr/>
        </p:nvSpPr>
        <p:spPr>
          <a:xfrm>
            <a:off x="3809848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</a:rPr>
              <a:t>Incomplete</a:t>
            </a:r>
            <a:endParaRPr lang="en-US" sz="950" dirty="0"/>
          </a:p>
        </p:txBody>
      </p:sp>
      <p:pic>
        <p:nvPicPr>
          <p:cNvPr id="7" name="Screenshot hr-admin/50-360-10-records-history" descr="Screenshot: Employee 360 › Records › History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5364328" cy="3352705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48640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LazyLoadingViolationException. Seen on Employee 360, payroll run, letters and users in non-production.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Records › History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371600"/>
            <a:ext cx="312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</a:rPr>
              <a:t>Records › Employment (new)</a:t>
            </a:r>
            <a:endParaRPr lang="en-US" sz="1300" dirty="0"/>
          </a:p>
        </p:txBody>
      </p:sp>
      <p:sp>
        <p:nvSpPr>
          <p:cNvPr id="12" name="Status"/>
          <p:cNvSpPr txBox="1"/>
          <p:nvPr/>
        </p:nvSpPr>
        <p:spPr>
          <a:xfrm>
            <a:off x="9539935" y="138988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</a:rPr>
              <a:t>Incomplete</a:t>
            </a:r>
            <a:endParaRPr lang="en-US" sz="950" dirty="0"/>
          </a:p>
        </p:txBody>
      </p:sp>
      <p:pic>
        <p:nvPicPr>
          <p:cNvPr id="13" name="Screenshot support/50-360-err-01-records-employment" descr="Screenshot: Employee 360 › Records › Employment (Kavya Menon, fictional dat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755648"/>
            <a:ext cx="5364328" cy="3352705"/>
          </a:xfrm>
          <a:prstGeom prst="rect">
            <a:avLst/>
          </a:prstGeom>
        </p:spPr>
      </p:pic>
      <p:sp>
        <p:nvSpPr>
          <p:cNvPr id="14" name="Screenshot frame"/>
          <p:cNvSpPr/>
          <p:nvPr/>
        </p:nvSpPr>
        <p:spPr>
          <a:xfrm>
            <a:off x="6278728" y="1755648"/>
            <a:ext cx="5364328" cy="3352705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78728" y="5285232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in a lazily loaded section on scroll.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278728" y="603504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</a:rPr>
              <a:t>Real screen · Kavya Menon (Tenant HR Admin + Employee) · Employee 360 › Records › Employment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and leave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Discrepancies, failures and approvals that do not appear.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 refused or failing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"Cannot apply" with a reason, or a server error when HR uses Apply on behalf.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the reason: policy (probation, notice, maximum days, balance). For HR: was it Leave requests › Apply on behalf?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refusals are intended (e.g. "Earned leave is not available during probation."). Apply on behalf failing is defect F38.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Policy: choose an eligible type or dates. F38: use Employee 360 › Records › Time › Leave › Apply for leave.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for policy questions; Markedge engineering for F38.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Leave type, dates, message, employee code.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adjust a balance to get around a policy refusal without HR approval; adjustments are ledger entries and audited.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refusal</a:t>
            </a:r>
            <a:endParaRPr lang="en-US" sz="2800" dirty="0"/>
          </a:p>
        </p:txBody>
      </p:sp>
      <p:pic>
        <p:nvPicPr>
          <p:cNvPr id="5" name="Screenshot employee/10-leave-03-policy-refusal" descr="Screenshot: Request leave (dialog) with policy message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463093"/>
          </a:xfrm>
          <a:prstGeom prst="roundRect">
            <a:avLst>
              <a:gd name="adj" fmla="val 9873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58546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Policy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Intended behaviour: the leave policy refuses Earned leave during probation.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Request leave (dialog) with policy message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on behalf: F38</a:t>
            </a:r>
            <a:endParaRPr lang="en-US" sz="2800" dirty="0"/>
          </a:p>
        </p:txBody>
      </p:sp>
      <p:pic>
        <p:nvPicPr>
          <p:cNvPr id="5" name="Screenshot support/55-lv-err-01-apply-on-behalf" descr="Screenshot: Leave requests › Apply on behalf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"Call to a member function getFormData() on array" when the dialog opens.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Kavya Menon (Tenant HR Admin + Employee) · Leave requests › Apply on behalf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not appearing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employee submitted a request but their manager does not see it in Approvals.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Employee 360 › Records › Employment: who is the primary line manager effective today? Is a workflow running for the request (Workflows › Runs, then Task inbox)?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Leave and attendance corrections go to the primary line manager effective on the request date. Requests with a running workflow are decided in the Task inbox.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 the reporting line with Change manager (effective date). Ask the approver to check My work › Task inbox.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HR (reporting lines); Markedge support for workflow configuration.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Request date, employee code, manager history.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approve on someone else's behalf by signing in as them.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approvals should appear</a:t>
            </a:r>
            <a:endParaRPr lang="en-US" sz="2800" dirty="0"/>
          </a:p>
        </p:txBody>
      </p:sp>
      <p:pic>
        <p:nvPicPr>
          <p:cNvPr id="5" name="Screenshot manager/10-leave-07-approval-center" descr="Screenshot: My work › Approvals (Approval Center)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2109927" y="1955800"/>
            <a:ext cx="2914972" cy="226162"/>
          </a:xfrm>
          <a:prstGeom prst="roundRect">
            <a:avLst>
              <a:gd name="adj" fmla="val 2021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box 2"/>
          <p:cNvSpPr/>
          <p:nvPr/>
        </p:nvSpPr>
        <p:spPr>
          <a:xfrm>
            <a:off x="2109927" y="2436842"/>
            <a:ext cx="1195426" cy="215392"/>
          </a:xfrm>
          <a:prstGeom prst="roundRect">
            <a:avLst>
              <a:gd name="adj" fmla="val 2122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9" name="Callout 1"/>
          <p:cNvSpPr txBox="1"/>
          <p:nvPr/>
        </p:nvSpPr>
        <p:spPr>
          <a:xfrm>
            <a:off x="1799031" y="1940865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Callout 2"/>
          <p:cNvSpPr txBox="1"/>
          <p:nvPr/>
        </p:nvSpPr>
        <p:spPr>
          <a:xfrm>
            <a:off x="1799031" y="2416522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12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Decisions waiting.</a:t>
            </a:r>
            <a:endParaRPr lang="en-US" sz="1400" dirty="0"/>
          </a:p>
        </p:txBody>
      </p:sp>
      <p:sp>
        <p:nvSpPr>
          <p:cNvPr id="14" name="Callout 2"/>
          <p:cNvSpPr txBox="1"/>
          <p:nvPr/>
        </p:nvSpPr>
        <p:spPr>
          <a:xfrm>
            <a:off x="8595360" y="225856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24028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Summarise.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595360" y="269748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732520" y="278892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My work › Approvals groups decisions Urgent, This week and Later.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My work › Approvals (Approval Center)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discrepancy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day shows absent, missing punch or "worked on holiday" although the employee worked normally.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Attendance records for the date; Punches (source and status); holiday calendar and work schedule assigned; was the day processed after a correction?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Records are computed from punches, schedule and calendar when the day is processed; approved corrections reprocess the day.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Employee: Fix my attendance. HR: Manual punch, then Process day. Note: holiday half-days are ignored (F39); late-mark actions are not applied (F40).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attendance admin; Markedge support for device or calendar issues.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Date, employee code, punches list, schedule and calendar names.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delete punches; corrections are added, the history stays.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the Exception centre</a:t>
            </a:r>
            <a:endParaRPr lang="en-US" sz="2800" dirty="0"/>
          </a:p>
        </p:txBody>
      </p:sp>
      <p:pic>
        <p:nvPicPr>
          <p:cNvPr id="5" name="Screenshot manager/20-att-09-exception-centre" descr="Screenshot: Exception centre (Amit Verma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Bullet"/>
          <p:cNvSpPr/>
          <p:nvPr/>
        </p:nvSpPr>
        <p:spPr>
          <a:xfrm>
            <a:off x="8686800" y="1965960"/>
            <a:ext cx="109728" cy="109728"/>
          </a:xfrm>
          <a:prstGeom prst="ellipse">
            <a:avLst/>
          </a:prstGeom>
          <a:solidFill>
            <a:srgbClr val="8A90A2"/>
          </a:solidFill>
          <a:ln w="12700">
            <a:solidFill>
              <a:srgbClr val="8A90A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006840" y="1874520"/>
            <a:ext cx="26362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Exception counts at the top; each row shows its exceptions.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595360" y="2726436"/>
            <a:ext cx="3047695" cy="1206119"/>
          </a:xfrm>
          <a:prstGeom prst="roundRect">
            <a:avLst>
              <a:gd name="adj" fmla="val 606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732520" y="2817876"/>
            <a:ext cx="2773375" cy="1023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Priya's 20 Oct row: Present 09:05–18:10 with the exception "Worked on holiday / weekly off": 20 Oct is Dussehra in the demonstration calendar.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Amit Verma (Manager + Employee) · Exception centre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LEAVE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Balances search fails (new finding)</a:t>
            </a:r>
            <a:endParaRPr lang="en-US" sz="2800" dirty="0"/>
          </a:p>
        </p:txBody>
      </p:sp>
      <p:pic>
        <p:nvPicPr>
          <p:cNvPr id="5" name="Screenshot support/55-lv-err-02-balances-search" descr="Screenshot: People › Time &amp; leave › Balances (search box) (Kavya Meno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Typing a name in the Balances search box gives a database error. Use the Employee and Type filters instead.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Kavya Menon (Tenant HR Admin + Employee) · People › Time &amp; leave › Balances (search box)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design until statutory rules are verified.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cannot be validated or finalised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Validate says "Not allowed"; Approve and Finalize never appear; no payslips.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Payroll run › Employees tab › Issues (unverified_statutory_rule…). Compliance control room: rules verified?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Intended: finalisation is blocked while statutory rules are unverified (0 of 24). Runs in jurisdictions without rules are blocked.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Nothing to fix in the tenant. Calculate and check runs; pay outside PeopleOS until verification. Explain the release gate.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platform operators (rule verification) and the owner (O-5, O-12, O-18).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Run, Issues column, control-room screenshot.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ask engineering to switch enforcement off, and never mark a rule verified without official evidence and a second operator.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refused</a:t>
            </a:r>
            <a:endParaRPr lang="en-US" sz="2800" dirty="0"/>
          </a:p>
        </p:txBody>
      </p:sp>
      <p:pic>
        <p:nvPicPr>
          <p:cNvPr id="5" name="Screenshot hr-admin/60-pay-09-validate-blocked" descr="Screenshot: Payroll run › Validate (Arjun Bose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570789"/>
          </a:xfrm>
          <a:prstGeom prst="roundRect">
            <a:avLst>
              <a:gd name="adj" fmla="val 8010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1639316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</a:rPr>
              <a:t>Disabled by safety or commercial gates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Blocking message.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012444"/>
          </a:xfrm>
          <a:prstGeom prst="roundRect">
            <a:avLst>
              <a:gd name="adj" fmla="val 722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82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"Not allowed": 19 employee(s) have blocking exceptions. Fix the inputs and recalculate.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Arjun Bose (Payroll Admin + Employee) · Payroll run › Validate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C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Platform, notifications and offboarding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work, notifications and the safeguards around leaving.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not received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Users expect an e-mail for leave or approvals and receive nothing; an SMS or WhatsApp never arrives.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Communication › Notification rules: is there a rule for the event? Delivery log: queued, sent or failed? Is the queue worker running (Platform › Operations)?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Notices go only where a rule exists. No role can create or delete rules on screen (F18). SMS, WhatsApp and push send nothing (F19).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Customer: edit existing rules and templates. Markedge: seed missing rules; ensure the worker runs; Send again on failed deliveries.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support (rules, F18/F19); platform operations (queue).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Event, time, delivery log row.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promise e-mail for an event that has no rule.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rules, no New action</a:t>
            </a:r>
            <a:endParaRPr lang="en-US" sz="2800" dirty="0"/>
          </a:p>
        </p:txBody>
      </p:sp>
      <p:pic>
        <p:nvPicPr>
          <p:cNvPr id="5" name="Screenshot client-onboarding/90-onb-84-notification-rules" descr="Screenshot: Communication › Notification rules (Farah Kha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 empty Notification rules list in a new tenant (F18).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Farah Khan (Tenant Super Admin (Northwind Retail, first administrator)) · Communication › Notification rules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or stuck background jobs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Exports never finish, scheduled reports do not run, deliveries stay queued, audit chains "not recently verified".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› Operations: queue depth, failed jobs by job, scheduler heartbeat. Platform readiness for WARN/FAIL lines.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worker and the scheduler run in production; every job carries its tenant. Locally none runs, so queued work waits.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Operations restarts the worker or scheduler and retries failed jobs once the cause is fixed.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operations / on-call (gate 8: not yet in place).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Operations screenshot, failed job name and time.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delete failed jobs before recording them; never run a tenant job without its tenant context.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operations</a:t>
            </a:r>
            <a:endParaRPr lang="en-US" sz="2800" dirty="0"/>
          </a:p>
        </p:txBody>
      </p:sp>
      <p:pic>
        <p:nvPicPr>
          <p:cNvPr id="5" name="Screenshot platform-admin/95-pl-21-operations" descr="Screenshot: Admin › Platform › Operations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F4F"/>
                </a:solidFill>
              </a:rPr>
              <a:t>Verified in the running application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595360" y="18745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32520" y="19659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Queue, failed jobs, scheduler heartbeat and per-tenant status.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Admin › Platform › Operations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or offboarding blocked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USER SYMPTOMS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customer asks to delete their tenant; an export does not complete; a legal hold cannot be released.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87288" y="141732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4448" y="148132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DIAGNOSTIC STEPS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Platform › Offboarding › tenant: holds, retention eligibility, export status.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EXPECTED VERSUS ACTUAL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Deletion is switched off. Exports run in the background (worker). Releasing a hold needs a second operator. No retention policy exists yet.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87288" y="260604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67004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SAFE CORRECTIVE ACTION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Explain the safeguards; provide the export when the worker is available; a second operator approves releases.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ESCALATE TO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Markedge platform operator and the owner (D8 retention decisions).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288" y="3794760"/>
            <a:ext cx="5455768" cy="1078992"/>
          </a:xfrm>
          <a:prstGeom prst="roundRect">
            <a:avLst>
              <a:gd name="adj" fmla="val 5085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448" y="3858768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EVIDENCE TO COLLECT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Tenant, hold reference (e.g. LH-2026-01), export request time.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056632"/>
            <a:ext cx="108200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</a:rPr>
              <a:t>NEVER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Never enable deletion or remove a legal hold to satisfy a request.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ISSUE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release waits for a second operator</a:t>
            </a:r>
            <a:endParaRPr lang="en-US" sz="2800" dirty="0"/>
          </a:p>
        </p:txBody>
      </p:sp>
      <p:pic>
        <p:nvPicPr>
          <p:cNvPr id="5" name="Screenshot platform-admin/95-pl-34-release-pending" descr="Screenshot: Offboarding › Legal holds (release requested) (Markedge Platform Admin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627" y="1417320"/>
            <a:ext cx="5102146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1906627" y="1417320"/>
            <a:ext cx="5102146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5266857" y="1469060"/>
            <a:ext cx="1690176" cy="353557"/>
          </a:xfrm>
          <a:prstGeom prst="roundRect">
            <a:avLst>
              <a:gd name="adj" fmla="val 12931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4955961" y="1517823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E4EE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B3"/>
                </a:solidFill>
              </a:rPr>
              <a:t>Available only after configuration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result.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818769"/>
          </a:xfrm>
          <a:prstGeom prst="roundRect">
            <a:avLst>
              <a:gd name="adj" fmla="val 893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63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Release requested; the hold stays active until another operator approves.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(cropped) · Markedge Platform Admin (Platform operator) · Offboarding › Legal holds (release requested)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KNOWN DEFECTS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feedback shows an error (F17)</a:t>
            </a:r>
            <a:endParaRPr lang="en-US" sz="2800" dirty="0"/>
          </a:p>
        </p:txBody>
      </p:sp>
      <p:pic>
        <p:nvPicPr>
          <p:cNvPr id="5" name="Screenshot employee/30-self-45-give-feedback-error" descr="Screenshot: My HR › Give feedback (after Submit) (Priya Nair, fictional 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417320"/>
            <a:ext cx="7754112" cy="4846320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580644" y="1417320"/>
            <a:ext cx="7754112" cy="4846320"/>
          </a:xfrm>
          <a:prstGeom prst="rect">
            <a:avLst/>
          </a:prstGeom>
          <a:ln w="9525">
            <a:solidFill>
              <a:srgbClr val="D9DCE3"/>
            </a:solidFill>
            <a:prstDash val="solid"/>
          </a:ln>
        </p:spPr>
      </p:sp>
      <p:sp>
        <p:nvSpPr>
          <p:cNvPr id="7" name="Callout box 1"/>
          <p:cNvSpPr/>
          <p:nvPr/>
        </p:nvSpPr>
        <p:spPr>
          <a:xfrm>
            <a:off x="6159297" y="1481938"/>
            <a:ext cx="2110842" cy="2617013"/>
          </a:xfrm>
          <a:prstGeom prst="roundRect">
            <a:avLst>
              <a:gd name="adj" fmla="val 2166"/>
            </a:avLst>
          </a:prstGeom>
          <a:ln w="25400">
            <a:solidFill>
              <a:srgbClr val="D97706"/>
            </a:solidFill>
            <a:prstDash val="solid"/>
          </a:ln>
        </p:spPr>
      </p:sp>
      <p:sp>
        <p:nvSpPr>
          <p:cNvPr id="8" name="Callout 1"/>
          <p:cNvSpPr txBox="1"/>
          <p:nvPr/>
        </p:nvSpPr>
        <p:spPr>
          <a:xfrm>
            <a:off x="5848401" y="2662428"/>
            <a:ext cx="256032" cy="2560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tatus"/>
          <p:cNvSpPr txBox="1"/>
          <p:nvPr/>
        </p:nvSpPr>
        <p:spPr>
          <a:xfrm>
            <a:off x="8595360" y="1417320"/>
            <a:ext cx="3047695" cy="292608"/>
          </a:xfrm>
          <a:prstGeom prst="roundRect">
            <a:avLst>
              <a:gd name="adj" fmla="val 50000"/>
            </a:avLst>
          </a:prstGeom>
          <a:solidFill>
            <a:srgbClr val="FBE6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Incomplete · known defect or gap</a:t>
            </a:r>
            <a:endParaRPr lang="en-US" sz="1050" dirty="0"/>
          </a:p>
        </p:txBody>
      </p:sp>
      <p:sp>
        <p:nvSpPr>
          <p:cNvPr id="10" name="Callout 1"/>
          <p:cNvSpPr txBox="1"/>
          <p:nvPr/>
        </p:nvSpPr>
        <p:spPr>
          <a:xfrm>
            <a:off x="8595360" y="1892808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06840" y="1874520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 shown.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595360" y="2331720"/>
            <a:ext cx="3047695" cy="1787144"/>
          </a:xfrm>
          <a:prstGeom prst="roundRect">
            <a:avLst>
              <a:gd name="adj" fmla="val 4093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32520" y="2423160"/>
            <a:ext cx="2773375" cy="160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RESULT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employee sees "Not allowed" with a raw database message (including server details) although the feedback is saved; HR is not notified. Ask HR to check the Feedback inbox. Escalate: the toast exposes technical details.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8595360" y="5742432"/>
            <a:ext cx="30476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 · Priya Nair (Employee) · My HR › Give feedback (after Submit)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KNOWN DEFECTS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defects and their workarounds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931920"/>
                <a:gridCol w="420624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Symptom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Workaround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Escalation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F25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Import Map columns: "Undefined variable $svc"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Hire wizard; API load by Markedge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F38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Apply on behalf: server error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360 › Records › Time › Apply for leave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F44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Report builder field lists empty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Starter reports; People analytics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F17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Give feedback: error, HR not notified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HR checks the Feedback inbox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F26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History tabs error (non-production)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Change history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New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Uploader verifying own document: server error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A second HR person verifies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New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Balances name search: database error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Use filters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New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Employee 360 Records › Employment section error; onboarding template items error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Upper sections and Change history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</a:rPr>
                        <a:t>Engineering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triage these tickets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6" name="Callout 1"/>
          <p:cNvSpPr txBox="1"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36192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40 people at our company get the credentials message since this morning."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9" name="Callout 2"/>
          <p:cNvSpPr txBox="1"/>
          <p:nvPr/>
        </p:nvSpPr>
        <p:spPr>
          <a:xfrm>
            <a:off x="731520" y="2816352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15184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a manager and Leave requests from my new team member never reach me."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621024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2" name="Callout 3"/>
          <p:cNvSpPr txBox="1"/>
          <p:nvPr/>
        </p:nvSpPr>
        <p:spPr>
          <a:xfrm>
            <a:off x="731520" y="3895344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694176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import of 300 employees is stuck at inspected."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700016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CEAFB"/>
          </a:solidFill>
          <a:ln w="12700">
            <a:solidFill>
              <a:srgbClr val="ECEAFB"/>
            </a:solidFill>
            <a:prstDash val="solid"/>
          </a:ln>
        </p:spPr>
      </p:sp>
      <p:sp>
        <p:nvSpPr>
          <p:cNvPr id="15" name="Callout 4"/>
          <p:cNvSpPr txBox="1"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574B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773168"/>
            <a:ext cx="101800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"Payroll says Not allowed and we need payslips on Friday."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5"/>
                </a:solidFill>
              </a:rPr>
              <a:t>Answer key: on the next slide, and in the speaker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>
            <p:ph idx="103" type="body" hasCustomPrompt="1"/>
          </p:nvPr>
        </p:nvSpPr>
        <p:spPr>
          <a:xfrm>
            <a:off x="54864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PRACTICE</a:t>
            </a:r>
            <a:endParaRPr lang="en-US" sz="110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54864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543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Likely a suspended tenant (generic message for everyone). The operator checks Platform › Tenants and follows the reactivation approval.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approver is the primary line manager effective on the request date: fix the reporting line with Change manager.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Known defect F25: discard the import; load with the Hire employee wizard or a Markedge API load; escalate to engineering.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</a:rPr>
                        <a:t>The statutory safeguard: finalisation is blocked until rules are verified. It cannot be bypassed; pay outside PeopleOS and escalate.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Quote the screen; many messages are deliberately generic.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Check status, role, scope and reporting line before anything else.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Use documented workarounds for known defects; escalate with evidence.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Never handle passwords, codes or personal data in tickets.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6F0"/>
                </a:solidFill>
              </a:rPr>
              <a:t>Never weaken a safeguard to close a ticket.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80960" y="1463040"/>
            <a:ext cx="3962095" cy="4206240"/>
          </a:xfrm>
          <a:prstGeom prst="roundRect">
            <a:avLst>
              <a:gd name="adj" fmla="val 2769"/>
            </a:avLst>
          </a:prstGeom>
          <a:solidFill>
            <a:srgbClr val="1E2542"/>
          </a:solidFill>
          <a:ln w="12700">
            <a:solidFill>
              <a:srgbClr val="2A32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6C98F"/>
                </a:solidFill>
              </a:rPr>
              <a:t>NEXT STEPS &amp; HELP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11680"/>
            <a:ext cx="35048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03: HR screens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05: operator actions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D8E6"/>
                </a:solidFill>
              </a:rPr>
              <a:t>Deck 08: security boundaries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C98F"/>
                </a:solidFill>
              </a:rPr>
              <a:t>Release gate: NO-GO (10 of 14 gates blocked, re-verified 13 Oct 2026). Not yet generally available.</a:t>
            </a:r>
            <a:endParaRPr lang="en-US" sz="1100" dirty="0"/>
          </a:p>
        </p:txBody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23317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opleOS Training">
  <a:themeElements>
    <a:clrScheme name="PeopleOS">
      <a:dk1>
        <a:srgbClr val="1F2433"/>
      </a:dk1>
      <a:lt1>
        <a:srgbClr val="FFFFFF"/>
      </a:lt1>
      <a:dk2>
        <a:srgbClr val="141A30"/>
      </a:dk2>
      <a:lt2>
        <a:srgbClr val="F4F5F8"/>
      </a:lt2>
      <a:accent1>
        <a:srgbClr val="574BC4"/>
      </a:accent1>
      <a:accent2>
        <a:srgbClr val="C9A45C"/>
      </a:accent2>
      <a:accent3>
        <a:srgbClr val="1E7F4F"/>
      </a:accent3>
      <a:accent4>
        <a:srgbClr val="B3261E"/>
      </a:accent4>
      <a:accent5>
        <a:srgbClr val="2F6FB3"/>
      </a:accent5>
      <a:accent6>
        <a:srgbClr val="D97706"/>
      </a:accent6>
      <a:hlink>
        <a:srgbClr val="574BC4"/>
      </a:hlink>
      <a:folHlink>
        <a:srgbClr val="3E3594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Markedge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PeopleOS · Troubleshooting and Support Playbook</dc:title>
  <dc:subject>Recognise real PeopleOS symptoms, diagnose them safely, fix what support may fix, and escalate the rest with the right evidence.</dc:subject>
  <dc:creator>Markedge PeopleOS training</dc:creator>
  <cp:lastModifiedBy>Markedge PeopleOS training</cp:lastModifiedBy>
  <cp:revision>1</cp:revision>
  <dcterms:created xsi:type="dcterms:W3CDTF">2026-10-21T10:25:41Z</dcterms:created>
  <dcterms:modified xsi:type="dcterms:W3CDTF">2026-10-21T10:25:41Z</dcterms:modified>
</cp:coreProperties>
</file>