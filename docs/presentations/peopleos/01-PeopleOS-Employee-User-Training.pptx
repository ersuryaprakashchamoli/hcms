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1f33985-9432-29b4-e17f-526ab37fee83}">
          <p14:sldIdLst>
            <p14:sldId id="256"/>
            <p14:sldId id="257"/>
            <p14:sldId id="258"/>
            <p14:sldId id="259"/>
          </p14:sldIdLst>
        </p14:section>
        <p14:section name="Getting started" id="{91744735-e155-9dd9-12c5-e9f8c13b6d3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Your record" id="{0450ffc6-d332-a5e9-02de-282e71c4efd0}">
          <p14:sldIdLst>
            <p14:sldId id="270"/>
            <p14:sldId id="271"/>
            <p14:sldId id="272"/>
            <p14:sldId id="273"/>
            <p14:sldId id="274"/>
          </p14:sldIdLst>
        </p14:section>
        <p14:section name="Leave" id="{f7308bfe-631c-838c-9224-b5560d7453a3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Attendance" id="{59d40792-05b1-5b23-b3b6-be1d3165863f}">
          <p14:sldIdLst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Help from HR" id="{d5724ece-fd9a-841b-49dc-9e5de226250e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Pay and tax" id="{144f55e6-3f87-ea52-0953-4fc712851439}">
          <p14:sldIdLst>
            <p14:sldId id="301"/>
            <p14:sldId id="302"/>
            <p14:sldId id="303"/>
            <p14:sldId id="304"/>
          </p14:sldIdLst>
        </p14:section>
        <p14:section name="Goals, reviews, career and learning" id="{1011a507-57b6-556d-4678-47e66abb62e3}">
          <p14:sldIdLst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Your account" id="{91ac5870-09f1-6ebd-7c9a-95739e355453}">
          <p14:sldIdLst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</p14:sldIdLst>
        </p14:section>
        <p14:section name="Summary" id="{2a577120-faa5-4788-1cc1-633dd1249d5f}">
          <p14:sldIdLst>
            <p14:sldId id="3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Welcome. In about an hour you will know how to do the everyday things in PeopleOS yourself. Everything you see is the real application with invented people.
EVIDENCE: Captured on the training database on 21 Oct 2026 as Priya Nair and Rahul Sharma, fictional employees of the fictional Demo Group (tools/capture/30-employee.mjs, 10-leave-flow.mjs, 20-attendance-flow.mjs).
AVOID in a shared training tenant: submitting real leave or real personal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Each picture is a real PeopleOS screen. The green label means we tried it and it worked. A red label means there is a known problem; the slide tells you what to do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We trained on the real PeopleOS screens, not mock-ups. The practice database contains invented people only.
AVOID: promising dates for general availability or payroll. The release gate is NO-GO (docs/saas/SaaS-Final-Release-Gate.md (decision NO-GO, re-verified 13 October 2026 at 7314f7d)).
ASK: "Who has used an HR self-service portal before?"
SAY: Where PeopleOS stands today. This training uses the real application on a practice database with invented people. PeopleOS is not yet generally available.
- What works today: The screens in this deck were run end to end on the practice database: you will see exactly what you will use.
- Payroll is not live yet: Payslips appear only after a payroll run is finalised. Finalising is blocked until statutory rules are verified (0 of 24 today).
- Known issues are named: Where something does not work as it should, the slide says so and shows the workaround.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"What do you most often need from HR?" Point to the section that answers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1, Getting started. Sign in, read your Home, and find anything in a few keystrokes.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message never says exactly what is wrong, on purpose: it protects your account.
IF YOUR ORGANISATION REQUIRES IT: you will also enter a 6-digit code from an authenticator app.
SAY: Sign in.
LEFT, Sign-in page: Your work e-mail and password, then Sign in. Forgot password? sends a reset link.
RIGHT, If it does not work: "These credentials do not match our records." Check your password or use Forgot password?. If it still fails, ask HR.
OBSERVE: point out what differs between the two screens.
EVIDENCE: left = employee/30-self-01-sign-in [Signed out (Visitor), Sign in (/admin/login)]; right = employee/30-self-02-sign-in-failed [Signed out (Visitor), Sign in (failed attempt)].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PeopleOS puts your work on Home, each item with the reason it is there.
ON SCREEN: First sign-in: Home explains how PeopleOS brings work to you.
WALK THROUGH: (1) A short welcome note. (2) Got it hides the note. (3) Search anything (Ctrl K). (4) Request leave.
LEARNERS SHOULD SEE: Welcome note with Shortcuts and Got it; Request leave and Start something
SCREEN: Home (first visit). Signed in as Rahul Sharma (Employee). 
EVIDENCE: screenshot screenshots/employee/30-self-03-first-home-welcome.png,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Not now hides a reminder for a while; Open takes you to the place to act.
ON SCREEN: Read Home from top to bottom.
WALK THROUGH: (1) For you: things about you, such as probation or an expiring passport. (2) Need attention: reminders such as missing bank details. (3) PeopleOS Intelligence: short facts with their source. (4) Start something: common requests.
LEARNERS SHOULD SEE: For you, Need attention, Your day and PeopleOS Intelligence; each item says why it is there
SCREEN: Home. Signed in as Priya Nair (Employee). 
EVIDENCE: screenshot screenshots/employee/30-self-04-home.png,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Scroll for your day, your requests, what changed and your people.
ON SCREEN: Scroll Home.
WALK THROUGH: (1) Your day: check in and out. (2) My requests and their status. (3) Your momentum: from joining to confirmation. (4) Start something.
LEARNERS SHOULD SEE: Your day (check in/out), My requests, What changed, Your people, Your momentum, Start something
SCREEN: Home (whole page). Signed in as Priya Nair (Employee). 
EVIDENCE: screenshot screenshots/employee/30-self-05-home-full.png,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You only see menus your role allows.
ON SCREEN: Use the sidebar section, its sub-menu and the area bar.
WALK THROUGH: (1) Sidebar sections. (2) The area you are in. (3) Area bar: pages in this area. (4) "All in …" lists everything in the area.
LEARNERS SHOULD SEE: Sidebar sections; sub-menu of the open section; area bar with the pages of the area and All in …
SCREEN: People › Growth › Goals (navigation shell). Signed in as Priya Nair (Employee). 
EVIDENCE: screenshot screenshots/employee/30-self-06-navigation.png,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Search: Ctrl K.
LEFT, Find a person: Type a name: Preview or see them in the org map.
RIGHT, Find a page: Type "payslip": pages and actions you are allowed to open.
OBSERVE: point out what differs between the two screens.
EVIDENCE: left = employee/30-self-07-search-person [Priya Nair (Employee), Command center (Ctrl K)]; right = employee/30-self-08-search-payslip [Priya Nair (Employee), Command center (Ctrl K)].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Start something and My day.
LEFT, + New: Everything you can start: leave, attendance correction, HR request…
RIGHT, My day (avatar menu): Apply leave, Regularise attendance, Ask HR; today's attendance and balances.
OBSERVE: point out what differs between the two screens.
EVIDENCE: left = employee/30-self-09-quick-launch [Priya Nair (Employee), + New (Start something)]; right = employee/30-self-10-my-day [Priya Nair (Employee), My day (avatar menu › My day)].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"Do this next" suggests the most urgent item first.
ON SCREEN: Open My work.
WALK THROUGH: (1) Filters: Everything, Tasks, Follow-ups, Done… (2) Waiting on others: requests with someone else.
LEARNERS SHOULD SEE: Everything, Decisions, Tasks, Follow-ups, Waiting on others, Done; Do this next
SCREEN: My work › Inbox. Signed in as Priya Nair (Employee). 
EVIDENCE: screenshot screenshots/employee/30-self-11-my-work.png,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Some notices depend on rules your HR team sets up; not every event sends an e-mail.
SAY: Notifications.
LEFT, Notifications page: Grouped; Open, Mark read, Snooze. Preferences decide e-mail or in-app.
RIGHT, Bell: Unread notifications in a side panel.
OBSERVE: point out what differs between the two screens.
EVIDENCE: left = employee/30-self-12-notifications [Priya Nair (Employee), My work › Notifications]; right = employee/30-self-13-bell-panel [Priya Nair (Employee), Notification bell (top bar)].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2, Your record. See your details and documents; ask HR to change anything that is wrong.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Read only. Changes go through HR so they are recorded properly.
ON SCREEN: Avatar menu › My profile (or My HR › Your record).
WALK THROUGH: (1) Your record (open it from the avatar menu › My profile). (2) Views: Now, Journey, Work, Growth, Documents, Records. (3) Who you report to.
LEARNERS SHOULD SEE: Read-only record: status, what is next, recent changes; no action menus
SCREEN: Your record (own Employee 360) › Now. Signed in as Priya Nair (Employee). 
EVIDENCE: screenshot screenshots/employee/30-self-14-my-record-now.png,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Work details and history.
LEFT, Work: Position, organisation and working relationships.
RIGHT, Records › Timeline: Every change to your record with its date: the same history HR sees.
OBSERVE: point out what differs between the two screens.
EVIDENCE: left = employee/30-self-15-my-record-work [Priya Nair (Employee), Your record › Work]; right = employee/30-self-16-my-record-timeline [Priya Nair (Employee), Your record › Records › Timeline].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Addresses, family and other personal details (empty for this fictional employee). You cannot edit them yourself: raise an HR request (Ask HR) for a correction.
ON SCREEN: Records › Personal.
WALK THROUGH: (1) Records › Personal.
LEARNERS SHOULD SEE: Personal details; changes are requested from HR (employees do not edit their own record)
SCREEN: Your record › Records › Personal. Signed in as Priya Nair (Employee). 
EVIDENCE: screenshot screenshots/employee/30-self-17-my-record-personal.png,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Documents and letters.
LEFT, Documents: Your documents with status and expiry. HR uploads them; send renewals to HR.
RIGHT, My letters: Letters HR issued to you; open one to read or download it.
OBSERVE: point out what differs between the two screens.
EVIDENCE: left = employee/30-self-18-my-documents [Priya Nair (Employee), Your record › Documents]; right = employee/30-self-19-my-letters [Priya Nair (Employee), You › My letters].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3, Leave. Request leave, follow it, and see your balance change.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Ask for time off, see your balance before and after, and follow the request until your manager decides.
WHO: Any employee with a PeopleOS account. Your line manager decides.
WHERE: Home › Request leave (or + New › Request leave). Status: People › Time &amp; leave › Leave requests.
BEFORE YOU START: Know your dates and the leave type. Some types are not allowed during probation.
SEQUENCE: START Home → ACTION Request leave form → REVIEW Before → After preview → APPROVAL Manager decides → RESULT Status and balance
SAY: This is the most common thing employees do in PeopleOS. We will follow one real request from start to finish.
EVIDENCE: Executed on the training database on 21 Oct 2026 (tools/capture/10-leave-flow.mjs): Priya Nair (Employee) requested Casual leave 14–15 Dec 2026; Amit Verma (Manager) approved it; Amit rejected Rohan Pillai's request with a reason.
DEMO LIVE: Only on a practice tenant. In a shared environment do not submit real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Request leave is always the first button on an employee Home.
OBSERVE: The panel on the right says "Your next leave: Casual leave · 02 Nov → 03 Nov (pending)".
ASK: "Where else could you start?" (Answer: + New, or Ctrl K and type "leave".)
EVIDENCE: Executed on the training database on 21 Oct 2026 (tools/capture/10-leave-flow.mjs): Priya Nair (Employee) requested Casual leave 14–15 Dec 2026; Amit Verma (Manager) approved it; Amit rejected Rohan Pillai's request with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Fields with a red asterisk are required. The browser points to the first one that is missing.
OBSERVE: "Please select an item in the list." under Leave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Read the Before → After box before you submit. It shows how many working days the request uses and what will be left.
OBSERVE: 14–15 Dec 2026 = 2 working days; Casual leave available 5 → 3.
COMMON QUESTION: Half days use Start and End (Full day, First half, Second half).
EVIDENCE: Executed on the training database on 21 Oct 2026 (tools/capture/10-leave-flow.mjs): Priya Nair (Employee) requested Casual leave 14–15 Dec 2026; Amit Verma (Manager) approved it; Amit rejected Rohan Pillai's request with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If PeopleOS refuses a request, the message says why. The most common reason is a type you are not eligible for yet.
OBSERVE (real behaviour): Earned leave is listed with "17.5 available" during probation, but submitting it is refused. Tell learners this so they are not surprised.
EVIDENCE: Executed on the training database on 21 Oct 2026 (tools/capture/10-leave-flow.mjs): Priya Nair (Employee) requested Casual leave 14–15 Dec 2026; Amit Verma (Manager) approved it; Amit rejected Rohan Pillai's request with a reason.
SAY: Refused or accepted: read the message.
LEFT, Refused by your leave policy (the message): "Cannot apply. Earned leave is not available during probation." The list still offers Earned leave; the policy refuses it when you submit. Choose another type.
RIGHT, Accepted (the message): "Leave requested: 2.0 day(s)." The request now waits for your manager.
OBSERVE: point out what differs between the two screens.
EVIDENCE: left = employee/10-leave-03-policy-refusal [Priya Nair (Employee), Request leave (dialog) with policy message]; right = employee/10-leave-05-submitted [Priya Nair (Employee), Home (after submitting)].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Open People › Time &amp; leave › Leave requests. Each row shows type, dates, days, reason, status and who reviewed it.
AVOID: telling learners they will get an e-mail. E-mail and in-app notices depend on notification rules set by HR.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Your manager sees the same Before → After balance you saw, plus whether others in the team are away on those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After the decision, check Leave requests for the status and Balances for what is left. Pending days are already held back from Available.
EVIDENCE: Executed on the training database on 21 Oct 2026 (tools/capture/10-leave-flow.mjs): Priya Nair (Employee) requested Casual leave 14–15 Dec 2026; Amit Verma (Manager) approved it; Amit rejected Rohan Pillai's request with a reason.
SAY: See the decision and your new balance.
LEFT, Leave requests: approved: Status approved; Reviewed by Amit Verma.
RIGHT, Balances: Casual leave: Used 2.0, Pending 2.0 (another request), Available 3.0.
OBSERVE: point out what differs between the two screens.
EVIDENCE: left = employee/10-leave-13-status-approved [Priya Nair (Employee), Leave requests (own)]; right = employee/10-leave-14-balances [Priya Nair (Employee), Leave balances (own)].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If your balance looks wrong, open Transactions (heading "Leave ledger entries") before asking HR: it explains every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4, Attendance. Check in, and correct a day when a punch is missing.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Record your day from Home and fix it when a punch is missing or wrong.
WHO: Employees whose attendance is tracked. Corrections go to your manager.
WHERE: Home › Your day › Check in. Home › Start something › Fix my attendance. People › Time &amp; leave.
BEFORE YOU START: Your organisation decides whether web check-in is used; devices may record punches instead.
SEQUENCE: START Home › Your day → ACTION Check in / Fix → REVIEW Manager approves → PROCESS Day reprocessed → RESULT Attendance record
EVIDENCE: Executed on the training database on 21 Oct 2026 (tools/capture/20-attendance-flow.mjs): Priya checked in, corrected a missed punch for 20 Oct, Amit approved it, Kavya Menon (Tenant HR Admin) recorded a manual punch and processed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web check-in records a punch. Attendance records are built when the day is processed.
AVOID: checking in on behalf of someone else.
SAY: Check in from Home.
LEFT, Before: Your day panel: Your day says "Not checked in yet". Select Check in.
RIGHT, After: the message: "Checked in" with the time. The button changes to Check out.
OBSERVE: point out what differs between the two screens.
EVIDENCE: left = employee/20-att-01-your-day-check-in [Priya Nair (Employee), Home › Your day]; right = employee/20-att-02-checked-in [Priya Nair (Employee), Home › Your day (after Check in)].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OBSERVE: 20 Oct 2026, Missed punch, 09:05–18:10, "Badge not read at the gate in the evening".
KNOWN LIMIT: you cannot withdraw a correction after submitting (finding F42).
EVIDENCE: Executed on the training database on 21 Oct 2026 (tools/capture/20-attendance-flow.mjs): Priya checked in, corrected a missed punch for 20 Oct, Amit approved it, Kavya Menon (Tenant HR Admin) recorded a manual punch and processed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Submitted, then waiting.
LEFT, Confirmation: "Correction sent to your manager".
RIGHT, Regularisations: People › Time &amp; leave › Regularisations: the correction is pending.
OBSERVE: point out what differs between the two screens.
EVIDENCE: left = employee/20-att-04-correction-submitted [Priya Nair (Employee), Home (after submitting)]; right = employee/20-att-05-regularisation-pending [Priya Nair (Employee), Regularisations (own)].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EVIDENCE: Executed on the training database on 21 Oct 2026 (tools/capture/20-attendance-flow.mjs): Priya checked in, corrected a missed punch for 20 Oct, Amit approved it, Kavya Menon (Tenant HR Admin) recorded a manual punch and processed the day.
SAY: Exceptions such as late, missing punch or worked on holiday are calculated; HR sees them in the Exception centre.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5, Help from HR. Ask a question, read policies, follow announcements.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Services › My HR is where you start anything with HR.
ON SCREEN: Open Services (My HR).
WALK THROUGH: (1) Ask HR. (2) Tabs: requests, tasks, documents, policies, services, surveys…
LEARNERS SHOULD SEE: Ask HR, Give feedback, Your record; tabs Requests, Tasks, Documents, Policies, Services, Surveys…; Needs you
SCREEN: Services › My HR. Signed in as Priya Nair (Employee). 
EVIDENCE: screenshot screenshots/employee/30-self-35-my-hr.png,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Do not put bank numbers or ID numbers in the text: HR will ask through a secure route.
ON SCREEN: Choose a category, write a subject and description, set the priority.
WALK THROUGH: (1) Category. (2) Subject. (3) Description. (4) Priority. (5) Submit.
LEARNERS SHOULD SEE: Submit raises a numbered request with an SLA
SCREEN: My HR › Ask HR (dialog). Signed in as Priya Nair (Employee). 
EVIDENCE: screenshot screenshots/employee/30-self-36-ask-hr-form.png,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Your request gets a number.
LEFT, Submitted: Confirmation with the request number (here TKT-2026-00002).
RIGHT, My requests: Status Submitted and the date HR aims to answer by.
OBSERVE: point out what differs between the two screens.
EVIDENCE: left = employee/30-self-37-ask-hr-submitted [Priya Nair (Employee), My HR (after submitting)]; right = employee/30-self-38-my-requests [Priya Nair (Employee), You › My requests].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Status, target date and messages with HR in one place.
ON SCREEN: Open the request.
WALK THROUGH: (1) Your request.
LEARNERS SHOULD SEE: Status, SLA and the conversation with HR
SCREEN: My requests › request. Signed in as Priya Nair (Employee). 
EVIDENCE: screenshot screenshots/employee/30-self-39-request-detail.png,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HR articles; those you must acknowledge are marked.
ON SCREEN: Open the Knowledge base.
WALK THROUGH: (1) A published article.
LEARNERS SHOULD SEE: Published HR articles; those that need acknowledgement are marked
SCREEN: You › Knowledge base. Signed in as Priya Nair (Employee). 
EVIDENCE: screenshot screenshots/employee/30-self-40-knowledge-base.png,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Acknowledge a policy.
LEFT, Leave policy: "I have read and understood" records your acknowledgement of this version.
RIGHT, Acknowledged: Confirmation; the policy leaves "Policies to acknowledge".
OBSERVE: point out what differs between the two screens.
EVIDENCE: left = employee/30-self-41-policy-acknowledge [Priya Nair (Employee), Knowledge base › Leave policy]; right = employee/30-self-42-policy-acknowledged [Priya Nair (Employee), Knowledge base › Leave policy (acknowledged)].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Announcements.
LEFT, Announcements: Some ask you to acknowledge them.
RIGHT, Acknowledged: Confirmation; the announcement shows it is acknowledged.
OBSERVE: point out what differs between the two screens.
EVIDENCE: left = employee/30-self-46-announcements [Priya Nair (Employee), Communication › Announcements]; right = employee/30-self-47-announcement-acknowledged [Priya Nair (Employee), Communication › Announcements (acknowledged)].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KNOWN DEFECT F17: on MySQL, the notification to HR fails and the employee sees "Not allowed" with a technical database message. The feedback itself is stored in the HR Feedback inbox.
AVOID: asking employees to resubmit; it creates duplicates.
SAY: Give feedback: a known problem.
LEFT, Give feedback: Mode, category and your feedback.
RIGHT, After Submit: An error appears, but your feedback is saved. HR is not notified automatically (F17): tell HR if it is urgent.
OBSERVE: point out what differs between the two screens.
EVIDENCE: left = employee/30-self-44-give-feedback-form [Priya Nair (Employee), My HR › Give feedback (dialog)]; right = employee/30-self-45-give-feedback-error [Priya Nair (Employee), My HR › Give feedback (after Submit)].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Surveys open to you appear here (none were open in the training data).
ON SCREEN: Open the Surveys tab.
WALK THROUGH: (1) Surveys tab.
LEARNERS SHOULD SEE: Surveys open to you (none open in the demonstration)
SCREEN: My HR › Surveys. Signed in as Priya Nair (Employee). 
EVIDENCE: screenshot screenshots/employee/30-self-43-surveys.png,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6, Pay and tax. What you can see today, and what is not available yet.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"No payslips yet". Payslips appear only after a payroll run is finalised, and that is blocked until statutory rules are verified.
ON SCREEN: Open Payslips.
WALK THROUGH: (1) Empty state.
LEARNERS SHOULD SEE: "No payslips yet": payslips are generated only when a payroll run is finalised, and finalisation is blocked until the statutory rules are verified
SCREEN: People › Pay › Payslips. Signed in as Priya Nair (Employee). Prerequisite: A finalised payroll run (blocked: 0 of 24 statutory rules verified).
EVIDENCE: screenshot screenshots/employee/30-self-20-payslips-none.png,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Tax declaration.
LEFT, New declaration: Financial year, tax regime and declared amounts; Create.
RIGHT, Saved as Draft: It stays Draft: there is no Submit for employees yet (F13). Tell payroll when it is complete.
OBSERVE: point out what differs between the two screens.
EVIDENCE: left = employee/30-self-21-tax-declaration-form [Priya Nair (Employee), Tax declarations › New employee tax declaration]; right = employee/30-self-22-tax-declaration-saved [Priya Nair (Employee), Tax declarations (own)].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Read only (figures are fictional). Every view is recorded.
ON SCREEN: Avatar menu › My compensation.
WALK THROUGH: (1) Pay in force today. (2) History of approved changes.
LEARNERS SHOULD SEE: Pay in force today and the history of approved changes (fictional figures); viewing is audited
SCREEN: You › My compensation. Signed in as Priya Nair (Employee). 
EVIDENCE: screenshot screenshots/employee/30-self-23-my-compensation.png,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7, Goals, reviews, career and learning. Keep your goals current, complete your review, grow your skills.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Weight, progress and the goal each one supports.
ON SCREEN: Open Goals.
WALK THROUGH: (1) A goal linked to a team goal. (2) Check in.
LEARNERS SHOULD SEE: Your goals with weight, progress and the parent goal they support; Check in on each goal
SCREEN: People › Growth › Goals. Signed in as Priya Nair (Employee). 
EVIDENCE: screenshot screenshots/employee/30-self-24-goals.png,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Progress is recalculated from the key result (here 40 → 80 target; 68 = 70%).
ON SCREEN: Choose the key result, enter its current value, your confidence and a note.
WALK THROUGH: (1) Key result. (2) Current value. (3) Confidence. (4) Note.
LEARNERS SHOULD SEE: Submit records the check-in and recalculates progress from the key result (40 → 80; 68 = 70 %)
SCREEN: Goals › Check in (dialog). Signed in as Priya Nair (Employee). 
EVIDENCE: screenshot screenshots/employee/30-self-25-goal-check-in.png,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"Progress updated": 55% → 70%. Tip: check in on the key result; a check-in on the goal itself does not change progress when it has key results.
ON SCREEN: Submit.
WALK THROUGH: (1) Confirmation. (2) New progress.
LEARNERS SHOULD SEE: Confirmation; the goal shows the new progress
SCREEN: People › Growth › Goals (after check-in). Signed in as Priya Nair (Employee). 
EVIDENCE: screenshot screenshots/employee/30-self-26-goal-updated.png,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Complete your self review before the stage closes.
ON SCREEN: Open your appraisal for FY 2026-27.
WALK THROUGH: (1) Cycle stage: Self review. (2) Self review.
LEARNERS SHOULD SEE: Cycle stage Self review; reviews pending; Self review button
SCREEN: People › Growth › Appraisals › View. Signed in as Priya Nair (Employee). 
EVIDENCE: screenshot screenshots/employee/30-self-27-appraisal.png,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Then your manager reviews.
ON SCREEN: Rate each goal and competency, choose an overall rating, add strengths and improvements.
WALK THROUGH: (1) Overall rating. (2) Submit.
LEARNERS SHOULD SEE: Submit sends the self review; the manager review follows
SCREEN: Appraisal › Self review (dialog). Signed in as Priya Nair (Employee). 
EVIDENCE: screenshot screenshots/employee/30-self-28-self-review-form.png,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You see your own review; your manager's review is not shown to you here.
ON SCREEN: Submit the self review (confirmation "Review submitted"), then open the appraisal again.
WALK THROUGH: (1) Self: submitted, overall 4.00.
LEARNERS SHOULD SEE: Reviews: Self — submitted, overall 4.00, with the submission time. The employee sees only their own review row (the manager review is not listed for the employee)
SCREEN: Appraisal (after the self review). Signed in as Priya Nair (Employee). 
EVIDENCE: screenshot screenshots/employee/30-self-29-self-review-submitted.png,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Your career.
LEFT, Career passport: Skills, certifications, performance history, aspirations and next step.
RIGHT, My career: Choose what to share, record aspirations and mobility interest.
OBSERVE: point out what differs between the two screens.
EVIDENCE: left = employee/30-self-30-career-passport [Priya Nair (Employee), People › Growth › Career passport]; right = employee/30-self-31-my-career [Priya Nair (Employee), You › My career].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Assigned learning, certificates, skills and development plans.
ON SCREEN: Avatar menu › My learning.
WALK THROUGH: (1) An assigned course. (2) Request learning.
LEARNERS SHOULD SEE: Assigned learning, certificates, skills, assessments and development plans; Request learning
SCREEN: You › My learning. Signed in as Priya Nair (Employee). 
EVIDENCE: screenshot screenshots/employee/30-self-32-my-learning.png,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Start a course.
LEFT, Enrolment: Status Assigned, due date and modules; Start.
RIGHT, Started: "Started": In progress; mark modules complete as you go.
OBSERVE: point out what differs between the two screens.
EVIDENCE: left = employee/30-self-33-enrolment [Priya Nair (Employee), My learning › enrolment]; right = employee/30-self-34-enrolment-started [Priya Nair (Employee), My learning › enrolment (started)].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8, Your account. Security, preferences, devices and limits.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Never share your password or authenticator codes, not even with HR or support.
SAY: Account security and preferences.
LEFT, Account security: Change your password; set up an authenticator app (2FA).
RIGHT, Preferences: Density, pinned people, Home and notification preferences.
OBSERVE: point out what differs between the two screens.
EVIDENCE: left = employee/30-self-48-account-security [Priya Nair (Employee), Avatar menu › Account security]; right = employee/30-self-49-preferences [Priya Nair (Employee), Avatar menu › Preferences].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Phone and dark mode.
LEFT, Phone: The same Home with a bottom bar. Use your phone's browser (there is no app).
RIGHT, Dark theme: Avatar menu › theme: light, dark or system.
OBSERVE: point out what differs between the two screens.
EVIDENCE: left = employee/30-self-50-phone-home [Priya Nair (Employee), Home on a phone (390 × 844)]; right = employee/30-self-51-dark-home [Priya Nair (Employee), Home (dark theme)].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"This page is not available to you" means the page is for another role, not that something is broken.
ON SCREEN: Open an HR-only address directly.
WALK THROUGH: (1) Not available. (2) Go to Home.
LEARNERS SHOULD SEE: HTTP 403: "This page is not available to you", with Go to Home and Go back
SCREEN: People › Lifecycle › Employees (HR register) as an employee. Signed in as Priya Nair (Employee). 
EVIDENCE: screenshot screenshots/employee/30-self-52-restricted-page.png,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AVOID: submitting this in a shared training tenant. In the capture the form was cancelled.
SAY: If you resign.
LEFT, My exit: You › My exit shows any exit case and Resign.
RIGHT, Resign (shown, then cancelled): Reason and requested last day, then Confirm. HR takes it from there.
OBSERVE: point out what differs between the two screens.
EVIDENCE: left = employee/30-self-53-my-exit [Priya Nair (Employee), You › My exit]; right = employee/30-self-54-resign-form [Priya Nair (Employee), My exit › Resign (dialog)].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Common mistakes and how to avoid them.
- Leave type not allowed: Some types are refused during probation even if a balance shows. Read the message and pick another type.
- Editing a submitted request: You cannot edit it. Cancel while it is pending and submit a new one.
- Waiting for an e-mail: Check My work and Leave requests instead; e-mails depend on your organisation's settings.
- Personal data in messages: Never type bank or ID numbers into Ask HR or feedback.
- Wrong details on your record: Use Ask HR; you cannot edit your record yourself.
- A page says not available: It belongs to another role. Ask your manager or HR if you think you need it.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RUN: give learners about 10 minutes in a practice tenant (never a live one). Walk around and help.
SUCCESS: each learner can show the result on screen.
ANSWER KEY: (1) People › Time &amp; leave › Balances, Casual leave row: Pending and Available. (2) Home › Request leave; then Leave requests › Cancel on the pending row. (3) Services › My HR › Ask HR; number shown in the confirmation and in My requests. (4) People › Growth › Goals › Check in on the key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Answer key. 
- 1 | People › Time &amp; leave › Balances: the Casual leave row shows Pending and Available.
- 2 | Home › Request leave › Casual leave, one day, reason, Submit request. Then Leave requests › Cancel on that row.
- 3 | Services › My HR › Ask HR: category, subject, description, Submit. The number appears in the confirmation and in My requests.
- 4 | People › Growth › Goals › Check in: choose the key result, enter the current value and confidence. Progress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Recap the key points:
- Home and My work show what needs you, with the reason.
- Request leave and fix attendance from Home; your manager decides.
- Ask HR from My HR; follow the request number.
- Payslips appear once payroll is live; tax declarations stay Draft for now.
- Keep goals current and finish your self review on time.
POINT TO: Your HR team: My HR › Ask HR; Your manager, for approvals; Ask PeopleOS (sidebar): explains with sources, never decides; Your organisation's support contacts (shared at go-live)
ASK: "What will you do first in PeopleOS?" Collect questions you cannot answer and send them to the PeopleOS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5"/>
                </a:solidFill>
              </a:rPr>
              <a:t>Markedge PeopleOS training  ·  Employee training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DARK">
    <p:bg>
      <p:bgPr>
        <a:solidFill>
          <a:srgbClr val="14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3C7"/>
                </a:solidFill>
              </a:rPr>
              <a:t>Markedge PeopleOS training  ·  Employee training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image" Target="../media/image-4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image" Target="../media/image-4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image" Target="../media/image-5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image" Target="../media/image-5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image" Target="../media/image-6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image" Target="../media/image-6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image" Target="../media/image-6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98F"/>
                </a:solidFill>
              </a:rPr>
              <a:t>MARKEDGE PEOPLEOS  ·  TRAINING LIBRARY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</a:rPr>
              <a:t>Deck 01 of 12</a:t>
            </a:r>
            <a:endParaRPr lang="en-US" sz="12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User Training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94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PeopleOS for your own work: find your way, ask for leave, fix attendance, get help from HR, and follow your goals and learning.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463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Every employee with a PeopleOS account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running application (local, disposable database, fictional people) · 21 October 2026</a:t>
            </a:r>
            <a:endParaRPr lang="en-US" sz="1200" dirty="0"/>
          </a:p>
        </p:txBody>
      </p:sp>
      <p:pic>
        <p:nvPicPr>
          <p:cNvPr id="8" name="Screenshot employee/30-self-04-home" descr="Screenshot: Home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320290"/>
            <a:ext cx="3840480" cy="2400300"/>
          </a:xfrm>
          <a:prstGeom prst="rect">
            <a:avLst/>
          </a:prstGeom>
        </p:spPr>
      </p:pic>
      <p:sp>
        <p:nvSpPr>
          <p:cNvPr id="9" name="Screenshot frame"/>
          <p:cNvSpPr/>
          <p:nvPr/>
        </p:nvSpPr>
        <p:spPr>
          <a:xfrm>
            <a:off x="7818120" y="2320290"/>
            <a:ext cx="3840480" cy="24003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18120" y="5943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3C7"/>
                </a:solidFill>
              </a:rPr>
              <a:t>Real screen, fictional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BEFORE YOU START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deck</a:t>
            </a:r>
            <a:endParaRPr lang="en-US" sz="2800" dirty="0"/>
          </a:p>
        </p:txBody>
      </p:sp>
      <p:sp>
        <p:nvSpPr>
          <p:cNvPr id="5" name="Status"/>
          <p:cNvSpPr txBox="1"/>
          <p:nvPr/>
        </p:nvSpPr>
        <p:spPr>
          <a:xfrm>
            <a:off x="548640" y="146304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26280" y="14447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it on the training database and captured each step.</a:t>
            </a:r>
            <a:endParaRPr lang="en-US" sz="1200" dirty="0"/>
          </a:p>
        </p:txBody>
      </p:sp>
      <p:sp>
        <p:nvSpPr>
          <p:cNvPr id="7" name="Status"/>
          <p:cNvSpPr txBox="1"/>
          <p:nvPr/>
        </p:nvSpPr>
        <p:spPr>
          <a:xfrm>
            <a:off x="548640" y="2084832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3594"/>
                </a:solidFill>
              </a:rPr>
              <a:t>Implemented · not verified end to end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206654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exists; the last steps need data or a second party we could not provide.</a:t>
            </a:r>
            <a:endParaRPr lang="en-US" sz="1200" dirty="0"/>
          </a:p>
        </p:txBody>
      </p:sp>
      <p:sp>
        <p:nvSpPr>
          <p:cNvPr id="9" name="Status"/>
          <p:cNvSpPr txBox="1"/>
          <p:nvPr/>
        </p:nvSpPr>
        <p:spPr>
          <a:xfrm>
            <a:off x="548640" y="2706624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B3"/>
                </a:solidFill>
              </a:rPr>
              <a:t>Available only after configuration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68833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once an administrator or Markedge has set it up.</a:t>
            </a:r>
            <a:endParaRPr lang="en-US" sz="1200" dirty="0"/>
          </a:p>
        </p:txBody>
      </p:sp>
      <p:sp>
        <p:nvSpPr>
          <p:cNvPr id="11" name="Status"/>
          <p:cNvSpPr txBox="1"/>
          <p:nvPr/>
        </p:nvSpPr>
        <p:spPr>
          <a:xfrm>
            <a:off x="548640" y="3328416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</a:rPr>
              <a:t>Disabled by safety or commercial gates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331012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off on purpose until owner decisions and approvals arrive.</a:t>
            </a:r>
            <a:endParaRPr lang="en-US" sz="1200" dirty="0"/>
          </a:p>
        </p:txBody>
      </p:sp>
      <p:sp>
        <p:nvSpPr>
          <p:cNvPr id="13" name="Status"/>
          <p:cNvSpPr txBox="1"/>
          <p:nvPr/>
        </p:nvSpPr>
        <p:spPr>
          <a:xfrm>
            <a:off x="548640" y="3950208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Incomplete · known defect or gap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393192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working: a known defect or gap is stated on the slide.</a:t>
            </a:r>
            <a:endParaRPr lang="en-US" sz="1200" dirty="0"/>
          </a:p>
        </p:txBody>
      </p:sp>
      <p:sp>
        <p:nvSpPr>
          <p:cNvPr id="15" name="Status"/>
          <p:cNvSpPr txBox="1"/>
          <p:nvPr/>
        </p:nvSpPr>
        <p:spPr>
          <a:xfrm>
            <a:off x="548640" y="457200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Not implemented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4553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product today.</a:t>
            </a:r>
            <a:endParaRPr lang="en-US" sz="1200" dirty="0"/>
          </a:p>
        </p:txBody>
      </p:sp>
      <p:sp>
        <p:nvSpPr>
          <p:cNvPr id="17" name="Status"/>
          <p:cNvSpPr txBox="1"/>
          <p:nvPr/>
        </p:nvSpPr>
        <p:spPr>
          <a:xfrm>
            <a:off x="548640" y="5193792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Unable to verify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517550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be checked in this environment.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1463040"/>
            <a:ext cx="3824935" cy="4206240"/>
          </a:xfrm>
          <a:prstGeom prst="roundRect">
            <a:avLst>
              <a:gd name="adj" fmla="val 2869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0" name="Callout 1"/>
          <p:cNvSpPr txBox="1"/>
          <p:nvPr/>
        </p:nvSpPr>
        <p:spPr>
          <a:xfrm>
            <a:off x="8092440" y="1691640"/>
            <a:ext cx="329184" cy="329184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1673352"/>
            <a:ext cx="2910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markers on a screenshot match the numbered steps beside it.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251460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is a real capture of PeopleOS. The people and companies in it are fictional.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092440" y="338328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are marked "Conceptual diagram". They explain ideas; they are not screens.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92440" y="4251960"/>
            <a:ext cx="3276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gate: NO-GO (10 of 14 gates blocked, re-verified 13 Oct 2026). Not yet generally available.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BEFORE YOU START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PeopleOS stands today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training uses the real application on a practice database with invented people. PeopleOS is not yet generally available.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029968"/>
            <a:ext cx="3545738" cy="4233672"/>
          </a:xfrm>
          <a:prstGeom prst="roundRect">
            <a:avLst>
              <a:gd name="adj" fmla="val 2579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76272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today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51760"/>
            <a:ext cx="3088538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 in this deck were run end to end on the practice database: you will see exactly what you will use.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22978" y="2029968"/>
            <a:ext cx="3545738" cy="4233672"/>
          </a:xfrm>
          <a:prstGeom prst="roundRect">
            <a:avLst>
              <a:gd name="adj" fmla="val 2579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51578" y="2176272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is not live yet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51578" y="2651760"/>
            <a:ext cx="3088538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Payslips appear only after a payroll run is finalised. Finalising is blocked until statutory rules are verified (0 of 24 today).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97317" y="2029968"/>
            <a:ext cx="3545738" cy="4233672"/>
          </a:xfrm>
          <a:prstGeom prst="roundRect">
            <a:avLst>
              <a:gd name="adj" fmla="val 2579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5917" y="2176272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 are named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325917" y="2651760"/>
            <a:ext cx="3088538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something does not work as it should, the slide says so and shows the workaround.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LEARNING OBJECTIVES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Callout 1"/>
          <p:cNvSpPr txBox="1"/>
          <p:nvPr/>
        </p:nvSpPr>
        <p:spPr>
          <a:xfrm>
            <a:off x="731520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Sign in and find your way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Home, menus, search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Callout 2"/>
          <p:cNvSpPr txBox="1"/>
          <p:nvPr/>
        </p:nvSpPr>
        <p:spPr>
          <a:xfrm>
            <a:off x="731520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Look after your own record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details, documents, letters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712464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Callout 3"/>
          <p:cNvSpPr txBox="1"/>
          <p:nvPr/>
        </p:nvSpPr>
        <p:spPr>
          <a:xfrm>
            <a:off x="731520" y="4000500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785616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Ask for leave and fix attendance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and see your manager's answer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33008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Callout 4"/>
          <p:cNvSpPr txBox="1"/>
          <p:nvPr/>
        </p:nvSpPr>
        <p:spPr>
          <a:xfrm>
            <a:off x="6415888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964528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Get help from HR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requests, policies, announcements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33008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8" name="Callout 5"/>
          <p:cNvSpPr txBox="1"/>
          <p:nvPr/>
        </p:nvSpPr>
        <p:spPr>
          <a:xfrm>
            <a:off x="6415888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964528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See pay and tax information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what is available today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233008" y="3712464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Callout 6"/>
          <p:cNvSpPr txBox="1"/>
          <p:nvPr/>
        </p:nvSpPr>
        <p:spPr>
          <a:xfrm>
            <a:off x="6415888" y="4000500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964528" y="3785616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Follow your goals and learning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check-ins, reviews, courses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in, read your Home, and find anything in a few keystrokes.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GETTING STARTED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Sign-in page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01-sign-in" descr="Screenshot: Sign in (/admin/login) (Signed out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085" y="1755648"/>
            <a:ext cx="3801438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1330085" y="1755648"/>
            <a:ext cx="38014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e-mail and password, then Sign in. Forgot password? sends a reset link.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Signed out (Visitor) · Sign in (/admin/login)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If it does not work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30-self-02-sign-in-failed" descr="Screenshot: Sign in (failed attempt) (Signed out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870" y="1755648"/>
            <a:ext cx="3612043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7154870" y="1755648"/>
            <a:ext cx="3612043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"These credentials do not match our records." Check your password or use Forgot password?. If it still fails, ask HR.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Signed out (Visitor) · Sign in (failed attempt)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GETTING STARTED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visit</a:t>
            </a:r>
            <a:endParaRPr lang="en-US" sz="2800" dirty="0"/>
          </a:p>
        </p:txBody>
      </p:sp>
      <p:pic>
        <p:nvPicPr>
          <p:cNvPr id="5" name="Screenshot employee/30-self-03-first-home-welcome" descr="Screenshot: Home (first visit) (Rahul Sha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454554" y="2892755"/>
            <a:ext cx="4727854" cy="157954"/>
          </a:xfrm>
          <a:prstGeom prst="roundRect">
            <a:avLst>
              <a:gd name="adj" fmla="val 2894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7720889" y="2964553"/>
            <a:ext cx="355397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3251505" y="1463988"/>
            <a:ext cx="2843174" cy="247701"/>
          </a:xfrm>
          <a:prstGeom prst="roundRect">
            <a:avLst>
              <a:gd name="adj" fmla="val 18458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4"/>
          <p:cNvSpPr/>
          <p:nvPr/>
        </p:nvSpPr>
        <p:spPr>
          <a:xfrm>
            <a:off x="6568542" y="2418893"/>
            <a:ext cx="700024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1"/>
          <p:cNvSpPr txBox="1"/>
          <p:nvPr/>
        </p:nvSpPr>
        <p:spPr>
          <a:xfrm>
            <a:off x="2143658" y="284371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Callout 2"/>
          <p:cNvSpPr txBox="1"/>
          <p:nvPr/>
        </p:nvSpPr>
        <p:spPr>
          <a:xfrm>
            <a:off x="7592873" y="267194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Callout 3"/>
          <p:cNvSpPr txBox="1"/>
          <p:nvPr/>
        </p:nvSpPr>
        <p:spPr>
          <a:xfrm>
            <a:off x="2940609" y="145982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4"/>
          <p:cNvSpPr txBox="1"/>
          <p:nvPr/>
        </p:nvSpPr>
        <p:spPr>
          <a:xfrm>
            <a:off x="6440526" y="212628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6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short welcome note.</a:t>
            </a:r>
            <a:endParaRPr lang="en-US" sz="1400" dirty="0"/>
          </a:p>
        </p:txBody>
      </p:sp>
      <p:sp>
        <p:nvSpPr>
          <p:cNvPr id="18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Got it hides the note.</a:t>
            </a:r>
            <a:endParaRPr lang="en-US" sz="1400" dirty="0"/>
          </a:p>
        </p:txBody>
      </p:sp>
      <p:sp>
        <p:nvSpPr>
          <p:cNvPr id="20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 anything (Ctrl K).</a:t>
            </a:r>
            <a:endParaRPr lang="en-US" sz="1400" dirty="0"/>
          </a:p>
        </p:txBody>
      </p:sp>
      <p:sp>
        <p:nvSpPr>
          <p:cNvPr id="22" name="Callout 4"/>
          <p:cNvSpPr txBox="1"/>
          <p:nvPr/>
        </p:nvSpPr>
        <p:spPr>
          <a:xfrm>
            <a:off x="8595360" y="299008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297180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 leave.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595360" y="342900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732520" y="352044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PeopleOS puts your work on Home, each item with the reason it is there.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Rahul Sharma (Employee) · Home (first visit)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GETTING STARTED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your Home</a:t>
            </a:r>
            <a:endParaRPr lang="en-US" sz="2800" dirty="0"/>
          </a:p>
        </p:txBody>
      </p:sp>
      <p:pic>
        <p:nvPicPr>
          <p:cNvPr id="5" name="Screenshot employee/30-self-04-home" descr="Screenshot: Home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2785059"/>
            <a:ext cx="430784" cy="129235"/>
          </a:xfrm>
          <a:prstGeom prst="roundRect">
            <a:avLst>
              <a:gd name="adj" fmla="val 3537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109927" y="3783042"/>
            <a:ext cx="753872" cy="129235"/>
          </a:xfrm>
          <a:prstGeom prst="roundRect">
            <a:avLst>
              <a:gd name="adj" fmla="val 3537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6482385" y="2899935"/>
            <a:ext cx="753872" cy="140005"/>
          </a:xfrm>
          <a:prstGeom prst="roundRect">
            <a:avLst>
              <a:gd name="adj" fmla="val 3265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4"/>
          <p:cNvSpPr/>
          <p:nvPr/>
        </p:nvSpPr>
        <p:spPr>
          <a:xfrm>
            <a:off x="7268566" y="2418893"/>
            <a:ext cx="915416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1"/>
          <p:cNvSpPr txBox="1"/>
          <p:nvPr/>
        </p:nvSpPr>
        <p:spPr>
          <a:xfrm>
            <a:off x="1981911" y="249245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Callout 2"/>
          <p:cNvSpPr txBox="1"/>
          <p:nvPr/>
        </p:nvSpPr>
        <p:spPr>
          <a:xfrm>
            <a:off x="1799031" y="371964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Callout 3"/>
          <p:cNvSpPr txBox="1"/>
          <p:nvPr/>
        </p:nvSpPr>
        <p:spPr>
          <a:xfrm>
            <a:off x="6171489" y="284192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4"/>
          <p:cNvSpPr txBox="1"/>
          <p:nvPr/>
        </p:nvSpPr>
        <p:spPr>
          <a:xfrm>
            <a:off x="7140550" y="212628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6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1874520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you: things about you, such as probation or an expiring passport.</a:t>
            </a:r>
            <a:endParaRPr lang="en-US" sz="1400" dirty="0"/>
          </a:p>
        </p:txBody>
      </p:sp>
      <p:sp>
        <p:nvSpPr>
          <p:cNvPr id="18" name="Callout 2"/>
          <p:cNvSpPr txBox="1"/>
          <p:nvPr/>
        </p:nvSpPr>
        <p:spPr>
          <a:xfrm>
            <a:off x="8595360" y="2653284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634996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Need attention: reminders such as missing bank details.</a:t>
            </a:r>
            <a:endParaRPr lang="en-US" sz="1400" dirty="0"/>
          </a:p>
        </p:txBody>
      </p:sp>
      <p:sp>
        <p:nvSpPr>
          <p:cNvPr id="20" name="Callout 3"/>
          <p:cNvSpPr txBox="1"/>
          <p:nvPr/>
        </p:nvSpPr>
        <p:spPr>
          <a:xfrm>
            <a:off x="8595360" y="3413760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3395472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PeopleOS Intelligence: short facts with their source.</a:t>
            </a:r>
            <a:endParaRPr lang="en-US" sz="1400" dirty="0"/>
          </a:p>
        </p:txBody>
      </p:sp>
      <p:sp>
        <p:nvSpPr>
          <p:cNvPr id="22" name="Callout 4"/>
          <p:cNvSpPr txBox="1"/>
          <p:nvPr/>
        </p:nvSpPr>
        <p:spPr>
          <a:xfrm>
            <a:off x="8595360" y="4174236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4155948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something: common requests.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595360" y="4790948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732520" y="4882388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Not now hides a reminder for a while; Open takes you to the place to act.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Home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GETTING STARTED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down Home</a:t>
            </a:r>
            <a:endParaRPr lang="en-US" sz="2800" dirty="0"/>
          </a:p>
        </p:txBody>
      </p:sp>
      <p:pic>
        <p:nvPicPr>
          <p:cNvPr id="5" name="Screenshot employee/30-self-05-home-full" descr="Screenshot: Home (whole page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627" y="1417320"/>
            <a:ext cx="510214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6627" y="1417320"/>
            <a:ext cx="510214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024479" y="4380876"/>
            <a:ext cx="313315" cy="103480"/>
          </a:xfrm>
          <a:prstGeom prst="roundRect">
            <a:avLst>
              <a:gd name="adj" fmla="val 44182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024479" y="5323695"/>
            <a:ext cx="508777" cy="103480"/>
          </a:xfrm>
          <a:prstGeom prst="roundRect">
            <a:avLst>
              <a:gd name="adj" fmla="val 44182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5335844" y="4538971"/>
            <a:ext cx="554769" cy="103480"/>
          </a:xfrm>
          <a:prstGeom prst="roundRect">
            <a:avLst>
              <a:gd name="adj" fmla="val 44182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4"/>
          <p:cNvSpPr/>
          <p:nvPr/>
        </p:nvSpPr>
        <p:spPr>
          <a:xfrm>
            <a:off x="6155062" y="2219291"/>
            <a:ext cx="732984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1"/>
          <p:cNvSpPr txBox="1"/>
          <p:nvPr/>
        </p:nvSpPr>
        <p:spPr>
          <a:xfrm>
            <a:off x="1896463" y="408826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Callout 2"/>
          <p:cNvSpPr txBox="1"/>
          <p:nvPr/>
        </p:nvSpPr>
        <p:spPr>
          <a:xfrm>
            <a:off x="1713583" y="524741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Callout 3"/>
          <p:cNvSpPr txBox="1"/>
          <p:nvPr/>
        </p:nvSpPr>
        <p:spPr>
          <a:xfrm>
            <a:off x="5024948" y="446269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4"/>
          <p:cNvSpPr txBox="1"/>
          <p:nvPr/>
        </p:nvSpPr>
        <p:spPr>
          <a:xfrm>
            <a:off x="6027046" y="192668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6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day: check in and out.</a:t>
            </a:r>
            <a:endParaRPr lang="en-US" sz="1400" dirty="0"/>
          </a:p>
        </p:txBody>
      </p:sp>
      <p:sp>
        <p:nvSpPr>
          <p:cNvPr id="18" name="Callout 2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41808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My requests and their status.</a:t>
            </a:r>
            <a:endParaRPr lang="en-US" sz="1400" dirty="0"/>
          </a:p>
        </p:txBody>
      </p:sp>
      <p:sp>
        <p:nvSpPr>
          <p:cNvPr id="20" name="Callout 3"/>
          <p:cNvSpPr txBox="1"/>
          <p:nvPr/>
        </p:nvSpPr>
        <p:spPr>
          <a:xfrm>
            <a:off x="8595360" y="29799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296164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momentum: from joining to confirmation.</a:t>
            </a:r>
            <a:endParaRPr lang="en-US" sz="1400" dirty="0"/>
          </a:p>
        </p:txBody>
      </p:sp>
      <p:sp>
        <p:nvSpPr>
          <p:cNvPr id="22" name="Callout 4"/>
          <p:cNvSpPr txBox="1"/>
          <p:nvPr/>
        </p:nvSpPr>
        <p:spPr>
          <a:xfrm>
            <a:off x="8595360" y="352348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350520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something.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595360" y="396240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732520" y="405384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Scroll for your day, your requests, what changed and your people.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Priya Nair (Employee) · Home (whole page)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GETTING STARTED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Menus</a:t>
            </a:r>
            <a:endParaRPr lang="en-US" sz="2800" dirty="0"/>
          </a:p>
        </p:txBody>
      </p:sp>
      <p:pic>
        <p:nvPicPr>
          <p:cNvPr id="5" name="Screenshot employee/30-self-06-navigation" descr="Screenshot: People › Growth › Goals (navigation shell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817575" y="2469151"/>
            <a:ext cx="1019522" cy="150774"/>
          </a:xfrm>
          <a:prstGeom prst="roundRect">
            <a:avLst>
              <a:gd name="adj" fmla="val 3032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817575" y="2914294"/>
            <a:ext cx="1019522" cy="150774"/>
          </a:xfrm>
          <a:prstGeom prst="roundRect">
            <a:avLst>
              <a:gd name="adj" fmla="val 3032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2142236" y="1848104"/>
            <a:ext cx="667715" cy="157954"/>
          </a:xfrm>
          <a:prstGeom prst="roundRect">
            <a:avLst>
              <a:gd name="adj" fmla="val 2894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4"/>
          <p:cNvSpPr/>
          <p:nvPr/>
        </p:nvSpPr>
        <p:spPr>
          <a:xfrm>
            <a:off x="7264976" y="1819385"/>
            <a:ext cx="890287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1"/>
          <p:cNvSpPr txBox="1"/>
          <p:nvPr/>
        </p:nvSpPr>
        <p:spPr>
          <a:xfrm>
            <a:off x="1306745" y="241652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Callout 2"/>
          <p:cNvSpPr txBox="1"/>
          <p:nvPr/>
        </p:nvSpPr>
        <p:spPr>
          <a:xfrm>
            <a:off x="1306745" y="286166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Callout 3"/>
          <p:cNvSpPr txBox="1"/>
          <p:nvPr/>
        </p:nvSpPr>
        <p:spPr>
          <a:xfrm>
            <a:off x="1831340" y="179906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4"/>
          <p:cNvSpPr txBox="1"/>
          <p:nvPr/>
        </p:nvSpPr>
        <p:spPr>
          <a:xfrm>
            <a:off x="6954080" y="179906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6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Sidebar sections.</a:t>
            </a:r>
            <a:endParaRPr lang="en-US" sz="1400" dirty="0"/>
          </a:p>
        </p:txBody>
      </p:sp>
      <p:sp>
        <p:nvSpPr>
          <p:cNvPr id="18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area you are in.</a:t>
            </a:r>
            <a:endParaRPr lang="en-US" sz="1400" dirty="0"/>
          </a:p>
        </p:txBody>
      </p:sp>
      <p:sp>
        <p:nvSpPr>
          <p:cNvPr id="20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260604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Area bar: pages in this area.</a:t>
            </a:r>
            <a:endParaRPr lang="en-US" sz="1400" dirty="0"/>
          </a:p>
        </p:txBody>
      </p:sp>
      <p:sp>
        <p:nvSpPr>
          <p:cNvPr id="22" name="Callout 4"/>
          <p:cNvSpPr txBox="1"/>
          <p:nvPr/>
        </p:nvSpPr>
        <p:spPr>
          <a:xfrm>
            <a:off x="8595360" y="316788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314960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"All in …" lists everything in the area.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595360" y="378460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732520" y="387604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You only see menus your role allows.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People › Growth › Goals (navigation shell)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GETTING STARTED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Search: Ctrl K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Find a person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07-search-person" descr="Screenshot: Command center (Ctrl K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name: Preview or see them in the org map.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Command center (Ctrl K)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Find a page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30-self-08-search-payslip" descr="Screenshot: Command center (Ctrl K)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"payslip": pages and actions you are allowed to open.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Command center (Ctrl K)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GETTING STARTED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something and My day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+ New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09-quick-launch" descr="Screenshot: + New (Start something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can start: leave, attendance correction, HR request…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+ New (Start something)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 day (avatar menu)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30-self-10-my-day" descr="Screenshot: My day (avatar menu › My day)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leave, Regularise attendance, Ask HR; today's attendance and balances.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My day (avatar menu › My day)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GETTING STARTED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work: everything waiting</a:t>
            </a:r>
            <a:endParaRPr lang="en-US" sz="2800" dirty="0"/>
          </a:p>
        </p:txBody>
      </p:sp>
      <p:pic>
        <p:nvPicPr>
          <p:cNvPr id="5" name="Screenshot employee/30-self-11-my-work" descr="Screenshot: My work › Inbox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2436842"/>
            <a:ext cx="502581" cy="193853"/>
          </a:xfrm>
          <a:prstGeom prst="roundRect">
            <a:avLst>
              <a:gd name="adj" fmla="val 2358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4048455" y="2436842"/>
            <a:ext cx="872338" cy="193853"/>
          </a:xfrm>
          <a:prstGeom prst="roundRect">
            <a:avLst>
              <a:gd name="adj" fmla="val 2358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1981911" y="214423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3737559" y="240575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Filters: Everything, Tasks, Follow-ups, Done…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41808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Waiting on others: requests with someone else.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305308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314452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"Do this next" suggests the most urgent item first.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My work › Inbox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GETTING STARTED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Notifications page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12-notifications" descr="Screenshot: My work › Notifications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Grouped; Open, Mark read, Snooze. Preferences decide e-mail or in-app.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My work › Notifications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Bell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30-self-13-bell-panel" descr="Screenshot: Notification bell (top bar)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 notifications in a side panel.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Notification bell (top bar)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record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details and documents; ask HR to change anything that is wrong.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YOUR RECORD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record</a:t>
            </a:r>
            <a:endParaRPr lang="en-US" sz="2800" dirty="0"/>
          </a:p>
        </p:txBody>
      </p:sp>
      <p:pic>
        <p:nvPicPr>
          <p:cNvPr id="5" name="Screenshot employee/30-self-14-my-record-now" descr="Screenshot: Your record (own Employee 360) › Now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245454" y="3298410"/>
            <a:ext cx="552839" cy="129235"/>
          </a:xfrm>
          <a:prstGeom prst="roundRect">
            <a:avLst>
              <a:gd name="adj" fmla="val 3537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418656" y="2881986"/>
            <a:ext cx="441554" cy="287189"/>
          </a:xfrm>
          <a:prstGeom prst="roundRect">
            <a:avLst>
              <a:gd name="adj" fmla="val 1592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5146954" y="2505050"/>
            <a:ext cx="387706" cy="140005"/>
          </a:xfrm>
          <a:prstGeom prst="roundRect">
            <a:avLst>
              <a:gd name="adj" fmla="val 3265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5934558" y="323501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2290640" y="258937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5018938" y="221244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record (open it from the avatar menu › My profile).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653284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634996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Views: Now, Journey, Work, Growth, Documents, Records.</a:t>
            </a:r>
            <a:endParaRPr lang="en-US" sz="1400" dirty="0"/>
          </a:p>
        </p:txBody>
      </p:sp>
      <p:sp>
        <p:nvSpPr>
          <p:cNvPr id="18" name="Callout 3"/>
          <p:cNvSpPr txBox="1"/>
          <p:nvPr/>
        </p:nvSpPr>
        <p:spPr>
          <a:xfrm>
            <a:off x="8595360" y="3413760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3395472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Who you report to.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595360" y="3852672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732520" y="3944112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Read only. Changes go through HR so they are recorded properly.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Your record (own Employee 360) › Now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YOUR RECORD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details and history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Work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15-my-record-work" descr="Screenshot: Your record › Work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organisation and working relationships.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Your record › Work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Records › Timeline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30-self-16-my-record-timeline" descr="Screenshot: Your record › Records › Timeline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654" y="1755648"/>
            <a:ext cx="3116475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7402654" y="1755648"/>
            <a:ext cx="3116475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to your record with its date: the same history HR sees.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Priya Nair (Employee) · Your record › Records › Timeline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YOUR RECORD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details</a:t>
            </a:r>
            <a:endParaRPr lang="en-US" sz="2800" dirty="0"/>
          </a:p>
        </p:txBody>
      </p:sp>
      <p:pic>
        <p:nvPicPr>
          <p:cNvPr id="5" name="Screenshot employee/30-self-17-my-record-personal" descr="Screenshot: Your record › Records › Personal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627" y="1417320"/>
            <a:ext cx="510214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6627" y="1417320"/>
            <a:ext cx="510214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4275173" y="4133674"/>
            <a:ext cx="388051" cy="224207"/>
          </a:xfrm>
          <a:prstGeom prst="roundRect">
            <a:avLst>
              <a:gd name="adj" fmla="val 20392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4147157" y="384106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Records › Personal.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399794"/>
          </a:xfrm>
          <a:prstGeom prst="roundRect">
            <a:avLst>
              <a:gd name="adj" fmla="val 5226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121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Addresses, family and other personal details (empty for this fictional employee). You cannot edit them yourself: raise an HR request (Ask HR) for a correction.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Priya Nair (Employee) · Your record › Records › Personal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YOUR RECORD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and letters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Documents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18-my-documents" descr="Screenshot: Your record › Documents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documents with status and expiry. HR uploads them; send renewals to HR.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Your record › Documents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 letters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30-self-19-my-letters" descr="Screenshot: You › My letters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HR issued to you; open one to read or download it.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You › My letters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leave, follow it, and see your balance change.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leave and follow it to a decision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time off, see your balance before and after, and follow the request until your manager decides.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3576218" cy="160020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92608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46120"/>
            <a:ext cx="3119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employee with a PeopleOS account. Your line manager decides.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07738" y="2788920"/>
            <a:ext cx="3576218" cy="160020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36338" y="292608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36338" y="3246120"/>
            <a:ext cx="3119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› Request leave (or + New › Request leave). Status: People › Time &amp; leave › Leave requests.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66837" y="2788920"/>
            <a:ext cx="3576218" cy="160020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5437" y="292608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95437" y="3246120"/>
            <a:ext cx="3119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dates and the leave type. Some types are not allowed during probation.</a:t>
            </a:r>
            <a:endParaRPr lang="en-US" sz="1400" dirty="0"/>
          </a:p>
        </p:txBody>
      </p:sp>
      <p:sp>
        <p:nvSpPr>
          <p:cNvPr id="15" name="Status"/>
          <p:cNvSpPr txBox="1"/>
          <p:nvPr/>
        </p:nvSpPr>
        <p:spPr>
          <a:xfrm>
            <a:off x="8351215" y="150876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574BC4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4E2F7"/>
                </a:solidFill>
              </a:rPr>
              <a:t>Home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579157" y="51663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26045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17485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Request leave form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856561" y="51663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03449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94889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REVIEW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Before → After preview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133966" y="51663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80854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72294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APPROVAL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Manager decides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411371" y="51663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658259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749699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RESULT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Status and balance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916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A2"/>
                </a:solidFill>
              </a:rPr>
              <a:t>Conceptual diagram: sequence summary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from Home</a:t>
            </a:r>
            <a:endParaRPr lang="en-US" sz="2800" dirty="0"/>
          </a:p>
        </p:txBody>
      </p:sp>
      <p:pic>
        <p:nvPicPr>
          <p:cNvPr id="5" name="Screenshot employee/10-leave-01-home-request-leave" descr="Screenshot: Home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568542" y="2418893"/>
            <a:ext cx="700024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6417767" y="3750733"/>
            <a:ext cx="1658518" cy="269240"/>
          </a:xfrm>
          <a:prstGeom prst="roundRect">
            <a:avLst>
              <a:gd name="adj" fmla="val 16981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6440526" y="212628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6106871" y="3757337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Select Request leave: it is the main button on your Home.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653284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634996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PeopleOS Intelligence reminds you of your next leave and its status.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3486912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3578352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Request leave dialog opens.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Home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fields are checked before anything is sent</a:t>
            </a:r>
            <a:endParaRPr lang="en-US" sz="2800" dirty="0"/>
          </a:p>
        </p:txBody>
      </p:sp>
      <p:pic>
        <p:nvPicPr>
          <p:cNvPr id="5" name="Screenshot employee/10-leave-02-validation" descr="Screenshot: Request leave (dialog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473" y="1417320"/>
            <a:ext cx="6500453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207473" y="1417320"/>
            <a:ext cx="6500453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1352573" y="2316936"/>
            <a:ext cx="6210254" cy="319219"/>
          </a:xfrm>
          <a:prstGeom prst="roundRect">
            <a:avLst>
              <a:gd name="adj" fmla="val 14322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041677" y="234853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Submitting with no leave type stops at the first empty required field.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726436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817876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Nothing is submitted until Leave type, dates and Reason are filled in.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Request leave (dialog)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the request</a:t>
            </a:r>
            <a:endParaRPr lang="en-US" sz="2800" dirty="0"/>
          </a:p>
        </p:txBody>
      </p:sp>
      <p:pic>
        <p:nvPicPr>
          <p:cNvPr id="5" name="Screenshot employee/10-leave-04-form-completed" descr="Screenshot: Request leave (dialog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595" y="1417320"/>
            <a:ext cx="5610210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652595" y="1417320"/>
            <a:ext cx="5610210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1777823" y="2193733"/>
            <a:ext cx="5359754" cy="275501"/>
          </a:xfrm>
          <a:prstGeom prst="roundRect">
            <a:avLst>
              <a:gd name="adj" fmla="val 1659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1777823" y="2744736"/>
            <a:ext cx="2629786" cy="275501"/>
          </a:xfrm>
          <a:prstGeom prst="roundRect">
            <a:avLst>
              <a:gd name="adj" fmla="val 1659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4507791" y="2744736"/>
            <a:ext cx="2629786" cy="275501"/>
          </a:xfrm>
          <a:prstGeom prst="roundRect">
            <a:avLst>
              <a:gd name="adj" fmla="val 1659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5"/>
          <p:cNvSpPr/>
          <p:nvPr/>
        </p:nvSpPr>
        <p:spPr>
          <a:xfrm>
            <a:off x="1777823" y="4777602"/>
            <a:ext cx="5359754" cy="425775"/>
          </a:xfrm>
          <a:prstGeom prst="roundRect">
            <a:avLst>
              <a:gd name="adj" fmla="val 10738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box 6"/>
          <p:cNvSpPr/>
          <p:nvPr/>
        </p:nvSpPr>
        <p:spPr>
          <a:xfrm>
            <a:off x="1777823" y="5854562"/>
            <a:ext cx="847376" cy="275501"/>
          </a:xfrm>
          <a:prstGeom prst="roundRect">
            <a:avLst>
              <a:gd name="adj" fmla="val 1659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2" name="Callout 1"/>
          <p:cNvSpPr txBox="1"/>
          <p:nvPr/>
        </p:nvSpPr>
        <p:spPr>
          <a:xfrm>
            <a:off x="1466927" y="220346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Callout 2"/>
          <p:cNvSpPr txBox="1"/>
          <p:nvPr/>
        </p:nvSpPr>
        <p:spPr>
          <a:xfrm>
            <a:off x="1466927" y="275447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Callout 3"/>
          <p:cNvSpPr txBox="1"/>
          <p:nvPr/>
        </p:nvSpPr>
        <p:spPr>
          <a:xfrm>
            <a:off x="6607225" y="275447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Callout 4"/>
          <p:cNvSpPr txBox="1"/>
          <p:nvPr/>
        </p:nvSpPr>
        <p:spPr>
          <a:xfrm>
            <a:off x="1466927" y="486247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Callout 5"/>
          <p:cNvSpPr txBox="1"/>
          <p:nvPr/>
        </p:nvSpPr>
        <p:spPr>
          <a:xfrm>
            <a:off x="1649807" y="556195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8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Leave type (shows what is available).</a:t>
            </a:r>
            <a:endParaRPr lang="en-US" sz="1400" dirty="0"/>
          </a:p>
        </p:txBody>
      </p:sp>
      <p:sp>
        <p:nvSpPr>
          <p:cNvPr id="20" name="Callout 2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24180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First day.</a:t>
            </a:r>
            <a:endParaRPr lang="en-US" sz="1400" dirty="0"/>
          </a:p>
        </p:txBody>
      </p:sp>
      <p:sp>
        <p:nvSpPr>
          <p:cNvPr id="22" name="Callout 3"/>
          <p:cNvSpPr txBox="1"/>
          <p:nvPr/>
        </p:nvSpPr>
        <p:spPr>
          <a:xfrm>
            <a:off x="8595360" y="28021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27838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Last day.</a:t>
            </a:r>
            <a:endParaRPr lang="en-US" sz="1400" dirty="0"/>
          </a:p>
        </p:txBody>
      </p:sp>
      <p:sp>
        <p:nvSpPr>
          <p:cNvPr id="24" name="Bullet"/>
          <p:cNvSpPr/>
          <p:nvPr/>
        </p:nvSpPr>
        <p:spPr>
          <a:xfrm>
            <a:off x="8686800" y="324104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006840" y="314960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Before → After panel: working days and balance left.</a:t>
            </a:r>
            <a:endParaRPr lang="en-US" sz="1400" dirty="0"/>
          </a:p>
        </p:txBody>
      </p:sp>
      <p:sp>
        <p:nvSpPr>
          <p:cNvPr id="26" name="Callout 4"/>
          <p:cNvSpPr txBox="1"/>
          <p:nvPr/>
        </p:nvSpPr>
        <p:spPr>
          <a:xfrm>
            <a:off x="8595360" y="371144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9006840" y="369316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Reason (your manager sees it).</a:t>
            </a:r>
            <a:endParaRPr lang="en-US" sz="1400" dirty="0"/>
          </a:p>
        </p:txBody>
      </p:sp>
      <p:sp>
        <p:nvSpPr>
          <p:cNvPr id="28" name="Callout 5"/>
          <p:cNvSpPr txBox="1"/>
          <p:nvPr/>
        </p:nvSpPr>
        <p:spPr>
          <a:xfrm>
            <a:off x="8595360" y="42550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9006840" y="42367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Submit request.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8595360" y="46939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732520" y="47853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Weekends and holidays are not counted. Here: 2 working days; Casual leave 5 → 3.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Request leave (dialog)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Refused or accepted: read the message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Refused by your leave policy (the message)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10-leave-03-policy-refusal" descr="Screenshot: Request leave (dialog) with policy message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1508717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1508717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"Cannot apply. Earned leave is not available during probation." The list still offers Earned leave; the policy refuses it when you submit. Choose another type.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Priya Nair (Employee) · Request leave (dialog) with policy message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Accepted (the message)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10-leave-05-submitted" descr="Screenshot: Home (after submitting)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1508717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1508717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"Leave requested: 2.0 day(s)." The request now waits for your manager.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Priya Nair (Employee) · Home (after submitting)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status while you wait</a:t>
            </a:r>
            <a:endParaRPr lang="en-US" sz="2800" dirty="0"/>
          </a:p>
        </p:txBody>
      </p:sp>
      <p:pic>
        <p:nvPicPr>
          <p:cNvPr id="5" name="Screenshot employee/10-leave-06-status-pending" descr="Screenshot: Leave requests (own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3319949"/>
            <a:ext cx="6074054" cy="502581"/>
          </a:xfrm>
          <a:prstGeom prst="roundRect">
            <a:avLst>
              <a:gd name="adj" fmla="val 90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799031" y="344322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new request is listed under Leave requests.</a:t>
            </a:r>
            <a:endParaRPr lang="en-US" sz="1400" dirty="0"/>
          </a:p>
        </p:txBody>
      </p:sp>
      <p:sp>
        <p:nvSpPr>
          <p:cNvPr id="12" name="Bullet"/>
          <p:cNvSpPr/>
          <p:nvPr/>
        </p:nvSpPr>
        <p:spPr>
          <a:xfrm>
            <a:off x="8686800" y="250952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006840" y="2418080"/>
            <a:ext cx="2636215" cy="940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Status shows pending until your manager decides; Cancel is on the right of the row while it is pending.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595360" y="3486912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732520" y="3578352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You cannot edit a submitted request. Cancel it and submit a new one if something is wrong.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Leave requests (own)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Meanwhile, your manager decides</a:t>
            </a:r>
            <a:endParaRPr lang="en-US" sz="2800" dirty="0"/>
          </a:p>
        </p:txBody>
      </p:sp>
      <p:pic>
        <p:nvPicPr>
          <p:cNvPr id="5" name="Screenshot manager/10-leave-08-decision-card" descr="Screenshot: Approval Center › decision card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4565396" y="3535341"/>
            <a:ext cx="3489350" cy="244111"/>
          </a:xfrm>
          <a:prstGeom prst="roundRect">
            <a:avLst>
              <a:gd name="adj" fmla="val 1872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4"/>
          <p:cNvSpPr/>
          <p:nvPr/>
        </p:nvSpPr>
        <p:spPr>
          <a:xfrm>
            <a:off x="4565396" y="4687689"/>
            <a:ext cx="459503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5"/>
          <p:cNvSpPr/>
          <p:nvPr/>
        </p:nvSpPr>
        <p:spPr>
          <a:xfrm>
            <a:off x="5024899" y="4687689"/>
            <a:ext cx="376936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4254500" y="352938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4254500" y="466736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5456699" y="466736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manager sees your reason,</a:t>
            </a:r>
            <a:endParaRPr lang="en-US" sz="1400" dirty="0"/>
          </a:p>
        </p:txBody>
      </p:sp>
      <p:sp>
        <p:nvSpPr>
          <p:cNvPr id="16" name="Bullet"/>
          <p:cNvSpPr/>
          <p:nvPr/>
        </p:nvSpPr>
        <p:spPr>
          <a:xfrm>
            <a:off x="8686800" y="250952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006840" y="241808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whether anyone else in the team is away,</a:t>
            </a:r>
            <a:endParaRPr lang="en-US" sz="1400" dirty="0"/>
          </a:p>
        </p:txBody>
      </p:sp>
      <p:sp>
        <p:nvSpPr>
          <p:cNvPr id="18" name="Callout 2"/>
          <p:cNvSpPr txBox="1"/>
          <p:nvPr/>
        </p:nvSpPr>
        <p:spPr>
          <a:xfrm>
            <a:off x="8595360" y="29799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9616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and can Approve…</a:t>
            </a:r>
            <a:endParaRPr lang="en-US" sz="1400" dirty="0"/>
          </a:p>
        </p:txBody>
      </p:sp>
      <p:sp>
        <p:nvSpPr>
          <p:cNvPr id="20" name="Callout 3"/>
          <p:cNvSpPr txBox="1"/>
          <p:nvPr/>
        </p:nvSpPr>
        <p:spPr>
          <a:xfrm>
            <a:off x="8595360" y="334568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332740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…or Reject (a reason is required).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595360" y="396240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732520" y="405384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Deck 2 shows the manager side in full.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Approval Center › decision card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decision and your new balance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Leave requests: approved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10-leave-13-status-approved" descr="Screenshot: Leave requests (own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approved; Reviewed by Amit Verma.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Leave requests (own)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Balances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10-leave-14-balances" descr="Screenshot: Leave balances (own)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leave: Used 2.0, Pending 2.0 (another request), Available 3.0.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Leave balances (own)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balance movement is recorded</a:t>
            </a:r>
            <a:endParaRPr lang="en-US" sz="2800" dirty="0"/>
          </a:p>
        </p:txBody>
      </p:sp>
      <p:pic>
        <p:nvPicPr>
          <p:cNvPr id="5" name="Screenshot employee/10-leave-15-ledger" descr="Screenshot: Leave ledger entries (own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3319949"/>
            <a:ext cx="6074054" cy="373346"/>
          </a:xfrm>
          <a:prstGeom prst="roundRect">
            <a:avLst>
              <a:gd name="adj" fmla="val 1224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799031" y="337860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newest entry: usage −2.00 for the approved request, with its note.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726436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817876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Monthly accruals and every usage appear as separate entries. Nobody edits this ledger; corrections are new entries.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Leave ledger entries (own)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in, and correct a day when a punch is missing.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ATTENDANCE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in and correct a missed punch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your day from Home and fix it when a punch is missing or wrong.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3576218" cy="160020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92608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46120"/>
            <a:ext cx="3119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whose attendance is tracked. Corrections go to your manager.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07738" y="2788920"/>
            <a:ext cx="3576218" cy="160020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36338" y="292608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36338" y="3246120"/>
            <a:ext cx="3119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› Your day › Check in. Home › Start something › Fix my attendance. People › Time &amp; leave.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66837" y="2788920"/>
            <a:ext cx="3576218" cy="160020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5437" y="292608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95437" y="3246120"/>
            <a:ext cx="3119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organisation decides whether web check-in is used; devices may record punches instead.</a:t>
            </a:r>
            <a:endParaRPr lang="en-US" sz="1400" dirty="0"/>
          </a:p>
        </p:txBody>
      </p:sp>
      <p:sp>
        <p:nvSpPr>
          <p:cNvPr id="15" name="Status"/>
          <p:cNvSpPr txBox="1"/>
          <p:nvPr/>
        </p:nvSpPr>
        <p:spPr>
          <a:xfrm>
            <a:off x="8351215" y="150876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574BC4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4E2F7"/>
                </a:solidFill>
              </a:rPr>
              <a:t>Home › Your day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579157" y="51663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26045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17485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Check in / Fix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856561" y="51663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03449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94889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REVIEW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Manager approves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133966" y="51663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80854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72294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PROCESS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Day reprocessed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411371" y="51663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658259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749699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RESULT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Attendance record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916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A2"/>
                </a:solidFill>
              </a:rPr>
              <a:t>Conceptual diagram: sequence summary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ATTENDANCE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in from Home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Before: Your day panel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20-att-01-your-day-check-in" descr="Screenshot: Home › Your day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139939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139939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 says "Not checked in yet". Select Check in.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Priya Nair (Employee) · Home › Your day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After: the message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20-att-02-checked-in" descr="Screenshot: Home › Your day (after Check in)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1508717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1508717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"Checked in" with the time. The button changes to Check out.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Priya Nair (Employee) · Home › Your day (after Check in)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ATTENDANCE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my attendance</a:t>
            </a:r>
            <a:endParaRPr lang="en-US" sz="2800" dirty="0"/>
          </a:p>
        </p:txBody>
      </p:sp>
      <p:pic>
        <p:nvPicPr>
          <p:cNvPr id="5" name="Screenshot employee/20-att-03-fix-my-attendance" descr="Screenshot: Fix my attendance (dialog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291" y="1417320"/>
            <a:ext cx="6958818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978291" y="1417320"/>
            <a:ext cx="6958818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1133622" y="2380371"/>
            <a:ext cx="6648157" cy="341728"/>
          </a:xfrm>
          <a:prstGeom prst="roundRect">
            <a:avLst>
              <a:gd name="adj" fmla="val 1337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1133622" y="3063826"/>
            <a:ext cx="6648157" cy="341728"/>
          </a:xfrm>
          <a:prstGeom prst="roundRect">
            <a:avLst>
              <a:gd name="adj" fmla="val 1337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1133622" y="3747282"/>
            <a:ext cx="6648157" cy="341728"/>
          </a:xfrm>
          <a:prstGeom prst="roundRect">
            <a:avLst>
              <a:gd name="adj" fmla="val 1337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4"/>
          <p:cNvSpPr/>
          <p:nvPr/>
        </p:nvSpPr>
        <p:spPr>
          <a:xfrm>
            <a:off x="1133622" y="4430737"/>
            <a:ext cx="6648157" cy="341728"/>
          </a:xfrm>
          <a:prstGeom prst="roundRect">
            <a:avLst>
              <a:gd name="adj" fmla="val 1337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box 5"/>
          <p:cNvSpPr/>
          <p:nvPr/>
        </p:nvSpPr>
        <p:spPr>
          <a:xfrm>
            <a:off x="1133622" y="5114192"/>
            <a:ext cx="6648157" cy="528125"/>
          </a:xfrm>
          <a:prstGeom prst="roundRect">
            <a:avLst>
              <a:gd name="adj" fmla="val 865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2" name="Callout box 6"/>
          <p:cNvSpPr/>
          <p:nvPr/>
        </p:nvSpPr>
        <p:spPr>
          <a:xfrm>
            <a:off x="1133622" y="5766582"/>
            <a:ext cx="631678" cy="341728"/>
          </a:xfrm>
          <a:prstGeom prst="roundRect">
            <a:avLst>
              <a:gd name="adj" fmla="val 1337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3" name="Callout 1"/>
          <p:cNvSpPr txBox="1"/>
          <p:nvPr/>
        </p:nvSpPr>
        <p:spPr>
          <a:xfrm>
            <a:off x="822726" y="242321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Callout 2"/>
          <p:cNvSpPr txBox="1"/>
          <p:nvPr/>
        </p:nvSpPr>
        <p:spPr>
          <a:xfrm>
            <a:off x="822726" y="310667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Callout 3"/>
          <p:cNvSpPr txBox="1"/>
          <p:nvPr/>
        </p:nvSpPr>
        <p:spPr>
          <a:xfrm>
            <a:off x="822726" y="379012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Callout 4"/>
          <p:cNvSpPr txBox="1"/>
          <p:nvPr/>
        </p:nvSpPr>
        <p:spPr>
          <a:xfrm>
            <a:off x="822726" y="447358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Callout 5"/>
          <p:cNvSpPr txBox="1"/>
          <p:nvPr/>
        </p:nvSpPr>
        <p:spPr>
          <a:xfrm>
            <a:off x="822726" y="525023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Callout 6"/>
          <p:cNvSpPr txBox="1"/>
          <p:nvPr/>
        </p:nvSpPr>
        <p:spPr>
          <a:xfrm>
            <a:off x="822726" y="580942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1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2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Date of the day to correct (today or earlier).</a:t>
            </a:r>
            <a:endParaRPr lang="en-US" sz="1400" dirty="0"/>
          </a:p>
        </p:txBody>
      </p:sp>
      <p:sp>
        <p:nvSpPr>
          <p:cNvPr id="22" name="Callout 2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241808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Type, for example Missed punch.</a:t>
            </a:r>
            <a:endParaRPr lang="en-US" sz="1400" dirty="0"/>
          </a:p>
        </p:txBody>
      </p:sp>
      <p:sp>
        <p:nvSpPr>
          <p:cNvPr id="24" name="Callout 3"/>
          <p:cNvSpPr txBox="1"/>
          <p:nvPr/>
        </p:nvSpPr>
        <p:spPr>
          <a:xfrm>
            <a:off x="8595360" y="29799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9006840" y="29616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Actual in time.</a:t>
            </a:r>
            <a:endParaRPr lang="en-US" sz="1400" dirty="0"/>
          </a:p>
        </p:txBody>
      </p:sp>
      <p:sp>
        <p:nvSpPr>
          <p:cNvPr id="26" name="Callout 4"/>
          <p:cNvSpPr txBox="1"/>
          <p:nvPr/>
        </p:nvSpPr>
        <p:spPr>
          <a:xfrm>
            <a:off x="8595360" y="334568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9006840" y="332740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Actual out time.</a:t>
            </a:r>
            <a:endParaRPr lang="en-US" sz="1400" dirty="0"/>
          </a:p>
        </p:txBody>
      </p:sp>
      <p:sp>
        <p:nvSpPr>
          <p:cNvPr id="28" name="Callout 5"/>
          <p:cNvSpPr txBox="1"/>
          <p:nvPr/>
        </p:nvSpPr>
        <p:spPr>
          <a:xfrm>
            <a:off x="8595360" y="371144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9006840" y="369316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Reason.</a:t>
            </a:r>
            <a:endParaRPr lang="en-US" sz="1400" dirty="0"/>
          </a:p>
        </p:txBody>
      </p:sp>
      <p:sp>
        <p:nvSpPr>
          <p:cNvPr id="30" name="Callout 6"/>
          <p:cNvSpPr txBox="1"/>
          <p:nvPr/>
        </p:nvSpPr>
        <p:spPr>
          <a:xfrm>
            <a:off x="8595360" y="40772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9006840" y="40589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Submit.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8595360" y="45161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732520" y="46075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correction goes to your manager. Once approved, the day is reprocessed.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Fix my attendance (dialog)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ATTENDANCE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Submitted, then waiting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Confirmation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20-att-04-correction-submitted" descr="Screenshot: Home (after submitting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1508717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1508717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"Correction sent to your manager".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Priya Nair (Employee) · Home (after submitting)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Regularisations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20-att-05-regularisation-pending" descr="Screenshot: Regularisations (own)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› Time &amp; leave › Regularisations: the correction is pending.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Regularisations (own)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ATTENDANCE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approval: your corrected day</a:t>
            </a:r>
            <a:endParaRPr lang="en-US" sz="2800" dirty="0"/>
          </a:p>
        </p:txBody>
      </p:sp>
      <p:pic>
        <p:nvPicPr>
          <p:cNvPr id="5" name="Screenshot employee/20-att-16-my-attendance" descr="Screenshot: Attendance records (own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Bullet"/>
          <p:cNvSpPr/>
          <p:nvPr/>
        </p:nvSpPr>
        <p:spPr>
          <a:xfrm>
            <a:off x="8686800" y="196596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006840" y="1874520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corrected day with shift, in/out, worked time and any exception.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595360" y="2726436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732520" y="2817876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Here 20 Oct shows Present, 09:05–18:10, flagged "Worked on holiday / weekly off" because 20 Oct is Dussehra in the demonstration holiday calendar.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Attendance records (own)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from HR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question, read policies, follow announcements.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HELP FROM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HR</a:t>
            </a:r>
            <a:endParaRPr lang="en-US" sz="2800" dirty="0"/>
          </a:p>
        </p:txBody>
      </p:sp>
      <p:pic>
        <p:nvPicPr>
          <p:cNvPr id="5" name="Screenshot employee/30-self-35-my-hr" descr="Screenshot: Services › My HR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026472" y="2027597"/>
            <a:ext cx="567199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109927" y="2469151"/>
            <a:ext cx="513351" cy="287189"/>
          </a:xfrm>
          <a:prstGeom prst="roundRect">
            <a:avLst>
              <a:gd name="adj" fmla="val 1592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5898456" y="173498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1981911" y="217654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Ask HR.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Tabs: requests, tasks, documents, policies, services, surveys…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3092196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3183636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Services › My HR is where you start anything with HR.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Services › My HR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HELP FROM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HR</a:t>
            </a:r>
            <a:endParaRPr lang="en-US" sz="2800" dirty="0"/>
          </a:p>
        </p:txBody>
      </p:sp>
      <p:pic>
        <p:nvPicPr>
          <p:cNvPr id="5" name="Screenshot employee/30-self-36-ask-hr-form" descr="Screenshot: My HR › Ask HR (dialog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36" y="1417320"/>
            <a:ext cx="7486729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714336" y="1417320"/>
            <a:ext cx="7486729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881450" y="2219470"/>
            <a:ext cx="7152500" cy="367652"/>
          </a:xfrm>
          <a:prstGeom prst="roundRect">
            <a:avLst>
              <a:gd name="adj" fmla="val 1243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881450" y="2954773"/>
            <a:ext cx="7152500" cy="367652"/>
          </a:xfrm>
          <a:prstGeom prst="roundRect">
            <a:avLst>
              <a:gd name="adj" fmla="val 1243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881450" y="3690077"/>
            <a:ext cx="7152500" cy="1169801"/>
          </a:xfrm>
          <a:prstGeom prst="roundRect">
            <a:avLst>
              <a:gd name="adj" fmla="val 3908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4"/>
          <p:cNvSpPr/>
          <p:nvPr/>
        </p:nvSpPr>
        <p:spPr>
          <a:xfrm>
            <a:off x="881450" y="5227530"/>
            <a:ext cx="7152500" cy="367652"/>
          </a:xfrm>
          <a:prstGeom prst="roundRect">
            <a:avLst>
              <a:gd name="adj" fmla="val 1243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box 5"/>
          <p:cNvSpPr/>
          <p:nvPr/>
        </p:nvSpPr>
        <p:spPr>
          <a:xfrm>
            <a:off x="881450" y="5728874"/>
            <a:ext cx="679599" cy="367652"/>
          </a:xfrm>
          <a:prstGeom prst="roundRect">
            <a:avLst>
              <a:gd name="adj" fmla="val 1243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2" name="Callout 1"/>
          <p:cNvSpPr txBox="1"/>
          <p:nvPr/>
        </p:nvSpPr>
        <p:spPr>
          <a:xfrm>
            <a:off x="570554" y="227527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Callout 2"/>
          <p:cNvSpPr txBox="1"/>
          <p:nvPr/>
        </p:nvSpPr>
        <p:spPr>
          <a:xfrm>
            <a:off x="570554" y="301058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Callout 3"/>
          <p:cNvSpPr txBox="1"/>
          <p:nvPr/>
        </p:nvSpPr>
        <p:spPr>
          <a:xfrm>
            <a:off x="570554" y="414696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Callout 4"/>
          <p:cNvSpPr txBox="1"/>
          <p:nvPr/>
        </p:nvSpPr>
        <p:spPr>
          <a:xfrm>
            <a:off x="570554" y="528334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Callout 5"/>
          <p:cNvSpPr txBox="1"/>
          <p:nvPr/>
        </p:nvSpPr>
        <p:spPr>
          <a:xfrm>
            <a:off x="570554" y="578468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8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Category.</a:t>
            </a:r>
            <a:endParaRPr lang="en-US" sz="1400" dirty="0"/>
          </a:p>
        </p:txBody>
      </p:sp>
      <p:sp>
        <p:nvSpPr>
          <p:cNvPr id="20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Subject.</a:t>
            </a:r>
            <a:endParaRPr lang="en-US" sz="1400" dirty="0"/>
          </a:p>
        </p:txBody>
      </p:sp>
      <p:sp>
        <p:nvSpPr>
          <p:cNvPr id="22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Description.</a:t>
            </a:r>
            <a:endParaRPr lang="en-US" sz="1400" dirty="0"/>
          </a:p>
        </p:txBody>
      </p:sp>
      <p:sp>
        <p:nvSpPr>
          <p:cNvPr id="24" name="Callout 4"/>
          <p:cNvSpPr txBox="1"/>
          <p:nvPr/>
        </p:nvSpPr>
        <p:spPr>
          <a:xfrm>
            <a:off x="8595360" y="299008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9006840" y="297180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Priority.</a:t>
            </a:r>
            <a:endParaRPr lang="en-US" sz="1400" dirty="0"/>
          </a:p>
        </p:txBody>
      </p:sp>
      <p:sp>
        <p:nvSpPr>
          <p:cNvPr id="26" name="Callout 5"/>
          <p:cNvSpPr txBox="1"/>
          <p:nvPr/>
        </p:nvSpPr>
        <p:spPr>
          <a:xfrm>
            <a:off x="8595360" y="335584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9006840" y="333756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Submit.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8595360" y="379476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732520" y="388620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Do not put bank numbers or ID numbers in the text: HR will ask through a secure route.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My HR › Ask HR (dialog)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HELP FROM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request gets a number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Submitted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37-ask-hr-submitted" descr="Screenshot: My HR (after submitting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with the request number (here TKT-2026-00002).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My HR (after submitting)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 requests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30-self-38-my-requests" descr="Screenshot: You › My requests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Submitted and the date HR aims to answer by.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You › My requests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HELP FROM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the conversation</a:t>
            </a:r>
            <a:endParaRPr lang="en-US" sz="2800" dirty="0"/>
          </a:p>
        </p:txBody>
      </p:sp>
      <p:pic>
        <p:nvPicPr>
          <p:cNvPr id="5" name="Screenshot employee/30-self-39-request-detail" descr="Screenshot: My requests › request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239162" y="2968142"/>
            <a:ext cx="2735478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928266" y="294782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request.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Status, target date and messages with HR in one place.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My requests › request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HELP FROM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</a:t>
            </a:r>
            <a:endParaRPr lang="en-US" sz="2800" dirty="0"/>
          </a:p>
        </p:txBody>
      </p:sp>
      <p:pic>
        <p:nvPicPr>
          <p:cNvPr id="5" name="Screenshot employee/30-self-40-knowledge-base" descr="Screenshot: You › Knowledge base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4192287"/>
            <a:ext cx="6074054" cy="477452"/>
          </a:xfrm>
          <a:prstGeom prst="roundRect">
            <a:avLst>
              <a:gd name="adj" fmla="val 957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799031" y="4302997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published article.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HR articles; those you must acknowledge are marked.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You › Knowledge base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HELP FROM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 a policy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Leave policy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41-policy-acknowledge" descr="Screenshot: Knowledge base › Leave policy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read and understood" records your acknowledgement of this version.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Knowledge base › Leave policy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Acknowledged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30-self-42-policy-acknowledged" descr="Screenshot: Knowledge base › Leave policy (acknowledged)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Confirmation; the policy leaves "Policies to acknowledge".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Knowledge base › Leave policy (acknowledged)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HELP FROM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Announcements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Announcements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46-announcements" descr="Screenshot: Communication › Announcements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ask you to acknowledge them.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Communication › Announcements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Acknowledged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30-self-47-announcement-acknowledged" descr="Screenshot: Communication › Announcements (acknowledged)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Confirmation; the announcement shows it is acknowledged.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Communication › Announcements (acknowledged)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HELP FROM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feedback: a known problem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Give feedback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44-give-feedback-form" descr="Screenshot: My HR › Give feedback (dialog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959" y="1755648"/>
            <a:ext cx="5195689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2959" y="1755648"/>
            <a:ext cx="519568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Mode, category and your feedback.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Priya Nair (Employee) · My HR › Give feedback (dialog)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After Submit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261E"/>
                </a:solidFill>
              </a:rPr>
              <a:t>Incomplete</a:t>
            </a:r>
            <a:endParaRPr lang="en-US" sz="950" dirty="0"/>
          </a:p>
        </p:txBody>
      </p:sp>
      <p:pic>
        <p:nvPicPr>
          <p:cNvPr id="13" name="Screenshot employee/30-self-45-give-feedback-error" descr="Screenshot: My HR › Give feedback (after Submit)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appears, but your feedback is saved. HR is not notified automatically (F17): tell HR if it is urgent.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My HR › Give feedback (after Submit)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HELP FROM 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Surveys</a:t>
            </a:r>
            <a:endParaRPr lang="en-US" sz="2800" dirty="0"/>
          </a:p>
        </p:txBody>
      </p:sp>
      <p:pic>
        <p:nvPicPr>
          <p:cNvPr id="5" name="Screenshot employee/30-self-43-surveys" descr="Screenshot: My HR › Surveys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5373116" y="2321966"/>
            <a:ext cx="459503" cy="287189"/>
          </a:xfrm>
          <a:prstGeom prst="roundRect">
            <a:avLst>
              <a:gd name="adj" fmla="val 1592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5245100" y="202935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Surveys tab.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Surveys open to you appear here (none were open in the training data).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My HR › Surveys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and tax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see today, and what is not available yet.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PAY AND TAX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Payslips: not yet</a:t>
            </a:r>
            <a:endParaRPr lang="en-US" sz="2800" dirty="0"/>
          </a:p>
        </p:txBody>
      </p:sp>
      <p:pic>
        <p:nvPicPr>
          <p:cNvPr id="5" name="Screenshot employee/30-self-20-payslips-none" descr="Screenshot: People › Pay › Payslips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4787968" y="3926637"/>
            <a:ext cx="721563" cy="172314"/>
          </a:xfrm>
          <a:prstGeom prst="roundRect">
            <a:avLst>
              <a:gd name="adj" fmla="val 2653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4477072" y="388477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B3"/>
                </a:solidFill>
              </a:rPr>
              <a:t>Available only after configuration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Empty state.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"No payslips yet". Payslips appear only after a payroll run is finalised, and that is blocked until statutory rules are verified.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People › Pay › Payslips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PAY AND TAX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 declaration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New declaration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21-tax-declaration-form" descr="Screenshot: Tax declarations › New employee tax declaration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959" y="1755648"/>
            <a:ext cx="5195689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2959" y="1755648"/>
            <a:ext cx="519568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year, tax regime and declared amounts; Create.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Priya Nair (Employee) · Tax declarations › New employee tax declaration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Saved as Draft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261E"/>
                </a:solidFill>
              </a:rPr>
              <a:t>Incomplete</a:t>
            </a:r>
            <a:endParaRPr lang="en-US" sz="950" dirty="0"/>
          </a:p>
        </p:txBody>
      </p:sp>
      <p:pic>
        <p:nvPicPr>
          <p:cNvPr id="13" name="Screenshot employee/30-self-22-tax-declaration-saved" descr="Screenshot: Tax declarations (own)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stays Draft: there is no Submit for employees yet (F13). Tell payroll when it is complete.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Tax declarations (own)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PAY AND TAX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compensation</a:t>
            </a:r>
            <a:endParaRPr lang="en-US" sz="2800" dirty="0"/>
          </a:p>
        </p:txBody>
      </p:sp>
      <p:pic>
        <p:nvPicPr>
          <p:cNvPr id="5" name="Screenshot employee/30-self-23-my-compensation" descr="Screenshot: You › My compensation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239162" y="2663004"/>
            <a:ext cx="5815584" cy="129235"/>
          </a:xfrm>
          <a:prstGeom prst="roundRect">
            <a:avLst>
              <a:gd name="adj" fmla="val 3537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239162" y="3786632"/>
            <a:ext cx="5815584" cy="129235"/>
          </a:xfrm>
          <a:prstGeom prst="roundRect">
            <a:avLst>
              <a:gd name="adj" fmla="val 3537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1928266" y="259960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1928266" y="372323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Pay in force today.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History of approved changes.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87528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96672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Read only (figures are fictional). Every view is recorded.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You › My compensation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Goals, reviews, career and learning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goals current, complete your review, grow your skills.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GOALS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goals</a:t>
            </a:r>
            <a:endParaRPr lang="en-US" sz="2800" dirty="0"/>
          </a:p>
        </p:txBody>
      </p:sp>
      <p:pic>
        <p:nvPicPr>
          <p:cNvPr id="5" name="Screenshot employee/30-self-24-goals" descr="Screenshot: People › Growth › Goals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2"/>
          <p:cNvSpPr/>
          <p:nvPr/>
        </p:nvSpPr>
        <p:spPr>
          <a:xfrm>
            <a:off x="7225487" y="4454347"/>
            <a:ext cx="459503" cy="172314"/>
          </a:xfrm>
          <a:prstGeom prst="roundRect">
            <a:avLst>
              <a:gd name="adj" fmla="val 2653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7097471" y="416173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Bullet"/>
          <p:cNvSpPr/>
          <p:nvPr/>
        </p:nvSpPr>
        <p:spPr>
          <a:xfrm>
            <a:off x="8686800" y="196596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goal linked to a team goal.</a:t>
            </a:r>
            <a:endParaRPr lang="en-US" sz="140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24180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in.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595360" y="287528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732520" y="296672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Weight, progress and the goal each one supports.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People › Growth › Goals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GOALS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in on a goal</a:t>
            </a:r>
            <a:endParaRPr lang="en-US" sz="2800" dirty="0"/>
          </a:p>
        </p:txBody>
      </p:sp>
      <p:pic>
        <p:nvPicPr>
          <p:cNvPr id="5" name="Screenshot employee/30-self-25-goal-check-in" descr="Screenshot: Goals › Check in (dialog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829" y="1417320"/>
            <a:ext cx="7285743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814829" y="1417320"/>
            <a:ext cx="7285743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977457" y="2197935"/>
            <a:ext cx="6960486" cy="357782"/>
          </a:xfrm>
          <a:prstGeom prst="roundRect">
            <a:avLst>
              <a:gd name="adj" fmla="val 1277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977457" y="2913499"/>
            <a:ext cx="6960486" cy="357782"/>
          </a:xfrm>
          <a:prstGeom prst="roundRect">
            <a:avLst>
              <a:gd name="adj" fmla="val 1277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977457" y="3629063"/>
            <a:ext cx="6960486" cy="357782"/>
          </a:xfrm>
          <a:prstGeom prst="roundRect">
            <a:avLst>
              <a:gd name="adj" fmla="val 1277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4"/>
          <p:cNvSpPr/>
          <p:nvPr/>
        </p:nvSpPr>
        <p:spPr>
          <a:xfrm>
            <a:off x="977457" y="5060191"/>
            <a:ext cx="6960486" cy="552936"/>
          </a:xfrm>
          <a:prstGeom prst="roundRect">
            <a:avLst>
              <a:gd name="adj" fmla="val 826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1"/>
          <p:cNvSpPr txBox="1"/>
          <p:nvPr/>
        </p:nvSpPr>
        <p:spPr>
          <a:xfrm>
            <a:off x="666561" y="224881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Callout 2"/>
          <p:cNvSpPr txBox="1"/>
          <p:nvPr/>
        </p:nvSpPr>
        <p:spPr>
          <a:xfrm>
            <a:off x="666561" y="296437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Callout 3"/>
          <p:cNvSpPr txBox="1"/>
          <p:nvPr/>
        </p:nvSpPr>
        <p:spPr>
          <a:xfrm>
            <a:off x="666561" y="367993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4"/>
          <p:cNvSpPr txBox="1"/>
          <p:nvPr/>
        </p:nvSpPr>
        <p:spPr>
          <a:xfrm>
            <a:off x="666561" y="520864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6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Key result.</a:t>
            </a:r>
            <a:endParaRPr lang="en-US" sz="1400" dirty="0"/>
          </a:p>
        </p:txBody>
      </p:sp>
      <p:sp>
        <p:nvSpPr>
          <p:cNvPr id="18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Current value.</a:t>
            </a:r>
            <a:endParaRPr lang="en-US" sz="1400" dirty="0"/>
          </a:p>
        </p:txBody>
      </p:sp>
      <p:sp>
        <p:nvSpPr>
          <p:cNvPr id="20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Confidence.</a:t>
            </a:r>
            <a:endParaRPr lang="en-US" sz="1400" dirty="0"/>
          </a:p>
        </p:txBody>
      </p:sp>
      <p:sp>
        <p:nvSpPr>
          <p:cNvPr id="22" name="Callout 4"/>
          <p:cNvSpPr txBox="1"/>
          <p:nvPr/>
        </p:nvSpPr>
        <p:spPr>
          <a:xfrm>
            <a:off x="8595360" y="299008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297180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Note.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595360" y="342900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732520" y="352044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Progress is recalculated from the key result (here 40 → 80 target; 68 = 70%).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Goals › Check in (dialog)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GOALS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updated</a:t>
            </a:r>
            <a:endParaRPr lang="en-US" sz="2800" dirty="0"/>
          </a:p>
        </p:txBody>
      </p:sp>
      <p:pic>
        <p:nvPicPr>
          <p:cNvPr id="5" name="Screenshot employee/30-self-26-goal-updated" descr="Screenshot: People › Growth › Goals (after check-in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333858"/>
          </a:xfrm>
          <a:prstGeom prst="roundRect">
            <a:avLst>
              <a:gd name="adj" fmla="val 1369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5848401" y="152085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Confirmation.</a:t>
            </a:r>
            <a:endParaRPr lang="en-US" sz="1400" dirty="0"/>
          </a:p>
        </p:txBody>
      </p:sp>
      <p:sp>
        <p:nvSpPr>
          <p:cNvPr id="12" name="Bullet"/>
          <p:cNvSpPr/>
          <p:nvPr/>
        </p:nvSpPr>
        <p:spPr>
          <a:xfrm>
            <a:off x="8686800" y="233172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progress.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595360" y="269748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732520" y="278892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"Progress updated": 55% → 70%. Tip: check in on the key result; a check-in on the goal itself does not change progress when it has key results.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People › Growth › Goals (after check-in)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REVIEWS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appraisal</a:t>
            </a:r>
            <a:endParaRPr lang="en-US" sz="2800" dirty="0"/>
          </a:p>
        </p:txBody>
      </p:sp>
      <p:pic>
        <p:nvPicPr>
          <p:cNvPr id="5" name="Screenshot employee/30-self-27-appraisal" descr="Screenshot: People › Growth › Appraisals › View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239162" y="3772273"/>
            <a:ext cx="459503" cy="150774"/>
          </a:xfrm>
          <a:prstGeom prst="roundRect">
            <a:avLst>
              <a:gd name="adj" fmla="val 3032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7480368" y="2368635"/>
            <a:ext cx="707204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2111146" y="347966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7352352" y="2076027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Cycle stage: Self review.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Self review.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Complete your self review before the stage closes.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People › Growth › Appraisals › 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REVIEWS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 review</a:t>
            </a:r>
            <a:endParaRPr lang="en-US" sz="2800" dirty="0"/>
          </a:p>
        </p:txBody>
      </p:sp>
      <p:pic>
        <p:nvPicPr>
          <p:cNvPr id="5" name="Screenshot employee/30-self-28-self-review-form" descr="Screenshot: Appraisal › Self review (dialog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2261" y="1417320"/>
            <a:ext cx="4750878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2082261" y="1417320"/>
            <a:ext cx="4750878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315563" y="3697317"/>
            <a:ext cx="4284274" cy="233302"/>
          </a:xfrm>
          <a:prstGeom prst="roundRect">
            <a:avLst>
              <a:gd name="adj" fmla="val 195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188307" y="5924292"/>
            <a:ext cx="431255" cy="233302"/>
          </a:xfrm>
          <a:prstGeom prst="roundRect">
            <a:avLst>
              <a:gd name="adj" fmla="val 195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2004667" y="368595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2060291" y="563168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Overall rating.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Submit.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Then your manager reviews.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Appraisal › Self review (dialog)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REVIEWS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 review submitted</a:t>
            </a:r>
            <a:endParaRPr lang="en-US" sz="2800" dirty="0"/>
          </a:p>
        </p:txBody>
      </p:sp>
      <p:pic>
        <p:nvPicPr>
          <p:cNvPr id="5" name="Screenshot employee/30-self-29-self-review-submitted" descr="Screenshot: Appraisal (after the self review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579" y="1417320"/>
            <a:ext cx="551424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700579" y="1417320"/>
            <a:ext cx="551424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1827950" y="5570865"/>
            <a:ext cx="5256393" cy="301342"/>
          </a:xfrm>
          <a:prstGeom prst="roundRect">
            <a:avLst>
              <a:gd name="adj" fmla="val 15172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517054" y="559352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Self: submitted, overall 4.00.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5095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6009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You see your own review; your manager's review is not shown to you here.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Priya Nair (Employee) · Appraisal (after the self review)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CAREER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career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Career passport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30-career-passport" descr="Screenshot: People › Growth › Career passport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certifications, performance history, aspirations and next step.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People › Growth › Career passport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 career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30-self-31-my-career" descr="Screenshot: You › My career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what to share, record aspirations and mobility interest.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You › My career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LEARNING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learning</a:t>
            </a:r>
            <a:endParaRPr lang="en-US" sz="2800" dirty="0"/>
          </a:p>
        </p:txBody>
      </p:sp>
      <p:pic>
        <p:nvPicPr>
          <p:cNvPr id="5" name="Screenshot employee/30-self-32-my-learning" descr="Screenshot: You › My learning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239162" y="3291230"/>
            <a:ext cx="635406" cy="140005"/>
          </a:xfrm>
          <a:prstGeom prst="roundRect">
            <a:avLst>
              <a:gd name="adj" fmla="val 3265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7257796" y="2221450"/>
            <a:ext cx="926186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1928266" y="3233217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7129780" y="192884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assigned course.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 learning.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Assigned learning, certificates, skills and development plans.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You › My learning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LEARNING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a course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Enrolment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33-enrolment" descr="Screenshot: My learning › enrolment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Assigned, due date and modules; Start.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My learning › enrolment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Started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30-self-34-enrolment-started" descr="Screenshot: My learning › enrolment (started)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"Started": In progress; mark modules complete as you go.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My learning › enrolment (started)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account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preferences, devices and limits.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YOUR ACCOUNT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security and preferences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Account security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48-account-security" descr="Screenshot: Avatar menu › Account security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password; set up an authenticator app (2FA).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Avatar menu › Account security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Preferences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30-self-49-preferences" descr="Screenshot: Avatar menu › Preferences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Density, pinned people, Home and notification preferences.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Avatar menu › Preferences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YOUR ACCOUNT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 and dark mode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Phone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50-phone-home" descr="Screenshot: Home on a phone (390 × 844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559" y="1755648"/>
            <a:ext cx="1584491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2438559" y="1755648"/>
            <a:ext cx="1584491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Home with a bottom bar. Use your phone's browser (there is no app).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Home on a phone (390 × 844)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Dark theme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30-self-51-dark-home" descr="Screenshot: Home (dark theme)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menu › theme: light, dark or system.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Home (dark theme)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YOUR ACCOUNT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 you cannot open</a:t>
            </a:r>
            <a:endParaRPr lang="en-US" sz="2800" dirty="0"/>
          </a:p>
        </p:txBody>
      </p:sp>
      <p:pic>
        <p:nvPicPr>
          <p:cNvPr id="5" name="Screenshot employee/30-self-52-restricted-page" descr="Screenshot: People › Lifecycle › Employees (HR register) as an employee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023" y="1417320"/>
            <a:ext cx="5639354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638023" y="1417320"/>
            <a:ext cx="5639354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237204" y="2357212"/>
            <a:ext cx="4440991" cy="393580"/>
          </a:xfrm>
          <a:prstGeom prst="roundRect">
            <a:avLst>
              <a:gd name="adj" fmla="val 1161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237204" y="5071152"/>
            <a:ext cx="1127871" cy="405329"/>
          </a:xfrm>
          <a:prstGeom prst="roundRect">
            <a:avLst>
              <a:gd name="adj" fmla="val 1128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1926308" y="242598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2109188" y="477854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available.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 to Home.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"This page is not available to you" means the page is for another role, not that something is broken.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Priya Nair (Employee) · People › Lifecycle › Employees (HR register) as an employee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YOUR ACCOUNT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resign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 exit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53-my-exit" descr="Screenshot: You › My exit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› My exit shows any exit case and Resign.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You › My exit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Resign (shown, then cancelled)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30-self-54-resign-form" descr="Screenshot: My exit › Resign (dialog)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311" y="1755648"/>
            <a:ext cx="3097161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7412311" y="1755648"/>
            <a:ext cx="3097161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and requested last day, then Confirm. HR takes it from there.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My exit › Resign (dialog)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TIPS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and how to avoid them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 not allowed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types are refused during probation even if a balance shows. Read the message and pick another type.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22978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51578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 submitted request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51578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edit it. Cancel while it is pending and submit a new one.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97317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5917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an e-mail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25917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My work and Leave requests instead; e-mails depend on your organisation's settings.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in messages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type bank or ID numbers into Ask HR or feedback.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322978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51578" y="4123944"/>
            <a:ext cx="3088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details on your record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551578" y="4800600"/>
            <a:ext cx="308853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Ask HR; you cannot edit your record yourself.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97317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5917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says not available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325917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belongs to another role. Ask your manager or HR if you think you need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PRACTICE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 (practice tenant only)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6" name="Callout 1"/>
          <p:cNvSpPr txBox="1"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36192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Casual leave balance and how many days are pending.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42032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9" name="Callout 2"/>
          <p:cNvSpPr txBox="1"/>
          <p:nvPr/>
        </p:nvSpPr>
        <p:spPr>
          <a:xfrm>
            <a:off x="731520" y="2816352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15184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one day of Casual leave next month, then cancel it while it is pending.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621024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2" name="Callout 3"/>
          <p:cNvSpPr txBox="1"/>
          <p:nvPr/>
        </p:nvSpPr>
        <p:spPr>
          <a:xfrm>
            <a:off x="731520" y="3895344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694176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an HR request asking where to find the holiday list. Note the request number.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700016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5" name="Callout 4"/>
          <p:cNvSpPr txBox="1"/>
          <p:nvPr/>
        </p:nvSpPr>
        <p:spPr>
          <a:xfrm>
            <a:off x="731520" y="4974336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4773168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on one of your goals and see the new progress.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035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5"/>
                </a:solidFill>
              </a:rPr>
              <a:t>Answer key: on the next slide, and in the speaker notes.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PRACTICE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</a:t>
            </a:r>
            <a:endParaRPr lang="en-US" sz="28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5430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Where and how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People › Time &amp; leave › Balances: the Casual leave row shows Pending and Available.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Home › Request leave › Casual leave, one day, reason, Submit request. Then Leave requests › Cancel on that row.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Services › My HR › Ask HR: category, subject, description, Submit. The number appears in the confirmation and in My requests.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People › Growth › Goals › Check in: choose the key result, enter the current value and confidence. Progress updates.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Home and My work show what needs you, with the reason.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Request leave and fix attendance from Home; your manager decides.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Ask HR from My HR; follow the request number.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Payslips appear once payroll is live; tax declarations stay Draft for now.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Keep goals current and finish your self review on time.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80960" y="1463040"/>
            <a:ext cx="3962095" cy="4206240"/>
          </a:xfrm>
          <a:prstGeom prst="roundRect">
            <a:avLst>
              <a:gd name="adj" fmla="val 2769"/>
            </a:avLst>
          </a:prstGeom>
          <a:solidFill>
            <a:srgbClr val="1E2542"/>
          </a:solidFill>
          <a:ln w="12700">
            <a:solidFill>
              <a:srgbClr val="2A32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C98F"/>
                </a:solidFill>
              </a:rPr>
              <a:t>NEXT STEPS &amp; HELP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011680"/>
            <a:ext cx="350489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Your HR team: My HR › Ask HR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Your manager, for approvals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Ask PeopleOS (sidebar): explains with sources, never decides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Your organisation's support contacts (shared at go-live)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C98F"/>
                </a:solidFill>
              </a:rPr>
              <a:t>Release gate: NO-GO (10 of 14 gates blocked, re-verified 13 Oct 2026). Not yet generally available.</a:t>
            </a:r>
            <a:endParaRPr lang="en-US" sz="1100" dirty="0"/>
          </a:p>
        </p:txBody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opleOS Training">
  <a:themeElements>
    <a:clrScheme name="PeopleOS">
      <a:dk1>
        <a:srgbClr val="1F2433"/>
      </a:dk1>
      <a:lt1>
        <a:srgbClr val="FFFFFF"/>
      </a:lt1>
      <a:dk2>
        <a:srgbClr val="141A30"/>
      </a:dk2>
      <a:lt2>
        <a:srgbClr val="F4F5F8"/>
      </a:lt2>
      <a:accent1>
        <a:srgbClr val="574BC4"/>
      </a:accent1>
      <a:accent2>
        <a:srgbClr val="C9A45C"/>
      </a:accent2>
      <a:accent3>
        <a:srgbClr val="1E7F4F"/>
      </a:accent3>
      <a:accent4>
        <a:srgbClr val="B3261E"/>
      </a:accent4>
      <a:accent5>
        <a:srgbClr val="2F6FB3"/>
      </a:accent5>
      <a:accent6>
        <a:srgbClr val="D97706"/>
      </a:accent6>
      <a:hlink>
        <a:srgbClr val="574BC4"/>
      </a:hlink>
      <a:folHlink>
        <a:srgbClr val="3E3594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Markedge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PeopleOS · Employee User Training</dc:title>
  <dc:subject>Use PeopleOS for your own work: find your way, ask for leave, fix attendance, get help from HR, and follow your goals and learning.</dc:subject>
  <dc:creator>Markedge PeopleOS training</dc:creator>
  <cp:lastModifiedBy>Markedge PeopleOS training</cp:lastModifiedBy>
  <cp:revision>1</cp:revision>
  <dcterms:created xsi:type="dcterms:W3CDTF">2026-10-21T10:23:38Z</dcterms:created>
  <dcterms:modified xsi:type="dcterms:W3CDTF">2026-10-21T10:23:38Z</dcterms:modified>
</cp:coreProperties>
</file>