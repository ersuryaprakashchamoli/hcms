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15b9785-cab0-7fae-262e-45bc0a444406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Operator sign-in" id="{7ad52406-387e-5980-8029-220c59ae3e71}">
          <p14:sldIdLst>
            <p14:sldId id="262"/>
            <p14:sldId id="263"/>
            <p14:sldId id="264"/>
            <p14:sldId id="265"/>
            <p14:sldId id="266"/>
          </p14:sldIdLst>
        </p14:section>
        <p14:section name="Tenant lifecycle" id="{1af85e49-5fc4-69ba-cf0f-4eb02a7a75cf}">
          <p14:sldIdLst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Commercial pages (shadow mode)" id="{7784fd20-fb94-ffe7-61c8-665d288b4feb}">
          <p14:sldIdLst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Operations, audit and readiness" id="{e4b35b37-cb65-0e90-66ee-9c9441358171}">
          <p14:sldIdLst>
            <p14:sldId id="281"/>
            <p14:sldId id="282"/>
            <p14:sldId id="283"/>
            <p14:sldId id="284"/>
          </p14:sldIdLst>
        </p14:section>
        <p14:section name="Offboarding and data protection" id="{f1f437af-ee54-4c2a-6b6a-b7507122f2d0}">
          <p14:sldIdLst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Statutory rule stewardship" id="{7603f087-5595-fbc1-6fbc-11ca5993bbde}">
          <p14:sldIdLst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Summary" id="{1883d09a-2dfb-be47-5d8d-4051af7a9b8d}">
          <p14:sldIdLst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This deck is for Markedge platform operators only. Operators look after the platform and its tenants; they do not run customers' HR.
EVIDENCE: Executed on the training database on 21 Oct 2026 as the fictional operator platform@markedge.local (MFA enrolled through the real set-up screen), acting only on the fictional tenants Northwind Retail and Markedge Technologies (internal workforce); tools/capture/00-operator-mfa.mjs, 90-onboarding-a, 95-platform.mjs, 95b-platform-extra.mjs.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seven status labels. Every screenshot slide carries one of them in its top-right corner. Stress that "Verified in the running application" means we ran it on a disposable demonstration database, not that the feature is released.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docs/saas/SaaS-Final-Release-Gate.md (decision NO-GO, re-verified 13 October 2026 at 7314f7d); owner actions in docs/saas/SaaS-Final-Owner-Action-Register.md.
SAY: The application passes its automated suites on the workstation, but release is blocked by decisions and infrastructure, not by code alone.
AVOID: describing any gate as resolved. Nothing in this training changes a gate.
SAY: Release gate: NO-GO until these are resolved (part 1 of 2). Status as written in the release gate document. Ten of fourteen gates are blocked by owner decisions, external parties or missing infrastructure.
- 1 | Application and architecture integrity | PASS (workstation) | Repeat the full suites in staging
- 2 | Credential exposure and repository remediation | BLOCKED | Owner: rotation confirmation, repository visibility (O-1 to O-3)
- 3 | Authentication and operator MFA | BLOCKED | Operators enrol MFA in the target environment (O-14, O-7)
- 4 | Independent security review | BLOCKED | Engage a reviewer; triage and retest findings (O-4)
- 5 | Statutory verification and gratuity | BLOCKED | 0 of 24 rules verified; gratuity not implemented (O-5, O-12, O-18)
- 6 | Data protection, retention, legal holds | PASS (controls) / BLOCKED (policy) | Retention decisions with counsel (D8); privacy review
- 7 | Backup, restore and disaster recovery | BLOCKED | Recovery objectives and an isolated target (O-6, O-7)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docs/saas/SaaS-Final-Release-Gate.md (decision NO-GO, re-verified 13 October 2026 at 7314f7d); owner actions in docs/saas/SaaS-Final-Owner-Action-Register.md.
SAY: The application passes its automated suites on the workstation, but release is blocked by decisions and infrastructure, not by code alone.
AVOID: describing any gate as resolved. Nothing in this training changes a gate.
SAY: Release gate: NO-GO until these are resolved (part 2 of 2). Status as written in the release gate document. Ten of fourteen gates are blocked by owner decisions, external parties or missing infrastructure.
- 8 | Hosting, monitoring and on-call | BLOCKED | Environment, alerting, on-call (O-7, O-10, O-11)
- 9 | Signup and tenant provisioning | PASS (disabled) / BLOCKED (activation) | Only if self-service signup is wanted at launch (D10)
- 10 | Billing, tax and payment controls | PASS (disabled) / BLOCKED (activation) | Only for paid billing (B-4, B-7, B-8, B-9)
- 11 | Tenant deletion and offboarding | PASS (disabled) / BLOCKED (activation) | Retention decisions, register disk, review (D8)
- 12 | Regression and target-environment testing | BLOCKED | A staging environment (O-7, O-8)
- 13 | Owner decisions and written approvals | BLOCKED | All owner action items
- 14 | Deployment, rollback, post-deployment checks | BLOCKED | Rehearse in staging; authorise (O-7 to O-9)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What you will be able to do:
1. Sign in as an operator with MFA: and know why it is enforced
2. Provision, suspend, reactivate and enter tenants: with reasons, all audited
3. Read the commercial pages correctly: shadow mode: nothing is enforced or billed
4. Watch operations and readiness: queues, failed jobs, scheduler, release checks
5. Use offboarding safeguards: exports, legal holds, retention, deletion off
6. Know what you must never do: and when a second operator is required
ASK: "Which of these matters most to you?" Return to the answer in the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architecture contract §1 and §6 (platform admins act on a tenant only by explicitly entering it); captures 95-pl-35/36 and internal-operations/96-int-08.
SAY: Platform operator versus tenant administrator.
- Platform operator (Markedge): An account flagged as platform administrator, with no tenant. Works on the Platform pages: tenants, readiness, operations, audit, commercial set-up, offboarding, statutory rule verification.
- Tenant administrator (customer): Tenant Super Admin or Tenant HR Admin inside one tenant. Configures the organisation, people, policies and access. Cannot open Platform pages.
- Entering a tenant: An operator works inside a tenant only through Enter, with a reason and a ticket reference; access ends after 60 minutes and is audited.
- Markedge HR is a tenant: Markedge's own HR runs in an ordinary tenant (Deck 6). Its HR staff cannot open the Platform pages.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1, Operator sign-in. Password, then an authenticator code, every time.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Operators then need their authenticator app.
ON SCREEN: The platform operator signs in on the same sign-in page as tenant users.
WALK THROUGH: (1) Operator e-mail. (2) Password. (3) Sign in.
LEARNERS SHOULD SEE: E-mail and password fields; Forgot password?
SCREEN: Sign in (/admin/login). Signed in as Markedge Platform Admin (Platform operator). 
EVIDENCE: screenshot screenshots/platform-admin/01-operator-sign-in.png,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setting is PEOPLEOS_PLATFORM_MFA_REQUIRED (default true). Readiness fails in production while any active operator has no MFA (release gate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Recovery codes are shown once afterwards: store them in the Markedge password manager. The QR code and key were covered for this screenshot.
ON SCREEN: Scan the QR code (or type the key) in an authenticator app, enter the 6-digit code and the current password, then Next.
WALK THROUGH: (·) Type the 6-digit code from the app into the boxes. (1) Current password. (2) Next.
LEARNERS SHOULD SEE: Set-up completes only with a valid code and the current password
SCREEN: Set up authenticator app (modal). Signed in as Markedge Platform Admin (Platform operator). 
EVIDENCE: screenshot screenshots/platform-admin/03-mfa-setup-modal-redacted.png,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Operators work outside any tenant until they deliberately enter one.
ON SCREEN: Sign in as an operator.
WALK THROUGH: (1) Manage tenants. (2) Open readiness.
LEARNERS SHOULD SEE: Tenants with status; Platform health → readiness
SCREEN: Platform home (operator). Signed in as Markedge Platform Admin (Platform operator). Prerequisite: Platform operator (is_platform_admin) signed in with MFA.
EVIDENCE: screenshot screenshots/platform-admin/95-pl-04-platform-home.png,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2, Tenant lifecycle. Provision, suspend, reactivate and enter: every action needs a reason.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Deck 4, stages 2 and 3, for the full provisioning walkthrough on Northwind Retail.
SAY: Provisioning is covered in Deck 4.
- New tenant: Platform › Tenants › New tenant: tier, region (metadata), name and slug, locale defaults, first administrator, reason. The administrator is invited; operators never set passwords.
- Send invitation: On the Tenants list when a first administrator's link expired or the e-mail failed.
- Duplicates: "The slug has already been taken" and "The email has already been taken": one e-mail belongs to one organisation.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Name, slug, status, country, users, companies; Enter, Suspend and Edit (Send invitation appears while a first administrator's invitation is pending).
ON SCREEN: Open Tenants.
WALK THROUGH: (1) Suspend. (2) Enter.
LEARNERS SHOULD SEE: Name, slug, status, country, users, companies; Enter, Suspend, Send invitation, Edit
SCREEN: Admin › Platform › Tenants. Signed in as Markedge Platform Admin (Platform operator). Prerequisite: Platform operator (is_platform_admin) signed in with MFA.
EVIDENCE: screenshot screenshots/platform-admin/95-pl-05-tenants.png,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AVOID: suspending a live customer without the documented approval. In this training only the fictional Northwind tenant was suspended.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SUPPORT: a whole customer unable to sign in, with correct passwords, may be a suspended tenant. Check the Tenants list first (Deck 7).
SAY: Suspended: the customer cannot sign in.
LEFT, Tenants list: Northwind shows Suspended; Reactivate replaces Suspend.
RIGHT, Customer administrator signing in: "These credentials do not match our records." The generic message gives no hint that the tenant is suspended.
OBSERVE: point out what differs between the two screens.
EVIDENCE: left = platform-admin/95-pl-07-suspended [Markedge Platform Admin (Platform operator), Tenants (after Suspend)]; right = platform-admin/95-pl-08-suspended-sign-in [Farah Khan (Tenant Super Admin (Northwind Retail, first administrator)), Sign in (tenant suspended)].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Northwind is Active and its users can sign in. Both actions are in the platform audit trail with their reasons.
ON SCREEN: Reactivate with a reason.
WALK THROUGH: (1) Active again.
LEARNERS SHOULD SEE: Northwind Active again; its users can sign in
SCREEN: Tenants (after Reactivate). Signed in as Markedge Platform Admin (Platform operator). Prerequisite: Platform operator (is_platform_admin) signed in with MFA.
EVIDENCE: screenshot screenshots/platform-admin/95-pl-09-reactivated.png,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OBSERVATION (not verified as a defect): nothing else on screen marks the session as support access. Be explicit with the customer when you enter their tenant.
SAY: Entering a tenant for support.
LEFT, Enter: Reason and ticket reference required; access ends on its own after 60 minutes.
RIGHT, Inside the tenant: The operator works with the administration lens; the tenant name shows in the date line.
OBSERVE: point out what differs between the two screens.
EVIDENCE: left = platform-admin/95-pl-35-enter-tenant-dialog [Markedge Platform Admin (Platform operator), Tenants › Enter]; right = platform-admin/95-pl-36-operator-in-tenant [Markedge Platform Admin (Platform operator), Home inside Northwind Retail (operator support access)].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3, Commercial pages (shadow mode). Plans, subscriptions, entitlements, billing, tax and payments exist, but nothing is enforced, priced or billed.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switch signup on to demonstrate it. It needs owner decisions D10-1…D10-11 and production authorisation.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Plans and subscriptions.
LEFT, Plans: Shadow mode; no plan, price or default plan is shipped (decision D-1).
RIGHT, Subscriptions: All tenants listed; nothing is enforced or billed.
OBSERVE: point out what differs between the two screens.
EVIDENCE: left = platform-admin/95-pl-11-plans [Markedge Platform Admin (Platform operator), Admin › Platform › Plans]; right = platform-admin/95-pl-12-subscriptions [Markedge Platform Admin (Platform operator), Admin › Platform › Subscriptions].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Entitlements and billing catalogue.
LEFT, Entitlements: Shadow observations: what would have been blocked if entitlements were enforced.
RIGHT, Billing catalogue: Markets, prices, currencies; changes need a second operator's approval.
OBSERVE: point out what differs between the two screens.
EVIDENCE: left = platform-admin/95-pl-13-entitlements [Markedge Platform Admin (Platform operator), Admin › Platform › Entitlements]; right = platform-admin/95-pl-14-billing-catalogue [Markedge Platform Admin (Platform operator), Admin › Platform › Billing catalogue].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Tax and commercial policies.
LEFT, Tax &amp; invoicing: Jurisdiction support, selling entities, statutory dataset (load = maker, verify = second operator).
RIGHT, Commercial policies: Markedge policy values and statutory parameters; Propose change (maker-checker).
OBSERVE: point out what differs between the two screens.
EVIDENCE: left = platform-admin/95-pl-15-tax-invoicing [Markedge Platform Admin (Platform operator), Admin › Platform › Tax &amp; invoicing]; right = platform-admin/95-pl-16-commercial-policies [Markedge Platform Admin (Platform operator), Admin › Platform › Commercial policies].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Billing accounts, invoices, payments.
LEFT, Invoices: None: real invoicing waits for owner inputs (B-4, B-7, B-8, B-9).
RIGHT, Payments: Live payments are refused in production; no provider configured.
OBSERVE: point out what differs between the two screens.
EVIDENCE: left = platform-admin/95-pl-18-invoices [Markedge Platform Admin (Platform operator), Admin › Platform › Invoices]; right = platform-admin/95-pl-19-payments [Markedge Platform Admin (Platform operator), Admin › Platform › Payments].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Requests that wait for a second operator. A single operator can never both propose and approve a financial change.
ON SCREEN: Open Financial approvals.
LEARNERS SHOULD SEE: Maker-checker requests waiting for a second operator
SCREEN: Admin › Platform › Approvals (financial). Signed in as Markedge Platform Admin (Platform operator). Prerequisite: Owner decisions (signup D10, plans and prices B-4, payments B-7/B-8/B-9) before activation.
EVIDENCE: screenshot screenshots/platform-admin/95-pl-20-financial-approvals.png,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4, Operations, audit and readiness. Watch the platform, prove what operators did, and know whether it can go live.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OBSERVE: the scheduler heartbeat is not recent because no scheduler runs in the local environment; in production a stale heartbeat is an incident.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Operator actions across tenants, newest first, each with actor and reason (the top rows here: platform access started and sign-in; the suspend, reactivate and legal-hold events follow further down). Header: "NOT RECENTLY VERIFIED: 0 of 3 chains verified" until scheduled verification runs.
ON SCREEN: Review what the operator did.
LEARNERS SHOULD SEE: Tenant suspended / reactivated, legal hold placed, release requested and tenant entered, with actor and reason
SCREEN: Admin › Platform › Platform audit trail. Signed in as Markedge Platform Admin (Platform operator). Prerequisite: Platform operator with MFA.
EVIDENCE: screenshot screenshots/platform-admin/95-pl-37-platform-audit-after.png,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Readiness is the operator's go-live checklist. Several checks are WARN locally that become FAIL in production. php artisan peopleos:readiness prints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5, Offboarding and data protection. Exports, legal holds and retention; deletion is switched off.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"Tenant deletion is switched off in this environment (PEOPLEOS_TENANT_DELETION_ENABLED)." No deletion action exists.
ON SCREEN: Open Offboarding.
WALK THROUGH: (1) Deletion switched off.
LEARNERS SHOULD SEE: "Tenant deletion is switched off in this environment (PEOPLEOS_TENANT_DELETION_ENABLED)." Offboarding, exports, legal holds and retention work
SCREEN: Admin › Platform › Offboarding. Signed in as Markedge Platform Admin (Platform operator). Prerequisite: Platform operator (is_platform_admin) signed in with MFA.
EVIDENCE: screenshot screenshots/platform-admin/95-pl-24-offboarding.png,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Retention and deletion eligibility, exports, contract retention, legal holds.
ON SCREEN: Open a tenant.
WALK THROUGH: (1) Place legal hold. (2) Request export. (3) Start offboarding.
LEARNERS SHOULD SEE: Retention and deletion eligibility, exports, contract retention, legal holds, deletions; Start offboarding, Request export, Place legal hold, Contract retention — and no deletion action
SCREEN: Offboarding › Northwind Retail. Signed in as Markedge Platform Admin (Platform operator). Prerequisite: Platform operator (is_platform_admin) signed in with MFA.
EVIDENCE: screenshot screenshots/platform-admin/95-pl-25-offboarding-tenant.png,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Place a legal hold.
LEFT, Place legal hold: Confirm placing the hold. While active, nothing it covers can be deleted.
RIGHT, Hold active: "Legal hold placed"; the tenant now shows one active hold (LH-2026-01 in the platform audit trail).
OBSERVE: point out what differs between the two screens.
EVIDENCE: left = platform-admin/95-pl-26-legal-hold-dialog [Markedge Platform Admin (Platform operator), Offboarding › Place legal hold]; right = platform-admin/95-pl-27-legal-hold-active [Markedge Platform Admin (Platform operator), Offboarding › Northwind Retail (hold active)].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Releasing a hold needs a second operator.
LEFT, Request release: "Release requested: another operator approves it."
RIGHT, Release pending: The hold stays active until a different operator approves. Only one operator exists here, so it stays pending.
OBSERVE: point out what differs between the two screens.
EVIDENCE: left = platform-admin/95-pl-33-request-release [Markedge Platform Admin (Platform operator), Offboarding › Legal holds › Request release]; right = platform-admin/95-pl-34-release-pending [Markedge Platform Admin (Platform operator), Offboarding › Legal holds (release requested)].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Exports and retention.
LEFT, Request export: Scope and reason; produced in the background (needs a queue worker) and protected by a passphrase. Opened, not submitted.
RIGHT, Retention policies: None in force: nothing is deletable until Markedge decides (D-8). New versions are maker-checker.
OBSERVE: point out what differs between the two screens.
EVIDENCE: left = platform-admin/95-pl-32-request-export-dialog [Markedge Platform Admin (Platform operator), Offboarding › Request export]; right = platform-admin/95-pl-28-retention-policies [Markedge Platform Admin (Platform operator), Admin › Platform › Retention policies].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6, Statutory rule stewardship. Markedge verifies the rules payroll depends on: two operators and official evidence.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Verification needs official evidence and a second operator. It was not exercised in this training (no evidence available). Release gate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Notices and export layouts.
LEFT, Regulatory notices: Open notices about statutory changes, each to be resolved.
RIGHT, Export layouts: Return file layouts with their specification and approval actions.
OBSERVE: point out what differs between the two screens.
EVIDENCE: left = platform-admin/95-pl-30-rule-notices [Markedge Platform Admin (Platform operator), People › Pay › Regulatory notices]; right = platform-admin/95-pl-31-export-layouts [Markedge Platform Admin (Platform operator), People › Pay › Export layouts].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Operators must never….
- Switch on gated features: Public signup, live payments, tenant deletion or their environment switches, to "test" them.
- Share or skip MFA: Every operator has their own account and authenticator; recovery codes stay in the password manager.
- Act without a reason: Suspend, enter, hold or export without the customer reference in the reason field.
- Approve their own change: Financial changes, legal-hold releases and rule verification need a second operator.
- Edit customer HR data: Entering a tenant is for support; changes belong to the customer's administrators.
- Bypass a gate: Payroll finalisation, release gates and readiness FAILs are fixed at the source, never worked around.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RUN: give learners about 10 minutes in a practice tenant (never a live one). Walk around and help.
SUCCESS: each learner can show the result on screen.
ANSWERS: (1) Platform › Tenants: is the tenant Suspended? (generic sign-in message hides it). (2) No: request release; a different operator approves. (3) Platform audit trail: "Tenant entered" with actor, reason and ticket. (4) Two platform administrators verifying each statutory rule with official evidence (owner decisions O-5, O-12, O-18).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Answer key. 
- 1 | Platform › Tenants: check whether the tenant is Suspended. The sign-in page deliberately shows the generic message.
- 2 | No. Request release; a different operator must approve it (two-person rule).
- 3 | Platform audit trail: "Tenant entered" with the operator, the reason and the ticket reference.
- 4 | Markedge: two platform administrators verify each rule with official evidence, after the owner decisions on scope (O-5, O-12, O-18).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EVIDENCE: Executed on the training database on 21 Oct 2026 as the fictional operator platform@markedge.local (MFA enrolled through the real set-up screen), acting only on the fictional tenants Northwind Retail and Markedge Technologies (internal workforce); tools/capture/00-operator-mfa.mjs, 90-onboarding-a, 95-platform.mjs, 95b-platform-extra.mjs.
SAY: Recap the key points:
- Operators sign in with MFA and work outside tenants by default.
- Suspend, reactivate, enter, hold and export always carry a reason and are audited.
- Commercial pages are in shadow mode: nothing is enforced, priced or billed.
- Readiness and operations tell you whether the platform can be trusted today.
- Deletion is off; holds and releases follow the two-person rule.
POINT TO: docs/saas/SaaS-Final-Release-Gate.md; docs/saas/SaaS-Final-Owner-Action-Register.md; Deck 04: provisioning a customer; Deck 08: security and compliance
ASK: "What will you do first in PeopleOS?" Collect questions you cannot answer and send them to the PeopleOS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OPLEO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82980" y="6419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6419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5"/>
                </a:solidFill>
              </a:rPr>
              <a:t>Markedge PeopleOS training  ·  Platform administrator training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OPLEOS_DARK">
    <p:bg>
      <p:bgPr>
        <a:solidFill>
          <a:srgbClr val="14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82980" y="6419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6419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3C7"/>
                </a:solidFill>
              </a:rPr>
              <a:t>Markedge PeopleOS training  ·  Platform administrator training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98F"/>
                </a:solidFill>
              </a:rPr>
              <a:t>MARKEDGE PEOPLEOS  ·  TRAINING LIBRARY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</a:rPr>
              <a:t>Deck 05 of 12</a:t>
            </a:r>
            <a:endParaRPr lang="en-US" sz="12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Administrator Training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947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PeopleOS as a SaaS platform: operator sign-in, tenant lifecycle, shadow-mode commercial pages, operations, audit, readiness and offboarding.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84632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Markedge platform operators (not customer HR administrators)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running application (local, disposable database, fictional people) · 21 October 2026</a:t>
            </a:r>
            <a:endParaRPr lang="en-US" sz="1200" dirty="0"/>
          </a:p>
        </p:txBody>
      </p:sp>
      <p:pic>
        <p:nvPicPr>
          <p:cNvPr id="8" name="Screenshot platform-admin/95-pl-05-tenants" descr="Screenshot: Admin › Platform › Tenants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320290"/>
            <a:ext cx="3840480" cy="2400300"/>
          </a:xfrm>
          <a:prstGeom prst="rect">
            <a:avLst/>
          </a:prstGeom>
        </p:spPr>
      </p:pic>
      <p:sp>
        <p:nvSpPr>
          <p:cNvPr id="9" name="Screenshot frame"/>
          <p:cNvSpPr/>
          <p:nvPr/>
        </p:nvSpPr>
        <p:spPr>
          <a:xfrm>
            <a:off x="7818120" y="2320290"/>
            <a:ext cx="3840480" cy="24003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18120" y="5943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3C7"/>
                </a:solidFill>
              </a:rPr>
              <a:t>Real screen, fictional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BEFORE YOU START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deck</a:t>
            </a:r>
            <a:endParaRPr lang="en-US" sz="2800" dirty="0"/>
          </a:p>
        </p:txBody>
      </p:sp>
      <p:sp>
        <p:nvSpPr>
          <p:cNvPr id="5" name="Status"/>
          <p:cNvSpPr txBox="1"/>
          <p:nvPr/>
        </p:nvSpPr>
        <p:spPr>
          <a:xfrm>
            <a:off x="548640" y="1463040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26280" y="14447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it on the training database and captured each step.</a:t>
            </a:r>
            <a:endParaRPr lang="en-US" sz="1200" dirty="0"/>
          </a:p>
        </p:txBody>
      </p:sp>
      <p:sp>
        <p:nvSpPr>
          <p:cNvPr id="7" name="Status"/>
          <p:cNvSpPr txBox="1"/>
          <p:nvPr/>
        </p:nvSpPr>
        <p:spPr>
          <a:xfrm>
            <a:off x="548640" y="2084832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3594"/>
                </a:solidFill>
              </a:rPr>
              <a:t>Implemented · not verified end to end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26280" y="206654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exists; the last steps need data or a second party we could not provide.</a:t>
            </a:r>
            <a:endParaRPr lang="en-US" sz="1200" dirty="0"/>
          </a:p>
        </p:txBody>
      </p:sp>
      <p:sp>
        <p:nvSpPr>
          <p:cNvPr id="9" name="Status"/>
          <p:cNvSpPr txBox="1"/>
          <p:nvPr/>
        </p:nvSpPr>
        <p:spPr>
          <a:xfrm>
            <a:off x="548640" y="2706624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B3"/>
                </a:solidFill>
              </a:rPr>
              <a:t>Available only after configuration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68833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once an administrator or Markedge has set it up.</a:t>
            </a:r>
            <a:endParaRPr lang="en-US" sz="1200" dirty="0"/>
          </a:p>
        </p:txBody>
      </p:sp>
      <p:sp>
        <p:nvSpPr>
          <p:cNvPr id="11" name="Status"/>
          <p:cNvSpPr txBox="1"/>
          <p:nvPr/>
        </p:nvSpPr>
        <p:spPr>
          <a:xfrm>
            <a:off x="548640" y="3328416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</a:rPr>
              <a:t>Disabled by safety or commercial gates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331012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off on purpose until owner decisions and approvals arrive.</a:t>
            </a:r>
            <a:endParaRPr lang="en-US" sz="1200" dirty="0"/>
          </a:p>
        </p:txBody>
      </p:sp>
      <p:sp>
        <p:nvSpPr>
          <p:cNvPr id="13" name="Status"/>
          <p:cNvSpPr txBox="1"/>
          <p:nvPr/>
        </p:nvSpPr>
        <p:spPr>
          <a:xfrm>
            <a:off x="548640" y="3950208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</a:rPr>
              <a:t>Incomplete · known defect or gap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393192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working: a known defect or gap is stated on the slide.</a:t>
            </a:r>
            <a:endParaRPr lang="en-US" sz="1200" dirty="0"/>
          </a:p>
        </p:txBody>
      </p:sp>
      <p:sp>
        <p:nvSpPr>
          <p:cNvPr id="15" name="Status"/>
          <p:cNvSpPr txBox="1"/>
          <p:nvPr/>
        </p:nvSpPr>
        <p:spPr>
          <a:xfrm>
            <a:off x="548640" y="4572000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Not implemented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455371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product today.</a:t>
            </a:r>
            <a:endParaRPr lang="en-US" sz="1200" dirty="0"/>
          </a:p>
        </p:txBody>
      </p:sp>
      <p:sp>
        <p:nvSpPr>
          <p:cNvPr id="17" name="Status"/>
          <p:cNvSpPr txBox="1"/>
          <p:nvPr/>
        </p:nvSpPr>
        <p:spPr>
          <a:xfrm>
            <a:off x="548640" y="5193792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Unable to verify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517550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not be checked in this environment.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1463040"/>
            <a:ext cx="3824935" cy="4206240"/>
          </a:xfrm>
          <a:prstGeom prst="roundRect">
            <a:avLst>
              <a:gd name="adj" fmla="val 2869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0" name="Callout 1"/>
          <p:cNvSpPr txBox="1"/>
          <p:nvPr/>
        </p:nvSpPr>
        <p:spPr>
          <a:xfrm>
            <a:off x="8092440" y="1691640"/>
            <a:ext cx="329184" cy="329184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549640" y="1673352"/>
            <a:ext cx="2910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markers on a screenshot match the numbered steps beside it.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251460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is a real capture of PeopleOS. The people and companies in it are fictional.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092440" y="338328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are marked "Conceptual diagram". They explain ideas; they are not screens.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92440" y="4251960"/>
            <a:ext cx="3276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gate: NO-GO (10 of 14 gates blocked, re-verified 13 Oct 2026). Not yet generally available.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RELEASE STATUS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gate: NO-GO until these are resolved (1 of 2)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533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as written in the release gate document. Ten of fourteen gates are blocked by owner decisions, external parties or missing infrastructure.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749040"/>
                <a:gridCol w="2514600"/>
                <a:gridCol w="4416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 status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Remaining dependency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Application and architecture integrity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F4F"/>
                          </a:solidFill>
                        </a:rPr>
                        <a:t>PASS (workstation)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Repeat the full suites in staging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Credential exposure and repository remediation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Owner: rotation confirmation, repository visibility (O-1 to O-3)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Authentication and operator MFA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Operators enrol MFA in the target environment (O-14, O-7)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Independent security review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Engage a reviewer; triage and retest findings (O-4)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Statutory verification and gratuity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0 of 24 rules verified; gratuity not implemented (O-5, O-12, O-18)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Data protection, retention, legal holds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(controls) / BLOCKED (policy)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Retention decisions with counsel (D8); privacy review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Backup, restore and disaster recovery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Recovery objectives and an isolated target (O-6, O-7)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RELEASE STATUS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gate: NO-GO until these are resolved (2 of 2)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749040"/>
                <a:gridCol w="2514600"/>
                <a:gridCol w="4416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 status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Remaining dependency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Hosting, monitoring and on-call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Environment, alerting, on-call (O-7, O-10, O-11)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Signup and tenant provisioning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(disabled) / BLOCKED (activation)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Only if self-service signup is wanted at launch (D10)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Billing, tax and payment controls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(disabled) / BLOCKED (activation)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Only for paid billing (B-4, B-7, B-8, B-9)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Tenant deletion and offboarding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(disabled) / BLOCKED (activation)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Retention decisions, register disk, review (D8)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Regression and target-environment testing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 staging environment (O-7, O-8)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Owner decisions and written approvals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All owner action items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Deployment, rollback, post-deployment checks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Rehearse in staging; authorise (O-7 to O-9)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LEARNING OBJECTIVES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Callout 1"/>
          <p:cNvSpPr txBox="1"/>
          <p:nvPr/>
        </p:nvSpPr>
        <p:spPr>
          <a:xfrm>
            <a:off x="731520" y="1751076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36192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Sign in as an operator with MFA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and know why it is enforced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87752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Callout 2"/>
          <p:cNvSpPr txBox="1"/>
          <p:nvPr/>
        </p:nvSpPr>
        <p:spPr>
          <a:xfrm>
            <a:off x="731520" y="2875788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660904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Provision, suspend, reactivate and enter tenants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with reasons, all audited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712464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Callout 3"/>
          <p:cNvSpPr txBox="1"/>
          <p:nvPr/>
        </p:nvSpPr>
        <p:spPr>
          <a:xfrm>
            <a:off x="731520" y="4000500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785616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Read the commercial pages correctly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shadow mode: nothing is enforced or billed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33008" y="1463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Callout 4"/>
          <p:cNvSpPr txBox="1"/>
          <p:nvPr/>
        </p:nvSpPr>
        <p:spPr>
          <a:xfrm>
            <a:off x="6415888" y="1751076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964528" y="1536192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Watch operations and readiness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queues, failed jobs, scheduler, release checks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33008" y="2587752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8" name="Callout 5"/>
          <p:cNvSpPr txBox="1"/>
          <p:nvPr/>
        </p:nvSpPr>
        <p:spPr>
          <a:xfrm>
            <a:off x="6415888" y="2875788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964528" y="2660904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Use offboarding safeguards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exports, legal holds, retention, deletion off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233008" y="3712464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Callout 6"/>
          <p:cNvSpPr txBox="1"/>
          <p:nvPr/>
        </p:nvSpPr>
        <p:spPr>
          <a:xfrm>
            <a:off x="6415888" y="4000500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964528" y="3785616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Know what you must never do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and when a second operator is required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ROLES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operator versus tenant administrator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operator (Markedge)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 flagged as platform administrator, with no tenant. Works on the Platform pages: tenants, readiness, operations, audit, commercial set-up, offboarding, statutory rule verification.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148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38748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administrator (customer)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38748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Super Admin or Tenant HR Admin inside one tenant. Configures the organisation, people, policies and access. Cannot open Platform pages.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a tenant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works inside a tenant only through Enter, with a reason and a ticket reference; access ends after 60 minutes and is audited.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0148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38748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Markedge HR is a tenant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38748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Markedge's own HR runs in an ordinary tenant (Deck 6). Its HR staff cannot open the Platform pages.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sign-in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Password, then an authenticator code, every time.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SIGN-IN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sign-in page as everyone</a:t>
            </a:r>
            <a:endParaRPr lang="en-US" sz="2800" dirty="0"/>
          </a:p>
        </p:txBody>
      </p:sp>
      <p:pic>
        <p:nvPicPr>
          <p:cNvPr id="5" name="Screenshot platform-admin/01-operator-sign-in" descr="Screenshot: Sign in (/admin/login)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350" y="1417320"/>
            <a:ext cx="5372699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771350" y="1417320"/>
            <a:ext cx="5372699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533693" y="3347378"/>
            <a:ext cx="3848014" cy="399322"/>
          </a:xfrm>
          <a:prstGeom prst="roundRect">
            <a:avLst>
              <a:gd name="adj" fmla="val 1144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533693" y="4170223"/>
            <a:ext cx="3442642" cy="399322"/>
          </a:xfrm>
          <a:prstGeom prst="roundRect">
            <a:avLst>
              <a:gd name="adj" fmla="val 1144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2533693" y="5114076"/>
            <a:ext cx="3848014" cy="399322"/>
          </a:xfrm>
          <a:prstGeom prst="roundRect">
            <a:avLst>
              <a:gd name="adj" fmla="val 1144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2222797" y="341902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2222797" y="424186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2222797" y="518572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Operator e-mail.</a:t>
            </a:r>
            <a:endParaRPr lang="en-US" sz="1400" dirty="0"/>
          </a:p>
        </p:txBody>
      </p:sp>
      <p:sp>
        <p:nvSpPr>
          <p:cNvPr id="16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Password.</a:t>
            </a:r>
            <a:endParaRPr lang="en-US" sz="1400" dirty="0"/>
          </a:p>
        </p:txBody>
      </p:sp>
      <p:sp>
        <p:nvSpPr>
          <p:cNvPr id="18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Sign in.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595360" y="306324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732520" y="315468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Operators then need their authenticator app.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Markedge Platform Admin (Platform operator) · Sign in (/admin/login)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SIGN-IN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authenticator yet: set-up is forced</a:t>
            </a:r>
            <a:endParaRPr lang="en-US" sz="2800" dirty="0"/>
          </a:p>
        </p:txBody>
      </p:sp>
      <p:pic>
        <p:nvPicPr>
          <p:cNvPr id="5" name="Screenshot platform-admin/02-mfa-setup-required" descr="Screenshot: Set up two-factor authentication (forced)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042" y="1417320"/>
            <a:ext cx="6365316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275042" y="1417320"/>
            <a:ext cx="6365316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331106" y="4404678"/>
            <a:ext cx="824598" cy="303799"/>
          </a:xfrm>
          <a:prstGeom prst="roundRect">
            <a:avLst>
              <a:gd name="adj" fmla="val 1504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3210568" y="442856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 up.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Nothing else opens until an authenticator app is set up. This is a platform setting, on by default.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Markedge Platform Admin (Platform operator) · Set up two-factor authentication (forced)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SIGN-IN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the authenticator app</a:t>
            </a:r>
            <a:endParaRPr lang="en-US" sz="2800" dirty="0"/>
          </a:p>
        </p:txBody>
      </p:sp>
      <p:pic>
        <p:nvPicPr>
          <p:cNvPr id="5" name="Screenshot platform-admin/03-mfa-setup-modal-redacted" descr="Screenshot: Set up authenticator app (modal)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2"/>
          <p:cNvSpPr/>
          <p:nvPr/>
        </p:nvSpPr>
        <p:spPr>
          <a:xfrm>
            <a:off x="3186887" y="4809744"/>
            <a:ext cx="2301105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3"/>
          <p:cNvSpPr/>
          <p:nvPr/>
        </p:nvSpPr>
        <p:spPr>
          <a:xfrm>
            <a:off x="5391065" y="5132832"/>
            <a:ext cx="341037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2875991" y="480019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5786967" y="512328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Bullet"/>
          <p:cNvSpPr/>
          <p:nvPr/>
        </p:nvSpPr>
        <p:spPr>
          <a:xfrm>
            <a:off x="8686800" y="196596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Type the 6-digit code from the app into the boxes.</a:t>
            </a:r>
            <a:endParaRPr lang="en-US" sz="140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24363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4180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Current password.</a:t>
            </a:r>
            <a:endParaRPr lang="en-US" sz="1400" dirty="0"/>
          </a:p>
        </p:txBody>
      </p:sp>
      <p:sp>
        <p:nvSpPr>
          <p:cNvPr id="16" name="Callout 2"/>
          <p:cNvSpPr txBox="1"/>
          <p:nvPr/>
        </p:nvSpPr>
        <p:spPr>
          <a:xfrm>
            <a:off x="8595360" y="28021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27838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Next.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595360" y="3241040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732520" y="3332480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Recovery codes are shown once afterwards: store them in the Markedge password manager. The QR code and key were covered for this screenshot.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Markedge Platform Admin (operator) · QR code and key covered before capture (secret).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SIGN-IN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home</a:t>
            </a:r>
            <a:endParaRPr lang="en-US" sz="2800" dirty="0"/>
          </a:p>
        </p:txBody>
      </p:sp>
      <p:pic>
        <p:nvPicPr>
          <p:cNvPr id="5" name="Screenshot platform-admin/95-pl-04-platform-home" descr="Screenshot: Platform home (operator)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5383886" y="2469151"/>
            <a:ext cx="732333" cy="157954"/>
          </a:xfrm>
          <a:prstGeom prst="roundRect">
            <a:avLst>
              <a:gd name="adj" fmla="val 2894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6353150" y="3032760"/>
            <a:ext cx="674895" cy="215392"/>
          </a:xfrm>
          <a:prstGeom prst="roundRect">
            <a:avLst>
              <a:gd name="adj" fmla="val 2122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5072990" y="242011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6225134" y="274015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Manage tenants.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readiness.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Operators work outside any tenant until they deliberately enter one.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Markedge Platform Admin (Platform operator) · Platform home (operator)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lifecycle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Provision, suspend, reactivate and enter: every action needs a reason.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TENANTS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Provisioning is covered in Deck 4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45738" cy="4800600"/>
          </a:xfrm>
          <a:prstGeom prst="roundRect">
            <a:avLst>
              <a:gd name="adj" fmla="val 2579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tenant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308853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› Tenants › New tenant: tier, region (metadata), name and slug, locale defaults, first administrator, reason. The administrator is invited; operators never set passwords.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22978" y="1463040"/>
            <a:ext cx="3545738" cy="4800600"/>
          </a:xfrm>
          <a:prstGeom prst="roundRect">
            <a:avLst>
              <a:gd name="adj" fmla="val 2579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51578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invitation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51578" y="2084832"/>
            <a:ext cx="308853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Tenants list when a first administrator's link expired or the e-mail failed.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97317" y="1463040"/>
            <a:ext cx="3545738" cy="4800600"/>
          </a:xfrm>
          <a:prstGeom prst="roundRect">
            <a:avLst>
              <a:gd name="adj" fmla="val 2579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5917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25917" y="2084832"/>
            <a:ext cx="308853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slug has already been taken" and "The email has already been taken": one e-mail belongs to one organisation.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TENANTS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Tenants</a:t>
            </a:r>
            <a:endParaRPr lang="en-US" sz="2800" dirty="0"/>
          </a:p>
        </p:txBody>
      </p:sp>
      <p:pic>
        <p:nvPicPr>
          <p:cNvPr id="5" name="Screenshot platform-admin/95-pl-05-tenants" descr="Screenshot: Admin › Platform › Tenants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7279335" y="3718425"/>
            <a:ext cx="463093" cy="172314"/>
          </a:xfrm>
          <a:prstGeom prst="roundRect">
            <a:avLst>
              <a:gd name="adj" fmla="val 2653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6920349" y="3718425"/>
            <a:ext cx="341037" cy="172314"/>
          </a:xfrm>
          <a:prstGeom prst="roundRect">
            <a:avLst>
              <a:gd name="adj" fmla="val 2653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7382866" y="393645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6962851" y="393645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Suspend.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Enter.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1399794"/>
          </a:xfrm>
          <a:prstGeom prst="roundRect">
            <a:avLst>
              <a:gd name="adj" fmla="val 5226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121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Name, slug, status, country, users, companies; Enter, Suspend and Edit (Send invitation appears while a first administrator's invitation is pending).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Markedge Platform Admin (Platform operator) · Admin › Platform › Tenants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TENANTS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Suspend a tenant</a:t>
            </a:r>
            <a:endParaRPr lang="en-US" sz="2800" dirty="0"/>
          </a:p>
        </p:txBody>
      </p:sp>
      <p:pic>
        <p:nvPicPr>
          <p:cNvPr id="5" name="Screenshot platform-admin/95-pl-06-suspend-dialog" descr="Screenshot: Tenants › Suspend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2212" y="1417320"/>
            <a:ext cx="6030976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442212" y="1417320"/>
            <a:ext cx="6030976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1711452" y="4271264"/>
            <a:ext cx="5492496" cy="915416"/>
          </a:xfrm>
          <a:prstGeom prst="roundRect">
            <a:avLst>
              <a:gd name="adj" fmla="val 499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4484624" y="5402072"/>
            <a:ext cx="2719324" cy="592328"/>
          </a:xfrm>
          <a:prstGeom prst="roundRect">
            <a:avLst>
              <a:gd name="adj" fmla="val 771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1400556" y="460095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4173728" y="557022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Reason (goes to the platform audit trail).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4363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4180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87528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96672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Every user is signed out at once, API keys stop working and scheduled work pauses.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Markedge Platform Admin (Platform operator) · Tenants › Suspend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TENANTS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Suspended: the customer cannot sign in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Tenants list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platform-admin/95-pl-07-suspended" descr="Screenshot: Tenants (after Suspend)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shows Suspended; Reactivate replaces Suspend.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Markedge Platform Admin (Platform operator) · Tenants (after Suspend)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Customer administrator signing in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platform-admin/95-pl-08-suspended-sign-in" descr="Screenshot: Sign in (tenant suspended) (Farah Kha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870" y="1755648"/>
            <a:ext cx="3612043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7154870" y="1755648"/>
            <a:ext cx="3612043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"These credentials do not match our records." The generic message gives no hint that the tenant is suspended.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Farah Khan (Tenant Super Admin (Northwind Retail, first administrator)) · Sign in (tenant suspended)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TENANTS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Reactivate</a:t>
            </a:r>
            <a:endParaRPr lang="en-US" sz="2800" dirty="0"/>
          </a:p>
        </p:txBody>
      </p:sp>
      <p:pic>
        <p:nvPicPr>
          <p:cNvPr id="5" name="Screenshot platform-admin/95-pl-09-reactivated" descr="Screenshot: Tenants (after Reactivate)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2"/>
          <p:cNvSpPr/>
          <p:nvPr/>
        </p:nvSpPr>
        <p:spPr>
          <a:xfrm>
            <a:off x="2109927" y="3363028"/>
            <a:ext cx="6074054" cy="348217"/>
          </a:xfrm>
          <a:prstGeom prst="roundRect">
            <a:avLst>
              <a:gd name="adj" fmla="val 13130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799031" y="340912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Active again.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Northwind is Active and its users can sign in. Both actions are in the platform audit trail with their reasons.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Markedge Platform Admin (Platform operator) · Tenants (after Reactivate)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TENANTS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Entering a tenant for support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Enter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platform-admin/95-pl-35-enter-tenant-dialog" descr="Screenshot: Tenants › Enter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215531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215531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and ticket reference required; access ends on its own after 60 minutes.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Markedge Platform Admin (Platform operator) · Tenants › Enter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Inside the tenant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platform-admin/95-pl-36-operator-in-tenant" descr="Screenshot: Home inside Northwind Retail (operator support access) (Markedge Platform Admi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works with the administration lens; the tenant name shows in the date line.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Markedge Platform Admin (Platform operator) · Home inside Northwind Retail (operator support access)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pages (shadow mode)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subscriptions, entitlements, billing, tax and payments exist, but nothing is enforced, priced or billed.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COMMERCIAL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Signups: public registration is off</a:t>
            </a:r>
            <a:endParaRPr lang="en-US" sz="2800" dirty="0"/>
          </a:p>
        </p:txBody>
      </p:sp>
      <p:pic>
        <p:nvPicPr>
          <p:cNvPr id="5" name="Screenshot platform-admin/95-pl-10-signups" descr="Screenshot: Admin › Platform › Signups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</a:rPr>
              <a:t>Disabled by safety or commercial gates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"Can signup work today?" lists each prerequisite (switch, offers, terms, privacy notice, review policy) and its state. No applications.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Markedge Platform Admin (Platform operator) · Admin › Platform › Signups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COMMERCIAL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Plans and subscriptions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Plans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</a:rPr>
              <a:t>Disabled (gate)</a:t>
            </a:r>
            <a:endParaRPr lang="en-US" sz="950" dirty="0"/>
          </a:p>
        </p:txBody>
      </p:sp>
      <p:pic>
        <p:nvPicPr>
          <p:cNvPr id="7" name="Screenshot platform-admin/95-pl-11-plans" descr="Screenshot: Admin › Platform › Plans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mode; no plan, price or default plan is shipped (decision D-1).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Markedge Platform Admin (Platform operator) · Admin › Platform › Plans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Subscriptions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</a:rPr>
              <a:t>Disabled (gate)</a:t>
            </a:r>
            <a:endParaRPr lang="en-US" sz="950" dirty="0"/>
          </a:p>
        </p:txBody>
      </p:sp>
      <p:pic>
        <p:nvPicPr>
          <p:cNvPr id="13" name="Screenshot platform-admin/95-pl-12-subscriptions" descr="Screenshot: Admin › Platform › Subscriptions (Markedge Platform Admi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tenants listed; nothing is enforced or billed.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Markedge Platform Admin (Platform operator) · Admin › Platform › Subscriptions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COMMERCIAL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Entitlements and billing catalogue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Entitlements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</a:rPr>
              <a:t>Disabled (gate)</a:t>
            </a:r>
            <a:endParaRPr lang="en-US" sz="950" dirty="0"/>
          </a:p>
        </p:txBody>
      </p:sp>
      <p:pic>
        <p:nvPicPr>
          <p:cNvPr id="7" name="Screenshot platform-admin/95-pl-13-entitlements" descr="Screenshot: Admin › Platform › Entitlements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observations: what would have been blocked if entitlements were enforced.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Markedge Platform Admin (Platform operator) · Admin › Platform › Entitlements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Billing catalogue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</a:rPr>
              <a:t>Disabled (gate)</a:t>
            </a:r>
            <a:endParaRPr lang="en-US" sz="950" dirty="0"/>
          </a:p>
        </p:txBody>
      </p:sp>
      <p:pic>
        <p:nvPicPr>
          <p:cNvPr id="13" name="Screenshot platform-admin/95-pl-14-billing-catalogue" descr="Screenshot: Admin › Platform › Billing catalogue (Markedge Platform Admi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72" y="1755648"/>
            <a:ext cx="5193238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364272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Markets, prices, currencies; changes need a second operator's approval.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Markedge Platform Admin (Platform operator) · Admin › Platform › Billing catalogue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COMMERCIAL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 and commercial policies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Tax &amp; invoicing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</a:rPr>
              <a:t>Disabled (gate)</a:t>
            </a:r>
            <a:endParaRPr lang="en-US" sz="950" dirty="0"/>
          </a:p>
        </p:txBody>
      </p:sp>
      <p:pic>
        <p:nvPicPr>
          <p:cNvPr id="7" name="Screenshot platform-admin/95-pl-15-tax-invoicing" descr="Screenshot: Admin › Platform › Tax &amp; invoicing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185" y="1755648"/>
            <a:ext cx="5193238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34185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 support, selling entities, statutory dataset (load = maker, verify = second operator).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Markedge Platform Admin (Platform operator) · Admin › Platform › Tax &amp; invoicing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Commercial policies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</a:rPr>
              <a:t>Disabled (gate)</a:t>
            </a:r>
            <a:endParaRPr lang="en-US" sz="950" dirty="0"/>
          </a:p>
        </p:txBody>
      </p:sp>
      <p:pic>
        <p:nvPicPr>
          <p:cNvPr id="13" name="Screenshot platform-admin/95-pl-16-commercial-policies" descr="Screenshot: Admin › Platform › Commercial policies (Markedge Platform Admi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72" y="1755648"/>
            <a:ext cx="5193238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364272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Markedge policy values and statutory parameters; Propose change (maker-checker).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Markedge Platform Admin (Platform operator) · Admin › Platform › Commercial policies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COMMERCIAL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accounts, invoices, payments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Invoices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</a:rPr>
              <a:t>Disabled (gate)</a:t>
            </a:r>
            <a:endParaRPr lang="en-US" sz="950" dirty="0"/>
          </a:p>
        </p:txBody>
      </p:sp>
      <p:pic>
        <p:nvPicPr>
          <p:cNvPr id="7" name="Screenshot platform-admin/95-pl-18-invoices" descr="Screenshot: Admin › Platform › Invoices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None: real invoicing waits for owner inputs (B-4, B-7, B-8, B-9).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Markedge Platform Admin (Platform operator) · Admin › Platform › Invoices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Payments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</a:rPr>
              <a:t>Disabled (gate)</a:t>
            </a:r>
            <a:endParaRPr lang="en-US" sz="950" dirty="0"/>
          </a:p>
        </p:txBody>
      </p:sp>
      <p:pic>
        <p:nvPicPr>
          <p:cNvPr id="13" name="Screenshot platform-admin/95-pl-19-payments" descr="Screenshot: Admin › Platform › Payments (Markedge Platform Admi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payments are refused in production; no provider configured.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Markedge Platform Admin (Platform operator) · Admin › Platform › Payments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COMMERCIAL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approvals (maker-checker)</a:t>
            </a:r>
            <a:endParaRPr lang="en-US" sz="2800" dirty="0"/>
          </a:p>
        </p:txBody>
      </p:sp>
      <p:pic>
        <p:nvPicPr>
          <p:cNvPr id="5" name="Screenshot platform-admin/95-pl-20-financial-approvals" descr="Screenshot: Admin › Platform › Approvals (financial)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</a:rPr>
              <a:t>Disabled by safety or commercial gates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Requests that wait for a second operator. A single operator can never both propose and approve a financial change.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Markedge Platform Admin (Platform operator) · Admin › Platform › Approvals (financial)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Operations, audit and readiness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platform, prove what operators did, and know whether it can go live.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operations</a:t>
            </a:r>
            <a:endParaRPr lang="en-US" sz="2800" dirty="0"/>
          </a:p>
        </p:txBody>
      </p:sp>
      <p:pic>
        <p:nvPicPr>
          <p:cNvPr id="5" name="Screenshot platform-admin/95-pl-21-operations" descr="Screenshot: Admin › Platform › Operations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4552" y="1371600"/>
            <a:ext cx="7022592" cy="43891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2584552" y="1371600"/>
            <a:ext cx="7022592" cy="43891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576072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cache, queue, failed jobs, scheduler heartbeat, integrations and audit chains, with per-tenant status.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199632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Markedge Platform Admin (Platform operator) · Admin › Platform › Operations</a:t>
            </a:r>
            <a:endParaRPr lang="en-US" sz="900" dirty="0"/>
          </a:p>
        </p:txBody>
      </p:sp>
      <p:sp>
        <p:nvSpPr>
          <p:cNvPr id="9" name="Status"/>
          <p:cNvSpPr txBox="1"/>
          <p:nvPr/>
        </p:nvSpPr>
        <p:spPr>
          <a:xfrm>
            <a:off x="8534095" y="27432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AUDIT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audit trail</a:t>
            </a:r>
            <a:endParaRPr lang="en-US" sz="2800" dirty="0"/>
          </a:p>
        </p:txBody>
      </p:sp>
      <p:pic>
        <p:nvPicPr>
          <p:cNvPr id="5" name="Screenshot platform-admin/95-pl-37-platform-audit-after" descr="Screenshot: Admin › Platform › Platform audit trail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152" y="1417320"/>
            <a:ext cx="7813095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51152" y="1417320"/>
            <a:ext cx="7813095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2174494"/>
          </a:xfrm>
          <a:prstGeom prst="roundRect">
            <a:avLst>
              <a:gd name="adj" fmla="val 336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1991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Operator actions across tenants, newest first, each with actor and reason (the top rows here: platform access started and sign-in; the suspend, reactivate and legal-hold events follow further down). Header: "NOT RECENTLY VERIFIED: 0 of 3 chains verified" until scheduled verification runs.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Markedge Platform Admin (Platform operator) · Admin › Platform › Platform audit trail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READINESS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readiness</a:t>
            </a:r>
            <a:endParaRPr lang="en-US" sz="2800" dirty="0"/>
          </a:p>
        </p:txBody>
      </p:sp>
      <p:pic>
        <p:nvPicPr>
          <p:cNvPr id="5" name="Screenshot platform-admin/95-pl-23-readiness" descr="Screenshot: Admin › Platform › Platform readiness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6848" y="1371600"/>
            <a:ext cx="6858000" cy="43891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2666848" y="1371600"/>
            <a:ext cx="6858000" cy="43891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576072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with PASS, WARN, FAIL or BLOCKED: configuration, statutory production gate (blocked), operator MFA, demo accounts, backups, scheduler, disaster recovery.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199632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Markedge Platform Admin (Platform operator) · Admin › Platform › Platform readiness</a:t>
            </a:r>
            <a:endParaRPr lang="en-US" sz="900" dirty="0"/>
          </a:p>
        </p:txBody>
      </p:sp>
      <p:sp>
        <p:nvSpPr>
          <p:cNvPr id="9" name="Status"/>
          <p:cNvSpPr txBox="1"/>
          <p:nvPr/>
        </p:nvSpPr>
        <p:spPr>
          <a:xfrm>
            <a:off x="8534095" y="27432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Offboarding and data protection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Exports, legal holds and retention; deletion is switched off.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OFFBOARDING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Offboarding: deletion is off</a:t>
            </a:r>
            <a:endParaRPr lang="en-US" sz="2800" dirty="0"/>
          </a:p>
        </p:txBody>
      </p:sp>
      <p:pic>
        <p:nvPicPr>
          <p:cNvPr id="5" name="Screenshot platform-admin/95-pl-24-offboarding" descr="Screenshot: Admin › Platform › Offboarding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795592" y="2652234"/>
            <a:ext cx="491812" cy="140005"/>
          </a:xfrm>
          <a:prstGeom prst="roundRect">
            <a:avLst>
              <a:gd name="adj" fmla="val 3265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2667576" y="235962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</a:rPr>
              <a:t>Disabled by safety or commercial gates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Deletion switched off.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"Tenant deletion is switched off in this environment (PEOPLEOS_TENANT_DELETION_ENABLED)." No deletion action exists.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Markedge Platform Admin (Platform operator) · Admin › Platform › Offboarding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OFFBOARDING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tenant's offboarding record</a:t>
            </a:r>
            <a:endParaRPr lang="en-US" sz="2800" dirty="0"/>
          </a:p>
        </p:txBody>
      </p:sp>
      <p:pic>
        <p:nvPicPr>
          <p:cNvPr id="5" name="Screenshot platform-admin/95-pl-25-offboarding-tenant" descr="Screenshot: Offboarding › Northwind Retail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627" y="1417320"/>
            <a:ext cx="5102146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6627" y="1417320"/>
            <a:ext cx="5102146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5370337" y="2061196"/>
            <a:ext cx="707114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4668972" y="2061196"/>
            <a:ext cx="686993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3901494" y="2061196"/>
            <a:ext cx="750231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5242321" y="176858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4540956" y="176858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3773478" y="176858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Place legal hold.</a:t>
            </a:r>
            <a:endParaRPr lang="en-US" sz="1400" dirty="0"/>
          </a:p>
        </p:txBody>
      </p:sp>
      <p:sp>
        <p:nvSpPr>
          <p:cNvPr id="16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Request export.</a:t>
            </a:r>
            <a:endParaRPr lang="en-US" sz="1400" dirty="0"/>
          </a:p>
        </p:txBody>
      </p:sp>
      <p:sp>
        <p:nvSpPr>
          <p:cNvPr id="18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offboarding.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595360" y="306324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732520" y="315468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Retention and deletion eligibility, exports, contract retention, legal holds.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Markedge Platform Admin (Platform operator) · Offboarding › Northwind Retail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OFFBOARDING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 a legal hold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Place legal hold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platform-admin/95-pl-26-legal-hold-dialog" descr="Screenshot: Offboarding › Place legal hold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959" y="1755648"/>
            <a:ext cx="5195689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32959" y="1755648"/>
            <a:ext cx="5195689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placing the hold. While active, nothing it covers can be deleted.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Markedge Platform Admin (Platform operator) · Offboarding › Place legal hold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Hold active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platform-admin/95-pl-27-legal-hold-active" descr="Screenshot: Offboarding › Northwind Retail (hold active) (Markedge Platform Admi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72" y="1755648"/>
            <a:ext cx="5193238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364272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"Legal hold placed"; the tenant now shows one active hold (LH-2026-01 in the platform audit trail).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Markedge Platform Admin (Platform operator) · Offboarding › Northwind Retail (hold active)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OFFBOARDING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Releasing a hold needs a second operator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Request release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platform-admin/95-pl-33-request-release" descr="Screenshot: Offboarding › Legal holds › Request release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1460821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1460821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"Release requested: another operator approves it."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Markedge Platform Admin (Platform operator) · Offboarding › Legal holds › Request release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Release pending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FB3"/>
                </a:solidFill>
              </a:rPr>
              <a:t>After configuration</a:t>
            </a:r>
            <a:endParaRPr lang="en-US" sz="950" dirty="0"/>
          </a:p>
        </p:txBody>
      </p:sp>
      <p:pic>
        <p:nvPicPr>
          <p:cNvPr id="13" name="Screenshot platform-admin/95-pl-34-release-pending" descr="Screenshot: Offboarding › Legal holds (release requested) (Markedge Platform Admi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72" y="1755648"/>
            <a:ext cx="5193238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364272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hold stays active until a different operator approves. Only one operator exists here, so it stays pending.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Markedge Platform Admin (Platform operator) · Offboarding › Legal holds (release requested)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OFFBOARDING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Exports and retention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Request export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3594"/>
                </a:solidFill>
              </a:rPr>
              <a:t>Not verified end to end</a:t>
            </a:r>
            <a:endParaRPr lang="en-US" sz="950" dirty="0"/>
          </a:p>
        </p:txBody>
      </p:sp>
      <p:pic>
        <p:nvPicPr>
          <p:cNvPr id="7" name="Screenshot platform-admin/95-pl-32-request-export-dialog" descr="Screenshot: Offboarding › Request export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1628457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1628457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reason; produced in the background (needs a queue worker) and protected by a passphrase. Opened, not submitted.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Markedge Platform Admin (Platform operator) · Offboarding › Request export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Retention policies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FB3"/>
                </a:solidFill>
              </a:rPr>
              <a:t>After configuration</a:t>
            </a:r>
            <a:endParaRPr lang="en-US" sz="950" dirty="0"/>
          </a:p>
        </p:txBody>
      </p:sp>
      <p:pic>
        <p:nvPicPr>
          <p:cNvPr id="13" name="Screenshot platform-admin/95-pl-28-retention-policies" descr="Screenshot: Admin › Platform › Retention policies (Markedge Platform Admi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72" y="1755648"/>
            <a:ext cx="5193238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364272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in force: nothing is deletable until Markedge decides (D-8). New versions are maker-checker.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Markedge Platform Admin (Platform operator) · Admin › Platform › Retention policies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Statutory rule stewardship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Markedge verifies the rules payroll depends on: two operators and official evidence.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STATUTORY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rules (operator view)</a:t>
            </a:r>
            <a:endParaRPr lang="en-US" sz="2800" dirty="0"/>
          </a:p>
        </p:txBody>
      </p:sp>
      <p:pic>
        <p:nvPicPr>
          <p:cNvPr id="5" name="Screenshot platform-admin/95-pl-29-compliance-rules" descr="Screenshot: People › Pay › Compliance rules (operator view)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818120" cy="3307499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48640" y="1417320"/>
            <a:ext cx="7818120" cy="3307499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3594"/>
                </a:solidFill>
              </a:rPr>
              <a:t>Implemented · not verified end to end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Each rule version with parameters, verification history, evidence and coverage; Attach evidence and Submit for verification. 0 of 24 verified.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Markedge Platform Admin (Platform operator) · People › Pay › Compliance rules (operator view)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STATUTORY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Notices and export layouts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Regulatory notices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3594"/>
                </a:solidFill>
              </a:rPr>
              <a:t>Not verified end to end</a:t>
            </a:r>
            <a:endParaRPr lang="en-US" sz="950" dirty="0"/>
          </a:p>
        </p:txBody>
      </p:sp>
      <p:pic>
        <p:nvPicPr>
          <p:cNvPr id="7" name="Screenshot platform-admin/95-pl-30-rule-notices" descr="Screenshot: People › Pay › Regulatory notices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notices about statutory changes, each to be resolved.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Markedge Platform Admin (Platform operator) · People › Pay › Regulatory notices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Export layouts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3594"/>
                </a:solidFill>
              </a:rPr>
              <a:t>Not verified end to end</a:t>
            </a:r>
            <a:endParaRPr lang="en-US" sz="950" dirty="0"/>
          </a:p>
        </p:txBody>
      </p:sp>
      <p:pic>
        <p:nvPicPr>
          <p:cNvPr id="13" name="Screenshot platform-admin/95-pl-31-export-layouts" descr="Screenshot: People › Pay › Export layouts (Markedge Platform Admi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file layouts with their specification and approval actions.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Markedge Platform Admin (Platform operator) · People › Pay › Export layouts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SAFETY RULES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must never…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on gated features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signup, live payments, tenant deletion or their environment switches, to "test" them.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22978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51578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or skip MFA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51578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operator has their own account and authenticator; recovery codes stay in the password manager.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97317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5917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without a reason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25917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Suspend, enter, hold or export without the customer reference in the reason field.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their own change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changes, legal-hold releases and rule verification need a second operator.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22978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51578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customer HR data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551578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a tenant is for support; changes belong to the customer's administrators.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097317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5917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a gate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325917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finalisation, release gates and readiness FAILs are fixed at the source, never worked around.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PRACTICE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(on a training environment only)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6" name="Callout 1"/>
          <p:cNvSpPr txBox="1"/>
          <p:nvPr/>
        </p:nvSpPr>
        <p:spPr>
          <a:xfrm>
            <a:off x="731520" y="1737360"/>
            <a:ext cx="365760" cy="365760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36192"/>
            <a:ext cx="101800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says nobody can sign in, although passwords are correct. Where do you look first?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42032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9" name="Callout 2"/>
          <p:cNvSpPr txBox="1"/>
          <p:nvPr/>
        </p:nvSpPr>
        <p:spPr>
          <a:xfrm>
            <a:off x="731520" y="2816352"/>
            <a:ext cx="365760" cy="365760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615184"/>
            <a:ext cx="101800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placed a legal hold by mistake. Can you release it yourself?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621024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12" name="Callout 3"/>
          <p:cNvSpPr txBox="1"/>
          <p:nvPr/>
        </p:nvSpPr>
        <p:spPr>
          <a:xfrm>
            <a:off x="731520" y="3895344"/>
            <a:ext cx="365760" cy="365760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694176"/>
            <a:ext cx="101800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see that an operator entered a customer's tenant, and why?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700016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15" name="Callout 4"/>
          <p:cNvSpPr txBox="1"/>
          <p:nvPr/>
        </p:nvSpPr>
        <p:spPr>
          <a:xfrm>
            <a:off x="731520" y="4974336"/>
            <a:ext cx="365760" cy="365760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4773168"/>
            <a:ext cx="101800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Readiness page shows "Statutory production gate: BLOCKED". Who resolves it?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035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5"/>
                </a:solidFill>
              </a:rPr>
              <a:t>Answer key: on the next slide, and in the speaker notes.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PRACTICE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</a:t>
            </a:r>
            <a:endParaRPr lang="en-US" sz="28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5430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Platform › Tenants: check whether the tenant is Suspended. The sign-in page deliberately shows the generic message.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No. Request release; a different operator must approve it (two-person rule).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Platform audit trail: "Tenant entered" with the operator, the reason and the ticket reference.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Markedge: two platform administrators verify each rule with official evidence, after the owner decisions on scope (O-5, O-12, O-18).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Operators sign in with MFA and work outside tenants by default.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Suspend, reactivate, enter, hold and export always carry a reason and are audited.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Commercial pages are in shadow mode: nothing is enforced, priced or billed.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Readiness and operations tell you whether the platform can be trusted today.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Deletion is off; holds and releases follow the two-person rule.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80960" y="1463040"/>
            <a:ext cx="3962095" cy="4206240"/>
          </a:xfrm>
          <a:prstGeom prst="roundRect">
            <a:avLst>
              <a:gd name="adj" fmla="val 2769"/>
            </a:avLst>
          </a:prstGeom>
          <a:solidFill>
            <a:srgbClr val="1E2542"/>
          </a:solidFill>
          <a:ln w="12700">
            <a:solidFill>
              <a:srgbClr val="2A32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C98F"/>
                </a:solidFill>
              </a:rPr>
              <a:t>NEXT STEPS &amp; HELP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011680"/>
            <a:ext cx="350489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docs/saas/SaaS-Final-Release-Gate.md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docs/saas/SaaS-Final-Owner-Action-Register.md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Deck 04: provisioning a customer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Deck 08: security and compliance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C98F"/>
                </a:solidFill>
              </a:rPr>
              <a:t>Release gate: NO-GO (10 of 14 gates blocked, re-verified 13 Oct 2026). Not yet generally available.</a:t>
            </a:r>
            <a:endParaRPr lang="en-US" sz="1100" dirty="0"/>
          </a:p>
        </p:txBody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opleOS Training">
  <a:themeElements>
    <a:clrScheme name="PeopleOS">
      <a:dk1>
        <a:srgbClr val="1F2433"/>
      </a:dk1>
      <a:lt1>
        <a:srgbClr val="FFFFFF"/>
      </a:lt1>
      <a:dk2>
        <a:srgbClr val="141A30"/>
      </a:dk2>
      <a:lt2>
        <a:srgbClr val="F4F5F8"/>
      </a:lt2>
      <a:accent1>
        <a:srgbClr val="574BC4"/>
      </a:accent1>
      <a:accent2>
        <a:srgbClr val="C9A45C"/>
      </a:accent2>
      <a:accent3>
        <a:srgbClr val="1E7F4F"/>
      </a:accent3>
      <a:accent4>
        <a:srgbClr val="B3261E"/>
      </a:accent4>
      <a:accent5>
        <a:srgbClr val="2F6FB3"/>
      </a:accent5>
      <a:accent6>
        <a:srgbClr val="D97706"/>
      </a:accent6>
      <a:hlink>
        <a:srgbClr val="574BC4"/>
      </a:hlink>
      <a:folHlink>
        <a:srgbClr val="3E3594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Markedge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PeopleOS · Platform Administrator Training</dc:title>
  <dc:subject>Operate PeopleOS as a SaaS platform: operator sign-in, tenant lifecycle, shadow-mode commercial pages, operations, audit, readiness and offboarding.</dc:subject>
  <dc:creator>Markedge PeopleOS training</dc:creator>
  <cp:lastModifiedBy>Markedge PeopleOS training</cp:lastModifiedBy>
  <cp:revision>1</cp:revision>
  <dcterms:created xsi:type="dcterms:W3CDTF">2026-10-21T10:25:33Z</dcterms:created>
  <dcterms:modified xsi:type="dcterms:W3CDTF">2026-10-21T10:25:33Z</dcterms:modified>
</cp:coreProperties>
</file>