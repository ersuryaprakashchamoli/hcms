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73ae1a-764b-b556-06c1-416e25c32778}">
          <p14:sldIdLst>
            <p14:sldId id="256"/>
            <p14:sldId id="257"/>
            <p14:sldId id="258"/>
            <p14:sldId id="259"/>
            <p14:sldId id="260"/>
          </p14:sldIdLst>
        </p14:section>
        <p14:section name="Dashboards" id="{c892fb6a-0b87-a1de-6538-92894648653e}">
          <p14:sldIdLst>
            <p14:sldId id="261"/>
            <p14:sldId id="262"/>
            <p14:sldId id="263"/>
            <p14:sldId id="264"/>
            <p14:sldId id="265"/>
            <p14:sldId id="266"/>
          </p14:sldIdLst>
        </p14:section>
        <p14:section name="People analytics" id="{61a8d4f6-308c-1881-70fd-f4cd9f344332}">
          <p14:sldIdLst>
            <p14:sldId id="267"/>
            <p14:sldId id="268"/>
            <p14:sldId id="269"/>
          </p14:sldIdLst>
        </p14:section>
        <p14:section name="Area dashboards" id="{4802cc02-0959-97d7-5acb-e9d17d018dd8}">
          <p14:sldIdLst>
            <p14:sldId id="270"/>
            <p14:sldId id="271"/>
            <p14:sldId id="272"/>
            <p14:sldId id="273"/>
            <p14:sldId id="274"/>
            <p14:sldId id="275"/>
            <p14:sldId id="276"/>
          </p14:sldIdLst>
        </p14:section>
        <p14:section name="Reports and export" id="{5c0b0c8a-7a8a-6885-629e-cdbb25b4d13a}">
          <p14:sldIdLst>
            <p14:sldId id="277"/>
            <p14:sldId id="278"/>
            <p14:sldId id="279"/>
            <p14:sldId id="280"/>
            <p14:sldId id="281"/>
            <p14:sldId id="282"/>
            <p14:sldId id="283"/>
          </p14:sldIdLst>
        </p14:section>
        <p14:section name="Audit and operational reports" id="{19939094-4186-5949-7676-6cba46e2d008}">
          <p14:sldIdLst>
            <p14:sldId id="284"/>
            <p14:sldId id="285"/>
            <p14:sldId id="286"/>
            <p14:sldId id="287"/>
            <p14:sldId id="288"/>
            <p14:sldId id="289"/>
            <p14:sldId id="290"/>
            <p14:sldId id="291"/>
            <p14:sldId id="292"/>
          </p14:sldIdLst>
        </p14:section>
        <p14:section name="Summary" id="{dadb14ff-0051-0b13-373e-eec636e38049}">
          <p14:sldIdLst>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figure in PeopleOS is computed from the records the viewer is allowed to see. This deck shows where figures live, how to read them, how to export, and what is not available yet.
EVIDENCE: Captured on the training database on 21 Oct 2026 as Kavya Menon (Tenant HR Admin) and Meera Iyer (Executive); tools/capture/80-insights.mjs. Figures reflect the fictional Demo Group after the other training workflows ran (22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seven status labels. Every screenshot slide carries one of them in its top-right corner. Stress that "Verified in the running application" means we ran it on a disposable demonstration database, not that the feature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trained on the real PeopleOS screens, not mock-ups. The practice database contains invented people only.
AVOID: promising dates for general availability or payroll. The release gate is NO-GO (docs/saas/SaaS-Final-Release-Gate.md (decision NO-GO, re-verified 13 October 2026 at 7314f7d)).
ASK: "Which figures do you report to leadership today?"
SAY: Where PeopleOS stands today. This training uses the real application on a practice database with invented people. PeopleOS is not yet generally available.
- What works today: The screens in this deck were run end to end on the practice database: you will see exactly what you will use.
- Payroll is not live yet: Payslips appear only after a payroll run is finalised. Finalising is blocked until statutory rules are verified (0 of 24 today).
- Known issues are named: Where something does not work as it should, the slide says so and shows the workaround.
- Some figures hide small groups: People, performance, compensation and HR service analytics and talent pools suppress counts below 5. The HR overview, Workforce pulse, reports and exit insights show exact counts to permitted roles.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figure do you report most often today?" Use the answer to choose which slides to dwell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docs/reports/feature-inventory.md (who can open, computed from the application for each system role) and the captures in this deck. Reports is marked Incomplete because of the report-builder defect F44 and the executive dataset gap F45; running and exporting starter reports works.
SAY: Where the figures live. 
- HR overview (Dashboards) | Insights › Analytics › Dashboards | Tenant HR Admin, HR Manager, Executive, Auditor | Verified in the running application
- Workforce pulse | Insights › Analytics › Workforce Command Centre | Tenant HR Admin, Executive, Auditor | Verified in the running application
- Workforce Intelligence | Insights › Analytics › Workforce Intelligence | Tenant HR Admin, HR Manager, Executive | Verified in the running application
- People analytics | Insights › Analytics › People analytics | HR roles, Manager, Payroll and Attendance Admin, Executive, Auditor | Verified in the running application
- Reports and export | Insights › Analytics › Reports | Tenant HR Admin, HR Manager, Executive, Auditor | Incomplete · known defect or gap
- Change history | Insights › Audit › Change history | Tenant HR Admin, HR Manager, Payroll Admin, Account Owner, Auditor | Verified in the running application
- Area dashboards | Pay, Growth, Workforce, Lifecycle, Service Desk menus | By area permission | Verified in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 Dashboards. The HR overview, the Workforce pulse and the signals behind them.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Headcount 22 = active employees today. Attrition 4.5% = exits in the last 12 months ÷ average headcount. Absenteeism 0.0% = absent days ÷ scheduled working days, last 30 days. People cost shows "—" because no payroll has been finalised (statutory rules unverified).
EVIDENCE: Captured on the training database on 21 Oct 2026 as Kavya Menon (Tenant HR Admin) and Meera Iyer (Executive); tools/capture/80-insights.mjs. Figures reflect the fictional Demo Group after the other training workflows ran (22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tile captions on the HR overview and Workforce Intelligence screens ("Exits in the last 12 months ÷ average headcount"; "Absent days ÷ scheduled working days, last 30 days").
AVOID: comparing people cost with finance figures today: it is empty by design until payroll is finalised.
SAY: How the headline figures are calculated.
- Headcount: Active employees on the date, within your access scope. The trend uses month-end headcounts.
- Attrition (12 months): Exits in the last 12 months ÷ average headcount over the period. 4.5% in the training data.
- Absenteeism (30 days): Absent days ÷ scheduled working days over the last 30 days, from processed attendance records.
- People cost: From finalised and paid payroll only. Shows "—" until a run can be finalised (statutory rules unverified).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 "18.2% of headcount moved this month" reflects the training workflows (a hire, a transfer, a promotion, an exit).
SAY: Drill-down opens the people behind a figure, limited to those you may see.
EVIDENCE: Captured on the training database on 21 Oct 2026 as Kavya Menon (Tenant HR Admin) and Meera Iyer (Executive); tools/capture/80-insights.mjs. Figures reflect the fictional Demo Group after the other training workflows ran (22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Signals explain themselves; nothing here is an automated decision about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GAP F45: the Executive role template lacks analytics dataset permissions, so report-based widgets and reports are empty for executives until a Tenant Super Admin extends the role. Headline tiles (headcount, attrition, absenteeism, trend) do show.
SAY: Executives: home lens and dataset access.
LEFT, Executive Home: An executive's Home opens on the workforce lens: pulse, decisions and signals.
RIGHT, HR overview as an executive: Headline tiles fill in, but report-based widgets show "You cannot report on the … dataset." (F45): the Executive role lacks dataset permissions.
OBSERVE: point out what differs between the two screens.
EVIDENCE: left = executive-demo/80-ins-18-executive-home [Meera Iyer (Executive + Employee), Home (Executive)]; right = analytics/80-ins-20-dashboard-executive-f45 [Meera Iyer (Executive + Employee), Insights › Analytics › Dashboards (Executive)].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2, People analytics. One page, ten areas, each limited to what your role may see.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area appears only if your role has that analytics permission. Here counts below 5 people are suppressed ("fewer than 5", e.g. joiners and exits under People, pending requests under Leave). Facts only: no individual scores, rankings or predictions.
EXERCISE: change "As of" to 1 October and compare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appears depends on the role, never on who asks.
ON SCREEN: Open People analytics as an executive.
WALK THROUGH: (1) Aggregated figures only. (2) Areas without dataset permission are not shown.
LEARNERS SHOULD SEE: Aggregated figures only; sections the role has no dataset permission for are not shown
SCREEN: Insights › Analytics › People analytics (Executive). Signed in as Meera Iyer (Executive + Employee). Prerequisite: Analytics permissions per dataset; privacy minimum group size.
EVIDENCE: screenshot screenshots/analytics/80-ins-19-people-analytics-executive.png,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3, Area dashboards. Attendance, leave, pay, performance, learning, talent, workforce, exits and service.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Attendance and leave.
LEFT, Attendance exception centre: Exceptions, missing punches, late, absent, overtime pending, regularisations and failed punches (30 days).
RIGHT, Leave calendar: Who is away and when (approved, pending, cancellation requested). Reasons are never shown.
OBSERVE: point out what differs between the two screens.
EVIDENCE: left = hr-admin/20-att-14-exception-centre [Kavya Menon (Tenant HR Admin + Employee), Exception centre]; right = hr-admin/55-lv-13-leave-calendar [Kavya Menon (Tenant HR Admin + Employee), People › Time &amp; leave › Leave calendar].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payroll cost reports ("Payroll cost by period") read finalised and paid runs only; none exist while statutory rules are unverified.
SAY: Payroll: control room and auditor.
LEFT, Payroll control room: Readiness, runs and the statutory rules that block finalisation.
RIGHT, Payroll Auditor: Findings with severity and evidence for a run; rule-based despite the "AI" label. Some findings show raw technical text (display gap).
OBSERVE: point out what differs between the two screens.
EVIDENCE: left = hr-admin/60-pay-01-control-room [Arjun Bose (Payroll Admin + Employee), People › Pay › Control room (Payroll control room)]; right = hr-admin/60-pay-11-payroll-auditor [Arjun Bose (Payroll Admin + Employee), People › Pay › Payroll Auditor].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Compensation and performance.
LEFT, Compensation analytics: Distributions and compa-ratios; groups below the minimum size are suppressed. Export compensation (CSV) is audited.
RIGHT, Performance analytics: Review progress and rating distribution for a cycle (FY27).
OBSERVE: point out what differs between the two screens.
EVIDENCE: left = analytics/62-comp-11-compensation-analytics [Kavya Menon (Tenant HR Admin + Employee), People › Pay › Analytics (Compensation analytics)]; right = analytics/80-ins-14-performance-analytics [Kavya Menon (Tenant HR Admin + Employee), People › Growth › Analytics (Performance)].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Learning and talent.
LEFT, Learning &amp; development: Top of the page: enrolments, completion, mandatory training. Further down: popular courses, skill gaps, providers, costs.
RIGHT, Talent &amp; succession: Positions without a ready-now successor and talent pools (empty in the training data).
OBSERVE: point out what differs between the two screens.
EVIDENCE: left = analytics/65-learn-03-learning-dashboard [Kavya Menon (Tenant HR Admin + Employee), People › Growth › Dashboard (Learning &amp; development)]; right = analytics/65-talent-01-talent-dashboard [Kavya Menon (Tenant HR Admin + Employee), People › Growth › Dashboard (Talent &amp; succession)].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Workforce, exits and HR service.
LEFT, Workforce overview: Positions, vacancies, budgets and plans (mostly zero). Shows 21 employees: captured 19 seconds before the training hire that makes 22 elsewhere.
RIGHT, HR service analytics: "Fewer than 5 employees raised requests in this period; no figures are shown." Privacy suppression.
OBSERVE: point out what differs between the two screens.
EVIDENCE: left = analytics/65-wf-06-workforce-dashboard [Kavya Menon (Tenant HR Admin + Employee), Organisation › Workforce › Dashboard (Workforce overview)]; right = analytics/80-ins-16-service-analytics [Kavya Menon (Tenant HR Admin + Employee), Services › Service Desk › Service analytics].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Averages use employee answers only.
ON SCREEN: Open Exit insights.
WALK THROUGH: (1) Reasons for leaving and average exit-interview ratings.
LEARNERS SHOULD SEE: Reasons for leaving and average exit-interview ratings (employee answers only)
SCREEN: People › Lifecycle › Exit insights. Signed in as Kavya Menon (Tenant HR Admin + Employee). Prerequisite: Analytics permissions per dataset; privacy minimum group size.
EVIDENCE: screenshot screenshots/analytics/80-ins-15-exit-insights.png,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4, Reports and export. Six starter reports run and export today; building new reports has a known defect.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Starter reports: Absence by department (30 days), Exits by month, Headcount by department, Mandatory learning completion, Payroll cost by period, Rating distribution.
ON SCREEN: Open Reports.
WALK THROUGH: (1) A starter report with its dataset and chart. (2) Run. (3) New report.
LEARNERS SHOULD SEE: Six starter reports with dataset, chart type and schedule; Run and Edit per report; New report
SCREEN: Insights › Analytics › Reports. Signed in as Kavya Menon (Tenant HR Admin + Employee). Prerequisite: report.view / report.manage and permission on the report’s dataset.
EVIDENCE: screenshot screenshots/analytics/80-ins-05-reports-list.png,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RECONCILE: the "—" group is employees without a department; fix them in the employee register, then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Exports respect your access scope and the dataset's sensitive-field permission. Every export is audited: see the first row of the Change history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app/Filament/Support/ReportBuilderSchema.php resolves the dataset with an absolute path; recorded in docs/reports/documentation-gaps.md F44 and re-observed live on 21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HR overview dashboard: audience Everyone, 8 widgets. Widgets that use report grouping are affected by F44.
ON SCREEN: Open the Dashboard builder.
WALK THROUGH: (1) New dashboard.
LEARNERS SHOULD SEE: HR overview dashboard (audience Everyone, 8 widgets); New dashboard, Open, Edit
SCREEN: Insights › Analytics › Dashboard builder. Signed in as Kavya Menon (Tenant HR Admin + Employee). Prerequisite: Analytics permissions per dataset; privacy minimum group size.
EVIDENCE: screenshot screenshots/analytics/80-ins-09-dashboard-builder.png,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documentation-gaps F46 (code); architecture contract §10. Scheduled runs were not exercised in this training (no scheduler runs locally).
SAY: Scheduled reports: know the limits.
- Runs as the owner: A scheduled run uses the report owner's access. Starter reports have no owner, so their schedules fail (F46).
- Notices are in-app: Completed schedules notify in the application only; only the owner can download a scheduled export.
- Needs the scheduler: Schedules run through peopleos:reports:run-due, which needs the scheduler running in production (gate 8).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5, Audit and operational reports. Who changed what, when, why, and proof that the record was not altered.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 the export of "Headcount by department" appears as an Export event, followed by the training team's hires, manager changes and position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event is chained to the one before it. Editing a stored event would break the chain.
SAY: One event: details and integrity.
LEFT, Event detail: Who, when, action, reason and the field-level before → after values.
RIGHT, Who and where · Integrity: Actor and roles, source, IP, request id; Hash, Previous hash and "Hash verified ✓".
OBSERVE: point out what differs between the two screens.
EVIDENCE: left = security-compliance/80-ins-11-audit-event-detail [Kavya Menon (Tenant HR Admin + Employee), Change history › event]; right = security-compliance/80-ins-11b-audit-integrity [Kavya Menon (Tenant HR Admin + Employee), Change history › event (Who and where, Integrity expanded)].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Change intelligence and AI interactions.
LEFT, Change intelligence: Changes by person and date with Explain. Sensitive values stay masked unless you may see them.
RIGHT, AI interactions: Every assistant question and answer, with the user, assistant and sources. Read only.
OBSERVE: point out what differs between the two screens.
EVIDENCE: left = analytics/80-ins-12-change-intelligence [Kavya Menon (Tenant HR Admin + Employee), Insights › Audit › Change intelligence]; right = analytics/80-ins-13-ai-interactions [Kavya Menon (Tenant HR Admin + Employee), Insights › Audit › AI interactions].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Answer: 4.5% (exits in the last 12 months ÷ average headcount), with its source (Workforce metrics, computed live). The external language model is off by default; answers are rule-based and logged.
ON SCREEN: Ask "What is our attrition?".
WALK THROUGH: (1) The question: "What is our attrition?"
LEARNERS SHOULD SEE: Observed answer: "Attrition rate (12 months, %): 4.5% (Exits in the last 12 months ÷ average headcount)" with Sources (Workforce metrics, computed live) and a suggested action; marked Assistive. External language model off by default
SCREEN: Ask PeopleOS panel (PeopleOS Assistant). Signed in as Kavya Menon (Tenant HR Admin + Employee). Prerequisite: Assistant permission and feature; ai.llm off (no external model).
EVIDENCE: screenshot screenshots/analytics/80-ins-17-ask-peopleos.png,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Reconcile before you publish a figure.
- Same date: Set "As of" (People analytics) or the report period to the date of your source figure.
- Same scope: Your figures cover only the people your role and scope reach. Compare with an administrator if numbers differ.
- Explain blanks: A "—" group means the field is empty on some records (e.g. no department). Fix the records, re-run.
- Small groups: People, performance, compensation and service analytics and talent pools suppress counts below 5 on purpose. Use a wider grouping instead of asking for the detail.
- Drill down: Select a figure on the Workforce pulse to see the people behind it; compare with the Employees register filters.
- Keep evidence: Export the CSV; the export is recorded in Change history with your name and time.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documentation-gaps F44, F45, F46; Workforce Intelligence page text; release gate 5.
SAY: Reports you may expect but will not find today. 
- Payroll register, payslip and statutory return reports | Need finalised runs; finalisation blocked until statutory rules are verified (0 of 24) | Disabled by safety or commercial gates
- New grouped or filtered custom reports | Report builder Group by, filter and sort lists empty (F44) | Incomplete · known defect or gap
- Executive dashboards with figures | Executive role lacks dataset permissions (F45); fix by role configuration | Available only after configuration
- Scheduled starter reports | Starter reports have no owner, so scheduled runs fail (F46) | Incomplete · known defect or gap
- PDF exports of reports | CSV only | Not implemented
- Predictive attrition per person | Deliberately not built: facts only, no individual predictions | Not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give learners about 10 minutes in a practice tenant (never a live one). Walk around and help.
SUCCESS: each learner can show the result on screen.
ANSWER KEY: (1) 4.5%: exits in the last 12 months ÷ average headcount. (2) Insights › Audit › Change history: an Export event with your name. (3) Figures where fewer than 5 people are counted (e.g. joiners and exits under People, pending requests under Leave): privacy suppression. (4) The Executive role has no dataset permission (F45); a Tenant Super Admin extends the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Answer key. 
- 1 | 4.5%: exits in the last 12 months ÷ average headcount (HR overview, Attrition tile).
- 2 | Insights › Audit › Change history lists an Export event with the report name, your name and the time.
- 3 | Figures where fewer than 5 people are counted (for example joiners and exits under People, pending requests under Leave) show "fewer than 5" to protect privacy.
- 4 | Report-based widgets need dataset permissions the Executive role lacks (F45). A Tenant Super Admin can add them to the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Recap the key points:
- Figures are computed from what your role may see; some analytics hide small groups.
- HR overview, Workforce pulse and People analytics answer most questions.
- Starter reports run and export to CSV; every export is audited.
- Change history proves who changed what, with a hash chain that can be verified.
- Known gaps: report builder (F44), executive datasets (F45), payroll reports until payroll is finalised.
POINT TO: Deck 03: the HR screens behind these figures; Deck 08: audit and access controls; Ask your administrator for dataset permissions
ASK: "What will you do first in PeopleOS?" Collect questions you cannot answer and send them to the PeopleOS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EOPLEOS_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457200" cy="256032"/>
          </a:xfrm>
          <a:prstGeom prst="rect">
            <a:avLst/>
          </a:prstGeom>
          <a:noFill/>
          <a:ln/>
        </p:spPr>
        <p:txBody>
          <a:bodyPr wrap="square" lIns="0" tIns="0" rIns="0" bIns="0" rtlCol="0" anchor="ctr"/>
          <a:lstStyle/>
          <a:p>
            <a:pPr indent="0" marL="0">
              <a:buNone/>
            </a:pPr>
            <a:r>
              <a:rPr lang="en-US" sz="1000" b="1" dirty="0">
                <a:solidFill>
                  <a:schemeClr val="tx2"/>
                </a:solidFill>
                <a:latin typeface="Cambria" pitchFamily="34" charset="0"/>
                <a:ea typeface="Cambria" pitchFamily="34" charset="-122"/>
                <a:cs typeface="Cambria" pitchFamily="34" charset="-120"/>
              </a:rPr>
              <a:t>People</a:t>
            </a:r>
            <a:endParaRPr lang="en-US" sz="1000" dirty="0"/>
          </a:p>
        </p:txBody>
      </p:sp>
      <p:sp>
        <p:nvSpPr>
          <p:cNvPr id="3" name="Text 1"/>
          <p:cNvSpPr txBox="1"/>
          <p:nvPr/>
        </p:nvSpPr>
        <p:spPr>
          <a:xfrm>
            <a:off x="982980" y="6419088"/>
            <a:ext cx="274320" cy="256032"/>
          </a:xfrm>
          <a:prstGeom prst="rect">
            <a:avLst/>
          </a:prstGeom>
          <a:noFill/>
          <a:ln/>
        </p:spPr>
        <p:txBody>
          <a:bodyPr wrap="square" lIns="0" tIns="0" rIns="0" bIns="0" rtlCol="0" anchor="ctr"/>
          <a:lstStyle/>
          <a:p>
            <a:pPr indent="0" marL="0">
              <a:buNone/>
            </a:pPr>
            <a:r>
              <a:rPr lang="en-US" sz="1000" b="1" dirty="0">
                <a:solidFill>
                  <a:schemeClr val="accent2"/>
                </a:solidFill>
                <a:latin typeface="Cambria" pitchFamily="34" charset="0"/>
                <a:ea typeface="Cambria" pitchFamily="34" charset="-122"/>
                <a:cs typeface="Cambria" pitchFamily="34" charset="-120"/>
              </a:rPr>
              <a:t>OS</a:t>
            </a:r>
            <a:endParaRPr lang="en-US" sz="1000" dirty="0"/>
          </a:p>
        </p:txBody>
      </p:sp>
      <p:sp>
        <p:nvSpPr>
          <p:cNvPr id="4" name="Text 2"/>
          <p:cNvSpPr txBox="1"/>
          <p:nvPr/>
        </p:nvSpPr>
        <p:spPr>
          <a:xfrm>
            <a:off x="1371600" y="6419088"/>
            <a:ext cx="6858000" cy="256032"/>
          </a:xfrm>
          <a:prstGeom prst="rect">
            <a:avLst/>
          </a:prstGeom>
          <a:noFill/>
          <a:ln/>
        </p:spPr>
        <p:txBody>
          <a:bodyPr wrap="square" lIns="0" tIns="0" rIns="0" bIns="0" rtlCol="0" anchor="ctr"/>
          <a:lstStyle/>
          <a:p>
            <a:pPr indent="0" marL="0">
              <a:buNone/>
            </a:pPr>
            <a:r>
              <a:rPr lang="en-US" sz="900" dirty="0">
                <a:solidFill>
                  <a:srgbClr val="5B6275"/>
                </a:solidFill>
              </a:rPr>
              <a:t>Markedge PeopleOS training  ·  Reporting and analytics</a:t>
            </a:r>
            <a:endParaRPr lang="en-US" sz="900" dirty="0"/>
          </a:p>
        </p:txBody>
      </p:sp>
      <p:sp>
        <p:nvSpPr>
          <p:cNvPr id="5" name="Text 3"/>
          <p:cNvSpPr/>
          <p:nvPr>
            <p:ph idx="103" type="body" hasCustomPrompt="1"/>
          </p:nvPr>
        </p:nvSpPr>
        <p:spPr>
          <a:xfrm>
            <a:off x="548640" y="292608"/>
            <a:ext cx="8686800" cy="274320"/>
          </a:xfrm>
          <a:prstGeom prst="rect">
            <a:avLst/>
          </a:prstGeom>
          <a:noFill/>
          <a:ln/>
        </p:spPr>
        <p:txBody>
          <a:bodyPr wrap="square" rtlCol="0"/>
          <a:lstStyle>
            <a:lvl1pPr algn="l" indent="0" marL="0">
              <a:buNone/>
              <a:defRPr lang="en-US" sz="1100" b="1" spc="150" kern="0" dirty="0">
                <a:solidFill>
                  <a:schemeClr val="accent1"/>
                </a:solidFill>
              </a:defRPr>
            </a:lvl1pPr>
          </a:lstStyle>
          <a:p>
            <a:pPr algn="l" indent="0" marL="0">
              <a:buNone/>
            </a:pPr>
            <a:endParaRPr lang="en-US" sz="1100" dirty="0"/>
          </a:p>
        </p:txBody>
      </p:sp>
      <p:sp>
        <p:nvSpPr>
          <p:cNvPr id="6" name="Text 3"/>
          <p:cNvSpPr/>
          <p:nvPr>
            <p:ph idx="104" type="title" hasCustomPrompt="1"/>
          </p:nvPr>
        </p:nvSpPr>
        <p:spPr>
          <a:xfrm>
            <a:off x="548640" y="548640"/>
            <a:ext cx="11094415" cy="713232"/>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OPLEOS_DARK">
    <p:bg>
      <p:bgPr>
        <a:solidFill>
          <a:srgbClr val="141A30"/>
        </a:solidFill>
      </p:bgPr>
    </p:bg>
    <p:spTree>
      <p:nvGrpSpPr>
        <p:cNvPr id="1" name=""/>
        <p:cNvGrpSpPr/>
        <p:nvPr/>
      </p:nvGrpSpPr>
      <p:grpSpPr>
        <a:xfrm>
          <a:off x="0" y="0"/>
          <a:ext cx="0" cy="0"/>
          <a:chOff x="0" y="0"/>
          <a:chExt cx="0" cy="0"/>
        </a:xfrm>
      </p:grpSpPr>
      <p:sp>
        <p:nvSpPr>
          <p:cNvPr id="2" name="Text 0"/>
          <p:cNvSpPr txBox="1"/>
          <p:nvPr/>
        </p:nvSpPr>
        <p:spPr>
          <a:xfrm>
            <a:off x="548640" y="6419088"/>
            <a:ext cx="457200" cy="25603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People</a:t>
            </a:r>
            <a:endParaRPr lang="en-US" sz="1000" dirty="0"/>
          </a:p>
        </p:txBody>
      </p:sp>
      <p:sp>
        <p:nvSpPr>
          <p:cNvPr id="3" name="Text 1"/>
          <p:cNvSpPr txBox="1"/>
          <p:nvPr/>
        </p:nvSpPr>
        <p:spPr>
          <a:xfrm>
            <a:off x="982980" y="6419088"/>
            <a:ext cx="274320" cy="256032"/>
          </a:xfrm>
          <a:prstGeom prst="rect">
            <a:avLst/>
          </a:prstGeom>
          <a:noFill/>
          <a:ln/>
        </p:spPr>
        <p:txBody>
          <a:bodyPr wrap="square" lIns="0" tIns="0" rIns="0" bIns="0" rtlCol="0" anchor="ctr"/>
          <a:lstStyle/>
          <a:p>
            <a:pPr indent="0" marL="0">
              <a:buNone/>
            </a:pPr>
            <a:r>
              <a:rPr lang="en-US" sz="1000" b="1" dirty="0">
                <a:solidFill>
                  <a:srgbClr val="E6C98F"/>
                </a:solidFill>
                <a:latin typeface="Cambria" pitchFamily="34" charset="0"/>
                <a:ea typeface="Cambria" pitchFamily="34" charset="-122"/>
                <a:cs typeface="Cambria" pitchFamily="34" charset="-120"/>
              </a:rPr>
              <a:t>OS</a:t>
            </a:r>
            <a:endParaRPr lang="en-US" sz="1000" dirty="0"/>
          </a:p>
        </p:txBody>
      </p:sp>
      <p:sp>
        <p:nvSpPr>
          <p:cNvPr id="4" name="Text 2"/>
          <p:cNvSpPr txBox="1"/>
          <p:nvPr/>
        </p:nvSpPr>
        <p:spPr>
          <a:xfrm>
            <a:off x="1371600" y="6419088"/>
            <a:ext cx="6858000" cy="256032"/>
          </a:xfrm>
          <a:prstGeom prst="rect">
            <a:avLst/>
          </a:prstGeom>
          <a:noFill/>
          <a:ln/>
        </p:spPr>
        <p:txBody>
          <a:bodyPr wrap="square" lIns="0" tIns="0" rIns="0" bIns="0" rtlCol="0" anchor="ctr"/>
          <a:lstStyle/>
          <a:p>
            <a:pPr indent="0" marL="0">
              <a:buNone/>
            </a:pPr>
            <a:r>
              <a:rPr lang="en-US" sz="900" dirty="0">
                <a:solidFill>
                  <a:srgbClr val="AEB3C7"/>
                </a:solidFill>
              </a:rPr>
              <a:t>Markedge PeopleOS training  ·  Reporting and analytics</a:t>
            </a:r>
            <a:endParaRPr lang="en-US" sz="900" dirty="0"/>
          </a:p>
        </p:txBody>
      </p:sp>
      <p:sp>
        <p:nvSpPr>
          <p:cNvPr id="5" name="Text 3"/>
          <p:cNvSpPr/>
          <p:nvPr>
            <p:ph idx="103" type="title" hasCustomPrompt="1"/>
          </p:nvPr>
        </p:nvSpPr>
        <p:spPr>
          <a:xfrm>
            <a:off x="548640" y="2331720"/>
            <a:ext cx="7040880"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jp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640080"/>
            <a:ext cx="6400800" cy="274320"/>
          </a:xfrm>
          <a:prstGeom prst="rect">
            <a:avLst/>
          </a:prstGeom>
          <a:noFill/>
          <a:ln/>
        </p:spPr>
        <p:txBody>
          <a:bodyPr wrap="square" lIns="0" tIns="0" rIns="0" bIns="0" rtlCol="0" anchor="ctr"/>
          <a:lstStyle/>
          <a:p>
            <a:pPr indent="0" marL="0">
              <a:buNone/>
            </a:pPr>
            <a:r>
              <a:rPr lang="en-US" sz="1200" b="1" spc="200" kern="0" dirty="0">
                <a:solidFill>
                  <a:srgbClr val="E6C98F"/>
                </a:solidFill>
              </a:rPr>
              <a:t>MARKEDGE PEOPLEOS  ·  TRAINING LIBRARY</a:t>
            </a:r>
            <a:endParaRPr lang="en-US" sz="1200" dirty="0"/>
          </a:p>
        </p:txBody>
      </p:sp>
      <p:sp>
        <p:nvSpPr>
          <p:cNvPr id="4" name="Text 1"/>
          <p:cNvSpPr txBox="1"/>
          <p:nvPr/>
        </p:nvSpPr>
        <p:spPr>
          <a:xfrm>
            <a:off x="548640" y="960120"/>
            <a:ext cx="3657600" cy="274320"/>
          </a:xfrm>
          <a:prstGeom prst="rect">
            <a:avLst/>
          </a:prstGeom>
          <a:noFill/>
          <a:ln/>
        </p:spPr>
        <p:txBody>
          <a:bodyPr wrap="square" lIns="0" tIns="0" rIns="0" bIns="0" rtlCol="0" anchor="ctr"/>
          <a:lstStyle/>
          <a:p>
            <a:pPr indent="0" marL="0">
              <a:buNone/>
            </a:pPr>
            <a:r>
              <a:rPr lang="en-US" sz="1200" dirty="0">
                <a:solidFill>
                  <a:srgbClr val="AEB3C7"/>
                </a:solidFill>
              </a:rPr>
              <a:t>Deck 12 of 12</a:t>
            </a:r>
            <a:endParaRPr lang="en-US" sz="1200" dirty="0"/>
          </a:p>
        </p:txBody>
      </p:sp>
      <p:sp>
        <p:nvSpPr>
          <p:cNvPr id="5"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Reporting and Analytics Training</a:t>
            </a:r>
            <a:endParaRPr lang="en-US" sz="4000" dirty="0"/>
          </a:p>
        </p:txBody>
      </p:sp>
      <p:sp>
        <p:nvSpPr>
          <p:cNvPr id="6" name="Text 3"/>
          <p:cNvSpPr txBox="1"/>
          <p:nvPr/>
        </p:nvSpPr>
        <p:spPr>
          <a:xfrm>
            <a:off x="548640" y="3794760"/>
            <a:ext cx="6675120" cy="91440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Read the dashboards, use the analytics pages, run and export reports, and check the audit trail, knowing what each figure means and where the gaps are.</a:t>
            </a:r>
            <a:endParaRPr lang="en-US" sz="1800" dirty="0"/>
          </a:p>
        </p:txBody>
      </p:sp>
      <p:sp>
        <p:nvSpPr>
          <p:cNvPr id="7" name="Text 4"/>
          <p:cNvSpPr txBox="1"/>
          <p:nvPr/>
        </p:nvSpPr>
        <p:spPr>
          <a:xfrm>
            <a:off x="548640" y="4846320"/>
            <a:ext cx="6766560" cy="960120"/>
          </a:xfrm>
          <a:prstGeom prst="rect">
            <a:avLst/>
          </a:prstGeom>
          <a:noFill/>
          <a:ln/>
        </p:spPr>
        <p:txBody>
          <a:bodyPr wrap="square" lIns="0" tIns="0" rIns="0" bIns="0" rtlCol="0" anchor="t"/>
          <a:lstStyle/>
          <a:p>
            <a:pPr indent="0" marL="0">
              <a:buNone/>
            </a:pPr>
            <a:r>
              <a:rPr lang="en-US" sz="1200" dirty="0">
                <a:solidFill>
                  <a:srgbClr val="AEB3C7"/>
                </a:solidFill>
                <a:latin typeface="Calibri" pitchFamily="34" charset="0"/>
                <a:ea typeface="Calibri" pitchFamily="34" charset="-122"/>
                <a:cs typeface="Calibri" pitchFamily="34" charset="-120"/>
              </a:rPr>
              <a:t>For: HR analysts, HR leaders, executives, payroll leads and auditors</a:t>
            </a:r>
            <a:endParaRPr lang="en-US" sz="1200" dirty="0"/>
          </a:p>
          <a:p>
            <a:pPr indent="0" marL="0">
              <a:buNone/>
            </a:pPr>
            <a:r>
              <a:rPr lang="en-US" sz="1200" dirty="0">
                <a:solidFill>
                  <a:srgbClr val="AEB3C7"/>
                </a:solidFill>
                <a:latin typeface="Calibri" pitchFamily="34" charset="0"/>
                <a:ea typeface="Calibri" pitchFamily="34" charset="-122"/>
                <a:cs typeface="Calibri" pitchFamily="34" charset="-120"/>
              </a:rPr>
              <a:t>Built from the running application (local, disposable database, fictional people) · 21 October 2026</a:t>
            </a:r>
            <a:endParaRPr lang="en-US" sz="1200" dirty="0"/>
          </a:p>
        </p:txBody>
      </p:sp>
      <p:pic>
        <p:nvPicPr>
          <p:cNvPr id="8" name="Screenshot analytics/80-ins-04-hr-overview-dashboard" descr="Screenshot: Insights › Analytics › Dashboards (HR overview) (Kavya Menon, fictional data)">    </p:cNvPr>
          <p:cNvPicPr>
            <a:picLocks noChangeAspect="1"/>
          </p:cNvPicPr>
          <p:nvPr/>
        </p:nvPicPr>
        <p:blipFill>
          <a:blip r:embed="rId1"/>
          <a:stretch>
            <a:fillRect/>
          </a:stretch>
        </p:blipFill>
        <p:spPr>
          <a:xfrm>
            <a:off x="7818120" y="2305177"/>
            <a:ext cx="3840480" cy="2430526"/>
          </a:xfrm>
          <a:prstGeom prst="rect">
            <a:avLst/>
          </a:prstGeom>
        </p:spPr>
      </p:pic>
      <p:sp>
        <p:nvSpPr>
          <p:cNvPr id="9" name="Screenshot frame"/>
          <p:cNvSpPr/>
          <p:nvPr/>
        </p:nvSpPr>
        <p:spPr>
          <a:xfrm>
            <a:off x="7818120" y="2305177"/>
            <a:ext cx="3840480" cy="2430526"/>
          </a:xfrm>
          <a:prstGeom prst="rect">
            <a:avLst/>
          </a:prstGeom>
          <a:ln w="9525">
            <a:solidFill>
              <a:srgbClr val="D9DCE3"/>
            </a:solidFill>
            <a:prstDash val="solid"/>
          </a:ln>
        </p:spPr>
      </p:sp>
      <p:sp>
        <p:nvSpPr>
          <p:cNvPr id="10" name="Text 6"/>
          <p:cNvSpPr txBox="1"/>
          <p:nvPr/>
        </p:nvSpPr>
        <p:spPr>
          <a:xfrm>
            <a:off x="7818120" y="5943600"/>
            <a:ext cx="3840480" cy="256032"/>
          </a:xfrm>
          <a:prstGeom prst="rect">
            <a:avLst/>
          </a:prstGeom>
          <a:noFill/>
          <a:ln/>
        </p:spPr>
        <p:txBody>
          <a:bodyPr wrap="square" lIns="0" tIns="0" rIns="0" bIns="0" rtlCol="0" anchor="ctr"/>
          <a:lstStyle/>
          <a:p>
            <a:pPr algn="ctr" indent="0" marL="0">
              <a:buNone/>
            </a:pPr>
            <a:r>
              <a:rPr lang="en-US" sz="1000" dirty="0">
                <a:solidFill>
                  <a:srgbClr val="AEB3C7"/>
                </a:solidFill>
              </a:rPr>
              <a:t>Real screen, fictional data</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BEFORE YOU START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to read this deck</a:t>
            </a:r>
            <a:endParaRPr lang="en-US" sz="2800" dirty="0"/>
          </a:p>
        </p:txBody>
      </p:sp>
      <p:sp>
        <p:nvSpPr>
          <p:cNvPr id="5" name="Status"/>
          <p:cNvSpPr txBox="1"/>
          <p:nvPr/>
        </p:nvSpPr>
        <p:spPr>
          <a:xfrm>
            <a:off x="548640" y="1463040"/>
            <a:ext cx="374904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6" name="Text 3"/>
          <p:cNvSpPr txBox="1"/>
          <p:nvPr/>
        </p:nvSpPr>
        <p:spPr>
          <a:xfrm>
            <a:off x="4526280" y="1444752"/>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We ran it on the training database and captured each step.</a:t>
            </a:r>
            <a:endParaRPr lang="en-US" sz="1200" dirty="0"/>
          </a:p>
        </p:txBody>
      </p:sp>
      <p:sp>
        <p:nvSpPr>
          <p:cNvPr id="7" name="Status"/>
          <p:cNvSpPr txBox="1"/>
          <p:nvPr/>
        </p:nvSpPr>
        <p:spPr>
          <a:xfrm>
            <a:off x="548640" y="2084832"/>
            <a:ext cx="3749040" cy="292608"/>
          </a:xfrm>
          <a:prstGeom prst="roundRect">
            <a:avLst>
              <a:gd name="adj" fmla="val 50000"/>
            </a:avLst>
          </a:prstGeom>
          <a:solidFill>
            <a:srgbClr val="ECEAFB"/>
          </a:solidFill>
          <a:ln/>
        </p:spPr>
        <p:txBody>
          <a:bodyPr wrap="square" lIns="0" tIns="0" rIns="0" bIns="0" rtlCol="0" anchor="ctr"/>
          <a:lstStyle/>
          <a:p>
            <a:pPr algn="ctr" indent="0" marL="0">
              <a:buNone/>
            </a:pPr>
            <a:r>
              <a:rPr lang="en-US" sz="1050" b="1" dirty="0">
                <a:solidFill>
                  <a:srgbClr val="3E3594"/>
                </a:solidFill>
              </a:rPr>
              <a:t>Implemented · not verified end to end</a:t>
            </a:r>
            <a:endParaRPr lang="en-US" sz="1050" dirty="0"/>
          </a:p>
        </p:txBody>
      </p:sp>
      <p:sp>
        <p:nvSpPr>
          <p:cNvPr id="8" name="Text 5"/>
          <p:cNvSpPr txBox="1"/>
          <p:nvPr/>
        </p:nvSpPr>
        <p:spPr>
          <a:xfrm>
            <a:off x="4526280" y="2066544"/>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screen exists; the last steps need data or a second party we could not provide.</a:t>
            </a:r>
            <a:endParaRPr lang="en-US" sz="1200" dirty="0"/>
          </a:p>
        </p:txBody>
      </p:sp>
      <p:sp>
        <p:nvSpPr>
          <p:cNvPr id="9" name="Status"/>
          <p:cNvSpPr txBox="1"/>
          <p:nvPr/>
        </p:nvSpPr>
        <p:spPr>
          <a:xfrm>
            <a:off x="548640" y="2706624"/>
            <a:ext cx="3749040" cy="292608"/>
          </a:xfrm>
          <a:prstGeom prst="roundRect">
            <a:avLst>
              <a:gd name="adj" fmla="val 50000"/>
            </a:avLst>
          </a:prstGeom>
          <a:solidFill>
            <a:srgbClr val="E4EEF8"/>
          </a:solidFill>
          <a:ln/>
        </p:spPr>
        <p:txBody>
          <a:bodyPr wrap="square" lIns="0" tIns="0" rIns="0" bIns="0" rtlCol="0" anchor="ctr"/>
          <a:lstStyle/>
          <a:p>
            <a:pPr algn="ctr" indent="0" marL="0">
              <a:buNone/>
            </a:pPr>
            <a:r>
              <a:rPr lang="en-US" sz="1050" b="1" dirty="0">
                <a:solidFill>
                  <a:srgbClr val="2F6FB3"/>
                </a:solidFill>
              </a:rPr>
              <a:t>Available only after configuration</a:t>
            </a:r>
            <a:endParaRPr lang="en-US" sz="1050" dirty="0"/>
          </a:p>
        </p:txBody>
      </p:sp>
      <p:sp>
        <p:nvSpPr>
          <p:cNvPr id="10" name="Text 7"/>
          <p:cNvSpPr txBox="1"/>
          <p:nvPr/>
        </p:nvSpPr>
        <p:spPr>
          <a:xfrm>
            <a:off x="4526280" y="2688336"/>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Works once an administrator or Markedge has set it up.</a:t>
            </a:r>
            <a:endParaRPr lang="en-US" sz="1200" dirty="0"/>
          </a:p>
        </p:txBody>
      </p:sp>
      <p:sp>
        <p:nvSpPr>
          <p:cNvPr id="11" name="Status"/>
          <p:cNvSpPr txBox="1"/>
          <p:nvPr/>
        </p:nvSpPr>
        <p:spPr>
          <a:xfrm>
            <a:off x="548640" y="3328416"/>
            <a:ext cx="3749040" cy="292608"/>
          </a:xfrm>
          <a:prstGeom prst="roundRect">
            <a:avLst>
              <a:gd name="adj" fmla="val 50000"/>
            </a:avLst>
          </a:prstGeom>
          <a:solidFill>
            <a:srgbClr val="FDF0DD"/>
          </a:solidFill>
          <a:ln/>
        </p:spPr>
        <p:txBody>
          <a:bodyPr wrap="square" lIns="0" tIns="0" rIns="0" bIns="0" rtlCol="0" anchor="ctr"/>
          <a:lstStyle/>
          <a:p>
            <a:pPr algn="ctr" indent="0" marL="0">
              <a:buNone/>
            </a:pPr>
            <a:r>
              <a:rPr lang="en-US" sz="1050" b="1" dirty="0">
                <a:solidFill>
                  <a:srgbClr val="8A5A00"/>
                </a:solidFill>
              </a:rPr>
              <a:t>Disabled by safety or commercial gates</a:t>
            </a:r>
            <a:endParaRPr lang="en-US" sz="1050" dirty="0"/>
          </a:p>
        </p:txBody>
      </p:sp>
      <p:sp>
        <p:nvSpPr>
          <p:cNvPr id="12" name="Text 9"/>
          <p:cNvSpPr txBox="1"/>
          <p:nvPr/>
        </p:nvSpPr>
        <p:spPr>
          <a:xfrm>
            <a:off x="4526280" y="3310128"/>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Switched off on purpose until owner decisions and approvals arrive.</a:t>
            </a:r>
            <a:endParaRPr lang="en-US" sz="1200" dirty="0"/>
          </a:p>
        </p:txBody>
      </p:sp>
      <p:sp>
        <p:nvSpPr>
          <p:cNvPr id="13" name="Status"/>
          <p:cNvSpPr txBox="1"/>
          <p:nvPr/>
        </p:nvSpPr>
        <p:spPr>
          <a:xfrm>
            <a:off x="548640" y="3950208"/>
            <a:ext cx="3749040"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14" name="Text 11"/>
          <p:cNvSpPr txBox="1"/>
          <p:nvPr/>
        </p:nvSpPr>
        <p:spPr>
          <a:xfrm>
            <a:off x="4526280" y="3931920"/>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Partly working: a known defect or gap is stated on the slide.</a:t>
            </a:r>
            <a:endParaRPr lang="en-US" sz="1200" dirty="0"/>
          </a:p>
        </p:txBody>
      </p:sp>
      <p:sp>
        <p:nvSpPr>
          <p:cNvPr id="15" name="Status"/>
          <p:cNvSpPr txBox="1"/>
          <p:nvPr/>
        </p:nvSpPr>
        <p:spPr>
          <a:xfrm>
            <a:off x="548640" y="4572000"/>
            <a:ext cx="3749040" cy="292608"/>
          </a:xfrm>
          <a:prstGeom prst="roundRect">
            <a:avLst>
              <a:gd name="adj" fmla="val 50000"/>
            </a:avLst>
          </a:prstGeom>
          <a:solidFill>
            <a:srgbClr val="EEEFF2"/>
          </a:solidFill>
          <a:ln/>
        </p:spPr>
        <p:txBody>
          <a:bodyPr wrap="square" lIns="0" tIns="0" rIns="0" bIns="0" rtlCol="0" anchor="ctr"/>
          <a:lstStyle/>
          <a:p>
            <a:pPr algn="ctr" indent="0" marL="0">
              <a:buNone/>
            </a:pPr>
            <a:r>
              <a:rPr lang="en-US" sz="1050" b="1" dirty="0">
                <a:solidFill>
                  <a:srgbClr val="6B7280"/>
                </a:solidFill>
              </a:rPr>
              <a:t>Not implemented</a:t>
            </a:r>
            <a:endParaRPr lang="en-US" sz="1050" dirty="0"/>
          </a:p>
        </p:txBody>
      </p:sp>
      <p:sp>
        <p:nvSpPr>
          <p:cNvPr id="16" name="Text 13"/>
          <p:cNvSpPr txBox="1"/>
          <p:nvPr/>
        </p:nvSpPr>
        <p:spPr>
          <a:xfrm>
            <a:off x="4526280" y="4553712"/>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Not in the product today.</a:t>
            </a:r>
            <a:endParaRPr lang="en-US" sz="1200" dirty="0"/>
          </a:p>
        </p:txBody>
      </p:sp>
      <p:sp>
        <p:nvSpPr>
          <p:cNvPr id="17" name="Status"/>
          <p:cNvSpPr txBox="1"/>
          <p:nvPr/>
        </p:nvSpPr>
        <p:spPr>
          <a:xfrm>
            <a:off x="548640" y="5193792"/>
            <a:ext cx="3749040" cy="292608"/>
          </a:xfrm>
          <a:prstGeom prst="roundRect">
            <a:avLst>
              <a:gd name="adj" fmla="val 50000"/>
            </a:avLst>
          </a:prstGeom>
          <a:solidFill>
            <a:srgbClr val="EEEFF2"/>
          </a:solidFill>
          <a:ln/>
        </p:spPr>
        <p:txBody>
          <a:bodyPr wrap="square" lIns="0" tIns="0" rIns="0" bIns="0" rtlCol="0" anchor="ctr"/>
          <a:lstStyle/>
          <a:p>
            <a:pPr algn="ctr" indent="0" marL="0">
              <a:buNone/>
            </a:pPr>
            <a:r>
              <a:rPr lang="en-US" sz="1050" b="1" dirty="0">
                <a:solidFill>
                  <a:srgbClr val="6B7280"/>
                </a:solidFill>
              </a:rPr>
              <a:t>Unable to verify</a:t>
            </a:r>
            <a:endParaRPr lang="en-US" sz="1050" dirty="0"/>
          </a:p>
        </p:txBody>
      </p:sp>
      <p:sp>
        <p:nvSpPr>
          <p:cNvPr id="18" name="Text 15"/>
          <p:cNvSpPr txBox="1"/>
          <p:nvPr/>
        </p:nvSpPr>
        <p:spPr>
          <a:xfrm>
            <a:off x="4526280" y="5175504"/>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Could not be checked in this environment.</a:t>
            </a:r>
            <a:endParaRPr lang="en-US" sz="1200" dirty="0"/>
          </a:p>
        </p:txBody>
      </p:sp>
      <p:sp>
        <p:nvSpPr>
          <p:cNvPr id="19" name="Shape 16"/>
          <p:cNvSpPr/>
          <p:nvPr/>
        </p:nvSpPr>
        <p:spPr>
          <a:xfrm>
            <a:off x="7818120" y="1463040"/>
            <a:ext cx="3824935" cy="4206240"/>
          </a:xfrm>
          <a:prstGeom prst="roundRect">
            <a:avLst>
              <a:gd name="adj" fmla="val 2869"/>
            </a:avLst>
          </a:prstGeom>
          <a:solidFill>
            <a:srgbClr val="F4F5F8"/>
          </a:solidFill>
          <a:ln w="12700">
            <a:solidFill>
              <a:srgbClr val="F4F5F8"/>
            </a:solidFill>
            <a:prstDash val="solid"/>
          </a:ln>
        </p:spPr>
      </p:sp>
      <p:sp>
        <p:nvSpPr>
          <p:cNvPr id="20" name="Callout 1"/>
          <p:cNvSpPr txBox="1"/>
          <p:nvPr/>
        </p:nvSpPr>
        <p:spPr>
          <a:xfrm>
            <a:off x="8092440" y="1691640"/>
            <a:ext cx="329184" cy="329184"/>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8"/>
          <p:cNvSpPr txBox="1"/>
          <p:nvPr/>
        </p:nvSpPr>
        <p:spPr>
          <a:xfrm>
            <a:off x="8549640" y="1673352"/>
            <a:ext cx="2910535"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Numbered markers on a screenshot match the numbered steps beside it.</a:t>
            </a:r>
            <a:endParaRPr lang="en-US" sz="1300" dirty="0"/>
          </a:p>
        </p:txBody>
      </p:sp>
      <p:sp>
        <p:nvSpPr>
          <p:cNvPr id="22" name="Text 19"/>
          <p:cNvSpPr txBox="1"/>
          <p:nvPr/>
        </p:nvSpPr>
        <p:spPr>
          <a:xfrm>
            <a:off x="8092440" y="2514600"/>
            <a:ext cx="3276295"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screenshot is a real capture of PeopleOS. The people and companies in it are fictional.</a:t>
            </a:r>
            <a:endParaRPr lang="en-US" sz="1300" dirty="0"/>
          </a:p>
        </p:txBody>
      </p:sp>
      <p:sp>
        <p:nvSpPr>
          <p:cNvPr id="23" name="Text 20"/>
          <p:cNvSpPr txBox="1"/>
          <p:nvPr/>
        </p:nvSpPr>
        <p:spPr>
          <a:xfrm>
            <a:off x="8092440" y="3383280"/>
            <a:ext cx="3276295"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Diagrams are marked "Conceptual diagram". They explain ideas; they are not screens.</a:t>
            </a:r>
            <a:endParaRPr lang="en-US" sz="1300" dirty="0"/>
          </a:p>
        </p:txBody>
      </p:sp>
      <p:sp>
        <p:nvSpPr>
          <p:cNvPr id="24" name="Text 21"/>
          <p:cNvSpPr txBox="1"/>
          <p:nvPr/>
        </p:nvSpPr>
        <p:spPr>
          <a:xfrm>
            <a:off x="8092440" y="4251960"/>
            <a:ext cx="3276295" cy="128016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Release gate: NO-GO (10 of 14 gates blocked, re-verified 13 Oct 2026). Not yet generally available.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BEFORE YOU START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Where PeopleOS stands today</a:t>
            </a:r>
            <a:endParaRPr lang="en-US" sz="2800" dirty="0"/>
          </a:p>
        </p:txBody>
      </p:sp>
      <p:sp>
        <p:nvSpPr>
          <p:cNvPr id="5" name="Text 2"/>
          <p:cNvSpPr txBox="1"/>
          <p:nvPr/>
        </p:nvSpPr>
        <p:spPr>
          <a:xfrm>
            <a:off x="548640" y="1371600"/>
            <a:ext cx="11094415" cy="566928"/>
          </a:xfrm>
          <a:prstGeom prst="rect">
            <a:avLst/>
          </a:prstGeom>
          <a:noFill/>
          <a:ln/>
        </p:spPr>
        <p:txBody>
          <a:bodyPr wrap="square" lIns="0" tIns="0" rIns="0" bIns="0" rtlCol="0" anchor="t"/>
          <a:lstStyle/>
          <a:p>
            <a:pPr indent="0" marL="0">
              <a:buNone/>
            </a:pPr>
            <a:r>
              <a:rPr lang="en-US" sz="1500" dirty="0">
                <a:solidFill>
                  <a:srgbClr val="5B6275"/>
                </a:solidFill>
                <a:latin typeface="Calibri" pitchFamily="34" charset="0"/>
                <a:ea typeface="Calibri" pitchFamily="34" charset="-122"/>
                <a:cs typeface="Calibri" pitchFamily="34" charset="-120"/>
              </a:rPr>
              <a:t>This training uses the real application on a practice database with invented people. PeopleOS is not yet generally available.</a:t>
            </a:r>
            <a:endParaRPr lang="en-US" sz="1500" dirty="0"/>
          </a:p>
        </p:txBody>
      </p:sp>
      <p:sp>
        <p:nvSpPr>
          <p:cNvPr id="6" name="Shape 3"/>
          <p:cNvSpPr/>
          <p:nvPr/>
        </p:nvSpPr>
        <p:spPr>
          <a:xfrm>
            <a:off x="548640" y="2029968"/>
            <a:ext cx="5432908" cy="2002536"/>
          </a:xfrm>
          <a:prstGeom prst="roundRect">
            <a:avLst>
              <a:gd name="adj" fmla="val 4566"/>
            </a:avLst>
          </a:prstGeom>
          <a:solidFill>
            <a:srgbClr val="E3F3EA"/>
          </a:solidFill>
          <a:ln w="12700">
            <a:solidFill>
              <a:srgbClr val="E3F3EA"/>
            </a:solidFill>
            <a:prstDash val="solid"/>
          </a:ln>
        </p:spPr>
      </p:sp>
      <p:sp>
        <p:nvSpPr>
          <p:cNvPr id="7" name="Text 4"/>
          <p:cNvSpPr txBox="1"/>
          <p:nvPr/>
        </p:nvSpPr>
        <p:spPr>
          <a:xfrm>
            <a:off x="777240" y="2176272"/>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What works today</a:t>
            </a:r>
            <a:endParaRPr lang="en-US" sz="1600" dirty="0"/>
          </a:p>
        </p:txBody>
      </p:sp>
      <p:sp>
        <p:nvSpPr>
          <p:cNvPr id="8" name="Text 5"/>
          <p:cNvSpPr txBox="1"/>
          <p:nvPr/>
        </p:nvSpPr>
        <p:spPr>
          <a:xfrm>
            <a:off x="777240" y="2651760"/>
            <a:ext cx="4975708" cy="1271016"/>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screens in this deck were run end to end on the practice database: you will see exactly what you will use.</a:t>
            </a:r>
            <a:endParaRPr lang="en-US" sz="1400" dirty="0"/>
          </a:p>
        </p:txBody>
      </p:sp>
      <p:sp>
        <p:nvSpPr>
          <p:cNvPr id="9" name="Shape 6"/>
          <p:cNvSpPr/>
          <p:nvPr/>
        </p:nvSpPr>
        <p:spPr>
          <a:xfrm>
            <a:off x="6210148" y="2029968"/>
            <a:ext cx="5432908" cy="2002536"/>
          </a:xfrm>
          <a:prstGeom prst="roundRect">
            <a:avLst>
              <a:gd name="adj" fmla="val 4566"/>
            </a:avLst>
          </a:prstGeom>
          <a:solidFill>
            <a:srgbClr val="FDF0DD"/>
          </a:solidFill>
          <a:ln w="12700">
            <a:solidFill>
              <a:srgbClr val="FDF0DD"/>
            </a:solidFill>
            <a:prstDash val="solid"/>
          </a:ln>
        </p:spPr>
      </p:sp>
      <p:sp>
        <p:nvSpPr>
          <p:cNvPr id="10" name="Text 7"/>
          <p:cNvSpPr txBox="1"/>
          <p:nvPr/>
        </p:nvSpPr>
        <p:spPr>
          <a:xfrm>
            <a:off x="6438748" y="2176272"/>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Payroll is not live yet</a:t>
            </a:r>
            <a:endParaRPr lang="en-US" sz="1600" dirty="0"/>
          </a:p>
        </p:txBody>
      </p:sp>
      <p:sp>
        <p:nvSpPr>
          <p:cNvPr id="11" name="Text 8"/>
          <p:cNvSpPr txBox="1"/>
          <p:nvPr/>
        </p:nvSpPr>
        <p:spPr>
          <a:xfrm>
            <a:off x="6438748" y="2651760"/>
            <a:ext cx="4975708" cy="1271016"/>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Payslips appear only after a payroll run is finalised. Finalising is blocked until statutory rules are verified (0 of 24 today).</a:t>
            </a:r>
            <a:endParaRPr lang="en-US" sz="1400" dirty="0"/>
          </a:p>
        </p:txBody>
      </p:sp>
      <p:sp>
        <p:nvSpPr>
          <p:cNvPr id="12" name="Shape 9"/>
          <p:cNvSpPr/>
          <p:nvPr/>
        </p:nvSpPr>
        <p:spPr>
          <a:xfrm>
            <a:off x="548640" y="4261104"/>
            <a:ext cx="5432908" cy="2002536"/>
          </a:xfrm>
          <a:prstGeom prst="roundRect">
            <a:avLst>
              <a:gd name="adj" fmla="val 4566"/>
            </a:avLst>
          </a:prstGeom>
          <a:solidFill>
            <a:srgbClr val="ECEAFB"/>
          </a:solidFill>
          <a:ln w="12700">
            <a:solidFill>
              <a:srgbClr val="ECEAFB"/>
            </a:solidFill>
            <a:prstDash val="solid"/>
          </a:ln>
        </p:spPr>
      </p:sp>
      <p:sp>
        <p:nvSpPr>
          <p:cNvPr id="13" name="Text 10"/>
          <p:cNvSpPr txBox="1"/>
          <p:nvPr/>
        </p:nvSpPr>
        <p:spPr>
          <a:xfrm>
            <a:off x="777240" y="4407408"/>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Known issues are named</a:t>
            </a:r>
            <a:endParaRPr lang="en-US" sz="1600" dirty="0"/>
          </a:p>
        </p:txBody>
      </p:sp>
      <p:sp>
        <p:nvSpPr>
          <p:cNvPr id="14" name="Text 11"/>
          <p:cNvSpPr txBox="1"/>
          <p:nvPr/>
        </p:nvSpPr>
        <p:spPr>
          <a:xfrm>
            <a:off x="777240" y="4882896"/>
            <a:ext cx="4975708" cy="1271016"/>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Where something does not work as it should, the slide says so and shows the workaround.</a:t>
            </a:r>
            <a:endParaRPr lang="en-US" sz="1600" dirty="0"/>
          </a:p>
        </p:txBody>
      </p:sp>
      <p:sp>
        <p:nvSpPr>
          <p:cNvPr id="15" name="Shape 12"/>
          <p:cNvSpPr/>
          <p:nvPr/>
        </p:nvSpPr>
        <p:spPr>
          <a:xfrm>
            <a:off x="6210148" y="4261104"/>
            <a:ext cx="5432908" cy="2002536"/>
          </a:xfrm>
          <a:prstGeom prst="roundRect">
            <a:avLst>
              <a:gd name="adj" fmla="val 4566"/>
            </a:avLst>
          </a:prstGeom>
          <a:solidFill>
            <a:srgbClr val="ECEAFB"/>
          </a:solidFill>
          <a:ln w="12700">
            <a:solidFill>
              <a:srgbClr val="ECEAFB"/>
            </a:solidFill>
            <a:prstDash val="solid"/>
          </a:ln>
        </p:spPr>
      </p:sp>
      <p:sp>
        <p:nvSpPr>
          <p:cNvPr id="16" name="Text 13"/>
          <p:cNvSpPr txBox="1"/>
          <p:nvPr/>
        </p:nvSpPr>
        <p:spPr>
          <a:xfrm>
            <a:off x="6438748" y="4407408"/>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Some figures hide small groups</a:t>
            </a:r>
            <a:endParaRPr lang="en-US" sz="1600" dirty="0"/>
          </a:p>
        </p:txBody>
      </p:sp>
      <p:sp>
        <p:nvSpPr>
          <p:cNvPr id="17" name="Text 14"/>
          <p:cNvSpPr txBox="1"/>
          <p:nvPr/>
        </p:nvSpPr>
        <p:spPr>
          <a:xfrm>
            <a:off x="6438748" y="4882896"/>
            <a:ext cx="4975708" cy="1271016"/>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People, performance, compensation and HR service analytics and talent pools suppress counts below 5. The HR overview, Workforce pulse, reports and exit insights show exact counts to permitted roles.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LEARNING OBJECTIVES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you will be able to do</a:t>
            </a:r>
            <a:endParaRPr lang="en-US" sz="2800" dirty="0"/>
          </a:p>
        </p:txBody>
      </p:sp>
      <p:sp>
        <p:nvSpPr>
          <p:cNvPr id="5" name="Shape 2"/>
          <p:cNvSpPr/>
          <p:nvPr/>
        </p:nvSpPr>
        <p:spPr>
          <a:xfrm>
            <a:off x="548640" y="1463040"/>
            <a:ext cx="5410048" cy="960120"/>
          </a:xfrm>
          <a:prstGeom prst="roundRect">
            <a:avLst>
              <a:gd name="adj" fmla="val 9524"/>
            </a:avLst>
          </a:prstGeom>
          <a:solidFill>
            <a:srgbClr val="F4F5F8"/>
          </a:solidFill>
          <a:ln w="12700">
            <a:solidFill>
              <a:srgbClr val="F4F5F8"/>
            </a:solidFill>
            <a:prstDash val="solid"/>
          </a:ln>
        </p:spPr>
      </p:sp>
      <p:sp>
        <p:nvSpPr>
          <p:cNvPr id="6" name="Callout 1"/>
          <p:cNvSpPr txBox="1"/>
          <p:nvPr/>
        </p:nvSpPr>
        <p:spPr>
          <a:xfrm>
            <a:off x="731520" y="1751076"/>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1536192"/>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Read the HR overview and Workforce pulse</a:t>
            </a:r>
            <a:endParaRPr lang="en-US" sz="1500" dirty="0"/>
          </a:p>
          <a:p>
            <a:pPr indent="0" marL="0">
              <a:buNone/>
            </a:pPr>
            <a:r>
              <a:rPr lang="en-US" sz="1300" dirty="0">
                <a:solidFill>
                  <a:srgbClr val="5B6275"/>
                </a:solidFill>
              </a:rPr>
              <a:t>and explain how each figure is calculated</a:t>
            </a:r>
            <a:endParaRPr lang="en-US" sz="1500" dirty="0"/>
          </a:p>
        </p:txBody>
      </p:sp>
      <p:sp>
        <p:nvSpPr>
          <p:cNvPr id="8" name="Shape 5"/>
          <p:cNvSpPr/>
          <p:nvPr/>
        </p:nvSpPr>
        <p:spPr>
          <a:xfrm>
            <a:off x="548640" y="2587752"/>
            <a:ext cx="5410048" cy="960120"/>
          </a:xfrm>
          <a:prstGeom prst="roundRect">
            <a:avLst>
              <a:gd name="adj" fmla="val 9524"/>
            </a:avLst>
          </a:prstGeom>
          <a:solidFill>
            <a:srgbClr val="F4F5F8"/>
          </a:solidFill>
          <a:ln w="12700">
            <a:solidFill>
              <a:srgbClr val="F4F5F8"/>
            </a:solidFill>
            <a:prstDash val="solid"/>
          </a:ln>
        </p:spPr>
      </p:sp>
      <p:sp>
        <p:nvSpPr>
          <p:cNvPr id="9" name="Callout 2"/>
          <p:cNvSpPr txBox="1"/>
          <p:nvPr/>
        </p:nvSpPr>
        <p:spPr>
          <a:xfrm>
            <a:off x="731520" y="2875788"/>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1280160" y="2660904"/>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Use People analytics and the area dashboards</a:t>
            </a:r>
            <a:endParaRPr lang="en-US" sz="1500" dirty="0"/>
          </a:p>
          <a:p>
            <a:pPr indent="0" marL="0">
              <a:buNone/>
            </a:pPr>
            <a:r>
              <a:rPr lang="en-US" sz="1300" dirty="0">
                <a:solidFill>
                  <a:srgbClr val="5B6275"/>
                </a:solidFill>
              </a:rPr>
              <a:t>attendance, leave, pay, performance, learning, talent, exits, service</a:t>
            </a:r>
            <a:endParaRPr lang="en-US" sz="1500" dirty="0"/>
          </a:p>
        </p:txBody>
      </p:sp>
      <p:sp>
        <p:nvSpPr>
          <p:cNvPr id="11" name="Shape 8"/>
          <p:cNvSpPr/>
          <p:nvPr/>
        </p:nvSpPr>
        <p:spPr>
          <a:xfrm>
            <a:off x="548640" y="3712464"/>
            <a:ext cx="5410048" cy="960120"/>
          </a:xfrm>
          <a:prstGeom prst="roundRect">
            <a:avLst>
              <a:gd name="adj" fmla="val 9524"/>
            </a:avLst>
          </a:prstGeom>
          <a:solidFill>
            <a:srgbClr val="F4F5F8"/>
          </a:solidFill>
          <a:ln w="12700">
            <a:solidFill>
              <a:srgbClr val="F4F5F8"/>
            </a:solidFill>
            <a:prstDash val="solid"/>
          </a:ln>
        </p:spPr>
      </p:sp>
      <p:sp>
        <p:nvSpPr>
          <p:cNvPr id="12" name="Callout 3"/>
          <p:cNvSpPr txBox="1"/>
          <p:nvPr/>
        </p:nvSpPr>
        <p:spPr>
          <a:xfrm>
            <a:off x="731520" y="4000500"/>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0"/>
          <p:cNvSpPr txBox="1"/>
          <p:nvPr/>
        </p:nvSpPr>
        <p:spPr>
          <a:xfrm>
            <a:off x="1280160" y="3785616"/>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Run and export a report</a:t>
            </a:r>
            <a:endParaRPr lang="en-US" sz="1500" dirty="0"/>
          </a:p>
          <a:p>
            <a:pPr indent="0" marL="0">
              <a:buNone/>
            </a:pPr>
            <a:r>
              <a:rPr lang="en-US" sz="1300" dirty="0">
                <a:solidFill>
                  <a:srgbClr val="5B6275"/>
                </a:solidFill>
              </a:rPr>
              <a:t>and know where the export is recorded</a:t>
            </a:r>
            <a:endParaRPr lang="en-US" sz="1500" dirty="0"/>
          </a:p>
        </p:txBody>
      </p:sp>
      <p:sp>
        <p:nvSpPr>
          <p:cNvPr id="14" name="Shape 11"/>
          <p:cNvSpPr/>
          <p:nvPr/>
        </p:nvSpPr>
        <p:spPr>
          <a:xfrm>
            <a:off x="6233008" y="1463040"/>
            <a:ext cx="5410048" cy="960120"/>
          </a:xfrm>
          <a:prstGeom prst="roundRect">
            <a:avLst>
              <a:gd name="adj" fmla="val 9524"/>
            </a:avLst>
          </a:prstGeom>
          <a:solidFill>
            <a:srgbClr val="F4F5F8"/>
          </a:solidFill>
          <a:ln w="12700">
            <a:solidFill>
              <a:srgbClr val="F4F5F8"/>
            </a:solidFill>
            <a:prstDash val="solid"/>
          </a:ln>
        </p:spPr>
      </p:sp>
      <p:sp>
        <p:nvSpPr>
          <p:cNvPr id="15" name="Callout 4"/>
          <p:cNvSpPr txBox="1"/>
          <p:nvPr/>
        </p:nvSpPr>
        <p:spPr>
          <a:xfrm>
            <a:off x="6415888" y="1751076"/>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6" name="Text 13"/>
          <p:cNvSpPr txBox="1"/>
          <p:nvPr/>
        </p:nvSpPr>
        <p:spPr>
          <a:xfrm>
            <a:off x="6964528" y="1536192"/>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Check who changed what</a:t>
            </a:r>
            <a:endParaRPr lang="en-US" sz="1500" dirty="0"/>
          </a:p>
          <a:p>
            <a:pPr indent="0" marL="0">
              <a:buNone/>
            </a:pPr>
            <a:r>
              <a:rPr lang="en-US" sz="1300" dirty="0">
                <a:solidFill>
                  <a:srgbClr val="5B6275"/>
                </a:solidFill>
              </a:rPr>
              <a:t>Change history, event detail and integrity</a:t>
            </a:r>
            <a:endParaRPr lang="en-US" sz="1500" dirty="0"/>
          </a:p>
        </p:txBody>
      </p:sp>
      <p:sp>
        <p:nvSpPr>
          <p:cNvPr id="17" name="Shape 14"/>
          <p:cNvSpPr/>
          <p:nvPr/>
        </p:nvSpPr>
        <p:spPr>
          <a:xfrm>
            <a:off x="6233008" y="2587752"/>
            <a:ext cx="5410048" cy="960120"/>
          </a:xfrm>
          <a:prstGeom prst="roundRect">
            <a:avLst>
              <a:gd name="adj" fmla="val 9524"/>
            </a:avLst>
          </a:prstGeom>
          <a:solidFill>
            <a:srgbClr val="F4F5F8"/>
          </a:solidFill>
          <a:ln w="12700">
            <a:solidFill>
              <a:srgbClr val="F4F5F8"/>
            </a:solidFill>
            <a:prstDash val="solid"/>
          </a:ln>
        </p:spPr>
      </p:sp>
      <p:sp>
        <p:nvSpPr>
          <p:cNvPr id="18" name="Callout 5"/>
          <p:cNvSpPr txBox="1"/>
          <p:nvPr/>
        </p:nvSpPr>
        <p:spPr>
          <a:xfrm>
            <a:off x="6415888" y="2875788"/>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9" name="Text 16"/>
          <p:cNvSpPr txBox="1"/>
          <p:nvPr/>
        </p:nvSpPr>
        <p:spPr>
          <a:xfrm>
            <a:off x="6964528" y="2660904"/>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Reconcile figures with source data</a:t>
            </a:r>
            <a:endParaRPr lang="en-US" sz="1500" dirty="0"/>
          </a:p>
          <a:p>
            <a:pPr indent="0" marL="0">
              <a:buNone/>
            </a:pPr>
            <a:r>
              <a:rPr lang="en-US" sz="1300" dirty="0">
                <a:solidFill>
                  <a:srgbClr val="5B6275"/>
                </a:solidFill>
              </a:rPr>
              <a:t>filters, "as of" dates and drill-downs</a:t>
            </a:r>
            <a:endParaRPr lang="en-US" sz="1500" dirty="0"/>
          </a:p>
        </p:txBody>
      </p:sp>
      <p:sp>
        <p:nvSpPr>
          <p:cNvPr id="20" name="Shape 17"/>
          <p:cNvSpPr/>
          <p:nvPr/>
        </p:nvSpPr>
        <p:spPr>
          <a:xfrm>
            <a:off x="6233008" y="3712464"/>
            <a:ext cx="5410048" cy="960120"/>
          </a:xfrm>
          <a:prstGeom prst="roundRect">
            <a:avLst>
              <a:gd name="adj" fmla="val 9524"/>
            </a:avLst>
          </a:prstGeom>
          <a:solidFill>
            <a:srgbClr val="F4F5F8"/>
          </a:solidFill>
          <a:ln w="12700">
            <a:solidFill>
              <a:srgbClr val="F4F5F8"/>
            </a:solidFill>
            <a:prstDash val="solid"/>
          </a:ln>
        </p:spPr>
      </p:sp>
      <p:sp>
        <p:nvSpPr>
          <p:cNvPr id="21" name="Callout 6"/>
          <p:cNvSpPr txBox="1"/>
          <p:nvPr/>
        </p:nvSpPr>
        <p:spPr>
          <a:xfrm>
            <a:off x="6415888" y="4000500"/>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2" name="Text 19"/>
          <p:cNvSpPr txBox="1"/>
          <p:nvPr/>
        </p:nvSpPr>
        <p:spPr>
          <a:xfrm>
            <a:off x="6964528" y="3785616"/>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Name the current gaps</a:t>
            </a:r>
            <a:endParaRPr lang="en-US" sz="1500" dirty="0"/>
          </a:p>
          <a:p>
            <a:pPr indent="0" marL="0">
              <a:buNone/>
            </a:pPr>
            <a:r>
              <a:rPr lang="en-US" sz="1300" dirty="0">
                <a:solidFill>
                  <a:srgbClr val="5B6275"/>
                </a:solidFill>
              </a:rPr>
              <a:t>report builder, executive datasets, payroll reports</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MAP OF INSIGHTS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Where the figures live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468880"/>
                <a:gridCol w="3474720"/>
                <a:gridCol w="3566160"/>
                <a:gridCol w="1581912"/>
              </a:tblGrid>
              <a:tr h="384048">
                <a:tc>
                  <a:txBody>
                    <a:bodyPr/>
                    <a:lstStyle/>
                    <a:p>
                      <a:pPr indent="0" marL="0">
                        <a:buNone/>
                      </a:pPr>
                      <a:r>
                        <a:rPr lang="en-US" sz="1250" b="1" dirty="0">
                          <a:solidFill>
                            <a:srgbClr val="FFFFFF"/>
                          </a:solidFill>
                        </a:rPr>
                        <a:t>Screen</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Menu path</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Who can open (system roles)</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Status</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HR overview (Dashboards)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Insights › Analytics › Dashboards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Tenant HR Admin, HR Manager, Executive, Auditor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1E7F4F"/>
                          </a:solidFill>
                        </a:rPr>
                        <a:t>Verified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r>
              <a:tr h="384048">
                <a:tc>
                  <a:txBody>
                    <a:bodyPr/>
                    <a:lstStyle/>
                    <a:p>
                      <a:pPr indent="0" marL="0">
                        <a:buNone/>
                      </a:pPr>
                      <a:r>
                        <a:rPr lang="en-US" sz="1300" dirty="0">
                          <a:solidFill>
                            <a:srgbClr val="1F2433"/>
                          </a:solidFill>
                        </a:rPr>
                        <a:t>Workforce pulse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Insights › Analytics › Workforce Command Centre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Tenant HR Admin, Executive, Auditor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1E7F4F"/>
                          </a:solidFill>
                        </a:rPr>
                        <a:t>Verified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r>
              <a:tr h="384048">
                <a:tc>
                  <a:txBody>
                    <a:bodyPr/>
                    <a:lstStyle/>
                    <a:p>
                      <a:pPr indent="0" marL="0">
                        <a:buNone/>
                      </a:pPr>
                      <a:r>
                        <a:rPr lang="en-US" sz="1300" dirty="0">
                          <a:solidFill>
                            <a:srgbClr val="1F2433"/>
                          </a:solidFill>
                        </a:rPr>
                        <a:t>Workforce Intelligence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Insights › Analytics › Workforce Intelligence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Tenant HR Admin, HR Manager, Executive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1E7F4F"/>
                          </a:solidFill>
                        </a:rPr>
                        <a:t>Verified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r>
              <a:tr h="384048">
                <a:tc>
                  <a:txBody>
                    <a:bodyPr/>
                    <a:lstStyle/>
                    <a:p>
                      <a:pPr indent="0" marL="0">
                        <a:buNone/>
                      </a:pPr>
                      <a:r>
                        <a:rPr lang="en-US" sz="1300" dirty="0">
                          <a:solidFill>
                            <a:srgbClr val="1F2433"/>
                          </a:solidFill>
                        </a:rPr>
                        <a:t>People analytics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Insights › Analytics › People analytics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HR roles, Manager, Payroll and Attendance Admin, Executive, Auditor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1E7F4F"/>
                          </a:solidFill>
                        </a:rPr>
                        <a:t>Verified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r>
              <a:tr h="384048">
                <a:tc>
                  <a:txBody>
                    <a:bodyPr/>
                    <a:lstStyle/>
                    <a:p>
                      <a:pPr indent="0" marL="0">
                        <a:buNone/>
                      </a:pPr>
                      <a:r>
                        <a:rPr lang="en-US" sz="1300" dirty="0">
                          <a:solidFill>
                            <a:srgbClr val="1F2433"/>
                          </a:solidFill>
                        </a:rPr>
                        <a:t>Reports and export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Insights › Analytics › Reports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Tenant HR Admin, HR Manager, Executive, Auditor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B3261E"/>
                          </a:solidFill>
                        </a:rPr>
                        <a:t>Incomplete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r>
              <a:tr h="384048">
                <a:tc>
                  <a:txBody>
                    <a:bodyPr/>
                    <a:lstStyle/>
                    <a:p>
                      <a:pPr indent="0" marL="0">
                        <a:buNone/>
                      </a:pPr>
                      <a:r>
                        <a:rPr lang="en-US" sz="1300" dirty="0">
                          <a:solidFill>
                            <a:srgbClr val="1F2433"/>
                          </a:solidFill>
                        </a:rPr>
                        <a:t>Change history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Insights › Audit › Change history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Tenant HR Admin, HR Manager, Payroll Admin, Account Owner, Auditor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1E7F4F"/>
                          </a:solidFill>
                        </a:rPr>
                        <a:t>Verified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r>
              <a:tr h="384048">
                <a:tc>
                  <a:txBody>
                    <a:bodyPr/>
                    <a:lstStyle/>
                    <a:p>
                      <a:pPr indent="0" marL="0">
                        <a:buNone/>
                      </a:pPr>
                      <a:r>
                        <a:rPr lang="en-US" sz="1300" dirty="0">
                          <a:solidFill>
                            <a:srgbClr val="1F2433"/>
                          </a:solidFill>
                        </a:rPr>
                        <a:t>Area dashboards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Pay, Growth, Workforce, Lifecycle, Service Desk menus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By area permission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1E7F4F"/>
                          </a:solidFill>
                        </a:rPr>
                        <a:t>Verified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01</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Dashboards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The HR overview, the Workforce pulse and the signals behind them.</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HR overview dashboard</a:t>
            </a:r>
            <a:endParaRPr lang="en-US" sz="2800" dirty="0"/>
          </a:p>
        </p:txBody>
      </p:sp>
      <p:pic>
        <p:nvPicPr>
          <p:cNvPr id="5" name="Screenshot analytics/80-ins-04-hr-overview-dashboard" descr="Screenshot: Insights › Analytics › Dashboards (HR overview) (Kavya Menon, fictional data)">    </p:cNvPr>
          <p:cNvPicPr>
            <a:picLocks noChangeAspect="1"/>
          </p:cNvPicPr>
          <p:nvPr/>
        </p:nvPicPr>
        <p:blipFill>
          <a:blip r:embed="rId1"/>
          <a:stretch>
            <a:fillRect/>
          </a:stretch>
        </p:blipFill>
        <p:spPr>
          <a:xfrm>
            <a:off x="2628218" y="1371600"/>
            <a:ext cx="6935259" cy="4389120"/>
          </a:xfrm>
          <a:prstGeom prst="rect">
            <a:avLst/>
          </a:prstGeom>
        </p:spPr>
      </p:pic>
      <p:sp>
        <p:nvSpPr>
          <p:cNvPr id="6" name="Screenshot frame"/>
          <p:cNvSpPr/>
          <p:nvPr/>
        </p:nvSpPr>
        <p:spPr>
          <a:xfrm>
            <a:off x="2628218" y="1371600"/>
            <a:ext cx="6935259" cy="4389120"/>
          </a:xfrm>
          <a:prstGeom prst="rect">
            <a:avLst/>
          </a:prstGeom>
          <a:ln w="9525">
            <a:solidFill>
              <a:srgbClr val="D9DCE3"/>
            </a:solidFill>
            <a:prstDash val="solid"/>
          </a:ln>
        </p:spPr>
      </p:sp>
      <p:sp>
        <p:nvSpPr>
          <p:cNvPr id="7" name="Text 3"/>
          <p:cNvSpPr txBox="1"/>
          <p:nvPr/>
        </p:nvSpPr>
        <p:spPr>
          <a:xfrm>
            <a:off x="548640" y="5760720"/>
            <a:ext cx="11094415" cy="438912"/>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Headcount, attrition (12 months), absenteeism (30 days), people cost, headcount trend and by department, needs attention, mandatory learning completion.</a:t>
            </a:r>
            <a:endParaRPr lang="en-US" sz="1250" dirty="0"/>
          </a:p>
        </p:txBody>
      </p:sp>
      <p:sp>
        <p:nvSpPr>
          <p:cNvPr id="8" name="Text 4"/>
          <p:cNvSpPr txBox="1"/>
          <p:nvPr/>
        </p:nvSpPr>
        <p:spPr>
          <a:xfrm>
            <a:off x="548640" y="6199632"/>
            <a:ext cx="11094415" cy="182880"/>
          </a:xfrm>
          <a:prstGeom prst="rect">
            <a:avLst/>
          </a:prstGeom>
          <a:noFill/>
          <a:ln/>
        </p:spPr>
        <p:txBody>
          <a:bodyPr wrap="square" lIns="0" tIns="0" rIns="0" bIns="0" rtlCol="0" anchor="ctr"/>
          <a:lstStyle/>
          <a:p>
            <a:pPr indent="0" marL="0">
              <a:buNone/>
            </a:pPr>
            <a:r>
              <a:rPr lang="en-US" sz="900" dirty="0">
                <a:solidFill>
                  <a:srgbClr val="8A90A2"/>
                </a:solidFill>
              </a:rPr>
              <a:t>Real screen · Kavya Menon (Tenant HR Admin + Employee) · Insights › Analytics › Dashboards (HR overview)</a:t>
            </a:r>
            <a:endParaRPr lang="en-US" sz="900" dirty="0"/>
          </a:p>
        </p:txBody>
      </p:sp>
      <p:sp>
        <p:nvSpPr>
          <p:cNvPr id="9" name="Status"/>
          <p:cNvSpPr txBox="1"/>
          <p:nvPr/>
        </p:nvSpPr>
        <p:spPr>
          <a:xfrm>
            <a:off x="8534095" y="274320"/>
            <a:ext cx="310896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the headline figures are calculated</a:t>
            </a:r>
            <a:endParaRPr lang="en-US" sz="2800" dirty="0"/>
          </a:p>
        </p:txBody>
      </p:sp>
      <p:sp>
        <p:nvSpPr>
          <p:cNvPr id="5" name="Shape 2"/>
          <p:cNvSpPr/>
          <p:nvPr/>
        </p:nvSpPr>
        <p:spPr>
          <a:xfrm>
            <a:off x="548640" y="1463040"/>
            <a:ext cx="5432908" cy="2286000"/>
          </a:xfrm>
          <a:prstGeom prst="roundRect">
            <a:avLst>
              <a:gd name="adj" fmla="val 4000"/>
            </a:avLst>
          </a:prstGeom>
          <a:solidFill>
            <a:srgbClr val="F4F5F8"/>
          </a:solidFill>
          <a:ln w="12700">
            <a:solidFill>
              <a:srgbClr val="F4F5F8"/>
            </a:solidFill>
            <a:prstDash val="solid"/>
          </a:ln>
        </p:spPr>
      </p:sp>
      <p:sp>
        <p:nvSpPr>
          <p:cNvPr id="6" name="Text 3"/>
          <p:cNvSpPr txBox="1"/>
          <p:nvPr/>
        </p:nvSpPr>
        <p:spPr>
          <a:xfrm>
            <a:off x="777240"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Headcount</a:t>
            </a:r>
            <a:endParaRPr lang="en-US" sz="1600" dirty="0"/>
          </a:p>
        </p:txBody>
      </p:sp>
      <p:sp>
        <p:nvSpPr>
          <p:cNvPr id="7" name="Text 4"/>
          <p:cNvSpPr txBox="1"/>
          <p:nvPr/>
        </p:nvSpPr>
        <p:spPr>
          <a:xfrm>
            <a:off x="777240"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Active employees on the date, within your access scope. The trend uses month-end headcounts.</a:t>
            </a:r>
            <a:endParaRPr lang="en-US" sz="1400" dirty="0"/>
          </a:p>
        </p:txBody>
      </p:sp>
      <p:sp>
        <p:nvSpPr>
          <p:cNvPr id="8" name="Shape 5"/>
          <p:cNvSpPr/>
          <p:nvPr/>
        </p:nvSpPr>
        <p:spPr>
          <a:xfrm>
            <a:off x="6210148" y="1463040"/>
            <a:ext cx="5432908" cy="2286000"/>
          </a:xfrm>
          <a:prstGeom prst="roundRect">
            <a:avLst>
              <a:gd name="adj" fmla="val 4000"/>
            </a:avLst>
          </a:prstGeom>
          <a:solidFill>
            <a:srgbClr val="F4F5F8"/>
          </a:solidFill>
          <a:ln w="12700">
            <a:solidFill>
              <a:srgbClr val="F4F5F8"/>
            </a:solidFill>
            <a:prstDash val="solid"/>
          </a:ln>
        </p:spPr>
      </p:sp>
      <p:sp>
        <p:nvSpPr>
          <p:cNvPr id="9" name="Text 6"/>
          <p:cNvSpPr txBox="1"/>
          <p:nvPr/>
        </p:nvSpPr>
        <p:spPr>
          <a:xfrm>
            <a:off x="6438748"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Attrition (12 months)</a:t>
            </a:r>
            <a:endParaRPr lang="en-US" sz="1600" dirty="0"/>
          </a:p>
        </p:txBody>
      </p:sp>
      <p:sp>
        <p:nvSpPr>
          <p:cNvPr id="10" name="Text 7"/>
          <p:cNvSpPr txBox="1"/>
          <p:nvPr/>
        </p:nvSpPr>
        <p:spPr>
          <a:xfrm>
            <a:off x="6438748"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Exits in the last 12 months ÷ average headcount over the period. 4.5% in the training data.</a:t>
            </a:r>
            <a:endParaRPr lang="en-US" sz="1400" dirty="0"/>
          </a:p>
        </p:txBody>
      </p:sp>
      <p:sp>
        <p:nvSpPr>
          <p:cNvPr id="11" name="Shape 8"/>
          <p:cNvSpPr/>
          <p:nvPr/>
        </p:nvSpPr>
        <p:spPr>
          <a:xfrm>
            <a:off x="548640" y="3977640"/>
            <a:ext cx="5432908" cy="2286000"/>
          </a:xfrm>
          <a:prstGeom prst="roundRect">
            <a:avLst>
              <a:gd name="adj" fmla="val 4000"/>
            </a:avLst>
          </a:prstGeom>
          <a:solidFill>
            <a:srgbClr val="F4F5F8"/>
          </a:solidFill>
          <a:ln w="12700">
            <a:solidFill>
              <a:srgbClr val="F4F5F8"/>
            </a:solidFill>
            <a:prstDash val="solid"/>
          </a:ln>
        </p:spPr>
      </p:sp>
      <p:sp>
        <p:nvSpPr>
          <p:cNvPr id="12" name="Text 9"/>
          <p:cNvSpPr txBox="1"/>
          <p:nvPr/>
        </p:nvSpPr>
        <p:spPr>
          <a:xfrm>
            <a:off x="777240"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Absenteeism (30 days)</a:t>
            </a:r>
            <a:endParaRPr lang="en-US" sz="1600" dirty="0"/>
          </a:p>
        </p:txBody>
      </p:sp>
      <p:sp>
        <p:nvSpPr>
          <p:cNvPr id="13" name="Text 10"/>
          <p:cNvSpPr txBox="1"/>
          <p:nvPr/>
        </p:nvSpPr>
        <p:spPr>
          <a:xfrm>
            <a:off x="777240"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Absent days ÷ scheduled working days over the last 30 days, from processed attendance records.</a:t>
            </a:r>
            <a:endParaRPr lang="en-US" sz="1400" dirty="0"/>
          </a:p>
        </p:txBody>
      </p:sp>
      <p:sp>
        <p:nvSpPr>
          <p:cNvPr id="14" name="Shape 11"/>
          <p:cNvSpPr/>
          <p:nvPr/>
        </p:nvSpPr>
        <p:spPr>
          <a:xfrm>
            <a:off x="6210148" y="3977640"/>
            <a:ext cx="5432908" cy="2286000"/>
          </a:xfrm>
          <a:prstGeom prst="roundRect">
            <a:avLst>
              <a:gd name="adj" fmla="val 4000"/>
            </a:avLst>
          </a:prstGeom>
          <a:solidFill>
            <a:srgbClr val="FDF0DD"/>
          </a:solidFill>
          <a:ln w="12700">
            <a:solidFill>
              <a:srgbClr val="FDF0DD"/>
            </a:solidFill>
            <a:prstDash val="solid"/>
          </a:ln>
        </p:spPr>
      </p:sp>
      <p:sp>
        <p:nvSpPr>
          <p:cNvPr id="15" name="Text 12"/>
          <p:cNvSpPr txBox="1"/>
          <p:nvPr/>
        </p:nvSpPr>
        <p:spPr>
          <a:xfrm>
            <a:off x="6438748"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People cost</a:t>
            </a:r>
            <a:endParaRPr lang="en-US" sz="1600" dirty="0"/>
          </a:p>
        </p:txBody>
      </p:sp>
      <p:sp>
        <p:nvSpPr>
          <p:cNvPr id="16" name="Text 13"/>
          <p:cNvSpPr txBox="1"/>
          <p:nvPr/>
        </p:nvSpPr>
        <p:spPr>
          <a:xfrm>
            <a:off x="6438748"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From finalised and paid payroll only. Shows "—" until a run can be finalised (statutory rules unverified).</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Workforce pulse: what moved this month</a:t>
            </a:r>
            <a:endParaRPr lang="en-US" sz="2800" dirty="0"/>
          </a:p>
        </p:txBody>
      </p:sp>
      <p:pic>
        <p:nvPicPr>
          <p:cNvPr id="5" name="Screenshot analytics/80-ins-02-workforce-pulse" descr="Screenshot: Insights › Analytics › Workforce Command Centre (Workforce pulse) (Kavya Menon, fictional data)">    </p:cNvPr>
          <p:cNvPicPr>
            <a:picLocks noChangeAspect="1"/>
          </p:cNvPicPr>
          <p:nvPr/>
        </p:nvPicPr>
        <p:blipFill>
          <a:blip r:embed="rId1"/>
          <a:stretch>
            <a:fillRect/>
          </a:stretch>
        </p:blipFill>
        <p:spPr>
          <a:xfrm>
            <a:off x="2666848" y="1371600"/>
            <a:ext cx="6858000" cy="4389120"/>
          </a:xfrm>
          <a:prstGeom prst="rect">
            <a:avLst/>
          </a:prstGeom>
        </p:spPr>
      </p:pic>
      <p:sp>
        <p:nvSpPr>
          <p:cNvPr id="6" name="Screenshot frame"/>
          <p:cNvSpPr/>
          <p:nvPr/>
        </p:nvSpPr>
        <p:spPr>
          <a:xfrm>
            <a:off x="2666848" y="1371600"/>
            <a:ext cx="6858000" cy="4389120"/>
          </a:xfrm>
          <a:prstGeom prst="rect">
            <a:avLst/>
          </a:prstGeom>
          <a:ln w="9525">
            <a:solidFill>
              <a:srgbClr val="D9DCE3"/>
            </a:solidFill>
            <a:prstDash val="solid"/>
          </a:ln>
        </p:spPr>
      </p:sp>
      <p:sp>
        <p:nvSpPr>
          <p:cNvPr id="7" name="Text 3"/>
          <p:cNvSpPr txBox="1"/>
          <p:nvPr/>
        </p:nvSpPr>
        <p:spPr>
          <a:xfrm>
            <a:off x="548640" y="5760720"/>
            <a:ext cx="11094415" cy="438912"/>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Top of the page: movement (moves, promotions, joiners, exits against last month), size, decisions waiting and planning. Further down: attendance, performance, critical skills, exceptions. Select a figure to see the people behind it.</a:t>
            </a:r>
            <a:endParaRPr lang="en-US" sz="1250" dirty="0"/>
          </a:p>
        </p:txBody>
      </p:sp>
      <p:sp>
        <p:nvSpPr>
          <p:cNvPr id="8" name="Text 4"/>
          <p:cNvSpPr txBox="1"/>
          <p:nvPr/>
        </p:nvSpPr>
        <p:spPr>
          <a:xfrm>
            <a:off x="548640" y="6199632"/>
            <a:ext cx="11094415" cy="182880"/>
          </a:xfrm>
          <a:prstGeom prst="rect">
            <a:avLst/>
          </a:prstGeom>
          <a:noFill/>
          <a:ln/>
        </p:spPr>
        <p:txBody>
          <a:bodyPr wrap="square" lIns="0" tIns="0" rIns="0" bIns="0" rtlCol="0" anchor="ctr"/>
          <a:lstStyle/>
          <a:p>
            <a:pPr indent="0" marL="0">
              <a:buNone/>
            </a:pPr>
            <a:r>
              <a:rPr lang="en-US" sz="900" dirty="0">
                <a:solidFill>
                  <a:srgbClr val="8A90A2"/>
                </a:solidFill>
              </a:rPr>
              <a:t>Real screen (cropped) · Kavya Menon (Tenant HR Admin + Employee) · Insights › Analytics › Workforce Command Centre (Workforce pulse)</a:t>
            </a:r>
            <a:endParaRPr lang="en-US" sz="900" dirty="0"/>
          </a:p>
        </p:txBody>
      </p:sp>
      <p:sp>
        <p:nvSpPr>
          <p:cNvPr id="9" name="Status"/>
          <p:cNvSpPr txBox="1"/>
          <p:nvPr/>
        </p:nvSpPr>
        <p:spPr>
          <a:xfrm>
            <a:off x="8534095" y="274320"/>
            <a:ext cx="310896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Workforce Intelligence: signals with reasons</a:t>
            </a:r>
            <a:endParaRPr lang="en-US" sz="2800" dirty="0"/>
          </a:p>
        </p:txBody>
      </p:sp>
      <p:pic>
        <p:nvPicPr>
          <p:cNvPr id="5" name="Screenshot analytics/80-ins-03-workforce-intelligence" descr="Screenshot: Insights › Analytics › Workforce Intelligence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Bullet"/>
          <p:cNvSpPr/>
          <p:nvPr/>
        </p:nvSpPr>
        <p:spPr>
          <a:xfrm>
            <a:off x="8686800" y="1965960"/>
            <a:ext cx="109728" cy="109728"/>
          </a:xfrm>
          <a:prstGeom prst="ellipse">
            <a:avLst/>
          </a:prstGeom>
          <a:solidFill>
            <a:srgbClr val="8A90A2"/>
          </a:solidFill>
          <a:ln w="12700">
            <a:solidFill>
              <a:srgbClr val="8A90A2"/>
            </a:solidFill>
            <a:prstDash val="solid"/>
          </a:ln>
        </p:spPr>
      </p:sp>
      <p:sp>
        <p:nvSpPr>
          <p:cNvPr id="9" name="Text 5"/>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Attrition and capacity: aggregate facts only.</a:t>
            </a:r>
            <a:endParaRPr lang="en-US" sz="1400" dirty="0"/>
          </a:p>
        </p:txBody>
      </p:sp>
      <p:sp>
        <p:nvSpPr>
          <p:cNvPr id="10" name="Bullet"/>
          <p:cNvSpPr/>
          <p:nvPr/>
        </p:nvSpPr>
        <p:spPr>
          <a:xfrm>
            <a:off x="8686800" y="2509520"/>
            <a:ext cx="109728" cy="109728"/>
          </a:xfrm>
          <a:prstGeom prst="ellipse">
            <a:avLst/>
          </a:prstGeom>
          <a:solidFill>
            <a:srgbClr val="8A90A2"/>
          </a:solidFill>
          <a:ln w="12700">
            <a:solidFill>
              <a:srgbClr val="8A90A2"/>
            </a:solidFill>
            <a:prstDash val="solid"/>
          </a:ln>
        </p:spPr>
      </p:sp>
      <p:sp>
        <p:nvSpPr>
          <p:cNvPr id="11" name="Text 7"/>
          <p:cNvSpPr txBox="1"/>
          <p:nvPr/>
        </p:nvSpPr>
        <p:spPr>
          <a:xfrm>
            <a:off x="9006840" y="2418080"/>
            <a:ext cx="2636215" cy="723900"/>
          </a:xfrm>
          <a:prstGeom prst="rect">
            <a:avLst/>
          </a:prstGeom>
          <a:noFill/>
          <a:ln/>
        </p:spPr>
        <p:txBody>
          <a:bodyPr wrap="square" lIns="0" tIns="0" rIns="0" bIns="0" rtlCol="0" anchor="t"/>
          <a:lstStyle/>
          <a:p>
            <a:pPr indent="0" marL="0">
              <a:buNone/>
            </a:pPr>
            <a:r>
              <a:rPr lang="en-US" sz="1400" dirty="0">
                <a:solidFill>
                  <a:schemeClr val="tx1"/>
                </a:solidFill>
              </a:rPr>
              <a:t>Critical skills: fewest advanced or expert holders first.</a:t>
            </a:r>
            <a:endParaRPr lang="en-US" sz="1400" dirty="0"/>
          </a:p>
        </p:txBody>
      </p:sp>
      <p:sp>
        <p:nvSpPr>
          <p:cNvPr id="12" name="Shape 8"/>
          <p:cNvSpPr/>
          <p:nvPr/>
        </p:nvSpPr>
        <p:spPr>
          <a:xfrm>
            <a:off x="8595360" y="3269996"/>
            <a:ext cx="3047695" cy="1593469"/>
          </a:xfrm>
          <a:prstGeom prst="roundRect">
            <a:avLst>
              <a:gd name="adj" fmla="val 4591"/>
            </a:avLst>
          </a:prstGeom>
          <a:solidFill>
            <a:srgbClr val="F4F5F8"/>
          </a:solidFill>
          <a:ln w="12700">
            <a:solidFill>
              <a:srgbClr val="F4F5F8"/>
            </a:solidFill>
            <a:prstDash val="solid"/>
          </a:ln>
        </p:spPr>
      </p:sp>
      <p:sp>
        <p:nvSpPr>
          <p:cNvPr id="13" name="Text 9"/>
          <p:cNvSpPr txBox="1"/>
          <p:nvPr/>
        </p:nvSpPr>
        <p:spPr>
          <a:xfrm>
            <a:off x="8732520" y="3361436"/>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PeopleOS does not score, rank or predict whether an individual will leave or be promoted: the page says so. Critical skills is empty here: no skill levels are recorded in the training data.</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Insights › Analytics › Workforce Intelligence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Executives: home lens and dataset access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Executive Home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executive-demo/80-ins-18-executive-home" descr="Screenshot: Home (Executive) (Meera Iye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An executive's Home opens on the workforce lens: pulse, decisions and signals.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Meera Iyer (Executive + Employee) · Home (Executive)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HR overview as an executive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4EEF8"/>
          </a:solidFill>
          <a:ln/>
        </p:spPr>
        <p:txBody>
          <a:bodyPr wrap="square" lIns="0" tIns="0" rIns="0" bIns="0" rtlCol="0" anchor="ctr"/>
          <a:lstStyle/>
          <a:p>
            <a:pPr algn="ctr" indent="0" marL="0">
              <a:buNone/>
            </a:pPr>
            <a:r>
              <a:rPr lang="en-US" sz="950" b="1" dirty="0">
                <a:solidFill>
                  <a:srgbClr val="2F6FB3"/>
                </a:solidFill>
              </a:rPr>
              <a:t>After configuration</a:t>
            </a:r>
            <a:endParaRPr lang="en-US" sz="950" dirty="0"/>
          </a:p>
        </p:txBody>
      </p:sp>
      <p:pic>
        <p:nvPicPr>
          <p:cNvPr id="13" name="Screenshot analytics/80-ins-20-dashboard-executive-f45" descr="Screenshot: Insights › Analytics › Dashboards (Executive) (Meera Iye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Headline tiles fill in, but report-based widgets show "You cannot report on the … dataset." (F45): the Executive role lacks dataset permissions.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Meera Iyer (Executive + Employee) · Insights › Analytics › Dashboards (Executive)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02</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People analytics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One page, ten areas, each limited to what your role may see.</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ANALYTICS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People analytics</a:t>
            </a:r>
            <a:endParaRPr lang="en-US" sz="2800" dirty="0"/>
          </a:p>
        </p:txBody>
      </p:sp>
      <p:pic>
        <p:nvPicPr>
          <p:cNvPr id="5" name="Screenshot analytics/80-ins-01-people-analytics" descr="Screenshot: Insights › Analytics › People analytics (Kavya Menon, fictional data)">    </p:cNvPr>
          <p:cNvPicPr>
            <a:picLocks noChangeAspect="1"/>
          </p:cNvPicPr>
          <p:nvPr/>
        </p:nvPicPr>
        <p:blipFill>
          <a:blip r:embed="rId1"/>
          <a:stretch>
            <a:fillRect/>
          </a:stretch>
        </p:blipFill>
        <p:spPr>
          <a:xfrm>
            <a:off x="2666848" y="1371600"/>
            <a:ext cx="6858000" cy="4389120"/>
          </a:xfrm>
          <a:prstGeom prst="rect">
            <a:avLst/>
          </a:prstGeom>
        </p:spPr>
      </p:pic>
      <p:sp>
        <p:nvSpPr>
          <p:cNvPr id="6" name="Screenshot frame"/>
          <p:cNvSpPr/>
          <p:nvPr/>
        </p:nvSpPr>
        <p:spPr>
          <a:xfrm>
            <a:off x="2666848" y="1371600"/>
            <a:ext cx="6858000" cy="4389120"/>
          </a:xfrm>
          <a:prstGeom prst="rect">
            <a:avLst/>
          </a:prstGeom>
          <a:ln w="9525">
            <a:solidFill>
              <a:srgbClr val="D9DCE3"/>
            </a:solidFill>
            <a:prstDash val="solid"/>
          </a:ln>
        </p:spPr>
      </p:sp>
      <p:sp>
        <p:nvSpPr>
          <p:cNvPr id="7" name="Text 3"/>
          <p:cNvSpPr txBox="1"/>
          <p:nvPr/>
        </p:nvSpPr>
        <p:spPr>
          <a:xfrm>
            <a:off x="548640" y="5760720"/>
            <a:ext cx="11094415" cy="438912"/>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Top of the page shown: People, Workforce, Attendance, Leave, Performance, Learning. Further down: Career &amp; talent, Compensation, HR service, Engagement. "As of" reports on a past date.</a:t>
            </a:r>
            <a:endParaRPr lang="en-US" sz="1250" dirty="0"/>
          </a:p>
        </p:txBody>
      </p:sp>
      <p:sp>
        <p:nvSpPr>
          <p:cNvPr id="8" name="Text 4"/>
          <p:cNvSpPr txBox="1"/>
          <p:nvPr/>
        </p:nvSpPr>
        <p:spPr>
          <a:xfrm>
            <a:off x="548640" y="6199632"/>
            <a:ext cx="11094415" cy="182880"/>
          </a:xfrm>
          <a:prstGeom prst="rect">
            <a:avLst/>
          </a:prstGeom>
          <a:noFill/>
          <a:ln/>
        </p:spPr>
        <p:txBody>
          <a:bodyPr wrap="square" lIns="0" tIns="0" rIns="0" bIns="0" rtlCol="0" anchor="ctr"/>
          <a:lstStyle/>
          <a:p>
            <a:pPr indent="0" marL="0">
              <a:buNone/>
            </a:pPr>
            <a:r>
              <a:rPr lang="en-US" sz="900" dirty="0">
                <a:solidFill>
                  <a:srgbClr val="8A90A2"/>
                </a:solidFill>
              </a:rPr>
              <a:t>Real screen (cropped) · Kavya Menon (Tenant HR Admin + Employee) · Insights › Analytics › People analytics</a:t>
            </a:r>
            <a:endParaRPr lang="en-US" sz="900" dirty="0"/>
          </a:p>
        </p:txBody>
      </p:sp>
      <p:sp>
        <p:nvSpPr>
          <p:cNvPr id="9" name="Status"/>
          <p:cNvSpPr txBox="1"/>
          <p:nvPr/>
        </p:nvSpPr>
        <p:spPr>
          <a:xfrm>
            <a:off x="8534095" y="274320"/>
            <a:ext cx="310896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ANALYTICS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same page for an executive</a:t>
            </a:r>
            <a:endParaRPr lang="en-US" sz="2800" dirty="0"/>
          </a:p>
        </p:txBody>
      </p:sp>
      <p:pic>
        <p:nvPicPr>
          <p:cNvPr id="5" name="Screenshot analytics/80-ins-19-people-analytics-executive" descr="Screenshot: Insights › Analytics › People analytics (Executive) (Meera Iyer,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Bullet"/>
          <p:cNvSpPr/>
          <p:nvPr/>
        </p:nvSpPr>
        <p:spPr>
          <a:xfrm>
            <a:off x="8686800" y="1965960"/>
            <a:ext cx="109728" cy="109728"/>
          </a:xfrm>
          <a:prstGeom prst="ellipse">
            <a:avLst/>
          </a:prstGeom>
          <a:solidFill>
            <a:srgbClr val="8A90A2"/>
          </a:solidFill>
          <a:ln w="12700">
            <a:solidFill>
              <a:srgbClr val="8A90A2"/>
            </a:solidFill>
            <a:prstDash val="solid"/>
          </a:ln>
        </p:spPr>
      </p:sp>
      <p:sp>
        <p:nvSpPr>
          <p:cNvPr id="9" name="Text 5"/>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Aggregated figures only.</a:t>
            </a:r>
            <a:endParaRPr lang="en-US" sz="1400" dirty="0"/>
          </a:p>
        </p:txBody>
      </p:sp>
      <p:sp>
        <p:nvSpPr>
          <p:cNvPr id="10" name="Bullet"/>
          <p:cNvSpPr/>
          <p:nvPr/>
        </p:nvSpPr>
        <p:spPr>
          <a:xfrm>
            <a:off x="8686800" y="2331720"/>
            <a:ext cx="109728" cy="109728"/>
          </a:xfrm>
          <a:prstGeom prst="ellipse">
            <a:avLst/>
          </a:prstGeom>
          <a:solidFill>
            <a:srgbClr val="8A90A2"/>
          </a:solidFill>
          <a:ln w="12700">
            <a:solidFill>
              <a:srgbClr val="8A90A2"/>
            </a:solidFill>
            <a:prstDash val="solid"/>
          </a:ln>
        </p:spPr>
      </p:sp>
      <p:sp>
        <p:nvSpPr>
          <p:cNvPr id="11" name="Text 7"/>
          <p:cNvSpPr txBox="1"/>
          <p:nvPr/>
        </p:nvSpPr>
        <p:spPr>
          <a:xfrm>
            <a:off x="9006840" y="2240280"/>
            <a:ext cx="2636215" cy="506984"/>
          </a:xfrm>
          <a:prstGeom prst="rect">
            <a:avLst/>
          </a:prstGeom>
          <a:noFill/>
          <a:ln/>
        </p:spPr>
        <p:txBody>
          <a:bodyPr wrap="square" lIns="0" tIns="0" rIns="0" bIns="0" rtlCol="0" anchor="t"/>
          <a:lstStyle/>
          <a:p>
            <a:pPr indent="0" marL="0">
              <a:buNone/>
            </a:pPr>
            <a:r>
              <a:rPr lang="en-US" sz="1400" dirty="0">
                <a:solidFill>
                  <a:schemeClr val="tx1"/>
                </a:solidFill>
              </a:rPr>
              <a:t>Areas without dataset permission are not shown.</a:t>
            </a:r>
            <a:endParaRPr lang="en-US" sz="1400" dirty="0"/>
          </a:p>
        </p:txBody>
      </p:sp>
      <p:sp>
        <p:nvSpPr>
          <p:cNvPr id="12" name="Shape 8"/>
          <p:cNvSpPr/>
          <p:nvPr/>
        </p:nvSpPr>
        <p:spPr>
          <a:xfrm>
            <a:off x="8595360" y="2875280"/>
            <a:ext cx="3047695" cy="625094"/>
          </a:xfrm>
          <a:prstGeom prst="roundRect">
            <a:avLst>
              <a:gd name="adj" fmla="val 11703"/>
            </a:avLst>
          </a:prstGeom>
          <a:solidFill>
            <a:srgbClr val="F4F5F8"/>
          </a:solidFill>
          <a:ln w="12700">
            <a:solidFill>
              <a:srgbClr val="F4F5F8"/>
            </a:solidFill>
            <a:prstDash val="solid"/>
          </a:ln>
        </p:spPr>
      </p:sp>
      <p:sp>
        <p:nvSpPr>
          <p:cNvPr id="13" name="Text 9"/>
          <p:cNvSpPr txBox="1"/>
          <p:nvPr/>
        </p:nvSpPr>
        <p:spPr>
          <a:xfrm>
            <a:off x="8732520" y="296672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What appears depends on the role, never on who asks.</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Meera Iyer (Executive + Employee) · Insights › Analytics › People analytics (Executive)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03</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Area dashboards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Attendance, leave, pay, performance, learning, talent, workforce, exits and service.</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AREA 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Attendance and leave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Attendance exception centre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20-att-14-exception-centre" descr="Screenshot: Exception centre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Exceptions, missing punches, late, absent, overtime pending, regularisations and failed punches (30 days).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Exception centre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Leave calendar</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5-lv-13-leave-calendar" descr="Screenshot: People › Time &amp; leave › Leave calendar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Who is away and when (approved, pending, cancellation requested). Reasons are never shown.</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Time &amp; leave › Leave calendar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AREA 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Payroll: control room and auditor</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Payroll control room</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pay-01-control-room" descr="Screenshot: People › Pay › Control room (Payroll control room) (Arjun Bose,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Readiness, runs and the statutory rules that block finalisation.</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Control room (Payroll control room)</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Payroll Auditor</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0-pay-11-payroll-auditor" descr="Screenshot: People › Pay › Payroll Auditor (Arjun Bose,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Findings with severity and evidence for a run; rule-based despite the "AI" label. Some findings show raw technical text (display gap).</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Payroll Auditor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AREA 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Compensation and performance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Compensation analytics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analytics/62-comp-11-compensation-analytics" descr="Screenshot: People › Pay › Analytics (Compensation analytics) (Kavya Menon, fictional data)">    </p:cNvPr>
          <p:cNvPicPr>
            <a:picLocks noChangeAspect="1"/>
          </p:cNvPicPr>
          <p:nvPr/>
        </p:nvPicPr>
        <p:blipFill>
          <a:blip r:embed="rId1"/>
          <a:stretch>
            <a:fillRect/>
          </a:stretch>
        </p:blipFill>
        <p:spPr>
          <a:xfrm>
            <a:off x="634185" y="1755648"/>
            <a:ext cx="5193238" cy="3429000"/>
          </a:xfrm>
          <a:prstGeom prst="rect">
            <a:avLst/>
          </a:prstGeom>
        </p:spPr>
      </p:pic>
      <p:sp>
        <p:nvSpPr>
          <p:cNvPr id="8" name="Screenshot frame"/>
          <p:cNvSpPr/>
          <p:nvPr/>
        </p:nvSpPr>
        <p:spPr>
          <a:xfrm>
            <a:off x="634185" y="1755648"/>
            <a:ext cx="5193238"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Distributions and compa-ratios; groups below the minimum size are suppressed. Export compensation (CSV) is audited.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People › Pay › Analytics (Compensation analytics)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Performance analytics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analytics/80-ins-14-performance-analytics" descr="Screenshot: People › Growth › Analytics (Performance)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Review progress and rating distribution for a cycle (FY27).</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Growth › Analytics (Performance)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AREA 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Learning and talent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Learning &amp; development</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analytics/65-learn-03-learning-dashboard" descr="Screenshot: People › Growth › Dashboard (Learning &amp; development) (Kavya Menon, fictional data)">    </p:cNvPr>
          <p:cNvPicPr>
            <a:picLocks noChangeAspect="1"/>
          </p:cNvPicPr>
          <p:nvPr/>
        </p:nvPicPr>
        <p:blipFill>
          <a:blip r:embed="rId1"/>
          <a:stretch>
            <a:fillRect/>
          </a:stretch>
        </p:blipFill>
        <p:spPr>
          <a:xfrm>
            <a:off x="634185" y="1755648"/>
            <a:ext cx="5193238" cy="3429000"/>
          </a:xfrm>
          <a:prstGeom prst="rect">
            <a:avLst/>
          </a:prstGeom>
        </p:spPr>
      </p:pic>
      <p:sp>
        <p:nvSpPr>
          <p:cNvPr id="8" name="Screenshot frame"/>
          <p:cNvSpPr/>
          <p:nvPr/>
        </p:nvSpPr>
        <p:spPr>
          <a:xfrm>
            <a:off x="634185" y="1755648"/>
            <a:ext cx="5193238"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Top of the page: enrolments, completion, mandatory training. Further down: popular courses, skill gaps, providers, costs.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People › Growth › Dashboard (Learning &amp; development)</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Talent &amp; succession</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analytics/65-talent-01-talent-dashboard" descr="Screenshot: People › Growth › Dashboard (Talent &amp; succession)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Positions without a ready-now successor and talent pools (empty in the training data).</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Growth › Dashboard (Talent &amp; succession)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AREA 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Workforce, exits and HR service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Workforce overview</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analytics/65-wf-06-workforce-dashboard" descr="Screenshot: Organisation › Workforce › Dashboard (Workforce overview)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Positions, vacancies, budgets and plans (mostly zero). Shows 21 employees: captured 19 seconds before the training hire that makes 22 elsewhere.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Organisation › Workforce › Dashboard (Workforce overview)</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HR service analytics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analytics/80-ins-16-service-analytics" descr="Screenshot: Services › Service Desk › Service analytic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"Fewer than 5 employees raised requests in this period; no figures are shown." Privacy suppression.</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Services › Service Desk › Service analytics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AREA DASHBOARDS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Exit insights</a:t>
            </a:r>
            <a:endParaRPr lang="en-US" sz="2800" dirty="0"/>
          </a:p>
        </p:txBody>
      </p:sp>
      <p:pic>
        <p:nvPicPr>
          <p:cNvPr id="5" name="Screenshot analytics/80-ins-15-exit-insights" descr="Screenshot: People › Lifecycle › Exit insight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Bullet"/>
          <p:cNvSpPr/>
          <p:nvPr/>
        </p:nvSpPr>
        <p:spPr>
          <a:xfrm>
            <a:off x="8686800" y="1965960"/>
            <a:ext cx="109728" cy="109728"/>
          </a:xfrm>
          <a:prstGeom prst="ellipse">
            <a:avLst/>
          </a:prstGeom>
          <a:solidFill>
            <a:srgbClr val="8A90A2"/>
          </a:solidFill>
          <a:ln w="12700">
            <a:solidFill>
              <a:srgbClr val="8A90A2"/>
            </a:solidFill>
            <a:prstDash val="solid"/>
          </a:ln>
        </p:spPr>
      </p:sp>
      <p:sp>
        <p:nvSpPr>
          <p:cNvPr id="9" name="Text 5"/>
          <p:cNvSpPr txBox="1"/>
          <p:nvPr/>
        </p:nvSpPr>
        <p:spPr>
          <a:xfrm>
            <a:off x="9006840" y="1874520"/>
            <a:ext cx="2636215" cy="723900"/>
          </a:xfrm>
          <a:prstGeom prst="rect">
            <a:avLst/>
          </a:prstGeom>
          <a:noFill/>
          <a:ln/>
        </p:spPr>
        <p:txBody>
          <a:bodyPr wrap="square" lIns="0" tIns="0" rIns="0" bIns="0" rtlCol="0" anchor="t"/>
          <a:lstStyle/>
          <a:p>
            <a:pPr indent="0" marL="0">
              <a:buNone/>
            </a:pPr>
            <a:r>
              <a:rPr lang="en-US" sz="1400" dirty="0">
                <a:solidFill>
                  <a:schemeClr val="tx1"/>
                </a:solidFill>
              </a:rPr>
              <a:t>Reasons for leaving and average exit-interview ratings.</a:t>
            </a:r>
            <a:endParaRPr lang="en-US" sz="1400" dirty="0"/>
          </a:p>
        </p:txBody>
      </p:sp>
      <p:sp>
        <p:nvSpPr>
          <p:cNvPr id="10" name="Shape 6"/>
          <p:cNvSpPr/>
          <p:nvPr/>
        </p:nvSpPr>
        <p:spPr>
          <a:xfrm>
            <a:off x="8595360" y="2726436"/>
            <a:ext cx="3047695" cy="625094"/>
          </a:xfrm>
          <a:prstGeom prst="roundRect">
            <a:avLst>
              <a:gd name="adj" fmla="val 11703"/>
            </a:avLst>
          </a:prstGeom>
          <a:solidFill>
            <a:srgbClr val="F4F5F8"/>
          </a:solidFill>
          <a:ln w="12700">
            <a:solidFill>
              <a:srgbClr val="F4F5F8"/>
            </a:solidFill>
            <a:prstDash val="solid"/>
          </a:ln>
        </p:spPr>
      </p:sp>
      <p:sp>
        <p:nvSpPr>
          <p:cNvPr id="11" name="Text 7"/>
          <p:cNvSpPr txBox="1"/>
          <p:nvPr/>
        </p:nvSpPr>
        <p:spPr>
          <a:xfrm>
            <a:off x="8732520" y="2817876"/>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Averages use employee answers only.</a:t>
            </a:r>
            <a:endParaRPr lang="en-US" sz="1050" dirty="0"/>
          </a:p>
        </p:txBody>
      </p:sp>
      <p:sp>
        <p:nvSpPr>
          <p:cNvPr id="12" name="Text 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Lifecycle › Exit insights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04</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Reports and export</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Six starter reports run and export today; building new reports has a known defect.</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Reports</a:t>
            </a:r>
            <a:endParaRPr lang="en-US" sz="2800" dirty="0"/>
          </a:p>
        </p:txBody>
      </p:sp>
      <p:pic>
        <p:nvPicPr>
          <p:cNvPr id="5" name="Screenshot analytics/80-ins-05-reports-list" descr="Screenshot: Insights › Analytics › Report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933817"/>
            <a:ext cx="6210469" cy="351807"/>
          </a:xfrm>
          <a:prstGeom prst="roundRect">
            <a:avLst>
              <a:gd name="adj" fmla="val 12996"/>
            </a:avLst>
          </a:prstGeom>
          <a:ln w="25400">
            <a:solidFill>
              <a:srgbClr val="D97706"/>
            </a:solidFill>
            <a:prstDash val="solid"/>
          </a:ln>
        </p:spPr>
      </p:sp>
      <p:sp>
        <p:nvSpPr>
          <p:cNvPr id="8" name="Callout box 2"/>
          <p:cNvSpPr/>
          <p:nvPr/>
        </p:nvSpPr>
        <p:spPr>
          <a:xfrm>
            <a:off x="7566525" y="4023563"/>
            <a:ext cx="179493" cy="150774"/>
          </a:xfrm>
          <a:prstGeom prst="roundRect">
            <a:avLst>
              <a:gd name="adj" fmla="val 30324"/>
            </a:avLst>
          </a:prstGeom>
          <a:ln w="25400">
            <a:solidFill>
              <a:srgbClr val="D97706"/>
            </a:solidFill>
            <a:prstDash val="solid"/>
          </a:ln>
        </p:spPr>
      </p:sp>
      <p:sp>
        <p:nvSpPr>
          <p:cNvPr id="9" name="Callout box 3"/>
          <p:cNvSpPr/>
          <p:nvPr/>
        </p:nvSpPr>
        <p:spPr>
          <a:xfrm>
            <a:off x="7620373" y="2293247"/>
            <a:ext cx="567199" cy="236931"/>
          </a:xfrm>
          <a:prstGeom prst="roundRect">
            <a:avLst>
              <a:gd name="adj" fmla="val 19297"/>
            </a:avLst>
          </a:prstGeom>
          <a:ln w="25400">
            <a:solidFill>
              <a:srgbClr val="D97706"/>
            </a:solidFill>
            <a:prstDash val="solid"/>
          </a:ln>
        </p:spPr>
      </p:sp>
      <p:sp>
        <p:nvSpPr>
          <p:cNvPr id="10" name="Callout 1"/>
          <p:cNvSpPr txBox="1"/>
          <p:nvPr/>
        </p:nvSpPr>
        <p:spPr>
          <a:xfrm>
            <a:off x="1799031" y="398170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7438509" y="3730955"/>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7492357"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A starter report with its dataset and chart.</a:t>
            </a:r>
            <a:endParaRPr lang="en-US" sz="1400" dirty="0"/>
          </a:p>
        </p:txBody>
      </p:sp>
      <p:sp>
        <p:nvSpPr>
          <p:cNvPr id="16" name="Callout 2"/>
          <p:cNvSpPr txBox="1"/>
          <p:nvPr/>
        </p:nvSpPr>
        <p:spPr>
          <a:xfrm>
            <a:off x="8595360" y="24363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418080"/>
            <a:ext cx="2636215" cy="329184"/>
          </a:xfrm>
          <a:prstGeom prst="rect">
            <a:avLst/>
          </a:prstGeom>
          <a:noFill/>
          <a:ln/>
        </p:spPr>
        <p:txBody>
          <a:bodyPr wrap="square" lIns="0" tIns="0" rIns="0" bIns="0" rtlCol="0" anchor="t"/>
          <a:lstStyle/>
          <a:p>
            <a:pPr indent="0" marL="0">
              <a:buNone/>
            </a:pPr>
            <a:r>
              <a:rPr lang="en-US" sz="1400" dirty="0">
                <a:solidFill>
                  <a:schemeClr val="tx1"/>
                </a:solidFill>
              </a:rPr>
              <a:t>Run.</a:t>
            </a:r>
            <a:endParaRPr lang="en-US" sz="1400" dirty="0"/>
          </a:p>
        </p:txBody>
      </p:sp>
      <p:sp>
        <p:nvSpPr>
          <p:cNvPr id="18" name="Callout 3"/>
          <p:cNvSpPr txBox="1"/>
          <p:nvPr/>
        </p:nvSpPr>
        <p:spPr>
          <a:xfrm>
            <a:off x="8595360" y="28021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783840"/>
            <a:ext cx="2636215" cy="329184"/>
          </a:xfrm>
          <a:prstGeom prst="rect">
            <a:avLst/>
          </a:prstGeom>
          <a:noFill/>
          <a:ln/>
        </p:spPr>
        <p:txBody>
          <a:bodyPr wrap="square" lIns="0" tIns="0" rIns="0" bIns="0" rtlCol="0" anchor="t"/>
          <a:lstStyle/>
          <a:p>
            <a:pPr indent="0" marL="0">
              <a:buNone/>
            </a:pPr>
            <a:r>
              <a:rPr lang="en-US" sz="1400" dirty="0">
                <a:solidFill>
                  <a:schemeClr val="tx1"/>
                </a:solidFill>
              </a:rPr>
              <a:t>New report.</a:t>
            </a:r>
            <a:endParaRPr lang="en-US" sz="1400" dirty="0"/>
          </a:p>
        </p:txBody>
      </p:sp>
      <p:sp>
        <p:nvSpPr>
          <p:cNvPr id="20" name="Shape 16"/>
          <p:cNvSpPr/>
          <p:nvPr/>
        </p:nvSpPr>
        <p:spPr>
          <a:xfrm>
            <a:off x="8595360" y="3241040"/>
            <a:ext cx="3047695" cy="1399794"/>
          </a:xfrm>
          <a:prstGeom prst="roundRect">
            <a:avLst>
              <a:gd name="adj" fmla="val 5226"/>
            </a:avLst>
          </a:prstGeom>
          <a:solidFill>
            <a:srgbClr val="F4F5F8"/>
          </a:solidFill>
          <a:ln w="12700">
            <a:solidFill>
              <a:srgbClr val="F4F5F8"/>
            </a:solidFill>
            <a:prstDash val="solid"/>
          </a:ln>
        </p:spPr>
      </p:sp>
      <p:sp>
        <p:nvSpPr>
          <p:cNvPr id="21" name="Text 17"/>
          <p:cNvSpPr txBox="1"/>
          <p:nvPr/>
        </p:nvSpPr>
        <p:spPr>
          <a:xfrm>
            <a:off x="8732520" y="3332480"/>
            <a:ext cx="2773375" cy="12169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Starter reports: Absence by department (30 days), Exits by month, Headcount by department, Mandatory learning completion, Payroll cost by period, Rating distribution.</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Insights › Analytics › Reports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Run a report</a:t>
            </a:r>
            <a:endParaRPr lang="en-US" sz="2800" dirty="0"/>
          </a:p>
        </p:txBody>
      </p:sp>
      <p:pic>
        <p:nvPicPr>
          <p:cNvPr id="5" name="Screenshot analytics/80-ins-06-report-result" descr="Screenshot: Report: Headcount by department (Kavya Menon, fictional data)">    </p:cNvPr>
          <p:cNvPicPr>
            <a:picLocks noChangeAspect="1"/>
          </p:cNvPicPr>
          <p:nvPr/>
        </p:nvPicPr>
        <p:blipFill>
          <a:blip r:embed="rId1"/>
          <a:stretch>
            <a:fillRect/>
          </a:stretch>
        </p:blipFill>
        <p:spPr>
          <a:xfrm>
            <a:off x="1061188" y="1417320"/>
            <a:ext cx="6793025" cy="4846320"/>
          </a:xfrm>
          <a:prstGeom prst="rect">
            <a:avLst/>
          </a:prstGeom>
        </p:spPr>
      </p:pic>
      <p:sp>
        <p:nvSpPr>
          <p:cNvPr id="6" name="Screenshot frame"/>
          <p:cNvSpPr/>
          <p:nvPr/>
        </p:nvSpPr>
        <p:spPr>
          <a:xfrm>
            <a:off x="1061188" y="1417320"/>
            <a:ext cx="6793025" cy="4846320"/>
          </a:xfrm>
          <a:prstGeom prst="rect">
            <a:avLst/>
          </a:prstGeom>
          <a:ln w="9525">
            <a:solidFill>
              <a:srgbClr val="D9DCE3"/>
            </a:solidFill>
            <a:prstDash val="solid"/>
          </a:ln>
        </p:spPr>
      </p:sp>
      <p:sp>
        <p:nvSpPr>
          <p:cNvPr id="7" name="Callout box 1"/>
          <p:cNvSpPr/>
          <p:nvPr/>
        </p:nvSpPr>
        <p:spPr>
          <a:xfrm>
            <a:off x="2514140" y="4757224"/>
            <a:ext cx="5094769" cy="113217"/>
          </a:xfrm>
          <a:prstGeom prst="roundRect">
            <a:avLst>
              <a:gd name="adj" fmla="val 40383"/>
            </a:avLst>
          </a:prstGeom>
          <a:ln w="25400">
            <a:solidFill>
              <a:srgbClr val="D97706"/>
            </a:solidFill>
            <a:prstDash val="solid"/>
          </a:ln>
        </p:spPr>
      </p:sp>
      <p:sp>
        <p:nvSpPr>
          <p:cNvPr id="8" name="Callout box 2"/>
          <p:cNvSpPr/>
          <p:nvPr/>
        </p:nvSpPr>
        <p:spPr>
          <a:xfrm>
            <a:off x="6784940" y="2244434"/>
            <a:ext cx="638419" cy="207565"/>
          </a:xfrm>
          <a:prstGeom prst="roundRect">
            <a:avLst>
              <a:gd name="adj" fmla="val 22027"/>
            </a:avLst>
          </a:prstGeom>
          <a:ln w="25400">
            <a:solidFill>
              <a:srgbClr val="D97706"/>
            </a:solidFill>
            <a:prstDash val="solid"/>
          </a:ln>
        </p:spPr>
      </p:sp>
      <p:sp>
        <p:nvSpPr>
          <p:cNvPr id="9" name="Callout 1"/>
          <p:cNvSpPr txBox="1"/>
          <p:nvPr/>
        </p:nvSpPr>
        <p:spPr>
          <a:xfrm>
            <a:off x="2203244" y="468581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6656924" y="195182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723900"/>
          </a:xfrm>
          <a:prstGeom prst="rect">
            <a:avLst/>
          </a:prstGeom>
          <a:noFill/>
          <a:ln/>
        </p:spPr>
        <p:txBody>
          <a:bodyPr wrap="square" lIns="0" tIns="0" rIns="0" bIns="0" rtlCol="0" anchor="t"/>
          <a:lstStyle/>
          <a:p>
            <a:pPr indent="0" marL="0">
              <a:buNone/>
            </a:pPr>
            <a:r>
              <a:rPr lang="en-US" sz="1400" dirty="0">
                <a:solidFill>
                  <a:schemeClr val="tx1"/>
                </a:solidFill>
              </a:rPr>
              <a:t>Grouped results, computed from the records you may see.</a:t>
            </a:r>
            <a:endParaRPr lang="en-US" sz="1400" dirty="0"/>
          </a:p>
        </p:txBody>
      </p:sp>
      <p:sp>
        <p:nvSpPr>
          <p:cNvPr id="14" name="Callout 2"/>
          <p:cNvSpPr txBox="1"/>
          <p:nvPr/>
        </p:nvSpPr>
        <p:spPr>
          <a:xfrm>
            <a:off x="8595360" y="2653284"/>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634996"/>
            <a:ext cx="2636215" cy="329184"/>
          </a:xfrm>
          <a:prstGeom prst="rect">
            <a:avLst/>
          </a:prstGeom>
          <a:noFill/>
          <a:ln/>
        </p:spPr>
        <p:txBody>
          <a:bodyPr wrap="square" lIns="0" tIns="0" rIns="0" bIns="0" rtlCol="0" anchor="t"/>
          <a:lstStyle/>
          <a:p>
            <a:pPr indent="0" marL="0">
              <a:buNone/>
            </a:pPr>
            <a:r>
              <a:rPr lang="en-US" sz="1400" dirty="0">
                <a:solidFill>
                  <a:schemeClr val="tx1"/>
                </a:solidFill>
              </a:rPr>
              <a:t>Export CSV.</a:t>
            </a:r>
            <a:endParaRPr lang="en-US" sz="1400" dirty="0"/>
          </a:p>
        </p:txBody>
      </p:sp>
      <p:sp>
        <p:nvSpPr>
          <p:cNvPr id="16" name="Shape 12"/>
          <p:cNvSpPr/>
          <p:nvPr/>
        </p:nvSpPr>
        <p:spPr>
          <a:xfrm>
            <a:off x="8595360" y="3092196"/>
            <a:ext cx="3047695" cy="1012444"/>
          </a:xfrm>
          <a:prstGeom prst="roundRect">
            <a:avLst>
              <a:gd name="adj" fmla="val 7225"/>
            </a:avLst>
          </a:prstGeom>
          <a:solidFill>
            <a:srgbClr val="F4F5F8"/>
          </a:solidFill>
          <a:ln w="12700">
            <a:solidFill>
              <a:srgbClr val="F4F5F8"/>
            </a:solidFill>
            <a:prstDash val="solid"/>
          </a:ln>
        </p:spPr>
      </p:sp>
      <p:sp>
        <p:nvSpPr>
          <p:cNvPr id="17" name="Text 13"/>
          <p:cNvSpPr txBox="1"/>
          <p:nvPr/>
        </p:nvSpPr>
        <p:spPr>
          <a:xfrm>
            <a:off x="8732520" y="3183636"/>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Headcount by department: Engineering 12, Design 4, (no department) 3, Consulting 2, Finance 1.</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Report: Headcount by department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Export CSV</a:t>
            </a:r>
            <a:endParaRPr lang="en-US" sz="2800" dirty="0"/>
          </a:p>
        </p:txBody>
      </p:sp>
      <p:pic>
        <p:nvPicPr>
          <p:cNvPr id="5" name="Screenshot analytics/80-ins-07-report-exported" descr="Screenshot: Report (after Export CSV)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399794"/>
          </a:xfrm>
          <a:prstGeom prst="roundRect">
            <a:avLst>
              <a:gd name="adj" fmla="val 5226"/>
            </a:avLst>
          </a:prstGeom>
          <a:solidFill>
            <a:srgbClr val="F4F5F8"/>
          </a:solidFill>
          <a:ln w="12700">
            <a:solidFill>
              <a:srgbClr val="F4F5F8"/>
            </a:solidFill>
            <a:prstDash val="solid"/>
          </a:ln>
        </p:spPr>
      </p:sp>
      <p:sp>
        <p:nvSpPr>
          <p:cNvPr id="9" name="Text 5"/>
          <p:cNvSpPr txBox="1"/>
          <p:nvPr/>
        </p:nvSpPr>
        <p:spPr>
          <a:xfrm>
            <a:off x="8732520" y="1965960"/>
            <a:ext cx="2773375" cy="12169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The CSV downloads immediately (observed: headcount-by-department-20261021-073623-1.csv), with no on-screen message. The export is recorded in Change history as an Export event.</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Report (after Export CSV)</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Report builder: a known defect</a:t>
            </a:r>
            <a:endParaRPr lang="en-US" sz="2800" dirty="0"/>
          </a:p>
        </p:txBody>
      </p:sp>
      <p:pic>
        <p:nvPicPr>
          <p:cNvPr id="5" name="Screenshot analytics/80-ins-08-report-builder-f44" descr="Screenshot: Insights › Analytics › Reports › New report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5319268" y="3276871"/>
            <a:ext cx="2735478" cy="236931"/>
          </a:xfrm>
          <a:prstGeom prst="roundRect">
            <a:avLst>
              <a:gd name="adj" fmla="val 19297"/>
            </a:avLst>
          </a:prstGeom>
          <a:ln w="25400">
            <a:solidFill>
              <a:srgbClr val="D97706"/>
            </a:solidFill>
            <a:prstDash val="solid"/>
          </a:ln>
        </p:spPr>
      </p:sp>
      <p:sp>
        <p:nvSpPr>
          <p:cNvPr id="8" name="Callout 1"/>
          <p:cNvSpPr txBox="1"/>
          <p:nvPr/>
        </p:nvSpPr>
        <p:spPr>
          <a:xfrm>
            <a:off x="5008372" y="326732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Dataset chosen: Employees.</a:t>
            </a:r>
            <a:endParaRPr lang="en-US" sz="1400" dirty="0"/>
          </a:p>
        </p:txBody>
      </p:sp>
      <p:sp>
        <p:nvSpPr>
          <p:cNvPr id="12" name="Bullet"/>
          <p:cNvSpPr/>
          <p:nvPr/>
        </p:nvSpPr>
        <p:spPr>
          <a:xfrm>
            <a:off x="8686800" y="2331720"/>
            <a:ext cx="109728" cy="109728"/>
          </a:xfrm>
          <a:prstGeom prst="ellipse">
            <a:avLst/>
          </a:prstGeom>
          <a:solidFill>
            <a:srgbClr val="8A90A2"/>
          </a:solidFill>
          <a:ln w="12700">
            <a:solidFill>
              <a:srgbClr val="8A90A2"/>
            </a:solidFill>
            <a:prstDash val="solid"/>
          </a:ln>
        </p:spPr>
      </p:sp>
      <p:sp>
        <p:nvSpPr>
          <p:cNvPr id="13" name="Text 9"/>
          <p:cNvSpPr txBox="1"/>
          <p:nvPr/>
        </p:nvSpPr>
        <p:spPr>
          <a:xfrm>
            <a:off x="9006840" y="2240280"/>
            <a:ext cx="2636215" cy="940816"/>
          </a:xfrm>
          <a:prstGeom prst="rect">
            <a:avLst/>
          </a:prstGeom>
          <a:noFill/>
          <a:ln/>
        </p:spPr>
        <p:txBody>
          <a:bodyPr wrap="square" lIns="0" tIns="0" rIns="0" bIns="0" rtlCol="0" anchor="t"/>
          <a:lstStyle/>
          <a:p>
            <a:pPr indent="0" marL="0">
              <a:buNone/>
            </a:pPr>
            <a:r>
              <a:rPr lang="en-US" sz="1400" dirty="0">
                <a:solidFill>
                  <a:schemeClr val="tx1"/>
                </a:solidFill>
              </a:rPr>
              <a:t>Group by (closed here) offered only "No grouping" when opened during the capture.</a:t>
            </a:r>
            <a:endParaRPr lang="en-US" sz="1400" dirty="0"/>
          </a:p>
        </p:txBody>
      </p:sp>
      <p:sp>
        <p:nvSpPr>
          <p:cNvPr id="14" name="Shape 10"/>
          <p:cNvSpPr/>
          <p:nvPr/>
        </p:nvSpPr>
        <p:spPr>
          <a:xfrm>
            <a:off x="8595360" y="3309112"/>
            <a:ext cx="3047695" cy="1787144"/>
          </a:xfrm>
          <a:prstGeom prst="roundRect">
            <a:avLst>
              <a:gd name="adj" fmla="val 4093"/>
            </a:avLst>
          </a:prstGeom>
          <a:solidFill>
            <a:srgbClr val="F4F5F8"/>
          </a:solidFill>
          <a:ln w="12700">
            <a:solidFill>
              <a:srgbClr val="F4F5F8"/>
            </a:solidFill>
            <a:prstDash val="solid"/>
          </a:ln>
        </p:spPr>
      </p:sp>
      <p:sp>
        <p:nvSpPr>
          <p:cNvPr id="15" name="Text 11"/>
          <p:cNvSpPr txBox="1"/>
          <p:nvPr/>
        </p:nvSpPr>
        <p:spPr>
          <a:xfrm>
            <a:off x="8732520" y="3400552"/>
            <a:ext cx="2773375" cy="16042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Defect F44: the Fields list fills, but Filters, Group by, chart axis and Sort by (lower on the form) offer no dataset fields, so new grouped reports cannot be built. Use the starter reports and People analytics until it is fixed.</a:t>
            </a:r>
            <a:endParaRPr lang="en-US" sz="1050" dirty="0"/>
          </a:p>
        </p:txBody>
      </p:sp>
      <p:sp>
        <p:nvSpPr>
          <p:cNvPr id="16" name="Text 1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Insights › Analytics › Reports › New report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Dashboard builder</a:t>
            </a:r>
            <a:endParaRPr lang="en-US" sz="2800" dirty="0"/>
          </a:p>
        </p:txBody>
      </p:sp>
      <p:pic>
        <p:nvPicPr>
          <p:cNvPr id="5" name="Screenshot analytics/80-ins-09-dashboard-builder" descr="Screenshot: Insights › Analytics › Dashboard builder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7451649" y="2293247"/>
            <a:ext cx="732333" cy="236931"/>
          </a:xfrm>
          <a:prstGeom prst="roundRect">
            <a:avLst>
              <a:gd name="adj" fmla="val 19297"/>
            </a:avLst>
          </a:prstGeom>
          <a:ln w="25400">
            <a:solidFill>
              <a:srgbClr val="D97706"/>
            </a:solidFill>
            <a:prstDash val="solid"/>
          </a:ln>
        </p:spPr>
      </p:sp>
      <p:sp>
        <p:nvSpPr>
          <p:cNvPr id="8" name="Callout 1"/>
          <p:cNvSpPr txBox="1"/>
          <p:nvPr/>
        </p:nvSpPr>
        <p:spPr>
          <a:xfrm>
            <a:off x="7323633"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New dashboard.</a:t>
            </a:r>
            <a:endParaRPr lang="en-US" sz="1400" dirty="0"/>
          </a:p>
        </p:txBody>
      </p:sp>
      <p:sp>
        <p:nvSpPr>
          <p:cNvPr id="12" name="Shape 8"/>
          <p:cNvSpPr/>
          <p:nvPr/>
        </p:nvSpPr>
        <p:spPr>
          <a:xfrm>
            <a:off x="8595360" y="2331720"/>
            <a:ext cx="3047695" cy="1012444"/>
          </a:xfrm>
          <a:prstGeom prst="roundRect">
            <a:avLst>
              <a:gd name="adj" fmla="val 7225"/>
            </a:avLst>
          </a:prstGeom>
          <a:solidFill>
            <a:srgbClr val="F4F5F8"/>
          </a:solidFill>
          <a:ln w="12700">
            <a:solidFill>
              <a:srgbClr val="F4F5F8"/>
            </a:solidFill>
            <a:prstDash val="solid"/>
          </a:ln>
        </p:spPr>
      </p:sp>
      <p:sp>
        <p:nvSpPr>
          <p:cNvPr id="13" name="Text 9"/>
          <p:cNvSpPr txBox="1"/>
          <p:nvPr/>
        </p:nvSpPr>
        <p:spPr>
          <a:xfrm>
            <a:off x="8732520" y="242316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The HR overview dashboard: audience Everyone, 8 widgets. Widgets that use report grouping are affected by F44.</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Insights › Analytics › Dashboard builder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Scheduled reports: know the limits</a:t>
            </a:r>
            <a:endParaRPr lang="en-US" sz="2800" dirty="0"/>
          </a:p>
        </p:txBody>
      </p:sp>
      <p:sp>
        <p:nvSpPr>
          <p:cNvPr id="5" name="Shape 2"/>
          <p:cNvSpPr/>
          <p:nvPr/>
        </p:nvSpPr>
        <p:spPr>
          <a:xfrm>
            <a:off x="548640" y="1463040"/>
            <a:ext cx="3545738" cy="4800600"/>
          </a:xfrm>
          <a:prstGeom prst="roundRect">
            <a:avLst>
              <a:gd name="adj" fmla="val 2579"/>
            </a:avLst>
          </a:prstGeom>
          <a:solidFill>
            <a:srgbClr val="FDF0DD"/>
          </a:solidFill>
          <a:ln w="12700">
            <a:solidFill>
              <a:srgbClr val="FDF0DD"/>
            </a:solidFill>
            <a:prstDash val="solid"/>
          </a:ln>
        </p:spPr>
      </p:sp>
      <p:sp>
        <p:nvSpPr>
          <p:cNvPr id="6" name="Text 3"/>
          <p:cNvSpPr txBox="1"/>
          <p:nvPr/>
        </p:nvSpPr>
        <p:spPr>
          <a:xfrm>
            <a:off x="777240"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Runs as the owner</a:t>
            </a:r>
            <a:endParaRPr lang="en-US" sz="1600" dirty="0"/>
          </a:p>
        </p:txBody>
      </p:sp>
      <p:sp>
        <p:nvSpPr>
          <p:cNvPr id="7" name="Text 4"/>
          <p:cNvSpPr txBox="1"/>
          <p:nvPr/>
        </p:nvSpPr>
        <p:spPr>
          <a:xfrm>
            <a:off x="777240" y="2084832"/>
            <a:ext cx="3088538" cy="40690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 scheduled run uses the report owner's access. Starter reports have no owner, so their schedules fail (F46).</a:t>
            </a:r>
            <a:endParaRPr lang="en-US" sz="1600" dirty="0"/>
          </a:p>
        </p:txBody>
      </p:sp>
      <p:sp>
        <p:nvSpPr>
          <p:cNvPr id="8" name="Shape 5"/>
          <p:cNvSpPr/>
          <p:nvPr/>
        </p:nvSpPr>
        <p:spPr>
          <a:xfrm>
            <a:off x="4322978" y="1463040"/>
            <a:ext cx="3545738" cy="4800600"/>
          </a:xfrm>
          <a:prstGeom prst="roundRect">
            <a:avLst>
              <a:gd name="adj" fmla="val 2579"/>
            </a:avLst>
          </a:prstGeom>
          <a:solidFill>
            <a:srgbClr val="F4F5F8"/>
          </a:solidFill>
          <a:ln w="12700">
            <a:solidFill>
              <a:srgbClr val="F4F5F8"/>
            </a:solidFill>
            <a:prstDash val="solid"/>
          </a:ln>
        </p:spPr>
      </p:sp>
      <p:sp>
        <p:nvSpPr>
          <p:cNvPr id="9" name="Text 6"/>
          <p:cNvSpPr txBox="1"/>
          <p:nvPr/>
        </p:nvSpPr>
        <p:spPr>
          <a:xfrm>
            <a:off x="4551578"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Notices are in-app</a:t>
            </a:r>
            <a:endParaRPr lang="en-US" sz="1600" dirty="0"/>
          </a:p>
        </p:txBody>
      </p:sp>
      <p:sp>
        <p:nvSpPr>
          <p:cNvPr id="10" name="Text 7"/>
          <p:cNvSpPr txBox="1"/>
          <p:nvPr/>
        </p:nvSpPr>
        <p:spPr>
          <a:xfrm>
            <a:off x="4551578" y="2084832"/>
            <a:ext cx="3088538" cy="40690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Completed schedules notify in the application only; only the owner can download a scheduled export.</a:t>
            </a:r>
            <a:endParaRPr lang="en-US" sz="1600" dirty="0"/>
          </a:p>
        </p:txBody>
      </p:sp>
      <p:sp>
        <p:nvSpPr>
          <p:cNvPr id="11" name="Shape 8"/>
          <p:cNvSpPr/>
          <p:nvPr/>
        </p:nvSpPr>
        <p:spPr>
          <a:xfrm>
            <a:off x="8097317" y="1463040"/>
            <a:ext cx="3545738" cy="4800600"/>
          </a:xfrm>
          <a:prstGeom prst="roundRect">
            <a:avLst>
              <a:gd name="adj" fmla="val 2579"/>
            </a:avLst>
          </a:prstGeom>
          <a:solidFill>
            <a:srgbClr val="FDF0DD"/>
          </a:solidFill>
          <a:ln w="12700">
            <a:solidFill>
              <a:srgbClr val="FDF0DD"/>
            </a:solidFill>
            <a:prstDash val="solid"/>
          </a:ln>
        </p:spPr>
      </p:sp>
      <p:sp>
        <p:nvSpPr>
          <p:cNvPr id="12" name="Text 9"/>
          <p:cNvSpPr txBox="1"/>
          <p:nvPr/>
        </p:nvSpPr>
        <p:spPr>
          <a:xfrm>
            <a:off x="8325917"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Needs the scheduler</a:t>
            </a:r>
            <a:endParaRPr lang="en-US" sz="1600" dirty="0"/>
          </a:p>
        </p:txBody>
      </p:sp>
      <p:sp>
        <p:nvSpPr>
          <p:cNvPr id="13" name="Text 10"/>
          <p:cNvSpPr txBox="1"/>
          <p:nvPr/>
        </p:nvSpPr>
        <p:spPr>
          <a:xfrm>
            <a:off x="8325917" y="2084832"/>
            <a:ext cx="3088538" cy="40690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Schedules run through peopleos:reports:run-due, which needs the scheduler running in production (gate 8).</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05</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Audit and operational reports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Who changed what, when, why, and proof that the record was not altered.</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history</a:t>
            </a:r>
            <a:endParaRPr lang="en-US" sz="2800" dirty="0"/>
          </a:p>
        </p:txBody>
      </p:sp>
      <p:pic>
        <p:nvPicPr>
          <p:cNvPr id="5" name="Screenshot analytics/80-ins-10-change-history" descr="Screenshot: Insights › Audit › Change history (Audit event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061479"/>
            <a:ext cx="958494" cy="305139"/>
          </a:xfrm>
          <a:prstGeom prst="roundRect">
            <a:avLst>
              <a:gd name="adj" fmla="val 14983"/>
            </a:avLst>
          </a:prstGeom>
          <a:ln w="25400">
            <a:solidFill>
              <a:srgbClr val="D97706"/>
            </a:solidFill>
            <a:prstDash val="solid"/>
          </a:ln>
        </p:spPr>
      </p:sp>
      <p:sp>
        <p:nvSpPr>
          <p:cNvPr id="8" name="Callout 1"/>
          <p:cNvSpPr txBox="1"/>
          <p:nvPr/>
        </p:nvSpPr>
        <p:spPr>
          <a:xfrm>
            <a:off x="1981911" y="276887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When.</a:t>
            </a:r>
            <a:endParaRPr lang="en-US" sz="1400" dirty="0"/>
          </a:p>
        </p:txBody>
      </p:sp>
      <p:sp>
        <p:nvSpPr>
          <p:cNvPr id="12" name="Bullet"/>
          <p:cNvSpPr/>
          <p:nvPr/>
        </p:nvSpPr>
        <p:spPr>
          <a:xfrm>
            <a:off x="8686800" y="2331720"/>
            <a:ext cx="109728" cy="109728"/>
          </a:xfrm>
          <a:prstGeom prst="ellipse">
            <a:avLst/>
          </a:prstGeom>
          <a:solidFill>
            <a:srgbClr val="8A90A2"/>
          </a:solidFill>
          <a:ln w="12700">
            <a:solidFill>
              <a:srgbClr val="8A90A2"/>
            </a:solidFill>
            <a:prstDash val="solid"/>
          </a:ln>
        </p:spPr>
      </p:sp>
      <p:sp>
        <p:nvSpPr>
          <p:cNvPr id="13" name="Text 9"/>
          <p:cNvSpPr txBox="1"/>
          <p:nvPr/>
        </p:nvSpPr>
        <p:spPr>
          <a:xfrm>
            <a:off x="9006840" y="2240280"/>
            <a:ext cx="2636215" cy="506984"/>
          </a:xfrm>
          <a:prstGeom prst="rect">
            <a:avLst/>
          </a:prstGeom>
          <a:noFill/>
          <a:ln/>
        </p:spPr>
        <p:txBody>
          <a:bodyPr wrap="square" lIns="0" tIns="0" rIns="0" bIns="0" rtlCol="0" anchor="t"/>
          <a:lstStyle/>
          <a:p>
            <a:pPr indent="0" marL="0">
              <a:buNone/>
            </a:pPr>
            <a:r>
              <a:rPr lang="en-US" sz="1400" dirty="0">
                <a:solidFill>
                  <a:schemeClr val="tx1"/>
                </a:solidFill>
              </a:rPr>
              <a:t>The latest event: the report export above.</a:t>
            </a:r>
            <a:endParaRPr lang="en-US" sz="1400" dirty="0"/>
          </a:p>
        </p:txBody>
      </p:sp>
      <p:sp>
        <p:nvSpPr>
          <p:cNvPr id="14" name="Shape 10"/>
          <p:cNvSpPr/>
          <p:nvPr/>
        </p:nvSpPr>
        <p:spPr>
          <a:xfrm>
            <a:off x="8595360" y="2875280"/>
            <a:ext cx="3047695" cy="1012444"/>
          </a:xfrm>
          <a:prstGeom prst="roundRect">
            <a:avLst>
              <a:gd name="adj" fmla="val 7225"/>
            </a:avLst>
          </a:prstGeom>
          <a:solidFill>
            <a:srgbClr val="F4F5F8"/>
          </a:solidFill>
          <a:ln w="12700">
            <a:solidFill>
              <a:srgbClr val="F4F5F8"/>
            </a:solidFill>
            <a:prstDash val="solid"/>
          </a:ln>
        </p:spPr>
      </p:sp>
      <p:sp>
        <p:nvSpPr>
          <p:cNvPr id="15" name="Text 11"/>
          <p:cNvSpPr txBox="1"/>
          <p:nvPr/>
        </p:nvSpPr>
        <p:spPr>
          <a:xfrm>
            <a:off x="8732520" y="296672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Every recorded change with action, module, record, who and reason. Filter, then View any event.</a:t>
            </a:r>
            <a:endParaRPr lang="en-US" sz="1050" dirty="0"/>
          </a:p>
        </p:txBody>
      </p:sp>
      <p:sp>
        <p:nvSpPr>
          <p:cNvPr id="16" name="Text 1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Insights › Audit › Change history (Audit events)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One event: details and integrity</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Event detail</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security-compliance/80-ins-11-audit-event-detail" descr="Screenshot: Change history › event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Who, when, action, reason and the field-level before → after values.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Change history › event</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Who and where · Integrity</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security-compliance/80-ins-11b-audit-integrity" descr="Screenshot: Change history › event (Who and where, Integrity expanded) (Kavya Menon, fictional data)">    </p:cNvPr>
          <p:cNvPicPr>
            <a:picLocks noChangeAspect="1"/>
          </p:cNvPicPr>
          <p:nvPr/>
        </p:nvPicPr>
        <p:blipFill>
          <a:blip r:embed="rId2"/>
          <a:stretch>
            <a:fillRect/>
          </a:stretch>
        </p:blipFill>
        <p:spPr>
          <a:xfrm>
            <a:off x="6944167" y="1755648"/>
            <a:ext cx="4033449" cy="3429000"/>
          </a:xfrm>
          <a:prstGeom prst="rect">
            <a:avLst/>
          </a:prstGeom>
        </p:spPr>
      </p:pic>
      <p:sp>
        <p:nvSpPr>
          <p:cNvPr id="14" name="Screenshot frame"/>
          <p:cNvSpPr/>
          <p:nvPr/>
        </p:nvSpPr>
        <p:spPr>
          <a:xfrm>
            <a:off x="6944167" y="1755648"/>
            <a:ext cx="4033449"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Actor and roles, source, IP, request id; Hash, Previous hash and "Hash verified ✓".</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Change history › event (Who and where, Integrity expanded)</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intelligence and AI interactions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Change intelligence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analytics/80-ins-12-change-intelligence" descr="Screenshot: Insights › Audit › Change intelligence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Changes by person and date with Explain. Sensitive values stay masked unless you may see them.</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Insights › Audit › Change intelligence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AI interactions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analytics/80-ins-13-ai-interactions" descr="Screenshot: Insights › Audit › AI interaction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assistant question and answer, with the user, assistant and sources. Read only.</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Insights › Audit › AI interactions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Ask PeopleOS: answers with sources</a:t>
            </a:r>
            <a:endParaRPr lang="en-US" sz="2800" dirty="0"/>
          </a:p>
        </p:txBody>
      </p:sp>
      <p:pic>
        <p:nvPicPr>
          <p:cNvPr id="5" name="Screenshot analytics/80-ins-17-ask-peopleos" descr="Screenshot: Ask PeopleOS panel (PeopleOS Assistant)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5470042" y="5344634"/>
            <a:ext cx="2541626" cy="226162"/>
          </a:xfrm>
          <a:prstGeom prst="roundRect">
            <a:avLst>
              <a:gd name="adj" fmla="val 20216"/>
            </a:avLst>
          </a:prstGeom>
          <a:ln w="25400">
            <a:solidFill>
              <a:srgbClr val="D97706"/>
            </a:solidFill>
            <a:prstDash val="solid"/>
          </a:ln>
        </p:spPr>
      </p:sp>
      <p:sp>
        <p:nvSpPr>
          <p:cNvPr id="8" name="Callout 1"/>
          <p:cNvSpPr txBox="1"/>
          <p:nvPr/>
        </p:nvSpPr>
        <p:spPr>
          <a:xfrm>
            <a:off x="5159146" y="532969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The question: "What is our attrition?"</a:t>
            </a:r>
            <a:endParaRPr lang="en-US" sz="1400" dirty="0"/>
          </a:p>
        </p:txBody>
      </p:sp>
      <p:sp>
        <p:nvSpPr>
          <p:cNvPr id="12" name="Shape 8"/>
          <p:cNvSpPr/>
          <p:nvPr/>
        </p:nvSpPr>
        <p:spPr>
          <a:xfrm>
            <a:off x="8595360" y="2509520"/>
            <a:ext cx="3047695" cy="1593469"/>
          </a:xfrm>
          <a:prstGeom prst="roundRect">
            <a:avLst>
              <a:gd name="adj" fmla="val 4591"/>
            </a:avLst>
          </a:prstGeom>
          <a:solidFill>
            <a:srgbClr val="F4F5F8"/>
          </a:solidFill>
          <a:ln w="12700">
            <a:solidFill>
              <a:srgbClr val="F4F5F8"/>
            </a:solidFill>
            <a:prstDash val="solid"/>
          </a:ln>
        </p:spPr>
      </p:sp>
      <p:sp>
        <p:nvSpPr>
          <p:cNvPr id="13" name="Text 9"/>
          <p:cNvSpPr txBox="1"/>
          <p:nvPr/>
        </p:nvSpPr>
        <p:spPr>
          <a:xfrm>
            <a:off x="8732520" y="2600960"/>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Answer: 4.5% (exits in the last 12 months ÷ average headcount), with its source (Workforce metrics, computed live). The external language model is off by default; answers are rule-based and logged.</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Ask PeopleOS panel (PeopleOS Assistant)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RECONCILIATION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Reconcile before you publish a figure</a:t>
            </a:r>
            <a:endParaRPr lang="en-US" sz="2800" dirty="0"/>
          </a:p>
        </p:txBody>
      </p:sp>
      <p:sp>
        <p:nvSpPr>
          <p:cNvPr id="5" name="Shape 2"/>
          <p:cNvSpPr/>
          <p:nvPr/>
        </p:nvSpPr>
        <p:spPr>
          <a:xfrm>
            <a:off x="548640" y="1463040"/>
            <a:ext cx="3545738" cy="2286000"/>
          </a:xfrm>
          <a:prstGeom prst="roundRect">
            <a:avLst>
              <a:gd name="adj" fmla="val 4000"/>
            </a:avLst>
          </a:prstGeom>
          <a:solidFill>
            <a:srgbClr val="F4F5F8"/>
          </a:solidFill>
          <a:ln w="12700">
            <a:solidFill>
              <a:srgbClr val="F4F5F8"/>
            </a:solidFill>
            <a:prstDash val="solid"/>
          </a:ln>
        </p:spPr>
      </p:sp>
      <p:sp>
        <p:nvSpPr>
          <p:cNvPr id="6" name="Text 3"/>
          <p:cNvSpPr txBox="1"/>
          <p:nvPr/>
        </p:nvSpPr>
        <p:spPr>
          <a:xfrm>
            <a:off x="777240"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Same date</a:t>
            </a:r>
            <a:endParaRPr lang="en-US" sz="1600" dirty="0"/>
          </a:p>
        </p:txBody>
      </p:sp>
      <p:sp>
        <p:nvSpPr>
          <p:cNvPr id="7" name="Text 4"/>
          <p:cNvSpPr txBox="1"/>
          <p:nvPr/>
        </p:nvSpPr>
        <p:spPr>
          <a:xfrm>
            <a:off x="777240" y="20848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Set "As of" (People analytics) or the report period to the date of your source figure.</a:t>
            </a:r>
            <a:endParaRPr lang="en-US" sz="1400" dirty="0"/>
          </a:p>
        </p:txBody>
      </p:sp>
      <p:sp>
        <p:nvSpPr>
          <p:cNvPr id="8" name="Shape 5"/>
          <p:cNvSpPr/>
          <p:nvPr/>
        </p:nvSpPr>
        <p:spPr>
          <a:xfrm>
            <a:off x="4322978" y="1463040"/>
            <a:ext cx="3545738" cy="2286000"/>
          </a:xfrm>
          <a:prstGeom prst="roundRect">
            <a:avLst>
              <a:gd name="adj" fmla="val 4000"/>
            </a:avLst>
          </a:prstGeom>
          <a:solidFill>
            <a:srgbClr val="F4F5F8"/>
          </a:solidFill>
          <a:ln w="12700">
            <a:solidFill>
              <a:srgbClr val="F4F5F8"/>
            </a:solidFill>
            <a:prstDash val="solid"/>
          </a:ln>
        </p:spPr>
      </p:sp>
      <p:sp>
        <p:nvSpPr>
          <p:cNvPr id="9" name="Text 6"/>
          <p:cNvSpPr txBox="1"/>
          <p:nvPr/>
        </p:nvSpPr>
        <p:spPr>
          <a:xfrm>
            <a:off x="4551578"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Same scope</a:t>
            </a:r>
            <a:endParaRPr lang="en-US" sz="1600" dirty="0"/>
          </a:p>
        </p:txBody>
      </p:sp>
      <p:sp>
        <p:nvSpPr>
          <p:cNvPr id="10" name="Text 7"/>
          <p:cNvSpPr txBox="1"/>
          <p:nvPr/>
        </p:nvSpPr>
        <p:spPr>
          <a:xfrm>
            <a:off x="4551578" y="20848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Your figures cover only the people your role and scope reach. Compare with an administrator if numbers differ.</a:t>
            </a:r>
            <a:endParaRPr lang="en-US" sz="1400" dirty="0"/>
          </a:p>
        </p:txBody>
      </p:sp>
      <p:sp>
        <p:nvSpPr>
          <p:cNvPr id="11" name="Shape 8"/>
          <p:cNvSpPr/>
          <p:nvPr/>
        </p:nvSpPr>
        <p:spPr>
          <a:xfrm>
            <a:off x="8097317" y="1463040"/>
            <a:ext cx="3545738" cy="2286000"/>
          </a:xfrm>
          <a:prstGeom prst="roundRect">
            <a:avLst>
              <a:gd name="adj" fmla="val 4000"/>
            </a:avLst>
          </a:prstGeom>
          <a:solidFill>
            <a:srgbClr val="F4F5F8"/>
          </a:solidFill>
          <a:ln w="12700">
            <a:solidFill>
              <a:srgbClr val="F4F5F8"/>
            </a:solidFill>
            <a:prstDash val="solid"/>
          </a:ln>
        </p:spPr>
      </p:sp>
      <p:sp>
        <p:nvSpPr>
          <p:cNvPr id="12" name="Text 9"/>
          <p:cNvSpPr txBox="1"/>
          <p:nvPr/>
        </p:nvSpPr>
        <p:spPr>
          <a:xfrm>
            <a:off x="8325917"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Explain blanks</a:t>
            </a:r>
            <a:endParaRPr lang="en-US" sz="1600" dirty="0"/>
          </a:p>
        </p:txBody>
      </p:sp>
      <p:sp>
        <p:nvSpPr>
          <p:cNvPr id="13" name="Text 10"/>
          <p:cNvSpPr txBox="1"/>
          <p:nvPr/>
        </p:nvSpPr>
        <p:spPr>
          <a:xfrm>
            <a:off x="8325917" y="20848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 group means the field is empty on some records (e.g. no department). Fix the records, re-run.</a:t>
            </a:r>
            <a:endParaRPr lang="en-US" sz="1400" dirty="0"/>
          </a:p>
        </p:txBody>
      </p:sp>
      <p:sp>
        <p:nvSpPr>
          <p:cNvPr id="14" name="Shape 11"/>
          <p:cNvSpPr/>
          <p:nvPr/>
        </p:nvSpPr>
        <p:spPr>
          <a:xfrm>
            <a:off x="548640" y="3977640"/>
            <a:ext cx="3545738" cy="2286000"/>
          </a:xfrm>
          <a:prstGeom prst="roundRect">
            <a:avLst>
              <a:gd name="adj" fmla="val 4000"/>
            </a:avLst>
          </a:prstGeom>
          <a:solidFill>
            <a:srgbClr val="F4F5F8"/>
          </a:solidFill>
          <a:ln w="12700">
            <a:solidFill>
              <a:srgbClr val="F4F5F8"/>
            </a:solidFill>
            <a:prstDash val="solid"/>
          </a:ln>
        </p:spPr>
      </p:sp>
      <p:sp>
        <p:nvSpPr>
          <p:cNvPr id="15" name="Text 12"/>
          <p:cNvSpPr txBox="1"/>
          <p:nvPr/>
        </p:nvSpPr>
        <p:spPr>
          <a:xfrm>
            <a:off x="777240" y="41239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Small groups</a:t>
            </a:r>
            <a:endParaRPr lang="en-US" sz="1600" dirty="0"/>
          </a:p>
        </p:txBody>
      </p:sp>
      <p:sp>
        <p:nvSpPr>
          <p:cNvPr id="16" name="Text 13"/>
          <p:cNvSpPr txBox="1"/>
          <p:nvPr/>
        </p:nvSpPr>
        <p:spPr>
          <a:xfrm>
            <a:off x="777240" y="45994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People, performance, compensation and service analytics and talent pools suppress counts below 5 on purpose. Use a wider grouping instead of asking for the detail.</a:t>
            </a:r>
            <a:endParaRPr lang="en-US" sz="1400" dirty="0"/>
          </a:p>
        </p:txBody>
      </p:sp>
      <p:sp>
        <p:nvSpPr>
          <p:cNvPr id="17" name="Shape 14"/>
          <p:cNvSpPr/>
          <p:nvPr/>
        </p:nvSpPr>
        <p:spPr>
          <a:xfrm>
            <a:off x="4322978" y="3977640"/>
            <a:ext cx="3545738" cy="2286000"/>
          </a:xfrm>
          <a:prstGeom prst="roundRect">
            <a:avLst>
              <a:gd name="adj" fmla="val 4000"/>
            </a:avLst>
          </a:prstGeom>
          <a:solidFill>
            <a:srgbClr val="F4F5F8"/>
          </a:solidFill>
          <a:ln w="12700">
            <a:solidFill>
              <a:srgbClr val="F4F5F8"/>
            </a:solidFill>
            <a:prstDash val="solid"/>
          </a:ln>
        </p:spPr>
      </p:sp>
      <p:sp>
        <p:nvSpPr>
          <p:cNvPr id="18" name="Text 15"/>
          <p:cNvSpPr txBox="1"/>
          <p:nvPr/>
        </p:nvSpPr>
        <p:spPr>
          <a:xfrm>
            <a:off x="4551578" y="41239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Drill down</a:t>
            </a:r>
            <a:endParaRPr lang="en-US" sz="1600" dirty="0"/>
          </a:p>
        </p:txBody>
      </p:sp>
      <p:sp>
        <p:nvSpPr>
          <p:cNvPr id="19" name="Text 16"/>
          <p:cNvSpPr txBox="1"/>
          <p:nvPr/>
        </p:nvSpPr>
        <p:spPr>
          <a:xfrm>
            <a:off x="4551578" y="45994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Select a figure on the Workforce pulse to see the people behind it; compare with the Employees register filters.</a:t>
            </a:r>
            <a:endParaRPr lang="en-US" sz="1400" dirty="0"/>
          </a:p>
        </p:txBody>
      </p:sp>
      <p:sp>
        <p:nvSpPr>
          <p:cNvPr id="20" name="Shape 17"/>
          <p:cNvSpPr/>
          <p:nvPr/>
        </p:nvSpPr>
        <p:spPr>
          <a:xfrm>
            <a:off x="8097317" y="3977640"/>
            <a:ext cx="3545738" cy="2286000"/>
          </a:xfrm>
          <a:prstGeom prst="roundRect">
            <a:avLst>
              <a:gd name="adj" fmla="val 4000"/>
            </a:avLst>
          </a:prstGeom>
          <a:solidFill>
            <a:srgbClr val="F4F5F8"/>
          </a:solidFill>
          <a:ln w="12700">
            <a:solidFill>
              <a:srgbClr val="F4F5F8"/>
            </a:solidFill>
            <a:prstDash val="solid"/>
          </a:ln>
        </p:spPr>
      </p:sp>
      <p:sp>
        <p:nvSpPr>
          <p:cNvPr id="21" name="Text 18"/>
          <p:cNvSpPr txBox="1"/>
          <p:nvPr/>
        </p:nvSpPr>
        <p:spPr>
          <a:xfrm>
            <a:off x="8325917" y="41239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Keep evidence</a:t>
            </a:r>
            <a:endParaRPr lang="en-US" sz="1600" dirty="0"/>
          </a:p>
        </p:txBody>
      </p:sp>
      <p:sp>
        <p:nvSpPr>
          <p:cNvPr id="22" name="Text 19"/>
          <p:cNvSpPr txBox="1"/>
          <p:nvPr/>
        </p:nvSpPr>
        <p:spPr>
          <a:xfrm>
            <a:off x="8325917" y="45994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Export the CSV; the export is recorded in Change history with your name and time.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GAPS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Reports you may expect but will not find today</a:t>
            </a:r>
            <a:endParaRPr lang="en-US" sz="2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00400"/>
                <a:gridCol w="5852160"/>
                <a:gridCol w="2039112"/>
              </a:tblGrid>
              <a:tr h="384048">
                <a:tc>
                  <a:txBody>
                    <a:bodyPr/>
                    <a:lstStyle/>
                    <a:p>
                      <a:pPr indent="0" marL="0">
                        <a:buNone/>
                      </a:pPr>
                      <a:r>
                        <a:rPr lang="en-US" sz="1250" b="1" dirty="0">
                          <a:solidFill>
                            <a:srgbClr val="FFFFFF"/>
                          </a:solidFill>
                        </a:rPr>
                        <a:t>Desired report</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Situation</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Status</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Payroll register, payslip and statutory return reports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Need finalised runs; finalisation blocked until statutory rules are verified (0 of 24)</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8A5A00"/>
                          </a:solidFill>
                        </a:rPr>
                        <a:t>Disabled (gate)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DF0DD"/>
                    </a:solidFill>
                  </a:tcPr>
                </a:tc>
              </a:tr>
              <a:tr h="384048">
                <a:tc>
                  <a:txBody>
                    <a:bodyPr/>
                    <a:lstStyle/>
                    <a:p>
                      <a:pPr indent="0" marL="0">
                        <a:buNone/>
                      </a:pPr>
                      <a:r>
                        <a:rPr lang="en-US" sz="1300" dirty="0">
                          <a:solidFill>
                            <a:srgbClr val="1F2433"/>
                          </a:solidFill>
                        </a:rPr>
                        <a:t>New grouped or filtered custom reports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Report builder Group by, filter and sort lists empty (F44)</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B3261E"/>
                          </a:solidFill>
                        </a:rPr>
                        <a:t>Incomplete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r>
              <a:tr h="384048">
                <a:tc>
                  <a:txBody>
                    <a:bodyPr/>
                    <a:lstStyle/>
                    <a:p>
                      <a:pPr indent="0" marL="0">
                        <a:buNone/>
                      </a:pPr>
                      <a:r>
                        <a:rPr lang="en-US" sz="1300" dirty="0">
                          <a:solidFill>
                            <a:srgbClr val="1F2433"/>
                          </a:solidFill>
                        </a:rPr>
                        <a:t>Executive dashboards with figures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Executive role lacks dataset permissions (F45); fix by role configuration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2F6FB3"/>
                          </a:solidFill>
                        </a:rPr>
                        <a:t>After configuration</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4EEF8"/>
                    </a:solidFill>
                  </a:tcPr>
                </a:tc>
              </a:tr>
              <a:tr h="384048">
                <a:tc>
                  <a:txBody>
                    <a:bodyPr/>
                    <a:lstStyle/>
                    <a:p>
                      <a:pPr indent="0" marL="0">
                        <a:buNone/>
                      </a:pPr>
                      <a:r>
                        <a:rPr lang="en-US" sz="1300" dirty="0">
                          <a:solidFill>
                            <a:srgbClr val="1F2433"/>
                          </a:solidFill>
                        </a:rPr>
                        <a:t>Scheduled starter reports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Starter reports have no owner, so scheduled runs fail (F46)</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B3261E"/>
                          </a:solidFill>
                        </a:rPr>
                        <a:t>Incomplete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r>
              <a:tr h="384048">
                <a:tc>
                  <a:txBody>
                    <a:bodyPr/>
                    <a:lstStyle/>
                    <a:p>
                      <a:pPr indent="0" marL="0">
                        <a:buNone/>
                      </a:pPr>
                      <a:r>
                        <a:rPr lang="en-US" sz="1300" dirty="0">
                          <a:solidFill>
                            <a:srgbClr val="1F2433"/>
                          </a:solidFill>
                        </a:rPr>
                        <a:t>PDF exports of reports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CSV only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6B7280"/>
                          </a:solidFill>
                        </a:rPr>
                        <a:t>Not implemented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EEFF2"/>
                    </a:solidFill>
                  </a:tcPr>
                </a:tc>
              </a:tr>
              <a:tr h="384048">
                <a:tc>
                  <a:txBody>
                    <a:bodyPr/>
                    <a:lstStyle/>
                    <a:p>
                      <a:pPr indent="0" marL="0">
                        <a:buNone/>
                      </a:pPr>
                      <a:r>
                        <a:rPr lang="en-US" sz="1300" dirty="0">
                          <a:solidFill>
                            <a:srgbClr val="1F2433"/>
                          </a:solidFill>
                        </a:rPr>
                        <a:t>Predictive attrition per person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Deliberately not built: facts only, no individual predictions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6B7280"/>
                          </a:solidFill>
                        </a:rPr>
                        <a:t>Not implemented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EEFF2"/>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PRACTICE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Practice</a:t>
            </a:r>
            <a:endParaRPr lang="en-US" sz="2800" dirty="0"/>
          </a:p>
        </p:txBody>
      </p:sp>
      <p:sp>
        <p:nvSpPr>
          <p:cNvPr id="5" name="Shape 2"/>
          <p:cNvSpPr/>
          <p:nvPr/>
        </p:nvSpPr>
        <p:spPr>
          <a:xfrm>
            <a:off x="548640" y="1463040"/>
            <a:ext cx="11094415" cy="914400"/>
          </a:xfrm>
          <a:prstGeom prst="roundRect">
            <a:avLst>
              <a:gd name="adj" fmla="val 10000"/>
            </a:avLst>
          </a:prstGeom>
          <a:solidFill>
            <a:srgbClr val="ECEAFB"/>
          </a:solidFill>
          <a:ln w="12700">
            <a:solidFill>
              <a:srgbClr val="ECEAFB"/>
            </a:solidFill>
            <a:prstDash val="solid"/>
          </a:ln>
        </p:spPr>
      </p:sp>
      <p:sp>
        <p:nvSpPr>
          <p:cNvPr id="6" name="Callout 1"/>
          <p:cNvSpPr txBox="1"/>
          <p:nvPr/>
        </p:nvSpPr>
        <p:spPr>
          <a:xfrm>
            <a:off x="731520" y="1737360"/>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1536192"/>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Open the HR overview. What is the attrition figure and how is it calculated?</a:t>
            </a:r>
            <a:endParaRPr lang="en-US" sz="1500" dirty="0"/>
          </a:p>
        </p:txBody>
      </p:sp>
      <p:sp>
        <p:nvSpPr>
          <p:cNvPr id="8" name="Shape 5"/>
          <p:cNvSpPr/>
          <p:nvPr/>
        </p:nvSpPr>
        <p:spPr>
          <a:xfrm>
            <a:off x="548640" y="2542032"/>
            <a:ext cx="11094415" cy="914400"/>
          </a:xfrm>
          <a:prstGeom prst="roundRect">
            <a:avLst>
              <a:gd name="adj" fmla="val 10000"/>
            </a:avLst>
          </a:prstGeom>
          <a:solidFill>
            <a:srgbClr val="ECEAFB"/>
          </a:solidFill>
          <a:ln w="12700">
            <a:solidFill>
              <a:srgbClr val="ECEAFB"/>
            </a:solidFill>
            <a:prstDash val="solid"/>
          </a:ln>
        </p:spPr>
      </p:sp>
      <p:sp>
        <p:nvSpPr>
          <p:cNvPr id="9" name="Callout 2"/>
          <p:cNvSpPr txBox="1"/>
          <p:nvPr/>
        </p:nvSpPr>
        <p:spPr>
          <a:xfrm>
            <a:off x="731520" y="2816352"/>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1280160" y="2615184"/>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Run "Headcount by department" and export it. Where can an auditor see that you exported it?</a:t>
            </a:r>
            <a:endParaRPr lang="en-US" sz="1500" dirty="0"/>
          </a:p>
        </p:txBody>
      </p:sp>
      <p:sp>
        <p:nvSpPr>
          <p:cNvPr id="11" name="Shape 8"/>
          <p:cNvSpPr/>
          <p:nvPr/>
        </p:nvSpPr>
        <p:spPr>
          <a:xfrm>
            <a:off x="548640" y="3621024"/>
            <a:ext cx="11094415" cy="914400"/>
          </a:xfrm>
          <a:prstGeom prst="roundRect">
            <a:avLst>
              <a:gd name="adj" fmla="val 10000"/>
            </a:avLst>
          </a:prstGeom>
          <a:solidFill>
            <a:srgbClr val="ECEAFB"/>
          </a:solidFill>
          <a:ln w="12700">
            <a:solidFill>
              <a:srgbClr val="ECEAFB"/>
            </a:solidFill>
            <a:prstDash val="solid"/>
          </a:ln>
        </p:spPr>
      </p:sp>
      <p:sp>
        <p:nvSpPr>
          <p:cNvPr id="12" name="Callout 3"/>
          <p:cNvSpPr txBox="1"/>
          <p:nvPr/>
        </p:nvSpPr>
        <p:spPr>
          <a:xfrm>
            <a:off x="731520" y="3895344"/>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0"/>
          <p:cNvSpPr txBox="1"/>
          <p:nvPr/>
        </p:nvSpPr>
        <p:spPr>
          <a:xfrm>
            <a:off x="1280160" y="3694176"/>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In People analytics, which figures show "fewer than 5" and why?</a:t>
            </a:r>
            <a:endParaRPr lang="en-US" sz="1500" dirty="0"/>
          </a:p>
        </p:txBody>
      </p:sp>
      <p:sp>
        <p:nvSpPr>
          <p:cNvPr id="14" name="Shape 11"/>
          <p:cNvSpPr/>
          <p:nvPr/>
        </p:nvSpPr>
        <p:spPr>
          <a:xfrm>
            <a:off x="548640" y="4700016"/>
            <a:ext cx="11094415" cy="914400"/>
          </a:xfrm>
          <a:prstGeom prst="roundRect">
            <a:avLst>
              <a:gd name="adj" fmla="val 10000"/>
            </a:avLst>
          </a:prstGeom>
          <a:solidFill>
            <a:srgbClr val="ECEAFB"/>
          </a:solidFill>
          <a:ln w="12700">
            <a:solidFill>
              <a:srgbClr val="ECEAFB"/>
            </a:solidFill>
            <a:prstDash val="solid"/>
          </a:ln>
        </p:spPr>
      </p:sp>
      <p:sp>
        <p:nvSpPr>
          <p:cNvPr id="15" name="Callout 4"/>
          <p:cNvSpPr txBox="1"/>
          <p:nvPr/>
        </p:nvSpPr>
        <p:spPr>
          <a:xfrm>
            <a:off x="731520" y="4974336"/>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6" name="Text 13"/>
          <p:cNvSpPr txBox="1"/>
          <p:nvPr/>
        </p:nvSpPr>
        <p:spPr>
          <a:xfrm>
            <a:off x="1280160" y="4773168"/>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An executive says some HR overview widgets say "You cannot report on…". What is the cause and who can fix it?</a:t>
            </a:r>
            <a:endParaRPr lang="en-US" sz="1500" dirty="0"/>
          </a:p>
        </p:txBody>
      </p:sp>
      <p:sp>
        <p:nvSpPr>
          <p:cNvPr id="17" name="Text 14"/>
          <p:cNvSpPr txBox="1"/>
          <p:nvPr/>
        </p:nvSpPr>
        <p:spPr>
          <a:xfrm>
            <a:off x="548640" y="6035040"/>
            <a:ext cx="8229600" cy="256032"/>
          </a:xfrm>
          <a:prstGeom prst="rect">
            <a:avLst/>
          </a:prstGeom>
          <a:noFill/>
          <a:ln/>
        </p:spPr>
        <p:txBody>
          <a:bodyPr wrap="square" lIns="0" tIns="0" rIns="0" bIns="0" rtlCol="0" anchor="ctr"/>
          <a:lstStyle/>
          <a:p>
            <a:pPr indent="0" marL="0">
              <a:buNone/>
            </a:pPr>
            <a:r>
              <a:rPr lang="en-US" sz="1100" i="1" dirty="0">
                <a:solidFill>
                  <a:srgbClr val="5B6275"/>
                </a:solidFill>
              </a:rPr>
              <a:t>Answer key: on the next slide, and in the speaker notes.</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PRACTICE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Answer key</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48640"/>
                <a:gridCol w="10543032"/>
              </a:tblGrid>
              <a:tr h="384048">
                <a:tc>
                  <a:txBody>
                    <a:bodyPr/>
                    <a:lstStyle/>
                    <a:p>
                      <a:pPr indent="0" marL="0">
                        <a:buNone/>
                      </a:pPr>
                      <a:r>
                        <a:rPr lang="en-US" sz="1250" b="1" dirty="0">
                          <a:solidFill>
                            <a:srgbClr val="FFFFFF"/>
                          </a:solidFill>
                        </a:rPr>
                        <a:t>#</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Answer</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1</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4.5%: exits in the last 12 months ÷ average headcount (HR overview, Attrition tile).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2</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Insights › Audit › Change history lists an Export event with the report name, your name and the time.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3</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Figures where fewer than 5 people are counted (for example joiners and exits under People, pending requests under Leave) show "fewer than 5" to protect privacy.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4</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Report-based widgets need dataset permissions the Executive role lacks (F45). A Tenant Super Admin can add them to the role.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0"/>
          <p:cNvSpPr txBox="1"/>
          <p:nvPr/>
        </p:nvSpPr>
        <p:spPr>
          <a:xfrm>
            <a:off x="548640" y="54864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Summary</a:t>
            </a:r>
            <a:endParaRPr lang="en-US" sz="3600" dirty="0"/>
          </a:p>
        </p:txBody>
      </p:sp>
      <p:sp>
        <p:nvSpPr>
          <p:cNvPr id="4" name="Text 1"/>
          <p:cNvSpPr txBox="1"/>
          <p:nvPr/>
        </p:nvSpPr>
        <p:spPr>
          <a:xfrm>
            <a:off x="548640" y="1463040"/>
            <a:ext cx="6766560" cy="42062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E4E6F0"/>
                </a:solidFill>
              </a:rPr>
              <a:t>Figures are computed from what your role may see; some analytics hide small groups.</a:t>
            </a:r>
            <a:endParaRPr lang="en-US" sz="1600" dirty="0"/>
          </a:p>
          <a:p>
            <a:pPr marL="228600" indent="-228600">
              <a:spcAft>
                <a:spcPts val="800"/>
              </a:spcAft>
              <a:buSzPct val="100000"/>
              <a:buChar char="•"/>
            </a:pPr>
            <a:r>
              <a:rPr lang="en-US" sz="1600" dirty="0">
                <a:solidFill>
                  <a:srgbClr val="E4E6F0"/>
                </a:solidFill>
              </a:rPr>
              <a:t>HR overview, Workforce pulse and People analytics answer most questions.</a:t>
            </a:r>
            <a:endParaRPr lang="en-US" sz="1600" dirty="0"/>
          </a:p>
          <a:p>
            <a:pPr marL="228600" indent="-228600">
              <a:spcAft>
                <a:spcPts val="800"/>
              </a:spcAft>
              <a:buSzPct val="100000"/>
              <a:buChar char="•"/>
            </a:pPr>
            <a:r>
              <a:rPr lang="en-US" sz="1600" dirty="0">
                <a:solidFill>
                  <a:srgbClr val="E4E6F0"/>
                </a:solidFill>
              </a:rPr>
              <a:t>Starter reports run and export to CSV; every export is audited.</a:t>
            </a:r>
            <a:endParaRPr lang="en-US" sz="1600" dirty="0"/>
          </a:p>
          <a:p>
            <a:pPr marL="228600" indent="-228600">
              <a:spcAft>
                <a:spcPts val="800"/>
              </a:spcAft>
              <a:buSzPct val="100000"/>
              <a:buChar char="•"/>
            </a:pPr>
            <a:r>
              <a:rPr lang="en-US" sz="1600" dirty="0">
                <a:solidFill>
                  <a:srgbClr val="E4E6F0"/>
                </a:solidFill>
              </a:rPr>
              <a:t>Change history proves who changed what, with a hash chain that can be verified.</a:t>
            </a:r>
            <a:endParaRPr lang="en-US" sz="1600" dirty="0"/>
          </a:p>
          <a:p>
            <a:pPr marL="228600" indent="-228600">
              <a:spcAft>
                <a:spcPts val="800"/>
              </a:spcAft>
              <a:buSzPct val="100000"/>
              <a:buChar char="•"/>
            </a:pPr>
            <a:r>
              <a:rPr lang="en-US" sz="1600" dirty="0">
                <a:solidFill>
                  <a:srgbClr val="E4E6F0"/>
                </a:solidFill>
              </a:rPr>
              <a:t>Known gaps: report builder (F44), executive datasets (F45), payroll reports until payroll is finalised.</a:t>
            </a:r>
            <a:endParaRPr lang="en-US" sz="1600" dirty="0"/>
          </a:p>
        </p:txBody>
      </p:sp>
      <p:sp>
        <p:nvSpPr>
          <p:cNvPr id="5" name="Shape 2"/>
          <p:cNvSpPr/>
          <p:nvPr/>
        </p:nvSpPr>
        <p:spPr>
          <a:xfrm>
            <a:off x="7680960" y="1463040"/>
            <a:ext cx="3962095" cy="4206240"/>
          </a:xfrm>
          <a:prstGeom prst="roundRect">
            <a:avLst>
              <a:gd name="adj" fmla="val 2769"/>
            </a:avLst>
          </a:prstGeom>
          <a:solidFill>
            <a:srgbClr val="1E2542"/>
          </a:solidFill>
          <a:ln w="12700">
            <a:solidFill>
              <a:srgbClr val="2A3255"/>
            </a:solidFill>
            <a:prstDash val="solid"/>
          </a:ln>
        </p:spPr>
      </p:sp>
      <p:sp>
        <p:nvSpPr>
          <p:cNvPr id="6" name="Text 3"/>
          <p:cNvSpPr txBox="1"/>
          <p:nvPr/>
        </p:nvSpPr>
        <p:spPr>
          <a:xfrm>
            <a:off x="7909560" y="1645920"/>
            <a:ext cx="3566160" cy="274320"/>
          </a:xfrm>
          <a:prstGeom prst="rect">
            <a:avLst/>
          </a:prstGeom>
          <a:noFill/>
          <a:ln/>
        </p:spPr>
        <p:txBody>
          <a:bodyPr wrap="square" lIns="0" tIns="0" rIns="0" bIns="0" rtlCol="0" anchor="ctr"/>
          <a:lstStyle/>
          <a:p>
            <a:pPr indent="0" marL="0">
              <a:buNone/>
            </a:pPr>
            <a:r>
              <a:rPr lang="en-US" sz="1100" b="1" spc="150" kern="0" dirty="0">
                <a:solidFill>
                  <a:srgbClr val="E6C98F"/>
                </a:solidFill>
              </a:rPr>
              <a:t>NEXT STEPS &amp; HELP</a:t>
            </a:r>
            <a:endParaRPr lang="en-US" sz="1100" dirty="0"/>
          </a:p>
        </p:txBody>
      </p:sp>
      <p:sp>
        <p:nvSpPr>
          <p:cNvPr id="7" name="Text 4"/>
          <p:cNvSpPr txBox="1"/>
          <p:nvPr/>
        </p:nvSpPr>
        <p:spPr>
          <a:xfrm>
            <a:off x="7909560" y="2011680"/>
            <a:ext cx="3504895" cy="34747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D5D8E6"/>
                </a:solidFill>
              </a:rPr>
              <a:t>Deck 03: the HR screens behind these figures</a:t>
            </a:r>
            <a:endParaRPr lang="en-US" sz="1350" dirty="0"/>
          </a:p>
          <a:p>
            <a:pPr marL="203200" indent="-203200">
              <a:spcAft>
                <a:spcPts val="600"/>
              </a:spcAft>
              <a:buSzPct val="100000"/>
              <a:buChar char="•"/>
            </a:pPr>
            <a:r>
              <a:rPr lang="en-US" sz="1350" dirty="0">
                <a:solidFill>
                  <a:srgbClr val="D5D8E6"/>
                </a:solidFill>
              </a:rPr>
              <a:t>Deck 08: audit and access controls</a:t>
            </a:r>
            <a:endParaRPr lang="en-US" sz="1350" dirty="0"/>
          </a:p>
          <a:p>
            <a:pPr marL="203200" indent="-203200">
              <a:spcAft>
                <a:spcPts val="600"/>
              </a:spcAft>
              <a:buSzPct val="100000"/>
              <a:buChar char="•"/>
            </a:pPr>
            <a:r>
              <a:rPr lang="en-US" sz="1350" dirty="0">
                <a:solidFill>
                  <a:srgbClr val="D5D8E6"/>
                </a:solidFill>
              </a:rPr>
              <a:t>Ask your administrator for dataset permissions</a:t>
            </a:r>
            <a:endParaRPr lang="en-US" sz="1350" dirty="0"/>
          </a:p>
        </p:txBody>
      </p:sp>
      <p:sp>
        <p:nvSpPr>
          <p:cNvPr id="8" name="Text 5"/>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100" dirty="0">
                <a:solidFill>
                  <a:srgbClr val="E6C98F"/>
                </a:solidFill>
              </a:rPr>
              <a:t>Release gate: NO-GO (10 of 14 gates blocked, re-verified 13 Oct 2026). Not yet generally available.</a:t>
            </a:r>
            <a:endParaRPr lang="en-US" sz="1100" dirty="0"/>
          </a:p>
        </p:txBody>
      </p:sp>
      <p:sp>
        <p:nvSpPr>
          <p:cNvPr id="9"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PeopleOS Training">
  <a:themeElements>
    <a:clrScheme name="PeopleOS">
      <a:dk1>
        <a:srgbClr val="1F2433"/>
      </a:dk1>
      <a:lt1>
        <a:srgbClr val="FFFFFF"/>
      </a:lt1>
      <a:dk2>
        <a:srgbClr val="141A30"/>
      </a:dk2>
      <a:lt2>
        <a:srgbClr val="F4F5F8"/>
      </a:lt2>
      <a:accent1>
        <a:srgbClr val="574BC4"/>
      </a:accent1>
      <a:accent2>
        <a:srgbClr val="C9A45C"/>
      </a:accent2>
      <a:accent3>
        <a:srgbClr val="1E7F4F"/>
      </a:accent3>
      <a:accent4>
        <a:srgbClr val="B3261E"/>
      </a:accent4>
      <a:accent5>
        <a:srgbClr val="2F6FB3"/>
      </a:accent5>
      <a:accent6>
        <a:srgbClr val="D97706"/>
      </a:accent6>
      <a:hlink>
        <a:srgbClr val="574BC4"/>
      </a:hlink>
      <a:folHlink>
        <a:srgbClr val="3E3594"/>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Markedge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PeopleOS · Reporting and Analytics Training</dc:title>
  <dc:subject>Read the dashboards, use the analytics pages, run and export reports, and check the audit trail, knowing what each figure means and where the gaps are.</dc:subject>
  <dc:creator>Markedge PeopleOS training</dc:creator>
  <cp:lastModifiedBy>Markedge PeopleOS training</cp:lastModifiedBy>
  <cp:revision>1</cp:revision>
  <dcterms:created xsi:type="dcterms:W3CDTF">2026-10-21T10:26:02Z</dcterms:created>
  <dcterms:modified xsi:type="dcterms:W3CDTF">2026-10-21T10:26:02Z</dcterms:modified>
</cp:coreProperties>
</file>