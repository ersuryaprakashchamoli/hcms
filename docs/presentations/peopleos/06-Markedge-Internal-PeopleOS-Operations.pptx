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14be0b20-9883-c396-8dc3-576c52566fc3}">
          <p14:sldIdLst>
            <p14:sldId id="256"/>
            <p14:sldId id="257"/>
            <p14:sldId id="258"/>
            <p14:sldId id="259"/>
            <p14:sldId id="260"/>
          </p14:sldIdLst>
        </p14:section>
        <p14:section name="An ordinary tenant for Markedge" id="{2b64fa58-06f2-77b4-b5b6-98e5f29452f1}">
          <p14:sldIdLst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Internal HR operations" id="{27157298-9e19-c843-7010-6d65d734202f}">
          <p14:sldIdLst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</p14:sldIdLst>
        </p14:section>
        <p14:section name="Summary" id="{3590c028-381a-593b-f946-c57f1b709e26}">
          <p14:sldIdLst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Markedge uses PeopleOS for its own people exactly like a customer does: in its own tenant. The platform operators who run the SaaS do not get HR access by being Markedge staff, and Markedge HR gets no platform access.
EVIDENCE: Executed on the training database on 21 Oct 2026: the operator provisioned "Markedge Technologies (internal workforce)" (fictional), its administrator Sana Qureshi (fictional) activated it, created a company, departments and designations, and hired three fictional employees (tools/capture/96-internal.mjs).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seven status labels. Every screenshot slide carries one of them in its top-right corner. Stress that "Verified in the running application" means we ran it on a disposable demonstration database, not that the feature is released.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We trained on the real PeopleOS screens, not mock-ups. The practice database contains invented people only.
AVOID: promising dates for general availability or payroll. The release gate is NO-GO (docs/saas/SaaS-Final-Release-Gate.md (decision NO-GO, re-verified 13 October 2026 at 7314f7d)).
ASK: "Which of your HR tasks still run outside PeopleOS today?"
SAY: Where PeopleOS stands today. This training uses the real application on a practice database with invented people. PeopleOS is not yet generally available.
- What works today: The screens in this deck were run end to end on the practice database: you will see exactly what you will use.
- Payroll is not live yet: Payslips appear only after a payroll run is finalised. Finalising is blocked until statutory rules are verified (0 of 24 today).
- Known issues are named: Where something does not work as it should, the slide says so and shows the workaround.
- Fictional internal tenant: The Markedge tenant shown here is a training copy with invented employees. No real Markedge staff data was used.
ASK: "Which of these points needs more explanation for your team?"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What you will be able to explain:
1. Two hats at Markedge: employer (internal HR) and SaaS provider (platform operations)
2. How the internal tenant is created: by an operator, like any customer
3. What internal HR does in PeopleOS: people, time, leave, payroll inputs, growth, services, exits
4. Where the boundary is enforced: HR cannot open the platform; operators enter tenants only with a reason
5. What still runs outside PeopleOS: payroll finalisation, statutory verification, hosting
ASK: "Which of these matters most to you?" Return to the answer in the summary.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platform-operator flag (is_platform_admin) versus tenant roles; captures 96-int-08 (HR refused on Tenants) and 95-pl-35 (operator Enter).
SAY: Who does what at Markedge. 
- Employee records, hiring, exits | Yes, in the internal tenant | No
- Leave, attendance, approvals | Yes (managers decide) | No
- Payroll inputs and runs | Yes; finalisation blocked like every tenant | No
- Statutory rule verification | No | Yes: two operators with evidence
- Tenant creation, suspension, offboarding | No | Yes, with reasons, audited
- Entering another tenant for support | Never | Only via Enter: reason, ticket, 60 minutes
- Platform readiness, operations, billing set-up | No | Yes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TRANSITION: Section 1, An ordinary tenant for Markedge. Provisioned by an operator, administered by Markedge HR.
SAY: Tell learners what they will be able to do by the end of this section, then move on.
ASK: "What questions do you have before we start this section?"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A separate tenant: Markedge employee data never sits in the operator console.
ON SCREEN: The operator provisions the internal tenant exactly like a customer tenant, with Markedge HR’s administrator as first administrator (slug suggested from the name).
WALK THROUGH: (1) Internal tenant name. (2) Markedge HR administrator. (3) Reason for change.
LEARNERS SHOULD SEE: A separate tenant: Markedge employee data never sits in the operator console
SCREEN: Tenants › New tenant. Signed in as Markedge Platform Admin (Platform operator). Prerequisite: Platform operator with MFA.
EVIDENCE: screenshot screenshots/internal-operations/96-int-01-provision-internal-tenant.png,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The "Created" confirmation and the tenant record. As for any customer, provisioning also adds the system roles, default settings and the administrator's invitation (Deck 4, stage 2).
ON SCREEN: Create tenant.
LEARNERS SHOULD SEE: "Created": the tenant record opens; system roles, default features and settings are provisioned and the invitation e-mail is sent to the first administrator
SCREEN: Tenant (after Create tenant). Signed in as Markedge Platform Admin (Platform operator). Prerequisite: Platform operator with MFA.
EVIDENCE: screenshot screenshots/internal-operations/96-int-02-tenant-created.png,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Demo Group, Northwind Retail and Markedge Technologies (internal workforce) have the same standing: the internal tenant has no special access.
ON SCREEN: Operator view of all tenants.
WALK THROUGH: (1) Markedge's own tenant. (2) A customer tenant.
LEARNERS SHOULD SEE: Demo Group, Northwind Retail and Markedge Technologies (internal workforce) are peers: the internal tenant has no special access
SCREEN: Admin › Platform › Tenants. Signed in as Markedge Platform Admin (Platform operator). Prerequisite: Platform operator provisions the internal tenant; Markedge HR administers it.
EVIDENCE: screenshot screenshots/internal-operations/96-int-03-tenants-side-by-side.png,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Inside the internal tenant.
LEFT, Home (internal administrator): The same Home as any customer: administration lens and governance items.
RIGHT, Directory: Only Markedge's own (fictional) employees; no customer data is visible.
OBSERVE: point out what differs between the two screens.
EVIDENCE: left = internal-operations/96-int-04-internal-home [Sana Qureshi (Tenant Super Admin (Markedge internal HR)), Home (Markedge internal tenant)]; right = internal-operations/96-int-05-internal-directory [Sana Qureshi (Tenant Super Admin (Markedge internal HR)), People › Directory (Markedge internal tenant)]. Real screens, fictional data (SCREENSHOT-INVENTORY.md).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People and reporting lines.
LEFT, Org map: Aditya Kulkarni reports to Rahul Desai.
RIGHT, Employee 360: The same Employee 360 customers use: status, manager, journey, records.
OBSERVE: point out what differs between the two screens.
EVIDENCE: left = internal-operations/96-int-06-internal-org-map [Sana Qureshi (Tenant Super Admin (Markedge internal HR)), Organisation › Org map (Markedge internal tenant)]; right = internal-operations/96-int-07-internal-employee-360 [Sana Qureshi (Tenant Super Admin (Markedge internal HR)), Employee 360 (Markedge internal tenant)]. Real screens, fictional data (SCREENSHOT-INVENTORY.md).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Refused: being Markedge staff in HR does not grant platform-operator access. Operator accounts are separate accounts.
ON SCREEN: Markedge HR’s administrator opens the operator’s Tenants screen directly.
LEARNERS SHOULD SEE: Refused: being Markedge staff in HR does not grant platform-operator access
SCREEN: Tenants (as Markedge HR administrator). Signed in as Sana Qureshi (Tenant Super Admin (Markedge internal HR)). Prerequisite: Platform operator provisions the internal tenant; Markedge HR administers it.
EVIDENCE: screenshot screenshots/internal-operations/96-int-08-hr-cannot-open-tenants.png,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A reason and a ticket reference; access ends after 60 minutes; recorded in the platform audit trail. The same applies to Markedge's own tenant.
ON SCREEN: Enter a customer tenant with a reason.
LEARNERS SHOULD SEE: Operator access is deliberate, explained and audited
SCREEN: Tenants › Enter. Signed in as Markedge Platform Admin (Platform operator). Prerequisite: Platform operator with MFA.
EVIDENCE: screenshot screenshots/platform-admin/95-pl-35-enter-tenant-dialog.png,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TRANSITION: Section 2, Internal HR operations. The work Markedge HR does every month, on the same screens customers use.
SAY: Tell learners what they will be able to do by the end of this section, then move on.
ASK: "What questions do you have before we start this section?"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Hire employee wizard with the duplicate check; onboarding starts automatically. Deck 3 shows every step.
ON SCREEN: Create.
LEARNERS SHOULD SEE: The new Employee 360 opens: code generated, status, manager; the hire is audited
SCREEN: Employee 360 (new hire). Signed in as Kavya Menon (Tenant HR Admin + Employee). Prerequisite: employee.create (Tenant HR Admin, HR Manager, HR Executive, Account Owner).
EVIDENCE: screenshot screenshots/hr-admin/50-hire-07-created-record.png,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Tasks for HR, IT, the manager and the joiner by phase, with Done and Skip.
ON SCREEN: Open the new hire’s onboarding plan.
LEARNERS SHOULD SEE: Tasks by phase (Preboarding, Day 1, First week, 30 days), type, owner, due date, status; Done / Skip per task
SCREEN: Employee 360 › Records › Employment › Onboarding. Signed in as Kavya Menon (Tenant HR Admin + Employee). Prerequisite: onboarding.view / onboarding.manage; plans start automatically on hire (template conditions).
EVIDENCE: screenshot screenshots/hr-admin/50-onb-03-plan-tasks.png,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My work › Approvals shows reason, team overlap and balance before → after.
ON SCREEN: Select the request to see its context.
WALK THROUGH: (1) Reason. (2) Approve. (3) Reject.
LEARNERS SHOULD SEE: Reason, team overlap, dates and the balance before → after
SCREEN: Approval Center › decision card. Signed in as Amit Verma (Manager + Employee). 
EVIDENCE: screenshot screenshots/manager/10-leave-08-decision-card.png,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Process day turns punches and approved corrections into attendance records.
ON SCREEN: Submit.
LEARNERS SHOULD SEE: Confirmation; records for 20 Oct with status, in/out, worked hours and exceptions
SCREEN: Attendance records (after Process day). Signed in as Kavya Menon (Tenant HR Admin + Employee). 
EVIDENCE: screenshot screenshots/hr-admin/20-att-13-day-processed.png,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"19 employee(s) have blocking exceptions": the unverified statutory rules. Markedge's own payroll has the same safeguard; run it outside PeopleOS until the rules are verified.
ON SCREEN: Validate (executed).
LEARNERS SHOULD SEE: Refused: "Not allowed — N employee(s) have blocking exceptions. Fix the inputs and recalculate." Approve and Finalize never appear while blocking exceptions remain
SCREEN: Payroll run › Validate. Signed in as Arjun Bose (Payroll Admin + Employee). Prerequisite: Statutory rules verified (0 of 24 today); PAN, bank account and attendance inputs complete.
EVIDENCE: screenshot screenshots/hr-admin/60-pay-09-validate-blocked.png,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Appraisals for the current cycle with their stage. Goals, calibration and learning are covered in Deck 3.
ON SCREEN: Open Appraisals.
LEARNERS SHOULD SEE: One appraisal per employee in the cycle, with reviewer, stage and review progress
SCREEN: People › Growth › Appraisals. Signed in as Kavya Menon (Tenant HR Admin + Employee). Prerequisite: Tenant HR Admin (performance.*); the Performance Admin role template lacks these permissions (F3).
EVIDENCE: screenshot screenshots/hr-admin/65-grow-03-appraisals.png,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Four different people propose, review, approve and execute. Plan who holds each role at Markedge.
ON SCREEN: Payroll Admin (a fourth person): Execute (schedule) → Confirm.
LEARNERS SHOULD SEE: Status scheduled; the new salary takes effect on the effective date and is used by payroll from then
SCREEN: Compensation changes (after execution). Signed in as Arjun Bose (Payroll Admin + Employee). Prerequisite: Four different people: proposer (compensation.propose), reviewer (compensation.review), approver (compensation.approve), executor (compensation.execute).
EVIDENCE: screenshot screenshots/hr-admin/62-comp-10-executed.png,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Employees ask HR from My HR; HR handles the queue with SLAs.
ON SCREEN: Resolve.
LEARNERS SHOULD SEE: Status Resolved; assignee, SLA and the conversation are kept on the request
SCREEN: HR queue › request (after Take it, Reply, Resolve). Signed in as Neha Kapoor (HR Manager + Employee). Prerequisite: Employees: ticket.create (My HR); HR: ticket.manage (HR Manager, Tenant HR Admin).
EVIDENCE: screenshot screenshots/hr-admin/52-tkt-05-resolved.png,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The HR overview dashboard. Workforce pulse and People analytics are in Deck 12; executives need extra dataset permissions for some widgets.
ON SCREEN: Open Dashboards.
LEARNERS SHOULD SEE: Tiles: headcount, attrition (12 months), absenteeism (30 days), people cost, headcount trend and by department, needs attention, mandatory learning
SCREEN: Insights › Analytics › Dashboards (HR overview). Signed in as Kavya Menon (Tenant HR Admin + Employee). Prerequisite: Analytics permissions per dataset; privacy minimum group size.
EVIDENCE: screenshot screenshots/analytics/80-ins-04-hr-overview-dashboard.png,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Markedge should be its own first customer, but with the same caution: the release gate is NO-GO.
SAY: Running Markedge HR on PeopleOS today.
- Use it for: Records, hiring, onboarding, leave, attendance, documents, letters, performance, learning, service requests and exits.
- Keep outside for now: Payroll finalisation and payslips (statutory rules unverified), bulk employee imports and custom grouped reports (both have known defects).
- Separate accounts: Staff who are both Markedge employees and platform operators use two accounts: an employee account in the internal tenant and an operator account with MFA.
- Same rules as customers: Release gate NO-GO applies to Markedge's own use too: no production hosting, DR or on-call yet.
ASK: "Which of these points needs more explanation for your team?"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EVIDENCE: Executed on the training database on 21 Oct 2026: the operator provisioned "Markedge Technologies (internal workforce)" (fictional), its administrator Sana Qureshi (fictional) activated it, created a company, departments and designations, and hired three fictional employees (tools/capture/96-internal.mjs).
SAY: Recap the key points:
- Markedge's workforce lives in an ordinary tenant, provisioned like a customer's.
- Internal HR and platform operations are different accounts with different permissions.
- Operators enter any tenant, including Markedge's, only with a reason, for 60 minutes, audited.
- Internal HR uses the same screens and has the same limits as customers.
POINT TO: Deck 03: HR operations in detail; Deck 05: platform operator duties; Deck 08: access boundaries
ASK: "What will you do first in PeopleOS?" Collect questions you cannot answer and send them to the PeopleOS team.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EOPLEOS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190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982980" y="641908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641908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275"/>
                </a:solidFill>
              </a:rPr>
              <a:t>Markedge PeopleOS training  ·  Markedge internal operations</a:t>
            </a:r>
            <a:endParaRPr lang="en-US" sz="900" dirty="0"/>
          </a:p>
        </p:txBody>
      </p:sp>
      <p:sp>
        <p:nvSpPr>
          <p:cNvPr id="5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150" kern="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6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EOPLEOS_DARK">
    <p:bg>
      <p:bgPr>
        <a:solidFill>
          <a:srgbClr val="141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190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982980" y="641908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C9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641908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3C7"/>
                </a:solidFill>
              </a:rPr>
              <a:t>Markedge PeopleOS training  ·  Markedge internal operations</a:t>
            </a:r>
            <a:endParaRPr lang="en-US" sz="9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548640" y="2331720"/>
            <a:ext cx="70408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EB3C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640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C98F"/>
                </a:solidFill>
              </a:rPr>
              <a:t>MARKEDGE PEOPLEOS  ·  TRAINING LIBRARY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960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3C7"/>
                </a:solidFill>
              </a:rPr>
              <a:t>Deck 06 of 12</a:t>
            </a:r>
            <a:endParaRPr lang="en-US" sz="12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548640" y="2331720"/>
            <a:ext cx="7040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Markedge Internal PeopleOS Operations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79476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5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Markedge runs its own workforce on PeopleOS as an ordinary tenant, and how that work stays separate from operating the SaaS platform.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846320"/>
            <a:ext cx="6766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EB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For: Markedge internal HR, payroll and people managers; Markedge leadership; SaaS operations staff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EB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the running application (local, disposable database, fictional people) · 21 October 2026</a:t>
            </a:r>
            <a:endParaRPr lang="en-US" sz="1200" dirty="0"/>
          </a:p>
        </p:txBody>
      </p:sp>
      <p:pic>
        <p:nvPicPr>
          <p:cNvPr id="8" name="Screenshot internal-operations/96-int-03-tenants-side-by-side" descr="Screenshot: Admin › Platform › Tenants (Markedge Platform Admi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2320290"/>
            <a:ext cx="3840480" cy="2400300"/>
          </a:xfrm>
          <a:prstGeom prst="rect">
            <a:avLst/>
          </a:prstGeom>
        </p:spPr>
      </p:pic>
      <p:sp>
        <p:nvSpPr>
          <p:cNvPr id="9" name="Screenshot frame"/>
          <p:cNvSpPr/>
          <p:nvPr/>
        </p:nvSpPr>
        <p:spPr>
          <a:xfrm>
            <a:off x="7818120" y="2320290"/>
            <a:ext cx="3840480" cy="240030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818120" y="59436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3C7"/>
                </a:solidFill>
              </a:rPr>
              <a:t>Real screen, fictional data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EB3C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BEFORE YOU START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read this deck</a:t>
            </a:r>
            <a:endParaRPr lang="en-US" sz="2800" dirty="0"/>
          </a:p>
        </p:txBody>
      </p:sp>
      <p:sp>
        <p:nvSpPr>
          <p:cNvPr id="5" name="Status"/>
          <p:cNvSpPr txBox="1"/>
          <p:nvPr/>
        </p:nvSpPr>
        <p:spPr>
          <a:xfrm>
            <a:off x="548640" y="1463040"/>
            <a:ext cx="3749040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4526280" y="1444752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ran it on the training database and captured each step.</a:t>
            </a:r>
            <a:endParaRPr lang="en-US" sz="1200" dirty="0"/>
          </a:p>
        </p:txBody>
      </p:sp>
      <p:sp>
        <p:nvSpPr>
          <p:cNvPr id="7" name="Status"/>
          <p:cNvSpPr txBox="1"/>
          <p:nvPr/>
        </p:nvSpPr>
        <p:spPr>
          <a:xfrm>
            <a:off x="548640" y="2084832"/>
            <a:ext cx="3749040" cy="292608"/>
          </a:xfrm>
          <a:prstGeom prst="roundRect">
            <a:avLst>
              <a:gd name="adj" fmla="val 50000"/>
            </a:avLst>
          </a:prstGeom>
          <a:solidFill>
            <a:srgbClr val="ECEAF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E3594"/>
                </a:solidFill>
              </a:rPr>
              <a:t>Implemented · not verified end to end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4526280" y="2066544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screen exists; the last steps need data or a second party we could not provide.</a:t>
            </a:r>
            <a:endParaRPr lang="en-US" sz="1200" dirty="0"/>
          </a:p>
        </p:txBody>
      </p:sp>
      <p:sp>
        <p:nvSpPr>
          <p:cNvPr id="9" name="Status"/>
          <p:cNvSpPr txBox="1"/>
          <p:nvPr/>
        </p:nvSpPr>
        <p:spPr>
          <a:xfrm>
            <a:off x="548640" y="2706624"/>
            <a:ext cx="3749040" cy="292608"/>
          </a:xfrm>
          <a:prstGeom prst="roundRect">
            <a:avLst>
              <a:gd name="adj" fmla="val 50000"/>
            </a:avLst>
          </a:prstGeom>
          <a:solidFill>
            <a:srgbClr val="E4EE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6FB3"/>
                </a:solidFill>
              </a:rPr>
              <a:t>Available only after configuration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4526280" y="2688336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once an administrator or Markedge has set it up.</a:t>
            </a:r>
            <a:endParaRPr lang="en-US" sz="1200" dirty="0"/>
          </a:p>
        </p:txBody>
      </p:sp>
      <p:sp>
        <p:nvSpPr>
          <p:cNvPr id="11" name="Status"/>
          <p:cNvSpPr txBox="1"/>
          <p:nvPr/>
        </p:nvSpPr>
        <p:spPr>
          <a:xfrm>
            <a:off x="548640" y="3328416"/>
            <a:ext cx="3749040" cy="292608"/>
          </a:xfrm>
          <a:prstGeom prst="roundRect">
            <a:avLst>
              <a:gd name="adj" fmla="val 50000"/>
            </a:avLst>
          </a:prstGeom>
          <a:solidFill>
            <a:srgbClr val="FDF0D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A5A00"/>
                </a:solidFill>
              </a:rPr>
              <a:t>Disabled by safety or commercial gates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4526280" y="3310128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Switched off on purpose until owner decisions and approvals arrive.</a:t>
            </a:r>
            <a:endParaRPr lang="en-US" sz="1200" dirty="0"/>
          </a:p>
        </p:txBody>
      </p:sp>
      <p:sp>
        <p:nvSpPr>
          <p:cNvPr id="13" name="Status"/>
          <p:cNvSpPr txBox="1"/>
          <p:nvPr/>
        </p:nvSpPr>
        <p:spPr>
          <a:xfrm>
            <a:off x="548640" y="3950208"/>
            <a:ext cx="3749040" cy="292608"/>
          </a:xfrm>
          <a:prstGeom prst="roundRect">
            <a:avLst>
              <a:gd name="adj" fmla="val 50000"/>
            </a:avLst>
          </a:prstGeom>
          <a:solidFill>
            <a:srgbClr val="FBE6E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3261E"/>
                </a:solidFill>
              </a:rPr>
              <a:t>Incomplete · known defect or gap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4526280" y="3931920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Partly working: a known defect or gap is stated on the slide.</a:t>
            </a:r>
            <a:endParaRPr lang="en-US" sz="1200" dirty="0"/>
          </a:p>
        </p:txBody>
      </p:sp>
      <p:sp>
        <p:nvSpPr>
          <p:cNvPr id="15" name="Status"/>
          <p:cNvSpPr txBox="1"/>
          <p:nvPr/>
        </p:nvSpPr>
        <p:spPr>
          <a:xfrm>
            <a:off x="548640" y="4572000"/>
            <a:ext cx="3749040" cy="292608"/>
          </a:xfrm>
          <a:prstGeom prst="roundRect">
            <a:avLst>
              <a:gd name="adj" fmla="val 50000"/>
            </a:avLst>
          </a:prstGeom>
          <a:solidFill>
            <a:srgbClr val="EEEF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280"/>
                </a:solidFill>
              </a:rPr>
              <a:t>Not implemented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4526280" y="4553712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the product today.</a:t>
            </a:r>
            <a:endParaRPr lang="en-US" sz="1200" dirty="0"/>
          </a:p>
        </p:txBody>
      </p:sp>
      <p:sp>
        <p:nvSpPr>
          <p:cNvPr id="17" name="Status"/>
          <p:cNvSpPr txBox="1"/>
          <p:nvPr/>
        </p:nvSpPr>
        <p:spPr>
          <a:xfrm>
            <a:off x="548640" y="5193792"/>
            <a:ext cx="3749040" cy="292608"/>
          </a:xfrm>
          <a:prstGeom prst="roundRect">
            <a:avLst>
              <a:gd name="adj" fmla="val 50000"/>
            </a:avLst>
          </a:prstGeom>
          <a:solidFill>
            <a:srgbClr val="EEEF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280"/>
                </a:solidFill>
              </a:rPr>
              <a:t>Unable to verify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4526280" y="5175504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not be checked in this environment.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818120" y="1463040"/>
            <a:ext cx="3824935" cy="4206240"/>
          </a:xfrm>
          <a:prstGeom prst="roundRect">
            <a:avLst>
              <a:gd name="adj" fmla="val 2869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20" name="Callout 1"/>
          <p:cNvSpPr txBox="1"/>
          <p:nvPr/>
        </p:nvSpPr>
        <p:spPr>
          <a:xfrm>
            <a:off x="8092440" y="1691640"/>
            <a:ext cx="329184" cy="329184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8549640" y="1673352"/>
            <a:ext cx="2910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Numbered markers on a screenshot match the numbered steps beside it.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8092440" y="2514600"/>
            <a:ext cx="3276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screenshot is a real capture of PeopleOS. The people and companies in it are fictional.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8092440" y="3383280"/>
            <a:ext cx="3276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are marked "Conceptual diagram". They explain ideas; they are not screens.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8092440" y="4251960"/>
            <a:ext cx="32762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gate: NO-GO (10 of 14 gates blocked, re-verified 13 Oct 2026). Not yet generally available.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BEFORE YOU START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PeopleOS stands today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training uses the real application on a practice database with invented people. PeopleOS is not yet generally available.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2029968"/>
            <a:ext cx="5432908" cy="2002536"/>
          </a:xfrm>
          <a:prstGeom prst="roundRect">
            <a:avLst>
              <a:gd name="adj" fmla="val 4566"/>
            </a:avLst>
          </a:prstGeom>
          <a:solidFill>
            <a:srgbClr val="E3F3EA"/>
          </a:solidFill>
          <a:ln w="12700">
            <a:solidFill>
              <a:srgbClr val="E3F3E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2176272"/>
            <a:ext cx="49757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works today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651760"/>
            <a:ext cx="4975708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screens in this deck were run end to end on the practice database: you will see exactly what you will use.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10148" y="2029968"/>
            <a:ext cx="5432908" cy="2002536"/>
          </a:xfrm>
          <a:prstGeom prst="roundRect">
            <a:avLst>
              <a:gd name="adj" fmla="val 4566"/>
            </a:avLst>
          </a:prstGeom>
          <a:solidFill>
            <a:srgbClr val="FDF0DD"/>
          </a:solidFill>
          <a:ln w="12700">
            <a:solidFill>
              <a:srgbClr val="FDF0D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38748" y="2176272"/>
            <a:ext cx="49757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is not live yet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438748" y="2651760"/>
            <a:ext cx="4975708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Payslips appear only after a payroll run is finalised. Finalising is blocked until statutory rules are verified (0 of 24 today).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4261104"/>
            <a:ext cx="5432908" cy="2002536"/>
          </a:xfrm>
          <a:prstGeom prst="roundRect">
            <a:avLst>
              <a:gd name="adj" fmla="val 4566"/>
            </a:avLst>
          </a:prstGeom>
          <a:solidFill>
            <a:srgbClr val="ECEAFB"/>
          </a:solidFill>
          <a:ln w="12700">
            <a:solidFill>
              <a:srgbClr val="ECEAF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77240" y="4407408"/>
            <a:ext cx="49757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issues are named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4882896"/>
            <a:ext cx="4975708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something does not work as it should, the slide says so and shows the workaround.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210148" y="4261104"/>
            <a:ext cx="5432908" cy="2002536"/>
          </a:xfrm>
          <a:prstGeom prst="roundRect">
            <a:avLst>
              <a:gd name="adj" fmla="val 4566"/>
            </a:avLst>
          </a:prstGeom>
          <a:solidFill>
            <a:srgbClr val="ECEAFB"/>
          </a:solidFill>
          <a:ln w="12700">
            <a:solidFill>
              <a:srgbClr val="ECEAF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38748" y="4407408"/>
            <a:ext cx="49757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Fictional internal tenant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438748" y="4882896"/>
            <a:ext cx="4975708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Markedge tenant shown here is a training copy with invented employees. No real Markedge staff data was used.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LEARNING OBJECTIVES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will be able to explain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5410048" cy="960120"/>
          </a:xfrm>
          <a:prstGeom prst="roundRect">
            <a:avLst>
              <a:gd name="adj" fmla="val 95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6" name="Callout 1"/>
          <p:cNvSpPr txBox="1"/>
          <p:nvPr/>
        </p:nvSpPr>
        <p:spPr>
          <a:xfrm>
            <a:off x="731520" y="1751076"/>
            <a:ext cx="384048" cy="384048"/>
          </a:xfrm>
          <a:prstGeom prst="ellipse">
            <a:avLst/>
          </a:prstGeom>
          <a:solidFill>
            <a:srgbClr val="574BC4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280160" y="1536192"/>
            <a:ext cx="449564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Two hats at Markedge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B6275"/>
                </a:solidFill>
              </a:rPr>
              <a:t>employer (internal HR) and SaaS provider (platform operations)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2587752"/>
            <a:ext cx="5410048" cy="960120"/>
          </a:xfrm>
          <a:prstGeom prst="roundRect">
            <a:avLst>
              <a:gd name="adj" fmla="val 95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9" name="Callout 2"/>
          <p:cNvSpPr txBox="1"/>
          <p:nvPr/>
        </p:nvSpPr>
        <p:spPr>
          <a:xfrm>
            <a:off x="731520" y="2875788"/>
            <a:ext cx="384048" cy="384048"/>
          </a:xfrm>
          <a:prstGeom prst="ellipse">
            <a:avLst/>
          </a:prstGeom>
          <a:solidFill>
            <a:srgbClr val="574BC4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2660904"/>
            <a:ext cx="449564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How the internal tenant is created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B6275"/>
                </a:solidFill>
              </a:rPr>
              <a:t>by an operator, like any customer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48640" y="3712464"/>
            <a:ext cx="5410048" cy="960120"/>
          </a:xfrm>
          <a:prstGeom prst="roundRect">
            <a:avLst>
              <a:gd name="adj" fmla="val 95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2" name="Callout 3"/>
          <p:cNvSpPr txBox="1"/>
          <p:nvPr/>
        </p:nvSpPr>
        <p:spPr>
          <a:xfrm>
            <a:off x="731520" y="4000500"/>
            <a:ext cx="384048" cy="384048"/>
          </a:xfrm>
          <a:prstGeom prst="ellipse">
            <a:avLst/>
          </a:prstGeom>
          <a:solidFill>
            <a:srgbClr val="574BC4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280160" y="3785616"/>
            <a:ext cx="449564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What internal HR does in PeopleOS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B6275"/>
                </a:solidFill>
              </a:rPr>
              <a:t>people, time, leave, payroll inputs, growth, services, exits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233008" y="1463040"/>
            <a:ext cx="5410048" cy="960120"/>
          </a:xfrm>
          <a:prstGeom prst="roundRect">
            <a:avLst>
              <a:gd name="adj" fmla="val 95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5" name="Callout 4"/>
          <p:cNvSpPr txBox="1"/>
          <p:nvPr/>
        </p:nvSpPr>
        <p:spPr>
          <a:xfrm>
            <a:off x="6415888" y="1751076"/>
            <a:ext cx="384048" cy="384048"/>
          </a:xfrm>
          <a:prstGeom prst="ellipse">
            <a:avLst/>
          </a:prstGeom>
          <a:solidFill>
            <a:srgbClr val="574BC4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6964528" y="1536192"/>
            <a:ext cx="449564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Where the boundary is enforced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B6275"/>
                </a:solidFill>
              </a:rPr>
              <a:t>HR cannot open the platform; operators enter tenants only with a reason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233008" y="2587752"/>
            <a:ext cx="5410048" cy="960120"/>
          </a:xfrm>
          <a:prstGeom prst="roundRect">
            <a:avLst>
              <a:gd name="adj" fmla="val 95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8" name="Callout 5"/>
          <p:cNvSpPr txBox="1"/>
          <p:nvPr/>
        </p:nvSpPr>
        <p:spPr>
          <a:xfrm>
            <a:off x="6415888" y="2875788"/>
            <a:ext cx="384048" cy="384048"/>
          </a:xfrm>
          <a:prstGeom prst="ellipse">
            <a:avLst/>
          </a:prstGeom>
          <a:solidFill>
            <a:srgbClr val="574BC4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6964528" y="2660904"/>
            <a:ext cx="449564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What still runs outside PeopleOS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B6275"/>
                </a:solidFill>
              </a:rPr>
              <a:t>payroll finalisation, statutory verification, hosting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RESPONSIBILITIES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does what at Markedge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4023360"/>
                <a:gridCol w="395935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Activity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Markedge internal HR (tenant users)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PeopleOS SaaS operations (platform operators)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Employee records, hiring, exits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Yes, in the internal tenant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No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Leave, attendance, approvals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Yes (managers decide)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No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Payroll inputs and runs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Yes; finalisation blocked like every tenant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No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Statutory rule verification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No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Yes: two operators with evidence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Tenant creation, suspension, offboarding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No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Yes, with reasons, audited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Entering another tenant for support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Never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Only via Enter: reason, ticket, 60 minutes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Platform readiness, operations, billing set-up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No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Yes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12801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6C9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5400" dirty="0"/>
          </a:p>
        </p:txBody>
      </p:sp>
      <p:sp>
        <p:nvSpPr>
          <p:cNvPr id="4" name="Text 3"/>
          <p:cNvSpPr/>
          <p:nvPr>
            <p:ph idx="103" type="title" hasCustomPrompt="1"/>
          </p:nvPr>
        </p:nvSpPr>
        <p:spPr>
          <a:xfrm>
            <a:off x="548640" y="2331720"/>
            <a:ext cx="7040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ordinary tenant for Markedge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84048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5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Provisioned by an operator, administered by Markedge HR.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EB3C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SET-UP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operator provisions the internal tenant</a:t>
            </a:r>
            <a:endParaRPr lang="en-US" sz="2800" dirty="0"/>
          </a:p>
        </p:txBody>
      </p:sp>
      <p:pic>
        <p:nvPicPr>
          <p:cNvPr id="5" name="Screenshot internal-operations/96-int-01-provision-internal-tenant" descr="Screenshot: Tenants › New tenant (Markedge Platform Admi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5998" y="1417320"/>
            <a:ext cx="5403403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1755998" y="1417320"/>
            <a:ext cx="5403403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1990400" y="3396031"/>
            <a:ext cx="1123299" cy="200915"/>
          </a:xfrm>
          <a:prstGeom prst="roundRect">
            <a:avLst>
              <a:gd name="adj" fmla="val 22756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box 2"/>
          <p:cNvSpPr/>
          <p:nvPr/>
        </p:nvSpPr>
        <p:spPr>
          <a:xfrm>
            <a:off x="3186759" y="4933337"/>
            <a:ext cx="1123299" cy="200915"/>
          </a:xfrm>
          <a:prstGeom prst="roundRect">
            <a:avLst>
              <a:gd name="adj" fmla="val 22756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9" name="Callout box 3"/>
          <p:cNvSpPr/>
          <p:nvPr/>
        </p:nvSpPr>
        <p:spPr>
          <a:xfrm>
            <a:off x="1880809" y="5444758"/>
            <a:ext cx="5150737" cy="310505"/>
          </a:xfrm>
          <a:prstGeom prst="roundRect">
            <a:avLst>
              <a:gd name="adj" fmla="val 14724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10" name="Callout 1"/>
          <p:cNvSpPr txBox="1"/>
          <p:nvPr/>
        </p:nvSpPr>
        <p:spPr>
          <a:xfrm>
            <a:off x="1679504" y="3368473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Callout 2"/>
          <p:cNvSpPr txBox="1"/>
          <p:nvPr/>
        </p:nvSpPr>
        <p:spPr>
          <a:xfrm>
            <a:off x="2875863" y="4905779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Callout 3"/>
          <p:cNvSpPr txBox="1"/>
          <p:nvPr/>
        </p:nvSpPr>
        <p:spPr>
          <a:xfrm>
            <a:off x="1569913" y="5471995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3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4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9006840" y="187452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Internal tenant name.</a:t>
            </a:r>
            <a:endParaRPr lang="en-US" sz="1400" dirty="0"/>
          </a:p>
        </p:txBody>
      </p:sp>
      <p:sp>
        <p:nvSpPr>
          <p:cNvPr id="16" name="Callout 2"/>
          <p:cNvSpPr txBox="1"/>
          <p:nvPr/>
        </p:nvSpPr>
        <p:spPr>
          <a:xfrm>
            <a:off x="8595360" y="225856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9006840" y="224028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Markedge HR administrator.</a:t>
            </a:r>
            <a:endParaRPr lang="en-US" sz="1400" dirty="0"/>
          </a:p>
        </p:txBody>
      </p:sp>
      <p:sp>
        <p:nvSpPr>
          <p:cNvPr id="18" name="Callout 3"/>
          <p:cNvSpPr txBox="1"/>
          <p:nvPr/>
        </p:nvSpPr>
        <p:spPr>
          <a:xfrm>
            <a:off x="8595360" y="262432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9006840" y="260604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Reason for change.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8595360" y="3063240"/>
            <a:ext cx="3047695" cy="818769"/>
          </a:xfrm>
          <a:prstGeom prst="roundRect">
            <a:avLst>
              <a:gd name="adj" fmla="val 893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8732520" y="3154680"/>
            <a:ext cx="2773375" cy="635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 separate tenant: Markedge employee data never sits in the operator console.</a:t>
            </a:r>
            <a:endParaRPr lang="en-US" sz="1050" dirty="0"/>
          </a:p>
        </p:txBody>
      </p:sp>
      <p:sp>
        <p:nvSpPr>
          <p:cNvPr id="22" name="Text 18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(cropped) · Markedge Platform Admin (Platform operator) · Tenants › New tenant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SET-UP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Created like any customer</a:t>
            </a:r>
            <a:endParaRPr lang="en-US" sz="2800" dirty="0"/>
          </a:p>
        </p:txBody>
      </p:sp>
      <p:pic>
        <p:nvPicPr>
          <p:cNvPr id="5" name="Screenshot internal-operations/96-int-02-tenant-created" descr="Screenshot: Tenant (after Create tenant) (Markedge Platform Admi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1417320"/>
            <a:ext cx="7754112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580644" y="1417320"/>
            <a:ext cx="7754112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8595360" y="1874520"/>
            <a:ext cx="3047695" cy="1593469"/>
          </a:xfrm>
          <a:prstGeom prst="roundRect">
            <a:avLst>
              <a:gd name="adj" fmla="val 4591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732520" y="1965960"/>
            <a:ext cx="2773375" cy="1410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The "Created" confirmation and the tenant record. As for any customer, provisioning also adds the system roles, default settings and the administrator's invitation (Deck 4, stage 2).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· Markedge Platform Admin (Platform operator) · Tenant (after Create tenant)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SET-UP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tenants, all peers</a:t>
            </a:r>
            <a:endParaRPr lang="en-US" sz="2800" dirty="0"/>
          </a:p>
        </p:txBody>
      </p:sp>
      <p:pic>
        <p:nvPicPr>
          <p:cNvPr id="5" name="Screenshot internal-operations/96-int-03-tenants-side-by-side" descr="Screenshot: Admin › Platform › Tenants (Markedge Platform Admi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1417320"/>
            <a:ext cx="7754112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580644" y="1417320"/>
            <a:ext cx="7754112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8" name="Bullet"/>
          <p:cNvSpPr/>
          <p:nvPr/>
        </p:nvSpPr>
        <p:spPr>
          <a:xfrm>
            <a:off x="8686800" y="1965960"/>
            <a:ext cx="109728" cy="109728"/>
          </a:xfrm>
          <a:prstGeom prst="ellipse">
            <a:avLst/>
          </a:prstGeom>
          <a:solidFill>
            <a:srgbClr val="8A90A2"/>
          </a:solidFill>
          <a:ln w="12700">
            <a:solidFill>
              <a:srgbClr val="8A90A2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9006840" y="187452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Markedge's own tenant.</a:t>
            </a:r>
            <a:endParaRPr lang="en-US" sz="1400" dirty="0"/>
          </a:p>
        </p:txBody>
      </p:sp>
      <p:sp>
        <p:nvSpPr>
          <p:cNvPr id="10" name="Bullet"/>
          <p:cNvSpPr/>
          <p:nvPr/>
        </p:nvSpPr>
        <p:spPr>
          <a:xfrm>
            <a:off x="8686800" y="2331720"/>
            <a:ext cx="109728" cy="109728"/>
          </a:xfrm>
          <a:prstGeom prst="ellipse">
            <a:avLst/>
          </a:prstGeom>
          <a:solidFill>
            <a:srgbClr val="8A90A2"/>
          </a:solidFill>
          <a:ln w="12700">
            <a:solidFill>
              <a:srgbClr val="8A90A2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9006840" y="224028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customer tenant.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8595360" y="2697480"/>
            <a:ext cx="3047695" cy="1206119"/>
          </a:xfrm>
          <a:prstGeom prst="roundRect">
            <a:avLst>
              <a:gd name="adj" fmla="val 6065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732520" y="2788920"/>
            <a:ext cx="2773375" cy="1023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Demo Group, Northwind Retail and Markedge Technologies (internal workforce) have the same standing: the internal tenant has no special access.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· Markedge Platform Admin (Platform operator) · Admin › Platform › Tenants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SET-UP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the internal tenant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Home (internal administrator)</a:t>
            </a:r>
            <a:endParaRPr lang="en-US" sz="1300" dirty="0"/>
          </a:p>
        </p:txBody>
      </p:sp>
      <p:sp>
        <p:nvSpPr>
          <p:cNvPr id="6" name="Status"/>
          <p:cNvSpPr txBox="1"/>
          <p:nvPr/>
        </p:nvSpPr>
        <p:spPr>
          <a:xfrm>
            <a:off x="3809848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7" name="Screenshot internal-operations/96-int-04-internal-home" descr="Screenshot: Home (Markedge internal tenant) (Sana Qureshi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55648"/>
            <a:ext cx="5364328" cy="3352705"/>
          </a:xfrm>
          <a:prstGeom prst="rect">
            <a:avLst/>
          </a:prstGeom>
        </p:spPr>
      </p:pic>
      <p:sp>
        <p:nvSpPr>
          <p:cNvPr id="8" name="Screenshot frame"/>
          <p:cNvSpPr/>
          <p:nvPr/>
        </p:nvSpPr>
        <p:spPr>
          <a:xfrm>
            <a:off x="548640" y="1755648"/>
            <a:ext cx="5364328" cy="3352705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Home as any customer: administration lens and governance items.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Sana Qureshi (Tenant Super Admin (Markedge internal HR)) · Home (Markedge internal tenant)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6278728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Directory</a:t>
            </a:r>
            <a:endParaRPr lang="en-US" sz="1300" dirty="0"/>
          </a:p>
        </p:txBody>
      </p:sp>
      <p:sp>
        <p:nvSpPr>
          <p:cNvPr id="12" name="Status"/>
          <p:cNvSpPr txBox="1"/>
          <p:nvPr/>
        </p:nvSpPr>
        <p:spPr>
          <a:xfrm>
            <a:off x="9539935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13" name="Screenshot internal-operations/96-int-05-internal-directory" descr="Screenshot: People › Directory (Markedge internal tenant) (Sana Qureshi, fictional data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728" y="1755648"/>
            <a:ext cx="5364328" cy="3352705"/>
          </a:xfrm>
          <a:prstGeom prst="rect">
            <a:avLst/>
          </a:prstGeom>
        </p:spPr>
      </p:pic>
      <p:sp>
        <p:nvSpPr>
          <p:cNvPr id="14" name="Screenshot frame"/>
          <p:cNvSpPr/>
          <p:nvPr/>
        </p:nvSpPr>
        <p:spPr>
          <a:xfrm>
            <a:off x="6278728" y="1755648"/>
            <a:ext cx="5364328" cy="3352705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278728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Markedge's own (fictional) employees; no customer data is visible.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278728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Sana Qureshi (Tenant Super Admin (Markedge internal HR)) · People › Directory (Markedge internal tenant)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SET-UP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 and reporting lines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Org map</a:t>
            </a:r>
            <a:endParaRPr lang="en-US" sz="1300" dirty="0"/>
          </a:p>
        </p:txBody>
      </p:sp>
      <p:sp>
        <p:nvSpPr>
          <p:cNvPr id="6" name="Status"/>
          <p:cNvSpPr txBox="1"/>
          <p:nvPr/>
        </p:nvSpPr>
        <p:spPr>
          <a:xfrm>
            <a:off x="3809848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7" name="Screenshot internal-operations/96-int-06-internal-org-map" descr="Screenshot: Organisation › Org map (Markedge internal tenant) (Sana Qureshi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55648"/>
            <a:ext cx="5364328" cy="3352705"/>
          </a:xfrm>
          <a:prstGeom prst="rect">
            <a:avLst/>
          </a:prstGeom>
        </p:spPr>
      </p:pic>
      <p:sp>
        <p:nvSpPr>
          <p:cNvPr id="8" name="Screenshot frame"/>
          <p:cNvSpPr/>
          <p:nvPr/>
        </p:nvSpPr>
        <p:spPr>
          <a:xfrm>
            <a:off x="548640" y="1755648"/>
            <a:ext cx="5364328" cy="3352705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Kulkarni reports to Rahul Desai.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Sana Qureshi (Tenant Super Admin (Markedge internal HR)) · Organisation › Org map (Markedge internal tenant)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6278728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Employee 360</a:t>
            </a:r>
            <a:endParaRPr lang="en-US" sz="1300" dirty="0"/>
          </a:p>
        </p:txBody>
      </p:sp>
      <p:sp>
        <p:nvSpPr>
          <p:cNvPr id="12" name="Status"/>
          <p:cNvSpPr txBox="1"/>
          <p:nvPr/>
        </p:nvSpPr>
        <p:spPr>
          <a:xfrm>
            <a:off x="9539935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13" name="Screenshot internal-operations/96-int-07-internal-employee-360" descr="Screenshot: Employee 360 (Markedge internal tenant) (Sana Qureshi, fictional data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728" y="1755648"/>
            <a:ext cx="5364328" cy="3352705"/>
          </a:xfrm>
          <a:prstGeom prst="rect">
            <a:avLst/>
          </a:prstGeom>
        </p:spPr>
      </p:pic>
      <p:sp>
        <p:nvSpPr>
          <p:cNvPr id="14" name="Screenshot frame"/>
          <p:cNvSpPr/>
          <p:nvPr/>
        </p:nvSpPr>
        <p:spPr>
          <a:xfrm>
            <a:off x="6278728" y="1755648"/>
            <a:ext cx="5364328" cy="3352705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278728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Employee 360 customers use: status, manager, journey, records.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278728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Sana Qureshi (Tenant Super Admin (Markedge internal HR)) · Employee 360 (Markedge internal tenant)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BOUNDARY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Markedge HR cannot open the platform</a:t>
            </a:r>
            <a:endParaRPr lang="en-US" sz="2800" dirty="0"/>
          </a:p>
        </p:txBody>
      </p:sp>
      <p:pic>
        <p:nvPicPr>
          <p:cNvPr id="5" name="Screenshot internal-operations/96-int-08-hr-cannot-open-tenants" descr="Screenshot: Tenants (as Markedge HR administrator) (Sana Qureshi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8023" y="1417320"/>
            <a:ext cx="5639354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1638023" y="1417320"/>
            <a:ext cx="5639354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8595360" y="1874520"/>
            <a:ext cx="3047695" cy="1206119"/>
          </a:xfrm>
          <a:prstGeom prst="roundRect">
            <a:avLst>
              <a:gd name="adj" fmla="val 6065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732520" y="1965960"/>
            <a:ext cx="2773375" cy="1023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Refused: being Markedge staff in HR does not grant platform-operator access. Operator accounts are separate accounts.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(cropped) · Sana Qureshi (Tenant Super Admin (Markedge internal HR)) · Tenants (as Markedge HR administrator)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BOUNDARY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operators enter tenants only deliberately</a:t>
            </a:r>
            <a:endParaRPr lang="en-US" sz="2800" dirty="0"/>
          </a:p>
        </p:txBody>
      </p:sp>
      <p:pic>
        <p:nvPicPr>
          <p:cNvPr id="5" name="Screenshot platform-admin/95-pl-35-enter-tenant-dialog" descr="Screenshot: Tenants › Enter (Markedge Platform Admi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7818120" cy="3141209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548640" y="1417320"/>
            <a:ext cx="7818120" cy="3141209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8595360" y="1874520"/>
            <a:ext cx="3047695" cy="1206119"/>
          </a:xfrm>
          <a:prstGeom prst="roundRect">
            <a:avLst>
              <a:gd name="adj" fmla="val 6065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732520" y="1965960"/>
            <a:ext cx="2773375" cy="1023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 reason and a ticket reference; access ends after 60 minutes; recorded in the platform audit trail. The same applies to Markedge's own tenant.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· Markedge Platform Admin (Platform operator) · Tenants › Enter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12801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6C9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5400" dirty="0"/>
          </a:p>
        </p:txBody>
      </p:sp>
      <p:sp>
        <p:nvSpPr>
          <p:cNvPr id="4" name="Text 3"/>
          <p:cNvSpPr/>
          <p:nvPr>
            <p:ph idx="103" type="title" hasCustomPrompt="1"/>
          </p:nvPr>
        </p:nvSpPr>
        <p:spPr>
          <a:xfrm>
            <a:off x="548640" y="2331720"/>
            <a:ext cx="7040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Internal HR operations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84048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5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 Markedge HR does every month, on the same screens customers use.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EB3C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INTERNAL HR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Hire a Markedge employee</a:t>
            </a:r>
            <a:endParaRPr lang="en-US" sz="2800" dirty="0"/>
          </a:p>
        </p:txBody>
      </p:sp>
      <p:pic>
        <p:nvPicPr>
          <p:cNvPr id="5" name="Screenshot hr-admin/50-hire-07-created-record" descr="Screenshot: Employee 360 (new hire) (Kavya Meno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1417320"/>
            <a:ext cx="7754112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580644" y="1417320"/>
            <a:ext cx="7754112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8595360" y="1874520"/>
            <a:ext cx="3047695" cy="1012444"/>
          </a:xfrm>
          <a:prstGeom prst="roundRect">
            <a:avLst>
              <a:gd name="adj" fmla="val 7225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732520" y="1965960"/>
            <a:ext cx="2773375" cy="829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Hire employee wizard with the duplicate check; onboarding starts automatically. Deck 3 shows every step.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· Same screen in Markedge's internal tenant; shown here from the demonstration tenant (fictional Demo Group), where the workflow was executed.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INTERNAL HR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Onboarding new joiners</a:t>
            </a:r>
            <a:endParaRPr lang="en-US" sz="2800" dirty="0"/>
          </a:p>
        </p:txBody>
      </p:sp>
      <p:pic>
        <p:nvPicPr>
          <p:cNvPr id="5" name="Screenshot hr-admin/50-onb-03-plan-tasks" descr="Screenshot: Employee 360 › Records › Employment › Onboarding (Kavya Meno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1417320"/>
            <a:ext cx="7754112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580644" y="1417320"/>
            <a:ext cx="7754112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2109927" y="4493836"/>
            <a:ext cx="6074054" cy="351807"/>
          </a:xfrm>
          <a:prstGeom prst="roundRect">
            <a:avLst>
              <a:gd name="adj" fmla="val 12996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box 2"/>
          <p:cNvSpPr/>
          <p:nvPr/>
        </p:nvSpPr>
        <p:spPr>
          <a:xfrm>
            <a:off x="7383441" y="4583582"/>
            <a:ext cx="341037" cy="172314"/>
          </a:xfrm>
          <a:prstGeom prst="roundRect">
            <a:avLst>
              <a:gd name="adj" fmla="val 26533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9" name="Callout box 3"/>
          <p:cNvSpPr/>
          <p:nvPr/>
        </p:nvSpPr>
        <p:spPr>
          <a:xfrm>
            <a:off x="7742428" y="4583582"/>
            <a:ext cx="312318" cy="172314"/>
          </a:xfrm>
          <a:prstGeom prst="roundRect">
            <a:avLst>
              <a:gd name="adj" fmla="val 26533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10" name="Callout 1"/>
          <p:cNvSpPr txBox="1"/>
          <p:nvPr/>
        </p:nvSpPr>
        <p:spPr>
          <a:xfrm>
            <a:off x="1799031" y="4541723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Callout 2"/>
          <p:cNvSpPr txBox="1"/>
          <p:nvPr/>
        </p:nvSpPr>
        <p:spPr>
          <a:xfrm>
            <a:off x="7255425" y="4290974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Callout 3"/>
          <p:cNvSpPr txBox="1"/>
          <p:nvPr/>
        </p:nvSpPr>
        <p:spPr>
          <a:xfrm>
            <a:off x="7614412" y="4290974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3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4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9006840" y="187452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Task.</a:t>
            </a:r>
            <a:endParaRPr lang="en-US" sz="1400" dirty="0"/>
          </a:p>
        </p:txBody>
      </p:sp>
      <p:sp>
        <p:nvSpPr>
          <p:cNvPr id="16" name="Callout 2"/>
          <p:cNvSpPr txBox="1"/>
          <p:nvPr/>
        </p:nvSpPr>
        <p:spPr>
          <a:xfrm>
            <a:off x="8595360" y="225856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9006840" y="224028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Done.</a:t>
            </a:r>
            <a:endParaRPr lang="en-US" sz="1400" dirty="0"/>
          </a:p>
        </p:txBody>
      </p:sp>
      <p:sp>
        <p:nvSpPr>
          <p:cNvPr id="18" name="Callout 3"/>
          <p:cNvSpPr txBox="1"/>
          <p:nvPr/>
        </p:nvSpPr>
        <p:spPr>
          <a:xfrm>
            <a:off x="8595360" y="262432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9006840" y="260604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Skip (note required).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8595360" y="3063240"/>
            <a:ext cx="3047695" cy="818769"/>
          </a:xfrm>
          <a:prstGeom prst="roundRect">
            <a:avLst>
              <a:gd name="adj" fmla="val 893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8732520" y="3154680"/>
            <a:ext cx="2773375" cy="635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Tasks for HR, IT, the manager and the joiner by phase, with Done and Skip.</a:t>
            </a:r>
            <a:endParaRPr lang="en-US" sz="1050" dirty="0"/>
          </a:p>
        </p:txBody>
      </p:sp>
      <p:sp>
        <p:nvSpPr>
          <p:cNvPr id="22" name="Text 18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· Same screen in Markedge's internal tenant; shown here from the demonstration tenant (fictional Demo Group), where the workflow was executed.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INTERNAL HR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Managers approve leave and corrections</a:t>
            </a:r>
            <a:endParaRPr lang="en-US" sz="2800" dirty="0"/>
          </a:p>
        </p:txBody>
      </p:sp>
      <p:pic>
        <p:nvPicPr>
          <p:cNvPr id="5" name="Screenshot manager/10-leave-08-decision-card" descr="Screenshot: Approval Center › decision card (Amit Verma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1417320"/>
            <a:ext cx="7754112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580644" y="1417320"/>
            <a:ext cx="7754112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4565396" y="3535341"/>
            <a:ext cx="3489350" cy="244111"/>
          </a:xfrm>
          <a:prstGeom prst="roundRect">
            <a:avLst>
              <a:gd name="adj" fmla="val 18729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box 4"/>
          <p:cNvSpPr/>
          <p:nvPr/>
        </p:nvSpPr>
        <p:spPr>
          <a:xfrm>
            <a:off x="4565396" y="4687689"/>
            <a:ext cx="459503" cy="215392"/>
          </a:xfrm>
          <a:prstGeom prst="roundRect">
            <a:avLst>
              <a:gd name="adj" fmla="val 21226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9" name="Callout box 5"/>
          <p:cNvSpPr/>
          <p:nvPr/>
        </p:nvSpPr>
        <p:spPr>
          <a:xfrm>
            <a:off x="5024899" y="4687689"/>
            <a:ext cx="376936" cy="215392"/>
          </a:xfrm>
          <a:prstGeom prst="roundRect">
            <a:avLst>
              <a:gd name="adj" fmla="val 21226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10" name="Callout 1"/>
          <p:cNvSpPr txBox="1"/>
          <p:nvPr/>
        </p:nvSpPr>
        <p:spPr>
          <a:xfrm>
            <a:off x="4254500" y="3529381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Callout 2"/>
          <p:cNvSpPr txBox="1"/>
          <p:nvPr/>
        </p:nvSpPr>
        <p:spPr>
          <a:xfrm>
            <a:off x="4254500" y="4667369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Callout 3"/>
          <p:cNvSpPr txBox="1"/>
          <p:nvPr/>
        </p:nvSpPr>
        <p:spPr>
          <a:xfrm>
            <a:off x="5456699" y="4667369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3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4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9006840" y="187452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Reason.</a:t>
            </a:r>
            <a:endParaRPr lang="en-US" sz="1400" dirty="0"/>
          </a:p>
        </p:txBody>
      </p:sp>
      <p:sp>
        <p:nvSpPr>
          <p:cNvPr id="16" name="Callout 2"/>
          <p:cNvSpPr txBox="1"/>
          <p:nvPr/>
        </p:nvSpPr>
        <p:spPr>
          <a:xfrm>
            <a:off x="8595360" y="225856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9006840" y="224028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Approve.</a:t>
            </a:r>
            <a:endParaRPr lang="en-US" sz="1400" dirty="0"/>
          </a:p>
        </p:txBody>
      </p:sp>
      <p:sp>
        <p:nvSpPr>
          <p:cNvPr id="18" name="Callout 3"/>
          <p:cNvSpPr txBox="1"/>
          <p:nvPr/>
        </p:nvSpPr>
        <p:spPr>
          <a:xfrm>
            <a:off x="8595360" y="262432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9006840" y="260604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Reject.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8595360" y="3063240"/>
            <a:ext cx="3047695" cy="818769"/>
          </a:xfrm>
          <a:prstGeom prst="roundRect">
            <a:avLst>
              <a:gd name="adj" fmla="val 893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8732520" y="3154680"/>
            <a:ext cx="2773375" cy="635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My work › Approvals shows reason, team overlap and balance before → after.</a:t>
            </a:r>
            <a:endParaRPr lang="en-US" sz="1050" dirty="0"/>
          </a:p>
        </p:txBody>
      </p:sp>
      <p:sp>
        <p:nvSpPr>
          <p:cNvPr id="22" name="Text 18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· Same screen in Markedge's internal tenant; shown here from the demonstration tenant (fictional Demo Group), where the workflow was executed.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INTERNAL HR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Attendance processing</a:t>
            </a:r>
            <a:endParaRPr lang="en-US" sz="2800" dirty="0"/>
          </a:p>
        </p:txBody>
      </p:sp>
      <p:pic>
        <p:nvPicPr>
          <p:cNvPr id="5" name="Screenshot hr-admin/20-att-13-day-processed" descr="Screenshot: Attendance records (after Process day) (Kavya Meno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1417320"/>
            <a:ext cx="7754112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580644" y="1417320"/>
            <a:ext cx="7754112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6159297" y="1481938"/>
            <a:ext cx="2110842" cy="333858"/>
          </a:xfrm>
          <a:prstGeom prst="roundRect">
            <a:avLst>
              <a:gd name="adj" fmla="val 13694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1"/>
          <p:cNvSpPr txBox="1"/>
          <p:nvPr/>
        </p:nvSpPr>
        <p:spPr>
          <a:xfrm>
            <a:off x="5848401" y="1520850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0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9006840" y="187452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Confirmation.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8595360" y="2331720"/>
            <a:ext cx="3047695" cy="818769"/>
          </a:xfrm>
          <a:prstGeom prst="roundRect">
            <a:avLst>
              <a:gd name="adj" fmla="val 893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732520" y="2423160"/>
            <a:ext cx="2773375" cy="635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Process day turns punches and approved corrections into attendance records.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· Same screen in Markedge's internal tenant; shown here from the demonstration tenant (fictional Demo Group), where the workflow was executed.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INTERNAL HR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Payroll: calculated, not finalised</a:t>
            </a:r>
            <a:endParaRPr lang="en-US" sz="2800" dirty="0"/>
          </a:p>
        </p:txBody>
      </p:sp>
      <p:pic>
        <p:nvPicPr>
          <p:cNvPr id="5" name="Screenshot hr-admin/60-pay-09-validate-blocked" descr="Screenshot: Payroll run › Validate (Arjun Bose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1417320"/>
            <a:ext cx="7754112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580644" y="1417320"/>
            <a:ext cx="7754112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6159297" y="1481938"/>
            <a:ext cx="2110842" cy="570789"/>
          </a:xfrm>
          <a:prstGeom prst="roundRect">
            <a:avLst>
              <a:gd name="adj" fmla="val 8010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1"/>
          <p:cNvSpPr txBox="1"/>
          <p:nvPr/>
        </p:nvSpPr>
        <p:spPr>
          <a:xfrm>
            <a:off x="5848401" y="1639316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FDF0D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A5A00"/>
                </a:solidFill>
              </a:rPr>
              <a:t>Disabled by safety or commercial gates</a:t>
            </a:r>
            <a:endParaRPr lang="en-US" sz="1050" dirty="0"/>
          </a:p>
        </p:txBody>
      </p:sp>
      <p:sp>
        <p:nvSpPr>
          <p:cNvPr id="10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9006840" y="187452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Blocking message.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8595360" y="2331720"/>
            <a:ext cx="3047695" cy="1399794"/>
          </a:xfrm>
          <a:prstGeom prst="roundRect">
            <a:avLst>
              <a:gd name="adj" fmla="val 5226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732520" y="2423160"/>
            <a:ext cx="2773375" cy="1216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"19 employee(s) have blocking exceptions": the unverified statutory rules. Markedge's own payroll has the same safeguard; run it outside PeopleOS until the rules are verified.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· Same screen in Markedge's internal tenant; shown here from the demonstration tenant (fictional Demo Group), where the workflow was executed.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INTERNAL HR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reviews</a:t>
            </a:r>
            <a:endParaRPr lang="en-US" sz="2800" dirty="0"/>
          </a:p>
        </p:txBody>
      </p:sp>
      <p:pic>
        <p:nvPicPr>
          <p:cNvPr id="5" name="Screenshot hr-admin/65-grow-03-appraisals" descr="Screenshot: People › Growth › Appraisals (Kavya Meno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1417320"/>
            <a:ext cx="7754112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580644" y="1417320"/>
            <a:ext cx="7754112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5330038" y="3061479"/>
            <a:ext cx="491812" cy="305139"/>
          </a:xfrm>
          <a:prstGeom prst="roundRect">
            <a:avLst>
              <a:gd name="adj" fmla="val 14983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1"/>
          <p:cNvSpPr txBox="1"/>
          <p:nvPr/>
        </p:nvSpPr>
        <p:spPr>
          <a:xfrm>
            <a:off x="5202022" y="2768871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0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9006840" y="187452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Stage.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8595360" y="2331720"/>
            <a:ext cx="3047695" cy="1012444"/>
          </a:xfrm>
          <a:prstGeom prst="roundRect">
            <a:avLst>
              <a:gd name="adj" fmla="val 7225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732520" y="2423160"/>
            <a:ext cx="2773375" cy="829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Appraisals for the current cycle with their stage. Goals, calibration and learning are covered in Deck 3.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· Same screen in Markedge's internal tenant; shown here from the demonstration tenant (fictional Demo Group), where the workflow was executed.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INTERNAL HR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Compensation changes</a:t>
            </a:r>
            <a:endParaRPr lang="en-US" sz="2800" dirty="0"/>
          </a:p>
        </p:txBody>
      </p:sp>
      <p:pic>
        <p:nvPicPr>
          <p:cNvPr id="5" name="Screenshot hr-admin/62-comp-10-executed" descr="Screenshot: Compensation changes (after execution) (Arjun Bose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1417320"/>
            <a:ext cx="7754112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580644" y="1417320"/>
            <a:ext cx="7754112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6159297" y="1481938"/>
            <a:ext cx="2110842" cy="333858"/>
          </a:xfrm>
          <a:prstGeom prst="roundRect">
            <a:avLst>
              <a:gd name="adj" fmla="val 13694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1"/>
          <p:cNvSpPr txBox="1"/>
          <p:nvPr/>
        </p:nvSpPr>
        <p:spPr>
          <a:xfrm>
            <a:off x="5848401" y="1520850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0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9006840" y="187452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Result.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8595360" y="2331720"/>
            <a:ext cx="3047695" cy="1012444"/>
          </a:xfrm>
          <a:prstGeom prst="roundRect">
            <a:avLst>
              <a:gd name="adj" fmla="val 7225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732520" y="2423160"/>
            <a:ext cx="2773375" cy="829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Four different people propose, review, approve and execute. Plan who holds each role at Markedge.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· Same screen in Markedge's internal tenant; shown here from the demonstration tenant (fictional Demo Group), where the workflow was executed.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INTERNAL HR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HR service requests</a:t>
            </a:r>
            <a:endParaRPr lang="en-US" sz="2800" dirty="0"/>
          </a:p>
        </p:txBody>
      </p:sp>
      <p:pic>
        <p:nvPicPr>
          <p:cNvPr id="5" name="Screenshot hr-admin/52-tkt-05-resolved" descr="Screenshot: HR queue › request (after Take it, Reply, Resolve) (Neha Kapoor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1417320"/>
            <a:ext cx="7754112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580644" y="1417320"/>
            <a:ext cx="7754112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5319268" y="2968142"/>
            <a:ext cx="2735478" cy="129235"/>
          </a:xfrm>
          <a:prstGeom prst="roundRect">
            <a:avLst>
              <a:gd name="adj" fmla="val 35377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box 2"/>
          <p:cNvSpPr/>
          <p:nvPr/>
        </p:nvSpPr>
        <p:spPr>
          <a:xfrm>
            <a:off x="2174545" y="5818497"/>
            <a:ext cx="527710" cy="150774"/>
          </a:xfrm>
          <a:prstGeom prst="roundRect">
            <a:avLst>
              <a:gd name="adj" fmla="val 30324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9" name="Callout 1"/>
          <p:cNvSpPr txBox="1"/>
          <p:nvPr/>
        </p:nvSpPr>
        <p:spPr>
          <a:xfrm>
            <a:off x="5008372" y="2904744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Callout 2"/>
          <p:cNvSpPr txBox="1"/>
          <p:nvPr/>
        </p:nvSpPr>
        <p:spPr>
          <a:xfrm>
            <a:off x="2046529" y="5525889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2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9006840" y="187452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Assignment and SLA.</a:t>
            </a:r>
            <a:endParaRPr lang="en-US" sz="1400" dirty="0"/>
          </a:p>
        </p:txBody>
      </p:sp>
      <p:sp>
        <p:nvSpPr>
          <p:cNvPr id="14" name="Callout 2"/>
          <p:cNvSpPr txBox="1"/>
          <p:nvPr/>
        </p:nvSpPr>
        <p:spPr>
          <a:xfrm>
            <a:off x="8595360" y="225856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9006840" y="224028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Conversation.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8595360" y="2697480"/>
            <a:ext cx="3047695" cy="818769"/>
          </a:xfrm>
          <a:prstGeom prst="roundRect">
            <a:avLst>
              <a:gd name="adj" fmla="val 893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732520" y="2788920"/>
            <a:ext cx="2773375" cy="635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Employees ask HR from My HR; HR handles the queue with SLAs.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· Same screen in Markedge's internal tenant; shown here from the demonstration tenant (fictional Demo Group), where the workflow was executed.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INTERNAL HR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Reporting for Markedge leadership</a:t>
            </a:r>
            <a:endParaRPr lang="en-US" sz="2800" dirty="0"/>
          </a:p>
        </p:txBody>
      </p:sp>
      <p:pic>
        <p:nvPicPr>
          <p:cNvPr id="5" name="Screenshot analytics/80-ins-04-hr-overview-dashboard" descr="Screenshot: Insights › Analytics › Dashboards (HR overview) (Kavya Meno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859" y="1417320"/>
            <a:ext cx="7657682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628859" y="1417320"/>
            <a:ext cx="7657682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8595360" y="1874520"/>
            <a:ext cx="3047695" cy="1206119"/>
          </a:xfrm>
          <a:prstGeom prst="roundRect">
            <a:avLst>
              <a:gd name="adj" fmla="val 6065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732520" y="1965960"/>
            <a:ext cx="2773375" cy="1023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The HR overview dashboard. Workforce pulse and People analytics are in Deck 12; executives need extra dataset permissions for some widgets.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· Same screen in Markedge's internal tenant; shown here from the demonstration tenant (fictional Demo Group), where the workflow was executed.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PRACTICALITIES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Markedge HR on PeopleOS today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5432908" cy="2286000"/>
          </a:xfrm>
          <a:prstGeom prst="roundRect">
            <a:avLst>
              <a:gd name="adj" fmla="val 4000"/>
            </a:avLst>
          </a:prstGeom>
          <a:solidFill>
            <a:srgbClr val="E3F3EA"/>
          </a:solidFill>
          <a:ln w="12700">
            <a:solidFill>
              <a:srgbClr val="E3F3E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09344"/>
            <a:ext cx="49757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for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084832"/>
            <a:ext cx="49757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Records, hiring, onboarding, leave, attendance, documents, letters, performance, learning, service requests and exits.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210148" y="1463040"/>
            <a:ext cx="5432908" cy="2286000"/>
          </a:xfrm>
          <a:prstGeom prst="roundRect">
            <a:avLst>
              <a:gd name="adj" fmla="val 4000"/>
            </a:avLst>
          </a:prstGeom>
          <a:solidFill>
            <a:srgbClr val="FDF0DD"/>
          </a:solidFill>
          <a:ln w="12700">
            <a:solidFill>
              <a:srgbClr val="FDF0D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38748" y="1609344"/>
            <a:ext cx="49757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outside for now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438748" y="2084832"/>
            <a:ext cx="49757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finalisation and payslips (statutory rules unverified), bulk employee imports and custom grouped reports (both have known defects).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3977640"/>
            <a:ext cx="5432908" cy="2286000"/>
          </a:xfrm>
          <a:prstGeom prst="roundRect">
            <a:avLst>
              <a:gd name="adj" fmla="val 4000"/>
            </a:avLst>
          </a:prstGeom>
          <a:solidFill>
            <a:srgbClr val="ECEAFB"/>
          </a:solidFill>
          <a:ln w="12700">
            <a:solidFill>
              <a:srgbClr val="ECEAF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4123944"/>
            <a:ext cx="49757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accounts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4599432"/>
            <a:ext cx="49757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who are both Markedge employees and platform operators use two accounts: an employee account in the internal tenant and an operator account with MFA.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210148" y="3977640"/>
            <a:ext cx="5432908" cy="2286000"/>
          </a:xfrm>
          <a:prstGeom prst="roundRect">
            <a:avLst>
              <a:gd name="adj" fmla="val 4000"/>
            </a:avLst>
          </a:prstGeom>
          <a:solidFill>
            <a:srgbClr val="FDF0DD"/>
          </a:solidFill>
          <a:ln w="12700">
            <a:solidFill>
              <a:srgbClr val="FDF0DD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38748" y="4123944"/>
            <a:ext cx="49757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rules as customers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6438748" y="4599432"/>
            <a:ext cx="49757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gate NO-GO applies to Markedge's own use too: no production hosting, DR or on-call yet.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5486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463040"/>
            <a:ext cx="67665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4E6F0"/>
                </a:solidFill>
              </a:rPr>
              <a:t>Markedge's workforce lives in an ordinary tenant, provisioned like a customer's.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4E6F0"/>
                </a:solidFill>
              </a:rPr>
              <a:t>Internal HR and platform operations are different accounts with different permissions.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4E6F0"/>
                </a:solidFill>
              </a:rPr>
              <a:t>Operators enter any tenant, including Markedge's, only with a reason, for 60 minutes, audited.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4E6F0"/>
                </a:solidFill>
              </a:rPr>
              <a:t>Internal HR uses the same screens and has the same limits as customers.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680960" y="1463040"/>
            <a:ext cx="3962095" cy="4206240"/>
          </a:xfrm>
          <a:prstGeom prst="roundRect">
            <a:avLst>
              <a:gd name="adj" fmla="val 2769"/>
            </a:avLst>
          </a:prstGeom>
          <a:solidFill>
            <a:srgbClr val="1E2542"/>
          </a:solidFill>
          <a:ln w="12700">
            <a:solidFill>
              <a:srgbClr val="2A325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90956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6C98F"/>
                </a:solidFill>
              </a:rPr>
              <a:t>NEXT STEPS &amp; HELP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909560" y="2011680"/>
            <a:ext cx="3504895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D5D8E6"/>
                </a:solidFill>
              </a:rPr>
              <a:t>Deck 03: HR operations in detail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D5D8E6"/>
                </a:solidFill>
              </a:rPr>
              <a:t>Deck 05: platform operator duties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D5D8E6"/>
                </a:solidFill>
              </a:rPr>
              <a:t>Deck 08: access boundaries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8521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C98F"/>
                </a:solidFill>
              </a:rPr>
              <a:t>Release gate: NO-GO (10 of 14 gates blocked, re-verified 13 Oct 2026). Not yet generally available.</a:t>
            </a:r>
            <a:endParaRPr lang="en-US" sz="1100" dirty="0"/>
          </a:p>
        </p:txBody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2331720"/>
            <a:ext cx="7040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EB3C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eopleOS Training">
  <a:themeElements>
    <a:clrScheme name="PeopleOS">
      <a:dk1>
        <a:srgbClr val="1F2433"/>
      </a:dk1>
      <a:lt1>
        <a:srgbClr val="FFFFFF"/>
      </a:lt1>
      <a:dk2>
        <a:srgbClr val="141A30"/>
      </a:dk2>
      <a:lt2>
        <a:srgbClr val="F4F5F8"/>
      </a:lt2>
      <a:accent1>
        <a:srgbClr val="574BC4"/>
      </a:accent1>
      <a:accent2>
        <a:srgbClr val="C9A45C"/>
      </a:accent2>
      <a:accent3>
        <a:srgbClr val="1E7F4F"/>
      </a:accent3>
      <a:accent4>
        <a:srgbClr val="B3261E"/>
      </a:accent4>
      <a:accent5>
        <a:srgbClr val="2F6FB3"/>
      </a:accent5>
      <a:accent6>
        <a:srgbClr val="D97706"/>
      </a:accent6>
      <a:hlink>
        <a:srgbClr val="574BC4"/>
      </a:hlink>
      <a:folHlink>
        <a:srgbClr val="3E3594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Markedge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PeopleOS · Markedge Internal PeopleOS Operations</dc:title>
  <dc:subject>How Markedge runs its own workforce on PeopleOS as an ordinary tenant, and how that work stays separate from operating the SaaS platform.</dc:subject>
  <dc:creator>Markedge PeopleOS training</dc:creator>
  <cp:lastModifiedBy>Markedge PeopleOS training</cp:lastModifiedBy>
  <cp:revision>1</cp:revision>
  <dcterms:created xsi:type="dcterms:W3CDTF">2026-10-21T10:25:37Z</dcterms:created>
  <dcterms:modified xsi:type="dcterms:W3CDTF">2026-10-21T10:25:37Z</dcterms:modified>
</cp:coreProperties>
</file>