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c313f5-55c3-afb8-68cb-a7a10e3e1af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Roles and permissions" id="{6bf5180a-0b21-54a0-0495-4b92aee5960a}">
          <p14:sldIdLst>
            <p14:sldId id="262"/>
            <p14:sldId id="263"/>
            <p14:sldId id="264"/>
            <p14:sldId id="265"/>
            <p14:sldId id="266"/>
          </p14:sldIdLst>
        </p14:section>
        <p14:section name="Tenant isolation" id="{d09987c5-1f9c-c067-2d26-b5e7b2f65de2}">
          <p14:sldIdLst>
            <p14:sldId id="267"/>
            <p14:sldId id="268"/>
            <p14:sldId id="269"/>
          </p14:sldIdLst>
        </p14:section>
        <p14:section name="Organisation and relationship scope" id="{a3be2c93-aa93-2ece-6ea3-6acc571f4b79}">
          <p14:sldIdLst>
            <p14:sldId id="270"/>
            <p14:sldId id="271"/>
            <p14:sldId id="272"/>
          </p14:sldIdLst>
        </p14:section>
        <p14:section name="Sensitive data" id="{041dcd16-746d-8425-92ce-961c782a4d6c}">
          <p14:sldIdLst>
            <p14:sldId id="273"/>
            <p14:sldId id="274"/>
            <p14:sldId id="275"/>
            <p14:sldId id="276"/>
          </p14:sldIdLst>
        </p14:section>
        <p14:section name="Audit and change history" id="{602ef7e5-9fbb-8a38-677e-ffcd821d4ded}">
          <p14:sldIdLst>
            <p14:sldId id="277"/>
            <p14:sldId id="278"/>
            <p14:sldId id="279"/>
            <p14:sldId id="280"/>
          </p14:sldIdLst>
        </p14:section>
        <p14:section name="Authentication and MFA" id="{46a1d366-2d7d-8a8b-7152-151593a55363}">
          <p14:sldIdLst>
            <p14:sldId id="281"/>
            <p14:sldId id="282"/>
            <p14:sldId id="283"/>
          </p14:sldIdLst>
        </p14:section>
        <p14:section name="Separation of duties" id="{bd0e60ac-f158-7ce8-e7e1-6c38c96ebb4d}">
          <p14:sldIdLst>
            <p14:sldId id="284"/>
            <p14:sldId id="285"/>
            <p14:sldId id="286"/>
            <p14:sldId id="287"/>
            <p14:sldId id="288"/>
          </p14:sldIdLst>
        </p14:section>
        <p14:section name="Integration security" id="{1edefb02-4f0d-d00b-31a1-7102dbe02474}">
          <p14:sldIdLst>
            <p14:sldId id="289"/>
            <p14:sldId id="290"/>
            <p14:sldId id="291"/>
          </p14:sldIdLst>
        </p14:section>
        <p14:section name="Export, retention, holds and deletion" id="{dccc6eb9-aa00-3674-201f-40f22a84da71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Summary" id="{4f88dc58-844b-caea-872b-8950abcb6427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control is only as good as its configuration and the environment that runs it. This deck separates the four: implemented in code, configured in a tenant, operational prerequisite, unresolved risk.
SOURCES: docs/architecture/security-invariants.md, peopleos-architecture-contract.md §6 and §9, docs/saas/SaaS-Final-Security-Evidence.md, docs/reports/documentation-gaps.md, captures listed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1 of 2). Status as written in the release gate document. Ten of fourteen gates are blocked by owner decisions, external parties or missing infrastructure.
- 1 | Application and architecture integrity | PASS (workstation) | Repeat the full suites in staging
- 2 | Credential exposure and repository remediation | BLOCKED | Owner: rotation confirmation, repository visibility (O-1 to O-3)
- 3 | Authentication and operator MFA | BLOCKED | Operators enrol MFA in the target environment (O-14, O-7)
- 4 | Independent security review | BLOCKED | Engage a reviewer; triage and retest findings (O-4)
- 5 | Statutory verification and gratuity | BLOCKED | 0 of 24 rules verified; gratuity not implemented (O-5, O-12, O-18)
- 6 | Data protection, retention, legal holds | PASS (controls) / BLOCKED (policy) | Retention decisions with counsel (D8); privacy review
- 7 | Backup, restore and disaster recovery | BLOCKED | Recovery objectives and an isolated target (O-6, O-7)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2 of 2). Status as written in the release gate document. Ten of fourteen gates are blocked by owner decisions, external parties or missing infrastructure.
- 8 | Hosting, monitoring and on-call | BLOCKED | Environment, alerting, on-call (O-7, O-10, O-11)
- 9 | Signup and tenant provisioning | PASS (disabled) / BLOCKED (activation) | Only if self-service signup is wanted at launch (D10)
- 10 | Billing, tax and payment controls | PASS (disabled) / BLOCKED (activation) | Only for paid billing (B-4, B-7, B-8, B-9)
- 11 | Tenant deletion and offboarding | PASS (disabled) / BLOCKED (activation) | Retention decisions, register disk, review (D8)
- 12 | Regression and target-environment testing | BLOCKED | A staging environment (O-7, O-8)
- 13 | Owner decisions and written approvals | BLOCKED | All owner action items
- 14 | Deployment, rollback, post-deployment checks | BLOCKED | Rehearse in staging; authorise (O-7 to O-9)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you will be able to assess:
1. Who can do what: roles, permissions, scope, relationship reach
2. How tenants are isolated: fail-closed scoping; operator entry is deliberate and audited
3. How sensitive data is protected: field permissions, masking, encryption
4. How changes are proven: append-only audit with a verified hash chain
5. Where separation of duties applies: documents, letters, compensation, payroll, holds, finance
6. What remains open: findings, gates and operational prerequisites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architecture contract §1, §6, §9, §10; security-invariants.md; documentation-gaps F29, F32, F37; release gate rows 3, 4, 6, 7, 11.
SAY: Control map: built, configured, operated, open. 
- Tenant isolation | Fail-closed tenant scope; architecture tests | — | Single database; monitoring | Independent review not engaged (gate 4)
- Roles and scope | 14 system roles; org and relationship scope | Role templates; HR scope | Quarterly access review | Unscoped HR users reach the whole tenant
- Field protection | Sensitive permissions, masking, encryption | Who gets *.sensitive.* | Key management | Custom-field visibility switches have no effect (F32)
- MFA | Authenticator app; operators forced | Tenant policy (Optional by default) | Operators enrol in production | MFA optional for tenant users unless set
- Audit | Append-only, hash chain, verifier | — | Scheduled verification | Chains "not recently verified" without a scheduler
- Separation of duties | Documents, letters, compensation, payroll, holds, finance | Enough distinct people per role | Second operator | Change Centre: no self-approval guard (F29)
- Integrations | Signed webhooks, scoped keys, idempotency | Keys, endpoints, SSO (OIDC) | Secret storage, rotation | Key scopes not limited by issuer (F37)
- Export, retention, deletion | Encrypted export, holds, deletion executor | Retention policies (none) | Register disk, backup, DR | Deletion off; DR not verified (gate 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Roles and permissions. Permission keys are declared in code; roles are templates a tenant can adjust.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first 9 of 14 are visible. All 14: Account Owner, Tenant Super Admin, Tenant HR Admin, HR Manager, HR Executive, Payroll Admin, Attendance Admin, Performance Admin, Asset Admin, Manager, Employee, Executive, Alumni, Auditor.
ON SCREEN: Open Roles.
WALK THROUGH: (1) Permission counts. (2) User counts.
LEARNERS SHOULD SEE: 14 system roles (and any custom roles) with permission and user counts
SCREEN: Admin › Setup › Roles. Signed in as Kavya Menon (Tenant HR Admin + Employee). Prerequisite: user.manage / role.view (role editing: Tenant Super Admin only, F5).
EVIDENCE: screenshot screenshots/security-compliance/85-acc-07-roles.png,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SaaS.10 RoleGrants delegation ceiling; SaaS.11 role permission change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Tenant HR Admin opening a role's edit page gets "This page is not available to you" (403). Intended or not, record it in your role design (F5).
ON SCREEN: Tenant HR Admin opens /admin/roles/4/edit (the HR Manager role).
WALK THROUGH: (1) Access refused.
LEARNERS SHOULD SEE: HTTP 403 "This page is not available to you": the Tenant HR Admin holds role.view only and cannot change role permissions (finding F5); the Tenant Super Admin can
SCREEN: Roles › HR Manager › Edit (as Tenant HR Admin). Signed in as Kavya Menon (Tenant HR Admin + Employee). Prerequisite: role.manage (Tenant Super Admin only by default, F5).
EVIDENCE: screenshot screenshots/security-compliance/85-acc-08-role-edit-denied-hr-admin.png,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docs/reports/documentation-gaps.md (config/peopleos.php role templates). Customers can adjust templates; fixes to the shipped templates go through the template_keys mechanism (SaaS.12).
SAY: Role-template findings to review. 
- F3 | Performance Admin template has only view permissions | Cannot administer cycles as the name suggests
- F4 | Auditor ("read-only") includes webhook.manage | A read-only role can change integrations
- F5 | Tenant HR Admin has role.view only | Only the Tenant Super Admin can change permissions
- F15 | Payroll Admin cannot open statutory return screens | Returns need a Tenant HR Admin
- F24 | HR Manager has no performance, learning or talent admin | Growth administration sits with Tenant HR Admin
- F45 | Executive role has no analytics dataset permission | Executive dashboards are empty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Tenant isolation. Data from one organisation never appears in another; operators cross only deliberately.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architecture contract §1; ArchitectureTest (tenant scoping, bypass allow-list). Isolation has been tested on the workstation (189 isolation/authorisation tests at SaaS.11); an independent review has not been engaged (gate 4).
SAY: Isolation by default. One e-mail address belongs to one organisation. Platform operators have no tenant; they enter one explicitly with a reason and a ticket, for at most 60 minutes, and every action is recorded in the platform audit trail. Architecture tests fail the build if a model escapes tenant scoping or a service bypasses it outside the allow-list.
SEQUENCE: Signed-in user (belongs to one tenant) → Tenant context (bound per request) → Every query (filtered; no tenant → no rows) → Writes (stamped and checked)
LABEL: conceptual diagram, not a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Boundaries in practice.
LEFT, Operator enters a tenant: Reason and ticket reference; ends after 60 minutes; audited.
RIGHT, Markedge HR opening Tenants: Refused: tenant users, even Markedge's own HR, cannot reach the platform.
OBSERVE: point out what differs between the two screens.
EVIDENCE: left = platform-admin/95-pl-35-enter-tenant-dialog [Markedge Platform Admin (Platform operator), Tenants › Enter]; right = internal-operations/96-int-08-hr-cannot-open-tenants [Sana Qureshi (Tenant Super Admin (Markedge internal HR)), Tenants (as Markedge HR administrator)].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Organisation and relationship scope. HR reach can be limited to companies or units; managers reach their reports.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RISK: HR users with no scope rows reach the whole tenant by design; Home warns "people approve or edit employees across the whole tenant". Review scope at every access review.
SAY: Scope on the user record.
LEFT, HR Manager limited to one company: Access scope › Companies = Demo Technologies: she reaches only that company's people and units. Dimensions combine with AND.
RIGHT, Manager: Employee + Manager roles; organisation scope empty. His Platform-team scope is a team dimension the form does not display.
OBSERVE: point out what differs between the two screens.
EVIDENCE: left = security-compliance/85-acc-06b-user-company-scope [Kavya Menon (Tenant HR Admin + Employee), Admin › Setup › Users › Edit (Neha Kapoor)]; right = security-compliance/85-acc-06-user-roles-scope [Kavya Menon (Tenant HR Admin + Employee), Admin › Setup › Users › Edit (Amit Verma)].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Restricted pages for managers and employees.
LEFT, Manager: someone outside the team: "We could not find that" (404): a manager cannot open, or even confirm, a record outside their reach.
RIGHT, Employee: an HR page: Employees see "This page is not available to you" on HR-only pages.
OBSERVE: point out what differs between the two screens.
EVIDENCE: left = manager/40-team-09-outside-team [Amit Verma (Manager + Employee), Employee 360 of someone outside the team]; right = employee/30-self-52-restricted-page [Priya Nair (Employee), People › Lifecycle › Employees (HR register) as an employee].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Sensitive data. Bank, identifiers, salary and confidential records need separate permissions.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config/peopleos.php data_classification; architecture contract §6 field-level security; ArchitectureTest "masks every highly sensitive attribute". A Tenant Administrator does not automatically hold *.sensitive.* permissions.
SAY: Data classification (from configuration). 
- Highly sensitive | Bank account, PAN, Aadhaar reference, UAN, PF, ESIC, secrets | Encrypted at rest; masked; *.sensitive.* to view, edit, export or search
- Financial | Salary, payroll entries, payslips, settlements | Domain permissions; payslip views audited
- Statutory | Tax declarations, statutory profiles | Payroll and HR permissions
- Confidential | Grievances, improvement plans, one-on-ones, background checks, documents | Relationship and domain permissions; documents via 10-minute signed links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Two HR roles, two sets of record tabs.
LEFT, Tenant HR Admin: Includes Growth and Bank &amp; personal.
RIGHT, HR Manager: No Growth; Personal instead of Bank &amp; personal.
OBSERVE: point out what differs between the two screens.
EVIDENCE: left = security-compliance/50-sec-01-360-records-tenant-hr-admin [Kavya Menon (Tenant HR Admin + Employee), Employee 360 › Records (as Tenant HR Admin (Kavya))]; right = security-compliance/50-sec-02-360-records-hr-manager [Neha Kapoor (HR Manager + Employee), Employee 360 › Records (as HR Manager (Neha))].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Same person, different reach.
LEFT, HR view: Bank &amp; personal: HR with the sensitive permission sees the Bank &amp; personal records tab.
RIGHT, Manager view: The manager's Personal tab: no bank or identity details; the Records sub-tabs omit Rewards and Operations.
OBSERVE: point out what differs between the two screens.
EVIDENCE: left = hr-admin/50-360-09-records-bank-personal [Kavya Menon (Tenant HR Admin + Employee), Employee 360 › Records › Bank &amp; personal]; right = manager/40-team-08-member-personal [Amit Verma (Manager + Employee), Employee 360 › Records › Personal (as manager)].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Audit and change history. Append-only events, chained per tenant, verified on demand.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 audit event and its integrity.
LEFT, Event detail: Who, when, action, reason and field-level before → after (masked when sensitive).
RIGHT, Integrity: Actor, roles, source, IP, user agent, request id; Hash, Previous hash, "Hash verified ✓".
OBSERVE: point out what differs between the two screens.
EVIDENCE: left = security-compliance/80-ins-11-audit-event-detail [Kavya Menon (Tenant HR Admin + Employee), Change history › event]; right = security-compliance/80-ins-11b-audit-integrity [Kavya Menon (Tenant HR Admin + Employee), Change history › event (Who and where, Integrity expanded)].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"Chain intact: 287 events verified" for the Northwind tenant after its full implementation.
ON SCREEN: Verify integrity.
WALK THROUGH: (1) The result.
LEARNERS SHOULD SEE: The tenant’s audit hash chain is checked and the result shown
SCREEN: Change history › Verify integrity. Signed in as Farah Khan (Tenant Super Admin (Northwind Retail, first administrator)). Prerequisite: Signed in as the tenant administrator.
EVIDENCE: screenshot screenshots/client-onboarding/90-onb-90-audit-verified.png,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Platform audit trail, newest first, each with actor and reason (top rows: platform access started and sign-in; suspend, reactivate, legal hold and release request further down). Header: "NOT RECENTLY VERIFIED: 0 of 3 chains verified" until the scheduler runs verification.
ON SCREEN: Review what the operator did.
LEARNERS SHOULD SEE: Tenant suspended / reactivated, legal hold placed, release requested and tenant entered, with actor and reason
SCREEN: Admin › Platform › Platform audit trail. Signed in as Markedge Platform Admin (Platform operator). Prerequisite: Platform operator with MFA.
EVIDENCE: screenshot screenshots/platform-admin/95-pl-37-platform-audit-after.png,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Authentication and MFA. Authenticator apps for everyone who opts in or is required; operators always.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FINDINGS: password expiry is stored but not enforced (F2); the security.mfa feature flag has no effect (F31); SSO users must also use a local authenticator when MFA is required. Only authenticator apps are supported (no SMS or e-mail codes).
SAY: Operators are forced; tenants choose.
LEFT, Operator without MFA: Held on set-up until an authenticator is enrolled (platform policy, on by default).
RIGHT, Tenant security policy: MFA is optional in the demonstration tenant. Switch on "Require authenticator-app MFA for every tenant login".
OBSERVE: point out what differs between the two screens.
EVIDENCE: left = platform-admin/02-mfa-setup-required [Markedge Platform Admin (Platform operator), Set up two-factor authentication (forced)]; right = security-compliance/85-sec-01-security-policy [Kavya Menon (Tenant HR Admin + Employee), Admin › Platform › Security policy].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same "These credentials do not match our records." for a wrong password, an unknown e-mail, an invited or a suspended account. Password reset answers neutrally and is rate-limited.
ON SCREEN: Sign in with a wrong password.
WALK THROUGH: (1) Generic message. (2) Forgot password?
LEARNERS SHOULD SEE: "These credentials do not match our records." — the same message for a wrong password, an unknown e-mail, an invited (not activated) or a suspended account
SCREEN: Sign in (failed). Signed in as Signed out (Visitor). Prerequisite: None (public pages).
EVIDENCE: screenshot screenshots/support/99-sup-01-wrong-password.png,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7, Separation of duties. Sensitive outcomes need more than one person.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captures 50-doc-03, 62-comp-07, 95-pl-34, 95-pl-20; documentation-gaps F29; PayrollRunPolicy (approver ≠ creator).
SAY: Where a second person is required. 
- Employee documents | The uploader cannot verify | Yes (shown as a server error, new finding)
- Letters | The requester cannot approve | Yes: "The person who requested a letter cannot approve it."
- Compensation change | Four different people: propose, review, approve, execute | Yes: reviewer had no Approve
- Payroll run | Approver must differ from the creator | Not reached: validation blocked (statutory)
- Full &amp; final settlement | None enforced | Observed: the same HR person calculated and approved
- Legal hold release | A different operator approves | Yes: release pending
- Financial and commercial changes | Maker-checker between operators | Pages seen; no change proposed
- Configuration changes | Change Centre approval when on | Off by default; no self-approval guard (F29)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Two refusals that protect people.
LEFT, Reviewer cannot approve: After reviewing a pay change, Kavya sees Reject, Return to proposer and Cancel: no Approve.
RIGHT, Uploader cannot verify: "The person who uploaded a document cannot verify it." Correct rule, but shown as a server error page (development mode).
OBSERVE: point out what differs between the two screens.
EVIDENCE: left = security-compliance/62-comp-07-reviewer-cannot-approve [Kavya Menon (Tenant HR Admin + Employee), Compensation changes › row actions (after reviewing)]; right = security-compliance/50-doc-03-uploader-cannot-verify [Kavya Menon (Tenant HR Admin + Employee), Employee 360 › Records › Operations › Documents].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Letters and HR roles.
LEFT, Requester cannot approve a letter: "Not allowed: The person who requested a letter cannot approve it."
RIGHT, HR Manager cannot import: 403: employee.import is not in the HR Manager role.
OBSERVE: point out what differs between the two screens.
EVIDENCE: left = security-compliance/52-let-04-requester-cannot-approve [Neha Kapoor (HR Manager + Employee), Letters › Approve (by the requester)]; right = security-compliance/75-imp-08-hr-manager-not-available [Neha Kapoor (HR Manager + Employee), Employee imports (as HR Manager)].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legal hold stays active until a different operator approves its release.
ON SCREEN: Submit the release request.
WALK THROUGH: (1) The result.
LEARNERS SHOULD SEE: The hold stays active until a second operator approves the release; only one operator exists in this environment, so it stays pending
SCREEN: Offboarding › Legal holds (release requested). Signed in as Markedge Platform Admin (Platform operator). Prerequisite: Platform operator with MFA.
EVIDENCE: screenshot screenshots/platform-admin/95-pl-34-release-pending.png,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8, Integration security. Keys, webhooks, SSO and inbound events.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API keys and webhooks.
LEFT, Issue API key (cancelled): Name, scopes, expiry; the token is shown once. Scopes are not limited to the issuer's own permissions (F37).
RIGHT, New webhook: Deliveries are HMAC-signed (timestamp.body) so the receiver can verify them; retries and audited replay.
OBSERVE: point out what differs between the two screens.
EVIDENCE: left = security-compliance/85-sec-03-api-key-form [Kavya Menon (Tenant HR Admin + Employee), Admin › Platform › API keys › Issue key]; right = security-compliance/85-sec-04-webhook-form [Kavya Menon (Tenant HR Admin + Employee), Admin › Platform › Webhooks › New].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Single sign-on and the Integration Hub.
LEFT, New SSO connection: OpenID Connect only (no SAML). "Show SSO as the primary login" has no visible effect (F34).
RIGHT, Integration hub: External systems registered with identifiers and signing; the only boundary to other products.
OBSERVE: point out what differs between the two screens.
EVIDENCE: left = security-compliance/85-sec-02-sso-form [Kavya Menon (Tenant HR Admin + Employee), Admin › Platform › Single sign-on › New]; right = security-compliance/85-sec-05-integration-hub-form [Kavya Menon (Tenant HR Admin + Employee), Admin › Platform › Integration hub › New].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9, Export, retention, holds and deletion. Customers can leave with their data; nothing is deleted until policies exist.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tenant data export is implemented; generation was not exercised (it displays a one-time passphrase and needs a queue worker).
SAY: Data export.
LEFT, Tenant: request a full export: Encrypted package, background job, passphrase shown once; credentials never included. Dialog shown; no export was generated in training.
RIGHT, Every report export is audited: Change history: the CSV export of "Headcount by department" with user and time.
OBSERVE: point out what differs between the two screens.
EVIDENCE: left = security-compliance/85-sec-07-data-export-request [Demo Admin (Tenant Super Admin), Admin › Platform › Data export › Request a full export]; right = analytics/80-ins-10-change-history [Kavya Menon (Tenant HR Admin + Employee), Insights › Audit › Change history (Audit events)].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Retention and legal holds.
LEFT, Retention policies: None shipped and none in force: nothing is deletable until Markedge decides (D-8).
RIGHT, Legal hold active: While a hold is active nothing it covers can be deleted.
OBSERVE: point out what differs between the two screens.
EVIDENCE: left = platform-admin/95-pl-28-retention-policies [Markedge Platform Admin (Platform operator), Admin › Platform › Retention policies]; right = platform-admin/95-pl-27-legal-hold-active [Markedge Platform Admin (Platform operator), Offboarding › Northwind Retail (hold active)].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When enabled (owner decision), deletion requires a maker-checker plan, cooling-off, a write-once register on a separate disk, a signed certificate, and reconciliation after any restore.
ON SCREEN: Open Offboarding.
WALK THROUGH: (1) Deletion switched off.
LEARNERS SHOULD SEE: "Tenant deletion is switched off in this environment (PEOPLEOS_TENANT_DELETION_ENABLED)." Offboarding, exports, legal holds and retention work
SCREEN: Admin › Platform › Offboarding. Signed in as Markedge Platform Admin (Platform operator). Prerequisite: Platform operator (is_platform_admin) signed in with MFA.
EVIDENCE: screenshot screenshots/platform-admin/95-pl-24-offboarding.png,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docs/saas/SaaS-11-Backup-and-DR-Test-Report.md, SaaS-12 DeletionReconciliation, SaaS-Final-Production-Recovery-Runbook.md, release gate 7.
SAY: Recovery: what is and is not proven.
- Proven locally: Backup, restore and deletion reconciliation rehearsed on a development workstation with fictional data.
- Not proven: Backup frequency, RPO/RTO and a restore test in the target environment: release gate 7 (O-6, O-7).
- After a restore: Run deletion reconciliation: a restored tenant that had been deleted is contained (suspended), never silently revived.
- Never purged: Audit events are never purged; other retention needs owner decisions with counsel (D8).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SaaS-Final-Release-Gate.md; documentation-gaps.md; findings observed live on 21 Oct 2026. Do not present any of these as resolved.
SAY: Open risks to carry into any review. 
- Credential exposure remediation and repository visibility (gate 2) | BLOCKED | Owner
- Independent security review not engaged (gate 4) | BLOCKED | Owner
- API key scopes broader than the issuer (F37) | Incomplete · known defect or gap | Engineering
- Change Centre covers only some edits; no self-approval guard (F29) | Incomplete · known defect or gap | Engineering
- Separation-of-duties refusals shown as server errors (documents, new) | Incomplete · known defect or gap | Engineering
- Password expiry not enforced (F2); custom-field visibility ignored (F32) | Incomplete · known defect or gap | Engineering
- Backup, DR, hosting and on-call not in place (gates 7, 8) | BLOCKED | Owner, infrastructure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for reviewers with repository access: docs/saas/SaaS-Final-Security-Evidence.md, docs/architecture/security-invariants.md, docs/saas/SaaS-Final-Release-Gate.md.
SAY: Recap the key points:
- Isolation and access controls are enforced in code and tested; an independent review is still required.
- Customers must configure MFA, HR scope and role templates deliberately.
- Every change is audited in a verifiable chain; operators are audited too.
- Separation of duties protects documents, letters, pay, holds and finance.
- Deletion is off; recovery is proven only locally; several risks remain open.
POINT TO: Security evidence pack (Markedge, on request); Release gate status (Markedge); Deck 10: architecture; Deck 05: platform operator controls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Security, governance and compliance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Security, governance and compliance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08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Governance and Compliance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PeopleOS enforces, how they look on screen, what each customer must configure, what operations must provide, and which risks remain open.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Security and compliance reviewers, customer IT and HR governance leads, Markedge operators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security-compliance/80-ins-11b-audit-integrity" descr="Screenshot: Change history › event (Who and where, Integrity expanded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96482"/>
            <a:ext cx="3840480" cy="3647915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1696482"/>
            <a:ext cx="3840480" cy="364791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(1 of 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533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written in the release gate document. Ten of fourteen gates are blocked by owner decisions, external parties or missing infrastructure.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Application and architecture integrity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</a:rPr>
                        <a:t>PASS (workstation)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Repeat the full suites in staging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Credential exposure and repository remediation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Owner: rotation confirmation, repository visibility (O-1 to O-3)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Authentication and operator MFA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Operators enrol MFA in the target environment (O-14,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Independent security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Engage a reviewer; triage and retest findings (O-4)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Statutory verification and gratuity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0 of 24 rules verified; gratuity not implemented (O-5, O-12, O-18)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Data protection, retention, legal holds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(controls) / BLOCKED (policy)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 with counsel (D8); privacy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Backup, restore and disaster recovery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Recovery objectives and an isolated target (O-6,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(2 of 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Hosting, monitoring and on-call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Environment, alerting, on-call (O-7, O-10, O-11)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Signup and tenant provisioning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if self-service signup is wanted at launch (D10)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Billing, tax and payment controls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for paid billing (B-4, B-7, B-8, B-9)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Tenant deletion and offboarding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decisions, register disk, review (D8)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Regression and target-environment testing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 staging environment (O-7, O-8)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 decisions and written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All owner action items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Deployment, rollback, post-deployment checks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Rehearse in staging; authorise (O-7 to O-9)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assess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Who can do what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roles, permissions, scope, relationship reach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tenants are isolated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fail-closed scoping; operator entry is deliberate and audited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sensitive data is protected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field permissions, masking, encryption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changes are proven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append-only audit with a verified hash chain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Where separation of duties applies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documents, letters, compensation, payroll, holds, finance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remains open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findings, gates and operational prerequisites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map: built, configured, operated, open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194560"/>
                <a:gridCol w="2194560"/>
                <a:gridCol w="2221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Implemented in code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Configured per tenant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Operational prerequisite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Open risk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Tenant isolation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Fail-closed tenant scope; architecture tests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Single database; monitoring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Independent review not engaged (gate 4)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Roles and scope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14 system roles; org and relationship scope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Role templates; HR scope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Quarterly access review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Unscoped HR users reach the whole tenant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Field protection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Sensitive permissions, masking, encryption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Who gets *.sensitive.*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Key management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Custom-field visibility switches have no effect (F32)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MFA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Authenticator app; operators forced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Tenant policy (Optional by default)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Operators enrol in production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MFA optional for tenant users unless set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Audit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Append-only, hash chain, verifier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Scheduled verification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Chains "not recently verified" without a scheduler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Separation of duties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Documents, letters, compensation, payroll, holds, finance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Enough distinct people per 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Second operator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Change Centre: no self-approval guard (F29)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Integrations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Signed webhooks, scoped keys, idempotency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Keys, endpoints, SSO (OIDC)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Secret storage, rotation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Key scopes not limited by issuer (F37)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Export, retention, deletion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Encrypted export, holds, deletion executor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Retention policies (none)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Register disk, backup, DR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3"/>
                          </a:solidFill>
                        </a:rPr>
                        <a:t>Deletion off; DR not verified (gate 7)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permissions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keys are declared in code; roles are templates a tenant can adjust.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Fourteen system roles</a:t>
            </a:r>
            <a:endParaRPr lang="en-US" sz="2800" dirty="0"/>
          </a:p>
        </p:txBody>
      </p:sp>
      <p:pic>
        <p:nvPicPr>
          <p:cNvPr id="5" name="Screenshot security-compliance/85-acc-07-roles" descr="Screenshot: Admin › Setup › Roles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830602" y="3061479"/>
            <a:ext cx="796950" cy="305139"/>
          </a:xfrm>
          <a:prstGeom prst="roundRect">
            <a:avLst>
              <a:gd name="adj" fmla="val 1498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584474" y="3061479"/>
            <a:ext cx="599508" cy="305139"/>
          </a:xfrm>
          <a:prstGeom prst="roundRect">
            <a:avLst>
              <a:gd name="adj" fmla="val 1498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6702586" y="27688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456458" y="27688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Permission counts.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counts.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1787144"/>
          </a:xfrm>
          <a:prstGeom prst="roundRect">
            <a:avLst>
              <a:gd name="adj" fmla="val 409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160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first 9 of 14 are visible. All 14: Account Owner, Tenant Super Admin, Tenant HR Admin, HR Manager, HR Executive, Payroll Admin, Attendance Admin, Performance Admin, Asset Admin, Manager, Employee, Executive, Alumni, Auditor.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Kavya Menon (Tenant HR Admin + Employee) · Admin › Setup › Roles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role may do</a:t>
            </a:r>
            <a:endParaRPr lang="en-US" sz="2800" dirty="0"/>
          </a:p>
        </p:txBody>
      </p:sp>
      <p:pic>
        <p:nvPicPr>
          <p:cNvPr id="5" name="Screenshot security-compliance/85-acc-09-role-permissions-edit" descr="Screenshot: Roles › HR Manager (as Tenant Super Admin) (Demo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690872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4690872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Permission catalogue grouped by module. Changes are audited (ROLE_CHANGED with granted and removed keys). A role can be given only by someone who holds all its permissions.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Demo Admin (Tenant Super Admin) · Roles › HR Manager (as Tenant Super Admin)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Tenant Super Admin edits roles</a:t>
            </a:r>
            <a:endParaRPr lang="en-US" sz="2800" dirty="0"/>
          </a:p>
        </p:txBody>
      </p:sp>
      <p:pic>
        <p:nvPicPr>
          <p:cNvPr id="5" name="Screenshot security-compliance/85-acc-08-role-edit-denied-hr-admin" descr="Screenshot: Roles › HR Manager › Edit (as Tenant HR Admin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refused.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Tenant HR Admin opening a role's edit page gets "This page is not available to you" (403). Intended or not, record it in your role design (F5).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Kavya Menon (Tenant HR Admin + Employee) · Roles › HR Manager › Edit (as Tenant HR Admin)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Role-template findings to review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669280"/>
                <a:gridCol w="4690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Ref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Performance Admin template has only view permissions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Cannot administer cycles as the name suggests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Auditor ("read-only") includes webhook.manage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 read-only role can change integrations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F5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Tenant HR Admin has role.view only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Only the Tenant Super Admin can change permissions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F15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Admin cannot open statutory return screens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Returns need a Tenant HR Admin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F24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HR Manager has no performance, learning or talent admin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Growth administration sits with Tenant HR Admin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F45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Executive role has no analytics dataset permission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Executive dashboards are empty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one organisation never appears in another; operators cross only deliberately.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 ISOLATION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by default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554148" cy="1143000"/>
          </a:xfrm>
          <a:prstGeom prst="roundRect">
            <a:avLst>
              <a:gd name="adj" fmla="val 8000"/>
            </a:avLst>
          </a:prstGeom>
          <a:solidFill>
            <a:srgbClr val="574BC4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267712"/>
            <a:ext cx="23712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Signed-in user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2F7"/>
                </a:solidFill>
              </a:rPr>
              <a:t>belongs to one tenant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48508" y="26517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95396" y="2194560"/>
            <a:ext cx="25541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86836" y="2267712"/>
            <a:ext cx="23712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Tenant 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bound per request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95264" y="26517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2152" y="2194560"/>
            <a:ext cx="25541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33592" y="2267712"/>
            <a:ext cx="23712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Every query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filtered; no tenant → no rows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842019" y="26517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88907" y="2194560"/>
            <a:ext cx="25541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0347" y="2267712"/>
            <a:ext cx="23712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Writes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stamped and checked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401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diagram, not a screenshot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93192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e-mail address belongs to one organisation. Platform operators have no tenant; they enter one explicitly with a reason and a ticket, for at most 60 minutes, and every action is recorded in the platform audit trail. Architecture tests fail the build if a model escapes tenant scoping or a service bypasses it outside the allow-list.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 ISOLATION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in practice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Operator enters a tenant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95-pl-35-enter-tenant-dialog" descr="Screenshot: Tenants › Enter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215531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215531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and ticket reference; ends after 60 minutes; audited.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Tenants › Enter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Markedge HR opening Tenants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internal-operations/96-int-08-hr-cannot-open-tenants" descr="Screenshot: Tenants (as Markedge HR administrator) (Sana Qureshi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37" y="1755648"/>
            <a:ext cx="399010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65837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tenant users, even Markedge's own HR, cannot reach the platform.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Sana Qureshi (Tenant Super Admin (Markedge internal HR)) · Tenants (as Markedge HR administrator)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and relationship scope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reach can be limited to companies or units; managers reach their reports.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SCOPE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on the user record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HR Manager limited to one company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5-acc-06b-user-company-scope" descr="Screenshot: Admin › Setup › Users › Edit (Neha Kapoor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scope › Companies = Demo Technologies: she reaches only that company's people and units. Dimensions combine with AND.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Setup › Users › Edit (Neha Kapoor)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Manager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85-acc-06-user-roles-scope" descr="Screenshot: Admin › Setup › Users › Edit (Amit Verma)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+ Manager roles; organisation scope empty. His Platform-team scope is a team dimension the form does not display.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Setup › Users › Edit (Amit Verma)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SCOPE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pages for managers and employees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Manager: someone outside the team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09-outside-team" descr="Screenshot: Employee 360 of someone outside the team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749" y="1755648"/>
            <a:ext cx="399010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1235749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could not find that" (404): a manager cannot open, or even confirm, a record outside their reach.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Amit Verma (Manager + Employee) · Employee 360 of someone outside the team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Employee: an HR page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52-restricted-page" descr="Screenshot: People › Lifecycle › Employees (HR register) as an employee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37" y="1755648"/>
            <a:ext cx="399010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65837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"This page is not available to you" on HR-only pages.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People › Lifecycle › Employees (HR register) as an employee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data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identifiers, salary and confidential records need separate permissions.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SENSITIVE DATA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classification (from configuration)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Protection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Highly sensitive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Bank account, PAN, Aadhaar reference, UAN, PF, ESIC, secrets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Encrypted at rest; masked; *.sensitive.* to view, edit, export or search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Financial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Salary, payroll entries, payslips, settlements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Domain permissions; payslip views audited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Statutory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Tax declarations, statutory profiles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and HR permissions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Confidential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Grievances, improvement plans, one-on-ones, background checks, documents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Relationship and domain permissions; documents via 10-minute signed links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SENSITIVE DATA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HR roles, two sets of record tabs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Tenant HR Admin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50-sec-01-360-records-tenant-hr-admin" descr="Screenshot: Employee 360 › Records (as Tenant HR Admin (Kavya)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Growth and Bank &amp; personal.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Records (as Tenant HR Admin (Kavya))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HR Manager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50-sec-02-360-records-hr-manager" descr="Screenshot: Employee 360 › Records (as HR Manager (Neha)) (Neha Kapoo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Growth; Personal instead of Bank &amp; personal.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Neha Kapoor (HR Manager + Employee) · Employee 360 › Records (as HR Manager (Neha))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SENSITIVE DATA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person, different reach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HR view: Bank &amp; personal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hr-admin/50-360-09-records-bank-personal" descr="Screenshot: Employee 360 › Records › Bank &amp; personal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with the sensitive permission sees the Bank &amp; personal records tab.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Records › Bank &amp; personal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Manager view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08-member-personal" descr="Screenshot: Employee 360 › Records › Personal (as manager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Personal tab: no bank or identity details; the Records sub-tabs omit Rewards and Operations.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Employee 360 › Records › Personal (as 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and change history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events, chained per tenant, verified on demand.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AUDIT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event and its integrity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Event detail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0-ins-11-audit-event-detail" descr="Screenshot: Change history › event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when, action, reason and field-level before → after (masked when sensitive).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Change history › event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Integrity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80-ins-11b-audit-integrity" descr="Screenshot: Change history › event (Who and where, Integrity expanded)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167" y="1755648"/>
            <a:ext cx="403344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44167" y="1755648"/>
            <a:ext cx="403344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roles, source, IP, user agent, request id; Hash, Previous hash, "Hash verified ✓".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Change history › event (Who and where, Integrity expanded)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AUDIT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whole chain</a:t>
            </a:r>
            <a:endParaRPr lang="en-US" sz="2800" dirty="0"/>
          </a:p>
        </p:txBody>
      </p:sp>
      <p:pic>
        <p:nvPicPr>
          <p:cNvPr id="5" name="Screenshot client-onboarding/90-onb-90-audit-verified" descr="Screenshot: Change history › Verify integrit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result.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"Chain intact: 287 events verified" for the Northwind tenant after its full implementation.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Change history › Verify integrity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AUDIT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are audited too</a:t>
            </a:r>
            <a:endParaRPr lang="en-US" sz="2800" dirty="0"/>
          </a:p>
        </p:txBody>
      </p:sp>
      <p:pic>
        <p:nvPicPr>
          <p:cNvPr id="5" name="Screenshot platform-admin/95-pl-37-platform-audit-after" descr="Screenshot: Admin › Platform › Platform audit trail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52" y="1417320"/>
            <a:ext cx="7813095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51152" y="1417320"/>
            <a:ext cx="7813095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2174494"/>
          </a:xfrm>
          <a:prstGeom prst="roundRect">
            <a:avLst>
              <a:gd name="adj" fmla="val 336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99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Platform audit trail, newest first, each with actor and reason (top rows: platform access started and sign-in; suspend, reactivate, legal hold and release request further down). Header: "NOT RECENTLY VERIFIED: 0 of 3 chains verified" until the scheduler runs verification.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Admin › Platform › Platform audit trail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and MFA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apps for everyone who opts in or is required; operators always.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MFA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are forced; tenants choose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Operator without MFA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02-mfa-setup-required" descr="Screenshot: Set up two-factor authentication (forced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923" y="1755648"/>
            <a:ext cx="4503761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978923" y="1755648"/>
            <a:ext cx="4503761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on set-up until an authenticator is enrolled (platform policy, on by default).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Set up two-factor authentication (forced)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Tenant security policy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85-sec-01-security-policy" descr="Screenshot: Admin › Platform › Security policy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is optional in the demonstration tenant. Switch on "Require authenticator-app MFA for every tenant login".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Platform › Security policy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failures reveal nothing</a:t>
            </a:r>
            <a:endParaRPr lang="en-US" sz="2800" dirty="0"/>
          </a:p>
        </p:txBody>
      </p:sp>
      <p:pic>
        <p:nvPicPr>
          <p:cNvPr id="5" name="Screenshot support/99-sup-01-wrong-password" descr="Screenshot: Sign in (failed) (Signed out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190" y="1417320"/>
            <a:ext cx="5105020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5190" y="1417320"/>
            <a:ext cx="5105020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629551" y="3630645"/>
            <a:ext cx="3656298" cy="241454"/>
          </a:xfrm>
          <a:prstGeom prst="roundRect">
            <a:avLst>
              <a:gd name="adj" fmla="val 1893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5199308" y="4015821"/>
            <a:ext cx="1086541" cy="258700"/>
          </a:xfrm>
          <a:prstGeom prst="roundRect">
            <a:avLst>
              <a:gd name="adj" fmla="val 176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318655" y="36233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4888412" y="40171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Generic message.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Forgot password?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same "These credentials do not match our records." for a wrong password, an unknown e-mail, an invited or a suspended account. Password reset answers neutrally and is rate-limited.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Signed out (Visitor) · Sign in (failed)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duties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outcomes need more than one person.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SEPARATION OF DUTIES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second person is required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Seen in this training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Employee documents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 uploader cannot verify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 (shown as a server error, new finding)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Letters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 requester cannot approve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Yes: "The person who requested a letter cannot approve it."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Compensation change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Four different people: propose, review, approve, execute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Yes: reviewer had no Approve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run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Approver must differ from the creator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Not reached: validation blocked (statutory)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Full &amp; final settlement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None enforced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Observed: the same HR person calculated and approved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Legal hold release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 different operator approves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Yes: release pending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Financial and commercial changes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Maker-checker between operators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Pages seen; no change proposed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Configuration changes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Change Centre approval when 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Off by default; no self-approval guard (F29)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SEPARATION OF DUTIES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refusals that protect people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Reviewer cannot approve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62-comp-07-reviewer-cannot-approve" descr="Screenshot: Compensation changes › row actions (after reviewing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reviewing a pay change, Kavya sees Reject, Return to proposer and Cancel: no Approve.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Compensation changes › row actions (after reviewing)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Uploader cannot verify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50-doc-03-uploader-cannot-verify" descr="Screenshot: Employee 360 › Records › Operations › Documents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33" y="1755648"/>
            <a:ext cx="5197117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2333" y="1755648"/>
            <a:ext cx="5197117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person who uploaded a document cannot verify it." Correct rule, but shown as a server error page (development mode).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Employee 360 › Records › Operations › Documents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SEPARATION OF DUTIES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Letters and HR roles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Requester cannot approve a letter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52-let-04-requester-cannot-approve" descr="Screenshot: Letters › Approve (by the requester) (Neha Kapoo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allowed: The person who requested a letter cannot approve it."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Neha Kapoor (HR Manager + Employee) · Letters › Approve (by the requester)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HR Manager cannot import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75-imp-08-hr-manager-not-available" descr="Screenshot: Employee imports (as HR Manager) (Neha Kapoo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37" y="1755648"/>
            <a:ext cx="399010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65837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403: employee.import is not in the HR Manager role.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Neha Kapoor (HR Manager + Employee) · Employee imports (as HR 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SEPARATION OF DUTIES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Operators: two-person release</a:t>
            </a:r>
            <a:endParaRPr lang="en-US" sz="2800" dirty="0"/>
          </a:p>
        </p:txBody>
      </p:sp>
      <p:pic>
        <p:nvPicPr>
          <p:cNvPr id="5" name="Screenshot platform-admin/95-pl-34-release-pending" descr="Screenshot: Offboarding › Legal holds (release requested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266857" y="1469060"/>
            <a:ext cx="1690176" cy="353557"/>
          </a:xfrm>
          <a:prstGeom prst="roundRect">
            <a:avLst>
              <a:gd name="adj" fmla="val 1293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4955961" y="15178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result.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legal hold stays active until a different operator approves its release.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Offboarding › Legal holds (release requested)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security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webhooks, SSO and inbound events.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INTEGRATIONS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 and webhooks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Issue API key (cancelled)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5-sec-03-api-key-form" descr="Screenshot: Admin › Platform › API keys › Issue key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scopes, expiry; the token is shown once. Scopes are not limited to the issuer's own permissions (F37).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Platform › API keys › Issue key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New webhook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85-sec-04-webhook-form" descr="Screenshot: Admin › Platform › Webhooks › New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are HMAC-signed (timestamp.body) so the receiver can verify them; retries and audited replay.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Platform › Webhooks › New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INTEGRATIONS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sign-on and the Integration Hub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New SSO connection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5-sec-02-sso-form" descr="Screenshot: Admin › Platform › Single sign-on › New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805" y="1755648"/>
            <a:ext cx="5193997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3805" y="1755648"/>
            <a:ext cx="5193997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Connect only (no SAML). "Show SSO as the primary login" has no visible effect (F34).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Platform › Single sign-on › New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Integration hub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ecurity-compliance/85-sec-05-integration-hub-form" descr="Screenshot: Admin › Platform › Integration hub › New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 registered with identifiers and signing; the only boundary to other products.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Admin › Platform › Integration hub › New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Export, retention, holds and deletion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leave with their data; nothing is deleted until policies exist.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EXPORT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export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Tenant: request a full export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5-sec-07-data-export-request" descr="Screenshot: Admin › Platform › Data export › Request a full export (Demo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1748196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1748196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package, background job, passphrase shown once; credentials never included. Dialog shown; no export was generated in training.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Demo Admin (Tenant Super Admin) · Admin › Platform › Data export › Request a full export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Every report export is audited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analytics/80-ins-10-change-history" descr="Screenshot: Insights › Audit › Change history (Audit events)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history: the CSV export of "Headcount by department" with user and time.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Insights › Audit › Change history (Audit events)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RETENTION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and legal holds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Retention policies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B3"/>
                </a:solidFill>
              </a:rPr>
              <a:t>After configuration</a:t>
            </a:r>
            <a:endParaRPr lang="en-US" sz="950" dirty="0"/>
          </a:p>
        </p:txBody>
      </p:sp>
      <p:pic>
        <p:nvPicPr>
          <p:cNvPr id="7" name="Screenshot platform-admin/95-pl-28-retention-policies" descr="Screenshot: Admin › Platform › Retention policie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shipped and none in force: nothing is deletable until Markedge decides (D-8).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Retention policies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Legal hold active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platform-admin/95-pl-27-legal-hold-active" descr="Screenshot: Offboarding › Northwind Retail (hold active)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 hold is active nothing it covers can be deleted.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Offboarding › Northwind Retail (hold active)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DELETION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is switched off</a:t>
            </a:r>
            <a:endParaRPr lang="en-US" sz="2800" dirty="0"/>
          </a:p>
        </p:txBody>
      </p:sp>
      <p:pic>
        <p:nvPicPr>
          <p:cNvPr id="5" name="Screenshot platform-admin/95-pl-24-offboarding" descr="Screenshot: Admin › Platform › Offboarding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795592" y="2652234"/>
            <a:ext cx="491812" cy="140005"/>
          </a:xfrm>
          <a:prstGeom prst="roundRect">
            <a:avLst>
              <a:gd name="adj" fmla="val 326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2667576" y="235962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Deletion switched off.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When enabled (owner decision), deletion requires a maker-checker plan, cooling-off, a write-once register on a separate disk, a signed certificate, and reconciliation after any restore.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Admin › Platform › Offboarding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RECOVERY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Recovery: what is and is not proven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locally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restore and deletion reconciliation rehearsed on a development workstation with fictional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frequency, RPO/RTO and a restore test in the target environment: release gate 7 (O-6, O-7).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restore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deletion reconciliation: a restored tenant that had been deleted is contained (suspended), never silently revived.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purged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are never purged; other retention needs owner decisions with counsel (D8).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OPEN RISKS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risks to carry into any review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377440"/>
                <a:gridCol w="2130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Credential exposure remediation and repository visibility (gate 2)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Independent security review not engaged (gate 4)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API key scopes broader than the issuer (F37)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Incomplete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Change Centre covers only some edits; no self-approval guard (F29)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Incomplete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Separation-of-duties refusals shown as server errors (documents, new)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Incomplete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Password expiry not enforced (F2); custom-field visibility ignored (F32)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Incomplete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Backup, DR, hosting and on-call not in place (gates 7, 8)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Owner, infrastructure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Isolation and access controls are enforced in code and tested; an independent review is still required.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Customers must configure MFA, HR scope and role templates deliberately.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Every change is audited in a verifiable chain; operators are audited too.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Separation of duties protects documents, letters, pay, holds and finance.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Deletion is off; recovery is proven only locally; several risks remain open.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Security evidence pack (Markedge, on request)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Release gate status (Markedge)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10: architecture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05: platform operator controls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Security, Governance and Compliance</dc:title>
  <dc:subject>The controls PeopleOS enforces, how they look on screen, what each customer must configure, what operations must provide, and which risks remain open.</dc:subject>
  <dc:creator>Markedge PeopleOS training</dc:creator>
  <cp:lastModifiedBy>Markedge PeopleOS training</cp:lastModifiedBy>
  <cp:revision>1</cp:revision>
  <dcterms:created xsi:type="dcterms:W3CDTF">2026-10-21T10:25:47Z</dcterms:created>
  <dcterms:modified xsi:type="dcterms:W3CDTF">2026-10-21T10:25:47Z</dcterms:modified>
</cp:coreProperties>
</file>