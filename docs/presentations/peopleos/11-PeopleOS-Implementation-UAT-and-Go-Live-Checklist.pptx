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06f1a9b-2a49-ed3c-3b7e-d8d613066cf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Prepare" id="{4fbe9b9b-7a85-890d-6285-a6e4bd87b530}">
          <p14:sldIdLst>
            <p14:sldId id="262"/>
            <p14:sldId id="263"/>
            <p14:sldId id="264"/>
          </p14:sldIdLst>
        </p14:section>
        <p14:section name="Test" id="{ce7682ca-cd3f-6313-1c45-0d358ad1e37d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Major scenarios on screen" id="{6e685520-1824-bc18-0809-26840cf3d823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Accessibility, devices and integrations" id="{7918b523-f9f7-d230-64ca-8c6dfb63a7d1}">
          <p14:sldIdLst>
            <p14:sldId id="288"/>
            <p14:sldId id="289"/>
            <p14:sldId id="290"/>
          </p14:sldIdLst>
        </p14:section>
        <p14:section name="Defects, evidence and reconciliation" id="{0e0596ed-55f0-84bb-f91e-440ea310a869}">
          <p14:sldIdLst>
            <p14:sldId id="291"/>
            <p14:sldId id="292"/>
            <p14:sldId id="293"/>
          </p14:sldIdLst>
        </p14:section>
        <p14:section name="Go live, roll back, stabilise" id="{78205e61-4708-5126-ee60-6f5fb8e198d0}">
          <p14:sldIdLst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Summary" id="{241bb8b5-3f9b-292d-16ea-a0c0c16b02b0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UAT proves the customer's processes work in PeopleOS with their configuration. A test only passes when the customer executes it and sees the expected result.
RESOURCE: supporting/PeopleOS-UAT-Test-Cases.xlsx.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seven status labels. Every screenshot slide carries one of them in its top-right corner. Stress that "Verified in the running application" means we ran it on a disposable demonstration database, not that the feature is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1 of 2). Status as written in the release gate document. Ten of fourteen gates are blocked by owner decisions, external parties or missing infrastructure.
- 1 | Application and architecture integrity | PASS (workstation) | Repeat the full suites in staging
- 2 | Credential exposure and repository remediation | BLOCKED | Owner: rotation confirmation, repository visibility (O-1 to O-3)
- 3 | Authentication and operator MFA | BLOCKED | Operators enrol MFA in the target environment (O-14, O-7)
- 4 | Independent security review | BLOCKED | Engage a reviewer; triage and retest findings (O-4)
- 5 | Statutory verification and gratuity | BLOCKED | 0 of 24 rules verified; gratuity not implemented (O-5, O-12, O-18)
- 6 | Data protection, retention, legal holds | PASS (controls) / BLOCKED (policy) | Retention decisions with counsel (D8); privacy review
- 7 | Backup, restore and disaster recovery | BLOCKED | Recovery objectives and an isolated target (O-6, O-7)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2 of 2). Status as written in the release gate document. Ten of fourteen gates are blocked by owner decisions, external parties or missing infrastructure.
- 8 | Hosting, monitoring and on-call | BLOCKED | Environment, alerting, on-call (O-7, O-10, O-11)
- 9 | Signup and tenant provisioning | PASS (disabled) / BLOCKED (activation) | Only if self-service signup is wanted at launch (D10)
- 10 | Billing, tax and payment controls | PASS (disabled) / BLOCKED (activation) | Only for paid billing (B-4, B-7, B-8, B-9)
- 11 | Tenant deletion and offboarding | PASS (disabled) / BLOCKED (activation) | Retention decisions, register disk, review (D8)
- 12 | Regression and target-environment testing | BLOCKED | A staging environment (O-7, O-8)
- 13 | Owner decisions and written approvals | BLOCKED | All owner action items
- 14 | Deployment, rollback, post-deployment checks | BLOCKED | Rehearse in staging; authorise (O-7 to O-9)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screenshot is a genuine capture from the running application on a disposable database. The full list, with what each one shows, is in SCREENSHOT-INVENTORY.md.
EVIDENCE: docs/presentations/peopleos/SCREENSHOT-INVENTORY.md and PEOPLEOS-PRESENTATION-ACCURACY-REGISTER.md.
SAY: How these screens were produced.
- Real application: PeopleOS at commit 72c96a73, run locally. No application file or setting was changed for the training.
- Disposable database: hcm_training_showcase, seeded with the guarded showcase seeder: invented people at the fictional Demo Group.
- Workflows executed: Requests were submitted, approved, rejected and processed so that every state shown really happened.
- Nothing switched on: Public signup, live payments and tenant deletion stayed off. The operator used MFA. No secret is shown.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you will be able to do:
1. Prepare a UAT environment: separate tenant, synthetic data, test accounts per role
2. Run test cases with evidence: actual result, screenshot, pass/fail, defect reference
3. Test roles, lifecycle, time, pay, approvals, audit, integrations: with the reference runs as a guide
4. Manage defects: log, triage, retest; know the existing ones
5. Apply go-live criteria: and the release gate that overrides them
6. Plan rollback and post-go-live checks: from the deployment runbook
ASK: "Which of these matters most to you?" Return to the answer in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Prepare. Environment, data and configuration readiness.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Environment prerequisites. 
- A UAT tenant separate from the production tenant | Tests change data (approvals, hires, exits) | Markedge operator
- Mail delivery to monitored mailboxes | Invitations, resets and notifications | Markedge operations
- Queue worker and scheduler running | Exports, notifications, scheduled reports, accruals, audit verification | Markedge operations
- One test account per role (employee, manager, HR, payroll, admin, executive) | Access must be tested as each role | Customer administrator
- MFA policy decided and applied | Sign-in tests must match production | Customer administrator
- Synthetic or masked data only | No real identifiers in a shared environment | Customer data owner
- Known-defect list shared | Testers recognise F25, F38, F44, F17 | Markedge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Data and configuration readiness.
- Structure complete: Companies, legal entities, establishments, locations, units and job architecture match the signed design (Deck 4, stages 4–8).
- People loaded once: Hire wizard (imports blocked by F25); managers joined before their reports; no duplicates.
- Policies published: Leave policy versions, shifts, schedules, holiday calendars, salary components and structures.
- Access configured: Roles, HR scope, MFA; Tenant Super Admin holders listed.
- Reconciled: Headcount by company and department matches the source file; zero unexplained differences.
- Payroll scope agreed: In writing: payroll statutory processing in or out while rules are unverified.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Test. Each case: role, preconditions, steps, expected result, actual result, evidence, pass/fail, defect, sign-off.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Never mark a case Pass from the reference column. The workbook leaves Pass/Fail blank on purpose.
SAY: Anatomy of a test case. 
- Test ID, module, role | e.g. UAT-LV-04 · Leave · Manager
- Preconditions | What must exist first (a pending request, a second HR user…)
- Steps | Numbered actions with the real menu path
- Expected result | What the screen should show
- Reference run | What Markedge observed in the training environment: guidance only, never a customer pass
- Actual result · evidence | What the tester saw, with a screenshot per changing step
- Pass/Fail · defect · sign-off | Pass only when executed and matching; otherwise a defect reference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steps, preconditions and reference observations are in supporting/PeopleOS-UAT-Test-Cases.xlsx. "Executed: known defect" means the step was run and a documented defect appeared.
SAY: Test cases: time and leave (part 1 of 2). 
- UAT-LV-01 | Employee | Preview shows working days and the balance after; "Leave requested: N day(s)"; request listed as pending with Cancel available | Executed: matched expected
- UAT-LV-02 | Employee | Request refused with the policy reason; nothing is created | Executed: matched expected
- UAT-LV-03 | Employee | Submission stopped at the first empty required field | Executed: matched expected
- UAT-LV-04 | Manager | "Leave approved"; item leaves the queue; employee sees Approved and Reviewed by the manager; balance Used increases | Executed: matched expected
- UAT-LV-05 | Manager | Rejection without a reason is stopped; with a reason it is recorded | Executed: matched expected
- UAT-AT-01 | Employee | "Checked in"; Your day shows the time and offers Check out | Executed: matched expected
- UAT-AT-02 | Employee → Manager | Correction pending → approved; day reprocessed with the corrected times | Executed: matched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steps, preconditions and reference observations are in supporting/PeopleOS-UAT-Test-Cases.xlsx. "Executed: known defect" means the step was run and a documented defect appeared.
SAY: Test cases: time and leave (part 2 of 2). 
- UAT-AT-03 | Tenant HR Admin | Punch recorded with source manual; day processed for all employees; exceptions listed | Executed: matched expected
- UAT-LV-06 | Tenant HR Admin | HR can apply leave for an employee | Executed: known defect
- UAT-LV-07 | Tenant HR Admin | Adjusted and Available updated; ledger entry with the note | Executed: matched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steps, preconditions and reference observations are in supporting/PeopleOS-UAT-Test-Cases.xlsx. "Executed: known defect" means the step was run and a documented defect appeared.
SAY: Test cases: set-up and people. 
- UAT-PR-01 | Platform operator | Tenant created and first administrator invited; duplicate slug and e-mail refused | Executed: matched expected
- UAT-PR-02 | Customer administrator | Short password refused; activation succeeds; the link cannot be reused | Executed: matched expected
- UAT-ORG-01 | Customer administrator | Structure visible in the designer tree, chart and org map | Executed: matched expected
- UAT-HR-01 | Tenant HR Admin | Duplicate refused; new Employee 360 created with onboarding started | Executed: matched expected
- UAT-HR-02 | Tenant HR Admin | Reporting line changed from the date; previous line kept in history | Executed: matched expected
- UAT-HR-03 | Tenant HR Admin + HR Manager | A cannot verify own upload; B verifies; status Verified with verifier | Executed: known defect
- UAT-HR-04 | Tenant HR Admin | Task done with who and when; progress increases | Executed: matched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steps, preconditions and reference observations are in supporting/PeopleOS-UAT-Test-Cases.xlsx. "Executed: known defect" means the step was run and a documented defect appeared.
SAY: Test cases: pay and data load. 
- UAT-IMP-01 | Tenant HR Admin | Mapping saved; Validate available | Executed: known defect
- UAT-PAY-01 | Payroll Admin | Run calculated; validation passes when rules are verified | Executed in part
- UAT-PAY-02 | Payroll Admin, Tenant HR Admin | Payslips generated; employees see them | Not executed
- UAT-CMP-01 | HR Manager → Tenant HR Admin → Tenant Super Admin → Payroll Admin | Each step by a different person; status Scheduled | Executed: matched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steps, preconditions and reference observations are in supporting/PeopleOS-UAT-Test-Cases.xlsx. "Executed: known defect" means the step was run and a documented defect appeared.
SAY: Test cases: self-service and growth. 
- UAT-ESS-01 | Employee | Numbered request with SLA; listed as Submitted | Executed: matched expected
- UAT-ESS-02 | Employee → HR Manager | Employee sees Resolved with HR's answer | Executed: matched expected
- UAT-ESS-03 | Employee | Feedback sent to the HR inbox with a confirmation | Executed: known defect
- UAT-ESS-04 | Employee | Declaration submitted to payroll | Executed: known defect
- UAT-GRW-01 | Employee | Progress recalculated | Executed: matched expected
- UAT-GRW-02 | Employee → Manager | Self review submitted; manager review accepted once its stage opens | Executed in part
- UAT-GRW-03 | Employee | Status In progress | Executed: matched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steps, preconditions and reference observations are in supporting/PeopleOS-UAT-Test-Cases.xlsx. "Executed: known defect" means the step was run and a documented defect appeared.
SAY: Test cases: HR services, exit and alumni. 
- UAT-LTR-01 | HR Manager + Tenant HR Admin | Requester cannot approve; issued letter visible to the employee | Executed: matched expected
- UAT-AST-01 | Tenant HR Admin | Status Assigned; custody history; employee sees the asset | Executed: matched expected
- UAT-EXT-01 | Employee → Manager → HR | Exit completed; alumni profile; employee Exited | Executed: matched expected
- UAT-EXT-02 | Alumnus → HR | Request reaches HR with identity verification | Executed: matched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steps, preconditions and reference observations are in supporting/PeopleOS-UAT-Test-Cases.xlsx. "Executed: known defect" means the step was run and a documented defect appeared.
SAY: Test cases: access, audit, reports, platform. 
- UAT-ACC-01 | Tenant administrator | Narrower menu; restricted page shows "not available" | Executed: matched expected
- UAT-AUD-01 | Tenant administrator | Every change listed; chain intact | Executed: matched expected
- UAT-RPT-01 | Tenant HR Admin | Grouped results; CSV downloaded; export audited | Executed: matched expected
- UAT-RPT-02 | Tenant HR Admin | Dataset fields offered for grouping, filters and sorting | Executed: known defect
- UAT-PLT-01 | Platform operator | Sign-in refused while suspended; works after reactivation; both audited | Executed: matched expected
- UAT-PLT-02 | Platform operator (two) | Hold active; release only after a second operator approves | Executed in part
- UAT-SUP-01 | Any user | Neutral answer; password changed; link single-use | Executed: matched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Major scenarios on screen. What the expected result looks like in the reference run.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Approve or reject your team's leave with the context you need: reason, overlap with others, and the balance after.
WHO: Line managers (any reporting type effective today).
WHERE: My work › Approvals (the Approval Center). Home shows how many decisions wait.
BEFORE YOU START: Nothing to configure. E-mail notices depend on notification rules set by HR.
SEQUENCE: START My work › Approvals → REVIEW Decision card → DECIDE Approve or Reject → CONFIRM Note or reason → RESULT Requester sees status
EVIDENCE: Executed on the training database on 21 Oct 2026 (tools/capture/10-leave-flow.mjs): Priya Nair (Employee) requested Casual leave 14–15 Dec 2026; Amit Verma (Manager) approved it; Amit rejected Rohan Pillai's request with a reason.
SAY: One place for every decision: leave, cancellations, attendance corrections, letters, workflow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Urgent means overdue, starting within a day, or flagged.
OBSERVE: 7 decisions at the time of capture.
AVOID: using A or R without reading the card: they only open the confirm box; nothing is decided without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Leave cannot be "sent back" for changes. If you need more information, ask the employee first, or reject with a reason they will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Nothing is decided until you confirm. Esc cancels.
ON SCREEN: Approve opens a confirmation with an optional note.
WALK THROUGH: (1) Write an optional note. (2) Select Confirm: Approve.
LEARNERS SHOULD SEE: Nothing is decided until Confirm
SCREEN: Approval Center › Approve. Signed in as Amit Verma (Manager + Employee). 
EVIDENCE: screenshot screenshots/manager/10-leave-09-approve-confirm.png,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Executed on the training database on 21 Oct 2026 (tools/capture/10-leave-flow.mjs): Priya Nair (Employee) requested Casual leave 14–15 Dec 2026; Amit Verma (Manager) approved it; Amit rejected Rohan Pillai's request with a reason.
SAY: Write the reason for the employee, not for HR: what should they do next?
SAY: Rejecting needs a reason the employee will see.
LEFT, Reason missing: Confirm: Reject without a reason is stopped: "Please fill out this field."
RIGHT, Rejected with a reason: "Leave rejected." The item leaves your queue; the employee sees your reason.
OBSERVE: point out what differs between the two screens.
EVIDENCE: left = manager/10-leave-11-reject-reason-required [Amit Verma (Manager + Employee), Approval Center › Reject]; right = manager/10-leave-12-rejected [Amit Verma (Manager + Employee), Approval Center (after rejecting)].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AVOID: telling the requester "you have been notified": notification depends on rules configured by HR (finding F6).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UAT-AT-02: correction approved, day reprocessed.
LEFT, Manager approves: "Approved and attendance reprocessed".
RIGHT, Employee sees the corrected day: 20 Oct: Present 09:05–18:10. "Worked on holiday" is expected: 20 Oct is a holiday in the demo calendar.
OBSERVE: point out what differs between the two screens.
EVIDENCE: left = manager/20-att-07-correction-approved [Amit Verma (Manager + Employee), Approval Center (after the decision)]; right = employee/20-att-16-my-attendance [Priya Nair (Employee), Attendance records (own)].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UAT-HR-01: hire with the duplicate check.
LEFT, Duplicate refused: "This person already exists: Priya Nair (EMP00004)".
RIGHT, New hire created: Tanvi Joshi, Probation; onboarding started automatically.
OBSERVE: point out what differs between the two screens.
EVIDENCE: left = hr-admin/50-hire-01-duplicate-refused [Kavya Menon (Tenant HR Admin + Employee), Hire employee › Person]; right = hr-admin/50-hire-07-created-record [Kavya Menon (Tenant HR Admin + Employee), Employee 360 (new hire)].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UAT-CMP-01: four people, one pay change.
LEFT, Reviewer has no Approve: The person who reviewed cannot also approve.
RIGHT, Executed by the fourth person: Status Scheduled for the effective date.
OBSERVE: point out what differs between the two screens.
EVIDENCE: left = security-compliance/62-comp-07-reviewer-cannot-approve [Kavya Menon (Tenant HR Admin + Employee), Compensation changes › row actions (after reviewing)]; right = hr-admin/62-comp-10-executed [Arjun Bose (Payroll Admin + Employee), Compensation changes (after execution)].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UAT-PAY-01: calculated, then blocked.
LEFT, Recalculated: "Calculated for 19 employee(s); 19 with exceptions".
RIGHT, Validate refused: Blocking exceptions from unverified statutory rules: UAT-PAY-02 cannot be executed today.
OBSERVE: point out what differs between the two screens.
EVIDENCE: left = hr-admin/60-pay-08-recalculated [Arjun Bose (Payroll Admin + Employee), Payroll run (after Recalculate)]; right = hr-admin/60-pay-09-validate-blocked [Arjun Bose (Payroll Admin + Employee), Payroll run › Validate].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UAT-ACC-01: test access as the role.
LEFT, HR Executive Home: A narrower menu than the administrator.
RIGHT, Roles page refused: A refusal where the role matrix says "no" is a pass.
OBSERVE: point out what differs between the two screens.
EVIDENCE: left = client-onboarding/90-onb-59-hr-executive-home [Rohit Menon (HR Executive (Northwind Retail)), Home (HR Executive, Northwind Retail)]; right = client-onboarding/90-onb-60-hr-executive-roles-denied [Rohit Menon (HR Executive (Northwind Retail)), Roles (as HR Executive)].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UAT-AUD-01 and UAT-RPT-01: prove it.
LEFT, Audit chain verified: "Chain intact: 287 events verified".
RIGHT, Report run and exported: Grouped results and Export CSV; the export is audited.
OBSERVE: point out what differs between the two screens.
EVIDENCE: left = client-onboarding/90-onb-90-audit-verified [Farah Khan (Tenant Super Admin (Northwind Retail, first administrator)), Change history › Verify integrity]; right = analytics/80-ins-06-report-result [Kavya Menon (Tenant HR Admin + Employee), Report: Headcount by department].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Record it as Fail with defect F25, the screenshot and the import number. Retest only after a fix is delivered.
ON SCREEN: Submit the column mapping.
WALK THROUGH: (1) Error.
LEARNERS SHOULD SEE: Observed: "Failed
Undefined variable $svc" — the mapping is not saved, so the import cannot pass "inspected" from the screen (known defect F25)
SCREEN: Employee import (after Map columns). Signed in as Farah Khan (Tenant Super Admin (Northwind Retail, first administrator)). Prerequisite: Signed in as the tenant administrator.
EVIDENCE: screenshot screenshots/client-onboarding/90-onb-93-import-map-fails.png,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Accessibility, devices and integrations. What has been checked, and what the customer must still check.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same Home at phone width (390 × 844) with a bottom bar. Safari and Android Chrome have not been tested (UX-19 §30).
ON SCREEN: Open PeopleOS in a phone browser.
LEARNERS SHOULD SEE: The same Home, with a bottom bar: Home, Work, Actions, Services, People
SCREEN: Home on a phone (390 × 844). Signed in as Priya Nair (Employee). 
EVIDENCE: screenshot screenshots/employee/30-self-50-phone-home.png,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docs/ux/UX-18-Accessibility-Audit.md (axe runs and scripted manual review); docs/reports/implementation-status.md 5.1 (phone layout at 390 × 844, Safari and Android Chrome untested). Integration round trips were not exercised in the training environment.
SAY: Accessibility and device evidence. 
- Automated accessibility (axe) | UX.18 audit: axe-core 4.13, WCAG 2.0–2.2 A/AA on the live showcase; re-runs 0 violations (58 and 78 checks); scripted keyboard, reflow and zoom review | Run a screen reader on the key employee tasks with real users
- Keyboard use | Shortcuts (Ctrl K, ?, J/K, A/R with Confirm) | Complete leave and approval without a mouse
- Phone and tablet | Chromium at 390 × 844 (touch) | Test on the customer's actual devices; Safari and Android Chrome untested
- Dark mode | Theme switcher light / dark / system | Optional
- Integrations | API, SCIM, OIDC SSO, webhooks: forms verified; no round trip executed here | Test each integration end to end with the customer's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Defects, evidence and reconciliation. Log, triage, retest; keep evidence; reconcile figures.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Defect management.
- Log: Test ID, steps, expected versus actual, screenshot, time, user, severity (Critical, High, Medium, Low).
- Triage: Known defect? Configuration? Training? Markedge support decides with the customer UAT lead.
- Fix and retest: Retest the same case and its neighbours; keep both screenshots.
- Accept or block: Critical and High defects block go-live unless accepted in writing with a workaround.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Evidence and reconciliation.
- Screenshots: One per step that changes the screen; no personal identifiers visible.
- Exports: CSV exports of headcount and balances; each export is in Change history.
- Audit: Change history › Verify integrity: "Chain intact" at UAT end.
- Reconciliation: Counts by company, department and status versus source; balances for a sample; zero unexplained differences.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6, Go live, roll back, stabilise. Criteria, the release gate, the runbook.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docs/saas/SaaS-Final-Deployment-and-Rollback-Runbook.md §8; release gate. A customer go-live cannot be approved while the product release gate is NO-GO.
SAY: Go-live criteria (all required). 
- Every critical UAT case executed and passed by the customer | Customer to execute
- No open Critical or High defect without written acceptance | F25, F38, F44 and new findings open
- Data reconciled and signed | Customer to sign
- Access tested for every role; MFA as decided | Customer to test
- Payroll scope decided in writing | Statutory rules 0 of 24 verified
- PeopleOS release gate GO | BLOCKED (NO-GO, 10 of 14 gates)
- Hosting, monitoring, on-call, backup and DR evidence | BLOCKED (gates 7, 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docs/saas/SaaS-Final-Deployment-and-Rollback-Runbook.md §6 (12 smoke tests, condensed).
SAY: Smoke tests after deployment (non-destructive). 
- 1 | Health endpoints live and ready (database, cache, queue, storage, scheduler)
- 2 | An operator signs in with MFA; Platform readiness has no FAIL
- 3 | A fictional test tenant is provisioned; its admin creates one employee; a second test tenant cannot see it
- 4 | Payroll on the test tenant shows statutory rules blocked; audit verify passes
- 5 | A notification e-mail reaches a monitored mailbox; a document uploads and downloads only through the authorised route
- 6 | Registration shows "not available"; deletion and payments are refused; deletion reconciliation reports nothing
- 7 | No demo or test accounts remain; every operator has MFA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docs/saas/SaaS-Final-Deployment-and-Rollback-Runbook.md §5 and §9. On a trigger: stop rollout, follow §5, keep the logs, record the incident.
SAY: Rollback and interrupted migrations.
- Code defect, no migration: Redeploy the previous artefact; restart the queue.
- Migration done, release undone: Restore the pre-deployment backup (or a reviewed down() tested on staging), then redeploy the previous artefact.
- Migration interrupted: Do not re-run blindly: MySQL DDL is not transactional. Restore the backup, then deploy again.
- Rollback triggers: Failed critical smoke test, broken audit chain, any cross-tenant exposure, sustained 5xx, unrecoverable migration.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docs/saas/SaaS-Final-Deployment-and-Rollback-Runbook.md §9. The stabilisation window and its owners are owner decision O-10.
SAY: Post-go-live validation (each agreed interval). 
- Sign-in | Users sign in; operators with MFA
- Isolation | A sample confirms no cross-tenant visibility
- Background work | Queue depth, failed jobs, scheduler heartbeat (Platform › Operations)
- Notifications | Delivery log shows sent items
- Audit | Daily verification passes
- Processes | Leave, attendance and approvals flow for real users; first payroll only when allowed
- Backups | Backup job success; restore test on schedule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give learners about 10 minutes in a practice tenant (never a live one). Walk around and help.
SUCCESS: each learner can show the result on screen.
ANSWERS: (1) Reject: the reference column is guidance; PAY-02 cannot be executed today. (2) Fail with defect F25 and evidence; workaround: hire wizard or Markedge API load. (3) Not while the PeopleOS release gate is NO-GO and hosting, DR and payroll scope are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Answer key. 
- 1 | Reject the Pass: the reference column is guidance only. UAT-PAY-02 cannot be executed while statutory rules are unverified: record it as Blocked.
- 2 | Fail, defect F25, with the screenshot and import number. Workaround: Hire employee wizard, or a Markedge API load. Retest after the fix.
- 3 | No. Go-live also needs the PeopleOS release gate at GO, hosting, monitoring, backup and DR evidence, and a written payroll scope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Recap the key points:
- UAT runs in a separate tenant, with synthetic data and one account per role.
- A test passes only when the customer executes it and sees the expected result.
- Known defects are failures with workarounds, not passes.
- Go-live needs customer criteria and the PeopleOS release gate.
- Roll back by the runbook; never re-run an interrupted migration blindly.
POINT TO: supporting/PeopleOS-UAT-Test-Cases.xlsx; supporting/PeopleOS-Go-Live-Handover-Checklist.xlsx; docs/saas/SaaS-Final-Deployment-and-Rollback-Runbook.md; Deck 04: implementation stages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Implementation, UAT and go-live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Implementation, UAT and go-live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11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Implementation, UAT and Go-Live Checklist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environment and data, test every role and process with evidence, manage defects, decide go-live, and know how to roll back.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Customer UAT lead and testers, Markedge implementation team, release decision makers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hr-admin/60-pay-09-validate-blocked" descr="Screenshot: Payroll run › Validate (Arjun Bose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20290"/>
            <a:ext cx="3840480" cy="2400300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2320290"/>
            <a:ext cx="3840480" cy="24003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(1 of 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533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written in the release gate document. Ten of fourteen gates are blocked by owner decisions, external parties or missing infrastructure.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Application and architecture integrity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</a:rPr>
                        <a:t>PASS (workstation)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Repeat the full suites in staging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Credential exposure and repository remediation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Owner: rotation confirmation, repository visibility (O-1 to O-3)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Authentication and operator MFA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Operators enrol MFA in the target environment (O-14,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Independent security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Engage a reviewer; triage and retest findings (O-4)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Statutory verification and gratuity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0 of 24 rules verified; gratuity not implemented (O-5, O-12, O-18)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Data protection, retention, legal holds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(controls) / BLOCKED (policy)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 with counsel (D8); privacy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Backup, restore and disaster recovery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Recovery objectives and an isolated target (O-6,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(2 of 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Hosting, monitoring and on-call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Environment, alerting, on-call (O-7, O-10, O-11)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Signup and tenant provisioning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if self-service signup is wanted at launch (D10)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Billing, tax and payment controls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for paid billing (B-4, B-7, B-8, B-9)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Tenant deletion and offboarding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decisions, register disk, review (D8)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Regression and target-environment testing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 staging environment (O-7, O-8)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 decisions and written approvals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All owner action items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Deployment, rollback, post-deployment checks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Rehearse in staging; authorise (O-7 to O-9)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ABOUT THIS TRAINING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these screens were produced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PeopleOS at commit 72c96a73, run locally. No application file or setting was changed for the training.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database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hcm_training_showcase, seeded with the guarded showcase seeder: invented people at the fictional Demo Group.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executed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were submitted, approved, rejected and processed so that every state shown really happened.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switched 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signup, live payments and tenant deletion stayed off. The operator used MFA. No secret is shown.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 a UAT environment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separate tenant, synthetic data, test accounts per role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 test cases with evidence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actual result, screenshot, pass/fail, defect reference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roles, lifecycle, time, pay, approvals, audit, integrations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with the reference runs as a guide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Manage defects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log, triage, retest; know the existing ones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Apply go-live criteria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and the release gate that overrides them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3008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Callout 6"/>
          <p:cNvSpPr txBox="1"/>
          <p:nvPr/>
        </p:nvSpPr>
        <p:spPr>
          <a:xfrm>
            <a:off x="6415888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Plan rollback and post-go-live checks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from the deployment runbook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data and configuration readiness.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PREPARE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prerequisites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57200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Prerequisite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Who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 UAT tenant separate from the production tenant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Tests change data (approvals, hires, exits)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Markedge operator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Mail delivery to monitored mailboxes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Invitations, resets and notifications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Markedge operations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Queue worker and scheduler running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Exports, notifications, scheduled reports, accruals, audit verification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Markedge operations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One test account per role (employee, manager, HR, payroll, admin, executive)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Access must be tested as each role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Customer administrator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MFA policy decided and applied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Sign-in tests must match production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Customer administrator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Synthetic or masked data only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 real identifiers in a shared environment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Customer data owner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Known-defect list shared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Testers recognise F25, F38, F44, F17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Markedge support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PREPARE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configuration readiness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complete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Companies, legal entities, establishments, locations, units and job architecture match the signed design (Deck 4, stages 4–8).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loaded once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wizard (imports blocked by F25); managers joined before their reports; no duplicates.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published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policy versions, shifts, schedules, holiday calendars, salary components and structures.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configured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HR scope, MFA; Tenant Super Admin holders listed.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2978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1578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51578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company and department matches the source file; zero unexplained differences.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7317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scope agreed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5917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writing: payroll statutory processing in or out while rules are unverified.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case: role, preconditions, steps, expected result, actual result, evidence, pass/fail, defect, sign-off.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test case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What to record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Test ID, module, role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e.g. UAT-LV-04 · Leave · Manager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Preconditions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What must exist first (a pending request, a second HR user…)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Steps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Numbered actions with the real menu path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What the screen should show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Reference run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What Markedge observed in the training environment: guidance only, never a customer pass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Actual result · evidence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What the tester saw, with a screenshot per changing step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Pass/Fail · defect · sign-off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Pass only when executed and matching; otherwise a defect reference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cases: time and leave (1 of 2)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12064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run (training env)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UAT-LV-01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Preview shows working days and the balance after; "Leave requested: N day(s)"; request listed as pending with Cancel available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UAT-LV-02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Request refused with the policy reason; nothing is created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UAT-LV-03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Submission stopped at the first empty required field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UAT-LV-04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Manager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"Leave approved"; item leaves the queue; employee sees Approved and Reviewed by the manager; balance Used increases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UAT-LV-05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Manager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Rejection without a reason is stopped; with a reason it is recorded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UAT-AT-01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"Checked in"; Your day shows the time and offers Check out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UAT-AT-02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 → Manager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Correction pending → approved; day reprocessed with the corrected times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cases: time and leave (2 of 2)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12064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run (training env)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UAT-AT-03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Punch recorded with source manual; day processed for all employees; exceptions listed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UAT-LV-06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HR can apply leave for an 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</a:rPr>
                        <a:t>Executed: known defect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UAT-LV-07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Adjusted and Available updated; ledger entry with the note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cases: set-up and people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12064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run (training env)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UAT-PR-01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Platform operator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created and first administrator invited; duplicate slug and e-mail refused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UAT-PR-02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Customer administrator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Short password refused; activation succeeds; the link cannot be reused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UAT-ORG-01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Customer administrator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Structure visible in the designer tree, chart and org map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UAT-HR-01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Duplicate refused; new Employee 360 created with onboarding started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UAT-HR-02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Reporting line changed from the date; previous line kept in history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UAT-HR-03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 + HR Manager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A cannot verify own upload; B verifies; status Verified with verifier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</a:rPr>
                        <a:t>Executed: known defect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UAT-HR-04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Task done with who and when; progress increases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cases: pay and data load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12064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run (training env)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UAT-IMP-01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Mapping saved; Validate available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</a:rPr>
                        <a:t>Executed: known defect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UAT-PAY-01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Payroll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Run calculated; validation passes when rules are verified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</a:rPr>
                        <a:t>Executed in part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UAT-PAY-02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Payroll Admin, 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Payslips generated; employees see them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Not executed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UAT-CMP-01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HR Manager → Tenant HR Admin → Tenant Super Admin → Payroll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Each step by a different person; status Scheduled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cases: self-service and growth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12064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run (training env)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UAT-ESS-01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Numbered request with SLA; listed as Submitted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UAT-ESS-02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 → HR Manager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 sees Resolved with HR's answer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UAT-ESS-03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Feedback sent to the HR inbox with a confirmation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</a:rPr>
                        <a:t>Executed: known defect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UAT-ESS-04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Declaration submitted to payroll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</a:rPr>
                        <a:t>Executed: known defect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UAT-GRW-01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Progress recalculated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UAT-GRW-02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 → Manager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Self review submitted; manager review accepted once its stage opens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</a:rPr>
                        <a:t>Executed in part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UAT-GRW-03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Status In progress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cases: HR services, exit and alumni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12064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run (training env)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UAT-LTR-01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HR Manager + 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Requester cannot approve; issued letter visible to the employee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UAT-AST-01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Status Assigned; custody history; employee sees the asset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UAT-EXT-01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 → Manager → HR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Exit completed; alumni profile; employee Exited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UAT-EXT-02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Alumnus → HR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Request reaches HR with identity verification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cases: access, audit, reports, platform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12064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run (training env)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UAT-ACC-01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administrator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Narrower menu; restricted page shows "not available"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UAT-AUD-01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administrator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Every change listed; chain intact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UAT-RPT-01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Grouped results; CSV downloaded; export audited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UAT-RPT-02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Tenant HR Admin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Dataset fields offered for grouping, filters and sorting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</a:rPr>
                        <a:t>Executed: known defect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UAT-PLT-01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Platform operator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Sign-in refused while suspended; works after reactivation; both audited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UAT-PLT-02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Platform operator (two)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Hold active; release only after a second operator approves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</a:rPr>
                        <a:t>Executed in part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UAT-SUP-01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Any user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Neutral answer; password changed; link single-use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F4F"/>
                          </a:solidFill>
                        </a:rPr>
                        <a:t>Executed: matched expected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scenarios on screen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expected result looks like in the reference run.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UAT-LV-04 / 05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leave requests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or reject your team's leave with the context you need: reason, overlap with others, and the balance after.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managers (any reporting type effective today).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07738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36338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36338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› Approvals (the Approval Center). Home shows how many decisions wait.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66837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5437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95437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configure. E-mail notices depend on notification rules set by HR.</a:t>
            </a:r>
            <a:endParaRPr lang="en-US" sz="1400" dirty="0"/>
          </a:p>
        </p:txBody>
      </p:sp>
      <p:sp>
        <p:nvSpPr>
          <p:cNvPr id="15" name="Status"/>
          <p:cNvSpPr txBox="1"/>
          <p:nvPr/>
        </p:nvSpPr>
        <p:spPr>
          <a:xfrm>
            <a:off x="8351215" y="1508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574BC4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2F7"/>
                </a:solidFill>
              </a:rPr>
              <a:t>My work › Approvals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79157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26045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17485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Decision card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5656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0344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9488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DECIDE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Approve or Reject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33966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80854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72294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CONFIRM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Note or reason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41137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5825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4969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RESULT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Requester sees status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16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diagram: sequence summary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UAT-LV-04 / 05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Approval Center</a:t>
            </a:r>
            <a:endParaRPr lang="en-US" sz="2800" dirty="0"/>
          </a:p>
        </p:txBody>
      </p:sp>
      <p:pic>
        <p:nvPicPr>
          <p:cNvPr id="5" name="Screenshot manager/10-leave-07-approval-center" descr="Screenshot: My work › Approvals (Approval Cent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022592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371600"/>
            <a:ext cx="7022592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933651" y="1859280"/>
            <a:ext cx="2639974" cy="204826"/>
          </a:xfrm>
          <a:prstGeom prst="roundRect">
            <a:avLst>
              <a:gd name="adj" fmla="val 22321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1933651" y="2294941"/>
            <a:ext cx="1082650" cy="195072"/>
          </a:xfrm>
          <a:prstGeom prst="roundRect">
            <a:avLst>
              <a:gd name="adj" fmla="val 2343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622755" y="183367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622755" y="226446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915400" y="1371600"/>
            <a:ext cx="272765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915400" y="1828800"/>
            <a:ext cx="274320" cy="27432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9299448" y="1810512"/>
            <a:ext cx="2343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decisions wait</a:t>
            </a:r>
            <a:endParaRPr lang="en-US" sz="1300" dirty="0"/>
          </a:p>
        </p:txBody>
      </p:sp>
      <p:sp>
        <p:nvSpPr>
          <p:cNvPr id="14" name="Callout 2"/>
          <p:cNvSpPr txBox="1"/>
          <p:nvPr/>
        </p:nvSpPr>
        <p:spPr>
          <a:xfrm>
            <a:off x="8915400" y="2432304"/>
            <a:ext cx="274320" cy="27432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299448" y="2414016"/>
            <a:ext cx="2343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what is pending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7607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grouped Urgent, This week and Later, most urgent first; the new request is further down under Later. Keyboard: J/K move, A approve, R reject.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My work › Approvals (Approval Center)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UAT-LV-04 / 05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context before you decide</a:t>
            </a:r>
            <a:endParaRPr lang="en-US" sz="2800" dirty="0"/>
          </a:p>
        </p:txBody>
      </p:sp>
      <p:pic>
        <p:nvPicPr>
          <p:cNvPr id="5" name="Screenshot manager/10-leave-08-decision-card" descr="Screenshot: Approval Center › decision card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565396" y="3535341"/>
            <a:ext cx="3489350" cy="244111"/>
          </a:xfrm>
          <a:prstGeom prst="roundRect">
            <a:avLst>
              <a:gd name="adj" fmla="val 1872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4"/>
          <p:cNvSpPr/>
          <p:nvPr/>
        </p:nvSpPr>
        <p:spPr>
          <a:xfrm>
            <a:off x="4565396" y="4687689"/>
            <a:ext cx="459503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5"/>
          <p:cNvSpPr/>
          <p:nvPr/>
        </p:nvSpPr>
        <p:spPr>
          <a:xfrm>
            <a:off x="5024899" y="4687689"/>
            <a:ext cx="376936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4254500" y="352938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254500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5456699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employee's reason.</a:t>
            </a:r>
            <a:endParaRPr lang="en-US" sz="1400" dirty="0"/>
          </a:p>
        </p:txBody>
      </p:sp>
      <p:sp>
        <p:nvSpPr>
          <p:cNvPr id="16" name="Bullet"/>
          <p:cNvSpPr/>
          <p:nvPr/>
        </p:nvSpPr>
        <p:spPr>
          <a:xfrm>
            <a:off x="8686800" y="23317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9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overlap, under the reason: "No one else in the team is away on these dates".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323596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321767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360172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358343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Reject.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595360" y="4040632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732520" y="4132072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card also shows the dates and the balance before → after (Casual leave 7 → 5).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› decision card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UAT-LV-04 / 05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Approve: add an optional note, then Confirm</a:t>
            </a:r>
            <a:endParaRPr lang="en-US" sz="2800" dirty="0"/>
          </a:p>
        </p:txBody>
      </p:sp>
      <p:pic>
        <p:nvPicPr>
          <p:cNvPr id="5" name="Screenshot manager/10-leave-09-approve-confirm" descr="Screenshot: Approval Center › Approve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630014" y="4895901"/>
            <a:ext cx="3360115" cy="355397"/>
          </a:xfrm>
          <a:prstGeom prst="roundRect">
            <a:avLst>
              <a:gd name="adj" fmla="val 1286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630014" y="5251298"/>
            <a:ext cx="771821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4319118" y="494558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4319118" y="523097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an optional note.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 Confirm: Approve.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Nothing is decided until you confirm. Esc cancels.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› Approve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UAT-LV-04 / 05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Rejecting needs a reason the employee will see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Reason missing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10-leave-11-reject-reason-required" descr="Screenshot: Approval Center › Reject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Reject without a reason is stopped: "Please fill out this field."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Approval Center › Reject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Rejected with a reason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10-leave-12-rejected" descr="Screenshot: Approval Center (after rejecting)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"Leave rejected." The item leaves your queue; the employee sees your reason.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Approval Center (after rejecting)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UAT-LV-04 / 05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decision</a:t>
            </a:r>
            <a:endParaRPr lang="en-US" sz="2800" dirty="0"/>
          </a:p>
        </p:txBody>
      </p:sp>
      <p:pic>
        <p:nvPicPr>
          <p:cNvPr id="5" name="Screenshot manager/10-leave-10-approved" descr="Screenshot: Approval Center (after the decision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1955800"/>
            <a:ext cx="2914972" cy="226162"/>
          </a:xfrm>
          <a:prstGeom prst="roundRect">
            <a:avLst>
              <a:gd name="adj" fmla="val 202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799031" y="194086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"Leave approved" confirms the decision.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count of decisions waiting drops.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0530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1445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employee sees Approved and "Reviewed by" your name on their Leave requests.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(after the decision)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UAT-AT-02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UAT-AT-02: correction approved, day reprocessed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Manager approves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20-att-07-correction-approved" descr="Screenshot: Approval Center (after the decision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"Approved and attendance reprocessed".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Approval Center (after the decision)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Employee sees the corrected day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20-att-16-my-attendance" descr="Screenshot: Attendance records (own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Oct: Present 09:05–18:10. "Worked on holiday" is expected: 20 Oct is a holiday in the demo calendar.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Attendance records (own)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UAT-HR-01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UAT-HR-01: hire with the duplicate check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Duplicate refused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hr-admin/50-hire-01-duplicate-refused" descr="Screenshot: Hire employee › Person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person already exists: Priya Nair (EMP00004)".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Hire employee › Person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New hire created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hr-admin/50-hire-07-created-record" descr="Screenshot: Employee 360 (new hire)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Tanvi Joshi, Probation; onboarding started automatically.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(new hire)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UAT-CMP-01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UAT-CMP-01: four people, one pay change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Reviewer has no Approve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62-comp-07-reviewer-cannot-approve" descr="Screenshot: Compensation changes › row actions (after reviewing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reviewed cannot also approve.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Compensation changes › row actions (after reviewing)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Executed by the fourth person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hr-admin/62-comp-10-executed" descr="Screenshot: Compensation changes (after execution) (Arjun Bose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Scheduled for the effective date.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Arjun Bose (Payroll Admin + Employee) · Compensation changes (after execution)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UAT-PAY-01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UAT-PAY-01: calculated, then blocked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Recalculated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hr-admin/60-pay-08-recalculated" descr="Screenshot: Payroll run (after Recalculate) (Arjun Bose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"Calculated for 19 employee(s); 19 with exceptions".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Arjun Bose (Payroll Admin + Employee) · Payroll run (after Recalculate)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Validate refused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13" name="Screenshot hr-admin/60-pay-09-validate-blocked" descr="Screenshot: Payroll run › Validate (Arjun Bose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exceptions from unverified statutory rules: UAT-PAY-02 cannot be executed today.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Arjun Bose (Payroll Admin + Employee) · Payroll run › Validate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UAT-ACC-01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UAT-ACC-01: test access as the role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HR Executive Home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59-hr-executive-home" descr="Screenshot: Home (HR Executive, Northwind Retail) (Rohit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narrower menu than the administrator.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Rohit Menon (HR Executive (Northwind Retail)) · Home (HR Executive, Northwind Retail)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Roles page refused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60-hr-executive-roles-denied" descr="Screenshot: Roles (as HR Executive) (Rohit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37" y="1755648"/>
            <a:ext cx="399010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965837" y="1755648"/>
            <a:ext cx="399010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refusal where the role matrix says "no" is a pass.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Rohit Menon (HR Executive (Northwind Retail)) · Roles (as HR Executive)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UAT-AUD-01 / RPT-01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UAT-AUD-01 and UAT-RPT-01: prove it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Audit chain verified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90-audit-verified" descr="Screenshot: Change history › Verify integrit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"Chain intact: 287 events verified".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Change history › Verify integrity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Report run and exported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analytics/80-ins-06-report-result" descr="Screenshot: Report: Headcount by department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893" y="1755648"/>
            <a:ext cx="5193997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3893" y="1755648"/>
            <a:ext cx="5193997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results and Export CSV; the export is audited.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Report: Headcount by department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UAT-IMP-01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UAT-IMP-01: a defect found by a test</a:t>
            </a:r>
            <a:endParaRPr lang="en-US" sz="2800" dirty="0"/>
          </a:p>
        </p:txBody>
      </p:sp>
      <p:pic>
        <p:nvPicPr>
          <p:cNvPr id="5" name="Screenshot client-onboarding/90-onb-93-import-map-fails" descr="Screenshot: Employee import (after Map columns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463093"/>
          </a:xfrm>
          <a:prstGeom prst="roundRect">
            <a:avLst>
              <a:gd name="adj" fmla="val 987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854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Record it as Fail with defect F25, the screenshot and the import number. Retest only after a fix is delivered.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import (after Map columns)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Accessibility, devices and integrations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checked, and what the customer must still check.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RESPONSIVE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layout</a:t>
            </a:r>
            <a:endParaRPr lang="en-US" sz="2800" dirty="0"/>
          </a:p>
        </p:txBody>
      </p:sp>
      <p:pic>
        <p:nvPicPr>
          <p:cNvPr id="5" name="Screenshot employee/30-self-50-phone-home" descr="Screenshot: Home on a phone (390 × 844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993" y="1417320"/>
            <a:ext cx="2239413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3337993" y="1417320"/>
            <a:ext cx="2239413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same Home at phone width (390 × 844) with a bottom bar. Safari and Android Chrome have not been tested (UX-19 §30).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Home on a phone (390 × 844)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ACCESSIBILITY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and device evidence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Evidence available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Customer UAT action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Automated accessibility (axe)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UX.18 audit: axe-core 4.13, WCAG 2.0–2.2 A/AA on the live showcase; re-runs 0 violations (58 and 78 checks); scripted keyboard, reflow and zoom review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Run a screen reader on the key employee tasks with real users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Keyboard use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Shortcuts (Ctrl K, ?, J/K, A/R with Confirm)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Complete leave and approval without a mouse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Phone and tablet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Chromium at 390 × 844 (touch)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Test on the customer's actual devices; Safari and Android Chrome untested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Dark mode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Theme switcher light / dark / system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Optional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Integrations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API, SCIM, OIDC SSO, webhooks: forms verified; no round trip executed here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Test each integration end to end with the customer's systems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Defects, evidence and reconciliation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triage, retest; keep evidence; reconcile figures.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DEFECTS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management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ID, steps, expected versus actual, screenshot, time, user, severity (Critical, High, Medium, Low).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defect? Configuration? Training? Markedge support decides with the customer UAT lead.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retest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the same case and its neighbours; keep both screenshots.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block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High defects block go-live unless accepted in writing with a workaround.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EVIDENCE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reconciliation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step that changes the screen; no personal identifiers visible.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 of headcount and balances; each export is in Change history.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 › Verify integrity: "Chain intact" at UAT end.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by company, department and status versus source; balances for a sample; zero unexplained differences.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live, roll back, stabilise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Criteria, the release gate, the runbook.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GO-LIVE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criteria (all required)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Every critical UAT case executed and passed by the customer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Customer to execute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 open Critical or High defect without written acceptance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F25, F38, F44 and new findings open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Data reconciled and signed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Customer to sign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Access tested for every role; MFA as decided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Customer to test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Payroll scope decided in writing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Statutory rules 0 of 24 verified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PeopleOS release gate GO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BLOCKED (NO-GO, 10 of 14 gates)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Hosting, monitoring, on-call, backup and DR evidence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BLOCKED (gates 7, 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GO-LIVE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tests after deployment (non-destructive)</a:t>
            </a:r>
            <a:endParaRPr lang="en-US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43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Health endpoints live and ready (database, cache, queue, storage, scheduler)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An operator signs in with MFA; Platform readiness has no FAIL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 fictional test tenant is provisioned; its admin creates one employee; a second test tenant cannot see it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Payroll on the test tenant shows statutory rules blocked; audit verify passes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 notification e-mail reaches a monitored mailbox; a document uploads and downloads only through the authorised route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Registration shows "not available"; deletion and payments are refused; deletion reconciliation reports nothing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 demo or test accounts remain; every operator has MFA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ROLLBACK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and interrupted migrations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defect, no migration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the previous artefact; restart the queue.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done, release undone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pre-deployment backup (or a reviewed down() tested on staging), then redeploy the previous artefact.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interrupted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re-run blindly: MySQL DDL is not transactional. Restore the backup, then deploy again.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triggers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critical smoke test, broken audit chain, any cross-tenant exposure, sustained 5xx, unrecoverable migration.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STABILISE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Post-go-live validation (each agreed interval)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Sign-in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Users sign in; operators with MFA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Isolation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 sample confirms no cross-tenant visibility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Background work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Queue depth, failed jobs, scheduler heartbeat (Platform › Operations)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Notifications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Delivery log shows sent items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Audit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Daily verification passes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Processes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Leave, attendance and approvals flow for real users; first payroll only when allowed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Backups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Backup job success; restore test on schedule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tester marks UAT-PAY-02 as Pass because the reference column is filled. What do you do?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16352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15184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UAT-IMP-01 fails with "Undefined variable $svc". How do you record it and what is the workaround?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621024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3895344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694176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UAT case passed. Can the customer go live next week?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35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5"/>
                </a:solidFill>
              </a:rPr>
              <a:t>Answer key: on the next slide, and in the speaker notes.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43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Reject the Pass: the reference column is guidance only. UAT-PAY-02 cannot be executed while statutory rules are unverified: record it as Blocked.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Fail, defect F25, with the screenshot and import number. Workaround: Hire employee wizard, or a Markedge API load. Retest after the fix.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No. Go-live also needs the PeopleOS release gate at GO, hosting, monitoring, backup and DR evidence, and a written payroll scope decision.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UAT runs in a separate tenant, with synthetic data and one account per role.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A test passes only when the customer executes it and sees the expected result.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Known defects are failures with workarounds, not passes.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Go-live needs customer criteria and the PeopleOS release gate.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Roll back by the runbook; never re-run an interrupted migration blindly.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supporting/PeopleOS-UAT-Test-Cases.xlsx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supporting/PeopleOS-Go-Live-Handover-Checklist.xlsx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docs/saas/SaaS-Final-Deployment-and-Rollback-Runbook.md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04: implementation stages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Implementation, UAT and Go-Live Checklist</dc:title>
  <dc:subject>Prepare the environment and data, test every role and process with evidence, manage defects, decide go-live, and know how to roll back.</dc:subject>
  <dc:creator>Markedge PeopleOS training</dc:creator>
  <cp:lastModifiedBy>Markedge PeopleOS training</cp:lastModifiedBy>
  <cp:revision>1</cp:revision>
  <dcterms:created xsi:type="dcterms:W3CDTF">2026-10-21T10:25:54Z</dcterms:created>
  <dcterms:modified xsi:type="dcterms:W3CDTF">2026-10-21T10:25:54Z</dcterms:modified>
</cp:coreProperties>
</file>