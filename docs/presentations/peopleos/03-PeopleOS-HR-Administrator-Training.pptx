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Lst>
  <p:notesMasterIdLst>
    <p:notesMasterId r:id="rId1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05a9cb-0954-e642-36fe-acc7420ea197}">
          <p14:sldIdLst>
            <p14:sldId id="256"/>
            <p14:sldId id="257"/>
            <p14:sldId id="258"/>
            <p14:sldId id="259"/>
            <p14:sldId id="260"/>
            <p14:sldId id="261"/>
          </p14:sldIdLst>
        </p14:section>
        <p14:section name="People records" id="{6932f0e8-4f1a-7a7c-6cde-d362dd60ea76}">
          <p14:sldIdLst>
            <p14:sldId id="262"/>
            <p14:sldId id="263"/>
            <p14:sldId id="264"/>
            <p14:sldId id="265"/>
            <p14:sldId id="266"/>
            <p14:sldId id="267"/>
            <p14:sldId id="268"/>
            <p14:sldId id="269"/>
            <p14:sldId id="270"/>
            <p14:sldId id="271"/>
            <p14:sldId id="272"/>
          </p14:sldIdLst>
        </p14:section>
        <p14:section name="Hire and person matching" id="{654e6706-8550-0197-4f58-962670497126}">
          <p14:sldIdLst>
            <p14:sldId id="273"/>
            <p14:sldId id="274"/>
            <p14:sldId id="275"/>
            <p14:sldId id="276"/>
            <p14:sldId id="277"/>
            <p14:sldId id="278"/>
            <p14:sldId id="279"/>
            <p14:sldId id="280"/>
          </p14:sldIdLst>
        </p14:section>
        <p14:section name="Job, manager and lifecycle changes" id="{f1fd5cad-601c-e147-ef0d-2c4ef38ef63d}">
          <p14:sldIdLst>
            <p14:sldId id="281"/>
            <p14:sldId id="282"/>
            <p14:sldId id="283"/>
            <p14:sldId id="284"/>
            <p14:sldId id="285"/>
            <p14:sldId id="286"/>
            <p14:sldId id="287"/>
            <p14:sldId id="288"/>
            <p14:sldId id="289"/>
            <p14:sldId id="290"/>
          </p14:sldIdLst>
        </p14:section>
        <p14:section name="Onboarding" id="{d2253b9b-7dda-d7c1-0fe9-5644f9bbda18}">
          <p14:sldIdLst>
            <p14:sldId id="291"/>
            <p14:sldId id="292"/>
            <p14:sldId id="293"/>
            <p14:sldId id="294"/>
            <p14:sldId id="295"/>
            <p14:sldId id="296"/>
          </p14:sldIdLst>
        </p14:section>
        <p14:section name="Employee documents" id="{cda19e5e-d801-148f-dbc9-4f5f798a5b63}">
          <p14:sldIdLst>
            <p14:sldId id="297"/>
            <p14:sldId id="298"/>
            <p14:sldId id="299"/>
            <p14:sldId id="300"/>
            <p14:sldId id="301"/>
          </p14:sldIdLst>
        </p14:section>
        <p14:section name="Attendance administration" id="{e6e871cf-39de-1da0-5a4d-786ba7beab7c}">
          <p14:sldIdLst>
            <p14:sldId id="302"/>
            <p14:sldId id="303"/>
            <p14:sldId id="304"/>
            <p14:sldId id="305"/>
            <p14:sldId id="306"/>
          </p14:sldIdLst>
        </p14:section>
        <p14:section name="Leave administration" id="{7ac7dcea-ff02-45e4-2e0f-2ebcd68a62f1}">
          <p14:sldIdLst>
            <p14:sldId id="307"/>
            <p14:sldId id="308"/>
            <p14:sldId id="309"/>
            <p14:sldId id="310"/>
            <p14:sldId id="311"/>
            <p14:sldId id="312"/>
            <p14:sldId id="313"/>
            <p14:sldId id="314"/>
            <p14:sldId id="315"/>
            <p14:sldId id="316"/>
            <p14:sldId id="317"/>
          </p14:sldIdLst>
        </p14:section>
        <p14:section name="Payroll operations" id="{277608aa-c0a8-509f-59de-5ef6829b0585}">
          <p14:sldIdLst>
            <p14:sldId id="318"/>
            <p14:sldId id="319"/>
            <p14:sldId id="320"/>
            <p14:sldId id="321"/>
            <p14:sldId id="322"/>
            <p14:sldId id="323"/>
            <p14:sldId id="324"/>
            <p14:sldId id="325"/>
            <p14:sldId id="326"/>
            <p14:sldId id="327"/>
            <p14:sldId id="328"/>
            <p14:sldId id="329"/>
          </p14:sldIdLst>
        </p14:section>
        <p14:section name="Statutory configuration" id="{6349ff1b-674b-aaab-881c-bf66d5187668}">
          <p14:sldIdLst>
            <p14:sldId id="330"/>
            <p14:sldId id="331"/>
            <p14:sldId id="332"/>
            <p14:sldId id="333"/>
            <p14:sldId id="334"/>
          </p14:sldIdLst>
        </p14:section>
        <p14:section name="Performance, learning and workforce" id="{9b9a6fe2-9074-5d61-cac9-32f048269d24}">
          <p14:sldIdLst>
            <p14:sldId id="335"/>
            <p14:sldId id="336"/>
            <p14:sldId id="337"/>
            <p14:sldId id="338"/>
            <p14:sldId id="339"/>
            <p14:sldId id="340"/>
          </p14:sldIdLst>
        </p14:section>
        <p14:section name="Compensation changes" id="{b5f051de-a6ab-c3f0-7755-e674c2cb88ed}">
          <p14:sldIdLst>
            <p14:sldId id="341"/>
            <p14:sldId id="342"/>
            <p14:sldId id="343"/>
            <p14:sldId id="344"/>
            <p14:sldId id="345"/>
            <p14:sldId id="346"/>
            <p14:sldId id="347"/>
          </p14:sldIdLst>
        </p14:section>
        <p14:section name="Letters, assets and HR requests" id="{5853943b-91fb-7472-fd6d-d6b30db78913}">
          <p14:sldIdLst>
            <p14:sldId id="348"/>
            <p14:sldId id="349"/>
            <p14:sldId id="350"/>
            <p14:sldId id="351"/>
            <p14:sldId id="352"/>
            <p14:sldId id="353"/>
            <p14:sldId id="354"/>
            <p14:sldId id="355"/>
            <p14:sldId id="356"/>
            <p14:sldId id="357"/>
            <p14:sldId id="358"/>
            <p14:sldId id="359"/>
            <p14:sldId id="360"/>
          </p14:sldIdLst>
        </p14:section>
        <p14:section name="Exit, full &amp; final, alumni" id="{8e3b8071-fc3e-946b-fc14-98fdf0fa1548}">
          <p14:sldIdLst>
            <p14:sldId id="361"/>
            <p14:sldId id="362"/>
            <p14:sldId id="363"/>
            <p14:sldId id="364"/>
            <p14:sldId id="365"/>
            <p14:sldId id="366"/>
            <p14:sldId id="367"/>
            <p14:sldId id="368"/>
            <p14:sldId id="369"/>
            <p14:sldId id="370"/>
            <p14:sldId id="371"/>
            <p14:sldId id="372"/>
          </p14:sldIdLst>
        </p14:section>
        <p14:section name="Employee imports" id="{8b63bd80-4827-cc87-fdbb-c6e4127e9541}">
          <p14:sldIdLst>
            <p14:sldId id="373"/>
            <p14:sldId id="374"/>
            <p14:sldId id="375"/>
            <p14:sldId id="376"/>
            <p14:sldId id="377"/>
          </p14:sldIdLst>
        </p14:section>
        <p14:section name="Audit history" id="{00c89b18-615b-2c77-7566-e2e16d0fd94d}">
          <p14:sldIdLst>
            <p14:sldId id="378"/>
            <p14:sldId id="379"/>
            <p14:sldId id="380"/>
            <p14:sldId id="381"/>
            <p14:sldId id="382"/>
            <p14:sldId id="383"/>
            <p14:sldId id="384"/>
          </p14:sldIdLst>
        </p14:section>
        <p14:section name="Summary" id="{c1958715-cf78-3ce8-4ee3-9731c2574b47}">
          <p14:sldIdLst>
            <p14:sldId id="3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deck is for the people who run HR operations day to day. Every step was performed in a practice tenant with invented people.
EVIDENCE: Executed on the training database on 21 Oct 2026 as Kavya Menon (Tenant HR Admin), Neha Kapoor (HR Manager) and Arjun Bose (Payroll Admin), fictional people at the fictional Demo Group (tools/capture/20-, 50-, 55-, 60-, 62-, 65-, 70-,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seven status labels. Every screenshot slide carries one of them in its top-right corner. Stress that "Verified in the running application" means we ran it on a disposable demonstration database, not that the feature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docs/saas/SaaS-Final-Release-Gate.md (decision NO-GO, re-verified 13 October 2026 at 7314f7d); owner actions in docs/saas/SaaS-Final-Owner-Action-Register.md.
SAY: The application passes its automated suites on the workstation, but release is blocked by decisions and infrastructure, not by code alone.
AVOID: describing any gate as resolved. Nothing in this training changes a gate.
SAY: Release gate: NO-GO until these are resolved (part 1 of 2). Status as written in the release gate document. Ten of fourteen gates are blocked by owner decisions, external parties or missing infrastructure.
- 1 | Application and architecture integrity | PASS (workstation) | Repeat the full suites in staging
- 2 | Credential exposure and repository remediation | BLOCKED | Owner: rotation confirmation, repository visibility (O-1 to O-3)
- 3 | Authentication and operator MFA | BLOCKED | Operators enrol MFA in the target environment (O-14, O-7)
- 4 | Independent security review | BLOCKED | Engage a reviewer; triage and retest findings (O-4)
- 5 | Statutory verification and gratuity | BLOCKED | 0 of 24 rules verified; gratuity not implemented (O-5, O-12, O-18)
- 6 | Data protection, retention, legal holds | PASS (controls) / BLOCKED (policy) | Retention decisions with counsel (D8); privacy review
- 7 | Backup, restore and disaster recovery | BLOCKED | Recovery objectives and an isolated target (O-6, O-7)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docs/saas/SaaS-Final-Release-Gate.md (decision NO-GO, re-verified 13 October 2026 at 7314f7d); owner actions in docs/saas/SaaS-Final-Owner-Action-Register.md.
SAY: The application passes its automated suites on the workstation, but release is blocked by decisions and infrastructure, not by code alone.
AVOID: describing any gate as resolved. Nothing in this training changes a gate.
SAY: Release gate: NO-GO until these are resolved (part 2 of 2). Status as written in the release gate document. Ten of fourteen gates are blocked by owner decisions, external parties or missing infrastructure.
- 8 | Hosting, monitoring and on-call | BLOCKED | Environment, alerting, on-call (O-7, O-10, O-11)
- 9 | Signup and tenant provisioning | PASS (disabled) / BLOCKED (activation) | Only if self-service signup is wanted at launch (D10)
- 10 | Billing, tax and payment controls | PASS (disabled) / BLOCKED (activation) | Only for paid billing (B-4, B-7, B-8, B-9)
- 11 | Tenant deletion and offboarding | PASS (disabled) / BLOCKED (activation) | Retention decisions, register disk, review (D8)
- 12 | Regression and target-environment testing | BLOCKED | A staging environment (O-7, O-8)
- 13 | Owner decisions and written approvals | BLOCKED | All owner action items
- 14 | Deployment, rollback, post-deployment checks | BLOCKED | Rehearse in staging; authorise (O-7 to O-9)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HR administrators do not automatically see every field: sensitive data and some modules need specific permissions. When a menu is missing, it is usually the role, not a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config/peopleos.php role templates as summarised in docs/reports/feature-inventory.md and implementation-status.md; F5, F15 from documentation-gaps.md. Only a Tenant Super Admin edits role permissions. Customers can change role templates.
SAY: Who can do what in HR (system roles). 
- Hire, change job or manager, lifecycle state | Yes | Yes | No
- Upload / verify documents | Yes / Yes (not own upload) | Yes / Yes (not own upload) | No
- Process attendance, manual punches | Yes | No | No
- Payroll runs, components, adjustments | Yes | View structures only | Yes
- Statutory returns screens (EPF, ESI, PT, LWF, TDS) | Yes | No | No (F15)
- Propose / review / approve / execute compensation | Propose, review, approve | Propose, review | Execute
- Employee imports | Yes | No (page not available) | No
- Edit role permissions | No (F5) | No |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 People records. Directory, register and the Employee 360: one lifetime record per person.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Everyone you may see, with department, location, status and grouping filters.
ON SCREEN: Open People › Directory.
WALK THROUGH: (1) Search. (2) Filters. (3) Cards / Table. (4) Employee register.
LEARNERS SHOULD SEE: Everyone the HR user can see, with search, department, location, status and grouping filters
SCREEN: People › Directory (Cards). Signed in as Kavya Menon (Tenant HR Admin + Employee). Prerequisite: employee.view (HR roles); scope applies.
EVIDENCE: screenshot screenshots/hr-admin/50-dir-01-directory-cards.png,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Preview and register.
LEFT, Person preview: Role, manager and quick actions: Open profile, Message, Org map, Start a change.
RIGHT, Employees register: Table with ID, designation, department, manager, status; Hire employee; View and Edit.
OBSERVE: point out what differs between the two screens.
EVIDENCE: left = hr-admin/50-dir-02-person-preview [Kavya Menon (Tenant HR Admin + Employee), People › Directory › person preview]; right = hr-admin/50-dir-03-employee-register [Kavya Menon (Tenant HR Admin + Employee), People › Lifecycle › Employees].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 Priya Nair, Probation, "One lifetime record", reports to Amit Verma. Identity and access panel shows sign-in status and organisation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VISUAL ISSUE F27: the dropdown can open under the sticky view bar; scroll slightly if an item is hidden.
SAY: Action and More menus.
LEFT, Action: Transfer / promote, Change manager, Change lifecycle state, Start onboarding, Initiate background check, Assign work schedule, Start workflow.
RIGHT, More: Edit profile, All changes, Statutory details, Edit statutory details. Menus depend on your permissions.
OBSERVE: point out what differs between the two screens.
EVIDENCE: left = hr-admin/50-360-02-action-menu [Kavya Menon (Tenant HR Admin + Employee), Employee 360 › Action menu]; right = hr-admin/50-360-03-more-menu [Kavya Menon (Tenant HR Admin + Employee), Employee 360 › More menu].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Joining, onboarding, probation, assets, leave and manager assignment in order. Select a stage to see what happened in it.
ON SCREEN: Open the Journey view.
LEARNERS SHOULD SEE: Effective-dated history of the person: joining, changes, lifecycle
SCREEN: Employee 360 › Journey. Signed in as Kavya Menon (Tenant HR Admin + Employee). Prerequisite: employee.view; sensitive tabs need their own permissions.
EVIDENCE: screenshot screenshots/hr-admin/50-360-04-journey.png,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Records: employment and time.
LEFT, Employment: Position assignments and reporting lines, each with from/to dates and change type.
RIGHT, Time: Attendance and leave for this person; Apply for leave on their behalf.
OBSERVE: point out what differs between the two screens.
EVIDENCE: left = hr-admin/50-360-05-records-employment [Kavya Menon (Tenant HR Admin + Employee), Employee 360 › Records › Employment]; right = hr-admin/50-360-06-records-time [Kavya Menon (Tenant HR Admin + Employee), Employee 360 › Records › Time].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Records: rewards and operations.
LEFT, Rewards: Compensation, compensation changes and payslips, only with the matching permission.
RIGHT, Operations: Documents (Upload, Verify, Reject), letters and requests.
OBSERVE: point out what differs between the two screens.
EVIDENCE: left = hr-admin/50-360-07-records-rewards [Kavya Menon (Tenant HR Admin + Employee), Employee 360 › Records › Rewards]; right = hr-admin/50-360-08-records-operations [Kavya Menon (Tenant HR Admin + Employee), Employee 360 › Records › Operations].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HR administrators do not all see the same fields. Sensitive data needs the sensitive permission.
SAY: Different HR roles, different record tabs.
LEFT, Tenant HR Admin: Timeline, Employment, Time, Growth, Rewards, Operations, Bank &amp; personal, History.
RIGHT, HR Manager: No Growth; Personal instead of Bank &amp; personal: no bank or identity details.
OBSERVE: point out what differs between the two screens.
EVIDENCE: left = security-compliance/50-sec-01-360-records-tenant-hr-admin [Kavya Menon (Tenant HR Admin + Employee), Employee 360 › Records (as Tenant HR Admin (Kavya))]; right = security-compliance/50-sec-02-360-records-hr-manager [Neha Kapoor (HR Manager + Employee), Employee 360 › Records (as HR Manager (Neha))].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Sections for addresses, family and nominees, emergency contacts, bank accounts and identifiers (empty for this fictional employee). Sensitive fields need *.sensitive.* permissions and are masked otherwise.
ON SCREEN: Records › Bank &amp; personal.
LEARNERS SHOULD SEE: Bank accounts, identifiers and personal details (sensitive; permission-controlled)
SCREEN: Employee 360 › Records › Bank &amp; personal. Signed in as Kavya Menon (Tenant HR Admin + Employee). Prerequisite: employee.view; sensitive tabs need their own permissions.
EVIDENCE: screenshot screenshots/hr-admin/50-360-09-records-bank-personal.png,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here as the local debug page (development mode). In production the user sees a generic server-error dialog; the cause is the same.
FINDINGS: F26 (documented) and a new TypeError in the Records › Employment lower section, observed live; both recorded in the accuracy register.
SAY: Two errors you may meet on the 360 (development mode).
LEFT, History tab: LazyLoadingViolationException (F26) in non-production strict mode. Use Insights › Audit › Change history instead.
RIGHT, Employment section on scroll: TypeError in a lazily loaded section (new finding, 21 Oct 2026).
OBSERVE: point out what differs between the two screens.
EVIDENCE: left = hr-admin/50-360-10-records-history [Kavya Menon (Tenant HR Admin + Employee), Employee 360 › Records › History]; right = support/50-360-err-01-records-employment [Kavya Menon (Tenant HR Admin + Employee), Employee 360 › Records › Employment].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2, Hire and person matching. Four guided steps; the person is matched before anything is created.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Create one lifetime record for a new joiner, placed in the organisation with a manager, without duplicating a person who already exists.
WHO: Tenant HR Admin, HR Manager, HR Executive (employee.create)
WHERE: People › Lifecycle › Employees › Hire employee
BEFORE YOU START: Organisation, designations and the manager's record exist (Deck 4, stages 4–8).
SEQUENCE: START Employees → PERSON duplicate check → EMPLOYMENT dates, code → POSITION placement → MANAGER reason →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Definite duplicates (same e-mail, phone or work e-mail) are refused; possible duplicates are warned. One person, one lifetime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Name, personal e-mail and phone; no duplicate found
ON SCREEN: Enter the new joiner’s personal details (fictional).
WALK THROUGH: (1) First name (required) (2) Personal e-mail (matched) (3) Next
LEARNERS SHOULD SEE: Name, personal e-mail and phone; no duplicate found
SCREEN: Hire employee › 01 Person. Signed in as Kavya Menon (Tenant HR Admin + Employee). Prerequisite: employee.create (Tenant HR Admin, HR Manager, HR Executive, Account Owner).
EVIDENCE: screenshot screenshots/hr-admin/50-hire-02-person-step.png,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Employment details completed
ON SCREEN: Joining date, probation end (blank = tenant default), employee code (blank = next code), work e-mail.
WALK THROUGH: (1) Joining date (2) Code (auto if blank) (3) Work e-mail
LEARNERS SHOULD SEE: Employment details completed
SCREEN: Hire employee › 02 Employment. Signed in as Kavya Menon (Tenant HR Admin + Employee). Prerequisite: employee.create (Tenant HR Admin, HR Manager, HR Executive, Account Owner).
EVIDENCE: screenshot screenshots/hr-admin/50-hire-03-employment-step.png,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Organisation placement chosen from the configured structure
ON SCREEN: Place the person: company (required), location, department, team, designation ….
WALK THROUGH: (1) Company (required) (2) Department (3) Team (4) Designation
LEARNERS SHOULD SEE: Organisation placement chosen from the configured structure
SCREEN: Hire employee › 03 Position. Signed in as Kavya Menon (Tenant HR Admin + Employee). Prerequisite: employee.create (Tenant HR Admin, HR Manager, HR Executive, Account Owner).
EVIDENCE: screenshot screenshots/hr-admin/50-hire-04-position-step.png,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Manager and reason entered; review and create
ON SCREEN: Choose the line manager and give a reason (recorded in the audit trail).
WALK THROUGH: (1) Line manager (2) Reason (audited) (3) Create
LEARNERS SHOULD SEE: Manager and reason entered; review and create
SCREEN: Hire employee › 04 Manager. Signed in as Kavya Menon (Tenant HR Admin + Employee). Prerequisite: employee.create (Tenant HR Admin, HR Manager, HR Executive, Account Owner).
EVIDENCE: screenshot screenshots/hr-admin/50-hire-05-manager-step.png,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Tanvi Joshi (EMP00023), Senior Software Engineer, Probation; onboarding started automatically and the hire is audited.
ON SCREEN: Create.
LEARNERS SHOULD SEE: The new Employee 360 opens: code generated, status, manager; the hire is audited
SCREEN: Employee 360 (new hire). Signed in as Kavya Menon (Tenant HR Admin + Employee). Prerequisite: employee.create (Tenant HR Admin, HR Manager, HR Executive, Account Owner).
EVIDENCE: screenshot screenshots/hr-admin/50-hire-07-created-record.png,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3, Job, manager and lifecycle changes. Guided changes with Before → After, an effective date and a reason.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guided steps: Context, Change, Review. This first attempt used today's date (21 Oct) and is refused at the end; the retry with 22 Oct succeeded.
ON SCREEN: Choose the kind of change and the effective date.
WALK THROUGH: (1) Kind of change. (2) Effective from. (3) Next.
LEARNERS SHOULD SEE: Today’s position is shown; three guided steps: Context, Change, Review
SCREEN: Employee 360 › Action › Transfer or promote › 01 Context. Signed in as Kavya Menon (Tenant HR Admin + Employee). Prerequisite: employee.position (Tenant HR Admin, HR Manager).
EVIDENCE: screenshot screenshots/hr-admin/50-chg-01-transfer-context.png,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the field that changes is edited.
ON SCREEN: Change only what is different: team Platform → Mobile.
WALK THROUGH: (1) New team.
LEARNERS SHOULD SEE: Only the changed field is edited
SCREEN: Transfer or promote › 02 Change. Signed in as Kavya Menon (Tenant HR Admin + Employee). Prerequisite: employee.position (Tenant HR Admin, HR Manager).
EVIDENCE: screenshot screenshots/hr-admin/50-chg-02-transfer-change.png,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Confirming with today's date is refused (next slide).
ON SCREEN: Review Before → After and give a reason.
WALK THROUGH: (·) Before → After panel: today's team and the new team. (1) Reason (audited). (2) Confirm.
LEARNERS SHOULD SEE: Before → After comparison and the effective date; the reason is stored in the audit trail
SCREEN: Transfer or promote › 03 Review. Signed in as Kavya Menon (Tenant HR Admin + Employee). Prerequisite: employee.position (Tenant HR Admin, HR Manager).
EVIDENCE: screenshot screenshots/hr-admin/50-chg-03-transfer-review.png,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Same-day changes are refused.
LEFT, Effective today (the message): "Not allowed: The new position must start after the current one (2026-10-21)." Nothing changes.
RIGHT, Effective tomorrow (the message): "Position assigned": scheduled for 22 Oct and shown on the Journey.
OBSERVE: point out what differs between the two screens.
EVIDENCE: left = hr-admin/50-chg-04-transfer-refused-same-day [Kavya Menon (Tenant HR Admin + Employee), Employee 360 (after Confirm change)]; right = hr-admin/50-chg-04b-transfer-done [Kavya Menon (Tenant HR Admin + Employee), Employee 360 (after the transfer)].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Choose which relationship changes: line, dotted, project, mentor…
ON SCREEN: Choose which relationship changes (line, functional, dotted line, HR business partner, mentor …).
WALK THROUGH: (1) Relationship
LEARNERS SHOULD SEE: Relationship type chosen
SCREEN: Employee 360 › Action › Change manager › 01 Context. Signed in as Kavya Menon (Tenant HR Admin + Employee). Prerequisite: employee.position (Tenant HR Admin, HR Manager).
EVIDENCE: screenshot screenshots/hr-admin/50-chg-05-manager-context.png,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New line manager Ravi Kumar and the date it takes effect. Only employed people are offered.
ON SCREEN: Choose the new manager and the date.
LEARNERS SHOULD SEE: New line manager Ravi Kumar
SCREEN: Change manager › 02 Change. Signed in as Kavya Menon (Tenant HR Admin + Employee). Prerequisite: employee.position (Tenant HR Admin, HR Manager).
EVIDENCE: screenshot screenshots/hr-admin/50-chg-06-manager-change.png,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Amit Verma → Ravi Kumar, with the reason. Confirm reporting change.
ON SCREEN: Review Before → After and give a reason.
LEARNERS SHOULD SEE: Amit Verma → Ravi Kumar, with the reason
SCREEN: Change manager › 03 Review. Signed in as Kavya Menon (Tenant HR Admin + Employee). Prerequisite: employee.position (Tenant HR Admin, HR Manager).
EVIDENCE: screenshot screenshots/hr-admin/50-chg-07-manager-review.png,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Header: Reports to Ravi Kumar. History is never overwritten: the previous line stays with its end date.
ON SCREEN: Confirm reporting change.
LEARNERS SHOULD SEE: Header: Reports to Ravi Kumar; the change is on the Journey and in History
SCREEN: Employee 360 (after the change). Signed in as Kavya Menon (Tenant HR Admin + Employee). Prerequisite: employee.position (Tenant HR Admin, HR Manager).
EVIDENCE: screenshot screenshots/hr-admin/50-chg-08-manager-done.png,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allowed next states; effective date and reason required. Opened and cancelled here. Exit uses the exit case, not this dialog.
ON SCREEN: Choose the new state (only allowed next states are offered), the effective date and a reason.
LEARNERS SHOULD SEE: Opened and filled; cancelled in this demonstration
SCREEN: Employee 360 › Action › Change lifecycle state. Signed in as Kavya Menon (Tenant HR Admin + Employee). Prerequisite: employee.lifecycle (Tenant HR Admin, HR Manager).
EVIDENCE: screenshot screenshots/hr-admin/50-chg-09-lifecycle-modal.png,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4, Onboarding. A plan starts on hire; tasks go to HR, the manager and the new joiner.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Plans in progress with joining date, progress, open and overdue tasks. The new hire's plan started automatically.
ON SCREEN: Open Onboarding.
LEARNERS SHOULD SEE: Plans in progress with joining date, progress, open and overdue tasks; the new hire’s plan started automatically
SCREEN: People › Lifecycle › Onboarding. Signed in as Kavya Menon (Tenant HR Admin + Employee). Prerequisite: onboarding.view / onboarding.manage; plans start automatically on hire (template conditions).
EVIDENCE: screenshot screenshots/hr-admin/50-onb-01-plans.png,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Name, priority (lower wins), status and Applies to conditions; checklist items with phase, owner and due days.
ON SCREEN: Open the template.
LEARNERS SHOULD SEE: Name, key, description, priority (lower wins), status, Applies to conditions, reason for change; Checklist items and History tabs below
SCREEN: People › Lifecycle › Onboarding templates › Edit Standard onboarding. Signed in as Kavya Menon (Tenant HR Admin + Employee). Prerequisite: onboarding.manage.
EVIDENCE: screenshot screenshots/hr-admin/50-onb-02-template.png,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By phase (Preboarding, Day 1, First week, 30 days), with owner, due date and status; Done or Skip per task.
ON SCREEN: Open the new hire’s onboarding plan.
LEARNERS SHOULD SEE: Tasks by phase (Preboarding, Day 1, First week, 30 days), type, owner, due date, status; Done / Skip per task
SCREEN: Employee 360 › Records › Employment › Onboarding. Signed in as Kavya Menon (Tenant HR Admin + Employee). Prerequisite: onboarding.view / onboarding.manage; plans start automatically on hire (template conditions).
EVIDENCE: screenshot screenshots/hr-admin/50-onb-03-plan-tasks.png,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Complete a task.
LEFT, Done: Confirm completion; document tasks require the document.
RIGHT, Completed: Status done with who and when (the plan's progress figure updates after a refresh).
OBSERVE: point out what differs between the two screens.
EVIDENCE: left = hr-admin/50-onb-04-task-done-confirm [Kavya Menon (Tenant HR Admin + Employee), Onboarding task › Done]; right = hr-admin/50-onb-05-task-completed [Kavya Menon (Tenant HR Admin + Employee), Employee 360 › Records › Employment › Onboarding (after Done)].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here as the local debug page (development mode). In production the user sees a generic server-error dialog; the cause is the same.
SAY: Manager tasks, and a template error.
LEFT, Manager's Task inbox: Tasks assigned to the manager: meet the team, 30-day goals, check-in; Done / Skip.
RIGHT, Template › Checklist items: LazyLoadingViolationException in development mode (new finding). Items were edited before this error appeared in the demo.
OBSERVE: point out what differs between the two screens.
EVIDENCE: left = manager/50-onb-06-manager-onboarding-tasks [Amit Verma (Manager + Employee), My work › Task inbox › Onboarding tasks]; right = support/50-onb-err-01-template-items-lazy-loading [Kavya Menon (Tenant HR Admin + Employee), Onboarding templates › Edit › Checklist items].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5, Employee documents. Upload by one person, verification by another.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PDF, JPEG, PNG or Word, up to 10 MB. Saved as Pending verification.
ON SCREEN: Upload a document for the employee: type, title, file (PDF/JPEG/PNG/Word, max 10 MB), dates, reason.
LEARNERS SHOULD SEE: File attached; Submit saves it as Pending verification
SCREEN: Employee 360 › Records › Operations › Documents › Upload. Signed in as Kavya Menon (Tenant HR Admin + Employee). Prerequisite: document.upload (Tenant HR Admin, HR Manager, HR Executive); document.verify (Tenant HR Admin, HR Manager); the uploader cannot verify.
EVIDENCE: screenshot screenshots/hr-admin/50-doc-01-upload-form.png,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Download (10-minute link), Verify and Reject.
ON SCREEN: Submit.
LEARNERS SHOULD SEE: The document is listed as Pending verification with Download, Verify and Reject
SCREEN: Employee 360 › Records › Operations › Documents. Signed in as Kavya Menon (Tenant HR Admin + Employee). Prerequisite: document.upload (Tenant HR Admin, HR Manager, HR Executive); document.verify (Tenant HR Admin, HR Manager); the uploader cannot verify.
EVIDENCE: screenshot screenshots/hr-admin/50-doc-02-uploaded-pending.png,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here as the local debug page (development mode). In production the user sees a generic server-error dialog; the cause is the same.
NEW FINDING (21 Oct 2026): separation of duties works, but the refusal is an unhandled RuntimeException rather than a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second HR person verifies.
LEFT, Verify: Neha Kapoor (HR Manager) verifies a document Kavya uploaded.
RIGHT, Verified: Status Verified, with who verified it.
OBSERVE: point out what differs between the two screens.
EVIDENCE: left = hr-admin/50-doc-04-verify-confirm [Neha Kapoor (HR Manager + Employee), Documents › Verify (second HR person)]; right = hr-admin/50-doc-05-verified [Neha Kapoor (HR Manager + Employee), Employee 360 › Records › Operations › Documents (after Verify)].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6, Attendance administration. Punches become records when the day is processed.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Both need the attendance.manage permission (Tenant HR Admin, Attendance Admin).
ON SCREEN: People › Time &amp; leave › Attendance records.
WALK THROUGH: (1) Manual punch: record a punch when a device was offline. (2) Process day: turn punches and approved corrections into attendance records.
LEARNERS SHOULD SEE: Header actions Manual punch and Process day
SCREEN: Attendance records. Signed in as Kavya Menon (Tenant HR Admin + Employee). 
EVIDENCE: screenshot screenshots/hr-admin/20-att-10-records-before.png,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Executed on the training database on 21 Oct 2026 (tools/capture/20-attendance-flow.mjs): Priya checked in, corrected a missed punch for 20 Oct, Amit approved it, Kavya Menon (Tenant HR Admin) recorded a manual punch and processed the day.
AVOID: using manual punches to fix systematic device problems; raise those with your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Executed on the training database on 21 Oct 2026 (tools/capture/20-attendance-flow.mjs): Priya checked in, corrected a missed punch for 20 Oct, Amit approved it, Kavya Menon (Tenant HR Admin) recorded a manual punch and processed the day.
SAY: Process a day.
LEFT, Process day dialog: Choose the date and Submit.
RIGHT, Result: "21 employee(s) processed for 2026-10-20". Records show shift, status, in/out, worked time and exceptions.
OBSERVE: point out what differs between the two screens.
EVIDENCE: left = hr-admin/20-att-12-process-day [Kavya Menon (Tenant HR Admin + Employee), Process day (dialog)]; right = hr-admin/20-att-13-day-processed [Kavya Menon (Tenant HR Admin + Employee), Attendance records (after Process day)].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Check exceptions and raw punches.
LEFT, Exception centre: Counts for 30 days; rows that need action.
RIGHT, Punches: Every punch with its source (web, manual, device) and processing status.
OBSERVE: point out what differs between the two screens.
EVIDENCE: left = hr-admin/20-att-14-exception-centre [Kavya Menon (Tenant HR Admin + Employee), Exception centre]; right = hr-admin/20-att-15-punches [Kavya Menon (Tenant HR Admin + Employee), Punches].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7, Leave administration. Balances, ledger, types, policies, requests, and the workaround for Apply on behalf.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Per person, type and year: opening, accrued, adjusted, used, pending, encashed, lapsed, closing, available. Adjust, Encash and Run accrual now.
ON SCREEN: Open Balances.
LEARNERS SHOULD SEE: Per person, type and year: opening, accrued, adjusted, used, pending, encashed, lapsed, closing, available; Run accrual now; Adjust / Encash per row
SCREEN: People › Time &amp; leave › Balances. Signed in as Kavya Menon (Tenant HR Admin + Employee). Prerequisite: leave.manage (Tenant HR Admin, HR Manager, Attendance Admin …).
EVIDENCE: screenshot screenshots/hr-admin/55-lv-01-balances.png,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Adjust a balance.
LEFT, Adjust: Days (+ or −) and a note; posted to the ledger.
RIGHT, Adjusted: Casual leave: adjusted 1.0; Available updated.
OBSERVE: point out what differs between the two screens.
EVIDENCE: left = hr-admin/55-lv-02-adjust-form [Kavya Menon (Tenant HR Admin + Employee), Balances › Adjust]; right = hr-admin/55-lv-03-adjusted [Kavya Menon (Tenant HR Admin + Employee), Balances (after Adjust)].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Append-only: the adjustment is its own entry with the note. Nobody edits past entries.
ON SCREEN: Open the leave ledger.
LEARNERS SHOULD SEE: Append-only ledger: the adjustment appears as its own entry with the note
SCREEN: People › Time &amp; leave › Transactions (Leave ledger entries). Signed in as Kavya Menon (Tenant HR Admin + Employee). Prerequisite: leave.manage (Tenant HR Admin, HR Manager, Attendance Admin …).
EVIDENCE: screenshot screenshots/hr-admin/55-lv-04-ledger.png,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Leave types.
LEFT, Leave types: Category, paid, half day, encashable, unit, approval, eligibility.
RIGHT, Edit Casual leave: Code locked on edit; a reason is required for changes.
OBSERVE: point out what differs between the two screens.
EVIDENCE: left = hr-admin/55-lv-05-leave-types [Kavya Menon (Tenant HR Admin + Employee), People › Time &amp; leave › All in Time &amp; leave › Leave types]; right = hr-admin/55-lv-06-leave-type-edit [Kavya Menon (Tenant HR Admin + Employee), Leave types › Edit Casual leave].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Policies and the leave policy.
LEFT, Policies: Versioned policies (exit, attendance, working hours, leave) with effective dates.
RIGHT, Standard leave: Entitlements per type live in the version settings.
OBSERVE: point out what differs between the two screens.
EVIDENCE: left = hr-admin/55-lv-07-policies [Kavya Menon (Tenant HR Admin + Employee), Workflows › Policies]; right = hr-admin/55-lv-08-leave-policy [Kavya Menon (Tenant HR Admin + Employee), Policies › Standard leave].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Status tabs; Approve, Reject, Cancel per row; Apply on behalf; a link to the Approval Center.
ON SCREEN: Open Leave requests.
LEARNERS SHOULD SEE: Everyone’s requests with status tabs; Apply on behalf; Approve / Reject / Cancel per row; link to the Approval Center
SCREEN: People › Time &amp; leave › Leave requests (HR view). Signed in as Kavya Menon (Tenant HR Admin + Employee). Prerequisite: leave.manage (Tenant HR Admin, HR Manager, Attendance Admin …).
EVIDENCE: screenshot screenshots/hr-admin/55-lv-09-requests-hr.png,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here as the local debug page (development mode). In production the user sees a generic server-error dialog; the cause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Leave section shows balances and Apply for leave.
ON SCREEN: Open the person’s Records › Time.
LEARNERS SHOULD SEE: Attendance and leave for the person; the Leave section shows balances and Apply for leave
SCREEN: Employee 360 › Records › Time. Signed in as Kavya Menon (Tenant HR Admin + Employee). Prerequisite: leave.manage (Tenant HR Admin, HR Manager, Attendance Admin …).
EVIDENCE: screenshot screenshots/hr-admin/55-lv-10-360-time-apply.png,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Apply for leave on the employee's behalf.
LEFT, Apply for leave: The same form and Before → After preview as the employee's own request.
RIGHT, Applied: The request goes to the employee's approver like any other.
OBSERVE: point out what differs between the two screens.
EVIDENCE: left = hr-admin/55-lv-11-apply-form [Kavya Menon (Tenant HR Admin + Employee), Employee 360 › Records › Time › Apply for leave]; right = hr-admin/55-lv-12-applied [Kavya Menon (Tenant HR Admin + Employee), Employee 360 (after applying)].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here as the local debug page (development mode). In production the user sees a generic server-error dialog; the cause is the same.
SAY: Leave calendar and a search defect.
LEFT, Leave calendar: Approved and pending leave this month to the end of next; reasons never shown.
RIGHT, Balances search: Typing a name in the Balances search box fails with a database error (new finding). Use the filters instead.
OBSERVE: point out what differs between the two screens.
EVIDENCE: left = hr-admin/55-lv-13-leave-calendar [Kavya Menon (Tenant HR Admin + Employee), People › Time &amp; leave › Leave calendar]; right = support/55-lv-err-02-balances-search [Kavya Menon (Tenant HR Admin + Employee), People › Time &amp; leave › Balances (search box)].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8, Payroll operations. Configure, calculate and check runs. Finalising is blocked until statutory rules are verified.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Readiness figures, the company card and the run register. The subheading lists statutory rules that are not verified: runs cannot be finalised.
ON SCREEN: Open the payroll control room.
LEARNERS SHOULD SEE: Readiness figures, the company card and the run register; the subheading lists statutory rules that are not verified, so runs cannot be finalised
SCREEN: People › Pay › Control room (Payroll control room). Signed in as Arjun Bose (Payroll Admin + Employee). Prerequisite: Payroll Admin role (payroll.*); salary assigned to employees.
EVIDENCE: screenshot screenshots/hr-admin/60-pay-01-control-room.png,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Runs and opening a run.
LEFT, Payroll runs: One run per company and month.
RIGHT, Open payroll run: Company, year, month (cancelled here; the October run already exists).
OBSERVE: point out what differs between the two screens.
EVIDENCE: left = hr-admin/60-pay-02-runs-list [Arjun Bose (Payroll Admin + Employee), People › Pay › Payroll runs]; right = hr-admin/60-pay-03-open-run-form [Arjun Bose (Payroll Admin + Employee), Open payroll run (dialog)].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Totals, status and actions: Calculate / Recalculate, Validate; Approve and Finalize appear only when allowed.
ON SCREEN: Open the run.
LEARNERS SHOULD SEE: Status Calculated; totals (gross, deductions, net, PF, PT, TDS, employer cost); actions Recalculate, Validate, Set payment date
SCREEN: Payroll run (Oct 2026, Demo Technologies). Signed in as Arjun Bose (Payroll Admin + Employee). Prerequisite: Payroll Admin role (payroll.*); salary assigned to employees.
EVIDENCE: screenshot screenshots/hr-admin/60-pay-04-run-view.png,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Issues and the breakdown.
LEFT, Employees tab: Issues: Issue codes appear raw, e.g. unverified_statutory_rule (F12).
RIGHT, Breakdown: Earnings and deductions; statutory lines are exceptions while rules are unverified.
OBSERVE: point out what differs between the two screens.
EVIDENCE: left = hr-admin/60-pay-05-employee-issues [Arjun Bose (Payroll Admin + Employee), Payroll run › Employees tab]; right = hr-admin/60-pay-06-breakdown [Arjun Bose (Payroll Admin + Employee), Payroll run › Breakdown (dialog)].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Recalculate.
LEFT, Confirm: Recalculate re-reads attendance, leave, salary and adjustments.
RIGHT, Recalculated: "Calculated for 19 employee(s); 19 with exceptions." Every salaried employee of the company is included.
OBSERVE: point out what differs between the two screens.
EVIDENCE: left = hr-admin/60-pay-07-recalculate-confirm [Arjun Bose (Payroll Admin + Employee), Recalculate (confirmation)]; right = hr-admin/60-pay-08-recalculated [Arjun Bose (Payroll Admin + Employee), Payroll run (after Recalculate)].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payroll safeguard working, not a fault. It lifts only when platform administrators verify the statutory rules (release gate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Findings with severity and evidence for the run. Rule-based (despite the "AI" label); some findings show raw technical text.
ON SCREEN: Open the Payroll Auditor for the October run.
LEARNERS SHOULD SEE: Findings with severity and evidence (deterministic rules; read only)
SCREEN: People › Pay › Payroll Auditor. Signed in as Arjun Bose (Payroll Admin + Employee). Prerequisite: Payroll Admin role (payroll.*); salary assigned to employees.
EVIDENCE: screenshot screenshots/hr-admin/60-pay-11-payroll-auditor.png,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Salary components.
LEFT, Components: Formula, order and flags; statutory codes are reserved.
RIGHT, New component: Formula validated on save (not saved here).
OBSERVE: point out what differs between the two screens.
EVIDENCE: left = hr-admin/60-pay-12-salary-components [Arjun Bose (Payroll Admin + Employee), People › Pay › Salary components]; right = hr-admin/60-pay-13-new-component-form [Arjun Bose (Payroll Admin + Employee), New salary component].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Salary structures and versions.
LEFT, Structures: Standard structure.
RIGHT, Versions: Draft → submit → approve; versions cannot start inside a finalised period.
OBSERVE: point out what differs between the two screens.
EVIDENCE: left = hr-admin/60-pay-14-salary-structures [Kavya Menon (Tenant HR Admin + Employee), People › Pay › Salary structures]; right = hr-admin/60-pay-15-structure-versions [Kavya Menon (Tenant HR Admin + Employee), Edit salary structure › Versions].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Adjustments and tax declarations.
LEFT, New payroll adjustment: Employee, period, type, component, amount or days, taxable (cancelled).
RIGHT, Tax declarations: Empty here. Employees cannot submit a declaration themselves (F13).
OBSERVE: point out what differs between the two screens.
EVIDENCE: left = hr-admin/60-pay-16-new-adjustment [Arjun Bose (Payroll Admin + Employee), New payroll adjustment]; right = hr-admin/60-pay-17-tax-declarations [Arjun Bose (Payroll Admin + Employee), People › Pay › Tax declarations].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here as the local debug page (development mode). In production the user sees a generic server-error dialog; the cause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9, Statutory configuration. The tenant records registrations; the platform verifies rules.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 of 24 rule versions verified; required rules, open notices and missing registrations (ESI, LWF, PT) per establishment.
ON SCREEN: Open the compliance control room.
LEARNERS SHOULD SEE: Rules this tenant needs and their verification state, establishments, returns; nothing can be exported while rules are unverified
SCREEN: People › Pay › Control room (Compliance control room). Signed in as Arjun Bose (Payroll Admin + Employee). Prerequisite: Tenant HR Admin or Payroll Admin; statutory rules verified by two platform administrators.
EVIDENCE: screenshot screenshots/hr-admin/60-stat-01-compliance-control-room.png,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Rules and verification.
LEFT, Compliance rules: Rule versions shipped by the platform; read only for tenants.
RIGHT, Rule verification: None verified. Two platform administrators verify each rule with official evidence.
OBSERVE: point out what differs between the two screens.
EVIDENCE: left = hr-admin/60-stat-02-compliance-rules [Arjun Bose (Payroll Admin + Employee), People › Pay › Compliance rules]; right = hr-admin/60-stat-03-rule-verifications [Arjun Bose (Payroll Admin + Employee), People › Pay › Rule verification].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Registrations and establishment profiles.
LEFT, Statutory registrations: EPF, ESIC, PT, LWF, TAN numbers with Verify / Correct / New number.
RIGHT, Statutory profiles: Which statutes apply at each establishment.
OBSERVE: point out what differs between the two screens.
EVIDENCE: left = hr-admin/60-stat-05-statutory-registrations [Kavya Menon (Tenant HR Admin + Employee), People › Pay › Statutory registrations]; right = hr-admin/60-stat-06-establishment-profiles [Kavya Menon (Tenant HR Admin + Employee), People › Pay › Statutory profiles].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Notices and returns.
LEFT, Regulatory notices: 5 open notices about statutory changes to resolve.
RIGHT, EPF returns: Empty: returns need finalised payroll.
OBSERVE: point out what differs between the two screens.
EVIDENCE: left = hr-admin/60-stat-04-rule-notices [Arjun Bose (Payroll Admin + Employee), People › Pay › Regulatory notices]; right = hr-admin/60-stat-07-epf-returns-empty [Kavya Menon (Tenant HR Admin + Employee), People › Pay › EPF returns (ECR)].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10, Performance, learning and workforce. Cycles, appraisals, calibration, courses and positions.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Performance cycles.
LEFT, Cycles: FY 2026-27 annual review in the Self review stage.
RIGHT, New cycle: Stages, eligibility rules and options (not saved). Scheduled cycles do not launch on their own (F21).
OBSERVE: point out what differs between the two screens.
EVIDENCE: left = hr-admin/65-grow-01-performance-cycles [Kavya Menon (Tenant HR Admin + Employee), People › Growth › All in Growth › Cycles]; right = hr-admin/65-grow-02-new-cycle-form [Kavya Menon (Tenant HR Admin + Employee), New performance cycle].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Appraisals and calibration.
LEFT, Appraisals: Each employee's appraisal with stage and status.
RIGHT, Calibration board: Rating distribution and adjustments before finalising.
OBSERVE: point out what differs between the two screens.
EVIDENCE: left = hr-admin/65-grow-03-appraisals [Kavya Menon (Tenant HR Admin + Employee), People › Growth › Appraisals]; right = hr-admin/65-grow-04-calibration-board [Kavya Menon (Tenant HR Admin + Employee), People › Growth › Calibration].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Goals and learning.
LEFT, Goals (HR view): Company → department → individual cascade with progress.
RIGHT, Learning assignments: PoSH for everyone (annual, mandatory).
OBSERVE: point out what differs between the two screens.
EVIDENCE: left = hr-admin/65-grow-05-goals-hr-view [Kavya Menon (Tenant HR Admin + Employee), People › Growth › Goals (HR view)]; right = hr-admin/65-learn-02-assignments [Kavya Menon (Tenant HR Admin + Employee), People › Growth › All in Growth › Assignments].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Positions.
LEFT, New position: Code, title, designation, company, unit, grade. FTE left blank (F8).
RIGHT, Created as a draft: "Position POS-TRN-001 created as a draft."
OBSERVE: point out what differs between the two screens.
EVIDENCE: left = hr-admin/65-wf-02-new-position-form [Kavya Menon (Tenant HR Admin + Employee), New position (dialog, top half)]; right = hr-admin/65-wf-03-position-created [Kavya Menon (Tenant HR Admin + Employee), Positions (after Submit)].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Org map and position hierarchy.
LEFT, Org map: Units and people by primary reporting line.
RIGHT, Position hierarchy: Positions by reporting position.
OBSERVE: point out what differs between the two screens.
EVIDENCE: left = hr-admin/65-wf-05-org-map [Kavya Menon (Tenant HR Admin + Employee), Organisation › Org map]; right = hr-admin/65-wf-07-position-hierarchy [Kavya Menon (Tenant HR Admin + Employee), Organisation › Workforce › Position hierarchy].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11, Compensation changes. Four different people: propose, review, approve, execute.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Propose a pay change with a reason and take it through review, approval and execution by four different people.
WHO: Propose, review: HR Manager or Tenant HR Admin. Approve: a third person (Tenant HR or Super Admin). Execute: Payroll Admin.
WHERE: Employee 360 › Records › Rewards › Propose compensation change; People › Pay › Compensation changes
BEFORE YOU START: The employee is employed (not alumni) and has a salary structure.
SEQUENCE: PROPOSE Neha (HR Manager) → REVIEW Kavya (Tenant HR Admin) → APPROVE Demo Admin → EXECUTE Arjun (Payroll Admin) → RESULT Scheduled
EVIDENCE: Executed on the training database on 21 Oct 2026 as Kavya Menon (Tenant HR Admin), Neha Kapoor (HR Manager) and Arjun Bose (Payroll Admin), fictional people at the fictional Demo Group (tools/capture/20-, 50-, 55-, 60-, 62-, 65-, 70-, 75-). Amit Verma's CTC 24,00,000 → 26,40,000 was taken through all four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"Cannot propose: An employee who is alumni cannot receive future compensation."
ON SCREEN: Propose a compensation change for Vikram Singh, who has exited (alumni).
LEARNERS SHOULD SEE: Refused: "Cannot propose — An employee who is alumni cannot receive future compensation."
SCREEN: Employee 360 (after proposing for an exited employee). Signed in as Neha Kapoor (HR Manager + Employee). Prerequisite: Four different people: proposer (compensation.propose), reviewer (compensation.review), approver (compensation.approve), executor (compensation.execute).
EVIDENCE: screenshot screenshots/hr-admin/62-comp-00-refused-alumni.png,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Propose.
LEFT, Rewards tab: Current compensation and earlier changes.
RIGHT, Propose compensation change: Change type, effective date, structure, new annual CTC, reason; Submit for review now.
OBSERVE: point out what differs between the two screens.
EVIDENCE: left = hr-admin/62-comp-01-employee-compensation [Neha Kapoor (HR Manager + Employee), Employee 360 › Records › Rewards › Compensation]; right = hr-admin/62-comp-02-propose-form [Neha Kapoor (HR Manager + Employee), Propose compensation change (dialog)].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Submitted, then reviewed.
LEFT, Submitted: Listed as submitted for review.
RIGHT, Reviewed: Mark reviewed → Confirm (Kavya).
OBSERVE: point out what differs between the two screens.
EVIDENCE: left = hr-admin/62-comp-04-list-submitted [Neha Kapoor (HR Manager + Employee), People › Pay › Compensation changes]; right = hr-admin/62-comp-06-reviewed [Kavya Menon (Tenant HR Admin + Employee), Compensation changes (after review)].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After reviewing, Kavya's menu offers only Reject, Return to proposer and Cancel: no Approve, although her role holds the approve permission.
ON SCREEN: The reviewer (who holds compensation.approve) opens the actions again.
LEARNERS SHOULD SEE: No Approve action: a person who already acted on the change cannot approve it (four different people required)
SCREEN: Compensation changes › row actions (after reviewing). Signed in as Kavya Menon (Tenant HR Admin + Employee). Prerequisite: Four different people: proposer (compensation.propose), reviewer (compensation.review), approver (compensation.approve), executor (compensation.execute).
EVIDENCE: screenshot screenshots/security-compliance/62-comp-07-reviewer-cannot-approve.png,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Approve, then execute.
LEFT, Approved (third person): Demo Admin (Tenant Super Admin) approves.
RIGHT, Executed (fourth person): Arjun (Payroll Admin) executes: status Scheduled for the effective date.
OBSERVE: point out what differs between the two screens.
EVIDENCE: left = hr-admin/62-comp-09-approved [Demo Admin (Tenant Super Admin), Compensation changes (after approval)]; right = hr-admin/62-comp-10-executed [Arjun Bose (Payroll Admin + Employee), Compensation changes (after execution)].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12, Letters, assets and HR requests. Issue letters with approval where needed, track assets, answer employees.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Generated letters with number, employee, type and status.
ON SCREEN: Open Letters.
WALK THROUGH: (1) Generate letter.
LEARNERS SHOULD SEE: Generated letters with number, employee, type, status; Generate letter
SCREEN: People › Lifecycle › Letters. Signed in as Neha Kapoor (HR Manager + Employee). Prerequisite: letter.issue (HR Manager, Tenant HR Admin); the requester cannot approve.
EVIDENCE: screenshot screenshots/hr-admin/52-let-01-letters.png,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Merge fields come from the employee record. Templates marked "needs approval" go to Pending approval; others are ready to issue.
ON SCREEN: Choose the employee and the template (No objection certificate); add extra fields.
WALK THROUGH: (1) Employee. (2) Template. (3) Extra fields. (4) Submit.
LEARNERS SHOULD SEE: Template merge fields come from the employee record; templates marked "needs approval" go to Pending approval
SCREEN: Letters › Generate letter. Signed in as Neha Kapoor (HR Manager + Employee). Prerequisite: letter.issue (HR Manager, Tenant HR Admin).
EVIDENCE: screenshot screenshots/hr-admin/52-let-02-generate-form.png,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employment certificate (no approval needed) was issued straight away.
ON SCREEN: Check the list after generating.
WALK THROUGH: (1) Pending approval (a no-objection certificate). (2) Status tabs.
LEARNERS SHOULD SEE: Letters by status: Pending approval (NOC), Issued (employment certificate, NOC)
SCREEN: Letters (list). Signed in as Neha Kapoor (HR Manager + Employee). Prerequisite: letter.issue (HR Manager, Tenant HR Admin).
EVIDENCE: screenshot screenshots/hr-admin/52-let-03-pending.png,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requester cannot approve.
LEFT, Requester tries to approve: "Not allowed: The person who requested a letter cannot approve it."
RIGHT, A second HR person approves: Preview with Approve / Reject.
OBSERVE: point out what differs between the two screens.
EVIDENCE: left = security-compliance/52-let-04-requester-cannot-approve [Neha Kapoor (HR Manager + Employee), Letters › Approve (by the requester)]; right = hr-admin/52-let-05-approver-view [Kavya Menon (Tenant HR Admin + Employee), Letters › letter (second HR person)].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ISSUE F26: opening a letter page can show a lazy-loading error in non-production (support/52-let-err-01). Use Change history for its audit trail.
SAY: Issued, and the employee's copy.
LEFT, Issued: Issued; Download available.
RIGHT, My letters (employee): The employee sees only their own issued letters. HTML only: no PDF or e-signature yet.
OBSERVE: point out what differs between the two screens.
EVIDENCE: left = hr-admin/52-let-06-issued [Kavya Menon (Tenant HR Admin + Employee), Letters › letter (after Approve and Issue)]; right = employee/52-let-07-my-letters [Priya Nair (Employee), My letters].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Tag, category, serial, status, custodian, location and warranty.
ON SCREEN: Open the asset register.
WALK THROUGH: (1) Receive asset. (2) A spare laptop in stock. (3) Status tabs.
LEARNERS SHOULD SEE: Assets with tag, category, serial, status (In stock / Assigned), custodian, location, warranty; Receive asset
SCREEN: Organisation › Assets › Asset register. Signed in as Kavya Menon (Tenant HR Admin + Employee). Prerequisite: asset.manage (Asset Admin, Tenant HR Admin).
EVIDENCE: screenshot screenshots/hr-admin/52-ast-01-register.png,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Assign an asset.
LEFT, Assign: Employee, condition and a note: custody is recorded.
RIGHT, Assigned: "Asset assigned": LT-0004 to Tanvi Joshi; custody history from today.
OBSERVE: point out what differs between the two screens.
EVIDENCE: left = hr-admin/52-ast-02-assign [Kavya Menon (Tenant HR Admin + Employee), Asset register › LT-0004 › Assign]; right = hr-admin/52-ast-03-assigned [Kavya Menon (Tenant HR Admin + Employee), Asset register › LT-0004 (after Assign)].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the assets in their custody; the employee acknowledges receipt.
ON SCREEN: The employee opens My assets.
WALK THROUGH: (1) My laptop.
LEARNERS SHOULD SEE: Only the assets in their custody; the employee acknowledges receipt
SCREEN: My assets. Signed in as Priya Nair (Employee). Prerequisite: asset.manage (Asset Admin, Tenant HR Admin).
EVIDENCE: screenshot screenshots/employee/52-ast-04-my-assets.png,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employee raises a request.
LEFT, Ask HR: The request goes to the HR queue with an SLA from its category.
RIGHT, Raised: "Request TKT-2026-00003 raised"; listed as Submitted.
OBSERVE: point out what differs between the two screens.
EVIDENCE: left = employee/52-tkt-01-ask-hr [Rahul Sharma (Employee), My HR › Ask HR]; right = employee/52-tkt-02-raised [Rahul Sharma (Employee), My HR (after submitting)].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Category, requester, priority, status, assignee and SLA due date.
ON SCREEN: HR opens the queue.
WALK THROUGH: (1) New request. (2) SLA due.
LEARNERS SHOULD SEE: New requests with category, requester, priority, status, assignee and SLA due
SCREEN: Services › Service Desk › HR queue. Signed in as Neha Kapoor (HR Manager + Employee). Prerequisite: Employees: ticket.create (My HR); HR: ticket.manage (HR Manager, Tenant HR Admin).
EVIDENCE: screenshot screenshots/hr-admin/52-tkt-03-hr-queue.png,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Take it, reply, resolve.
LEFT, Reply: The reply is added to the conversation the employee sees.
RIGHT, Resolved: Assignee, SLA and conversation kept on the request.
OBSERVE: point out what differs between the two screens.
EVIDENCE: left = hr-admin/52-tkt-04-reply [Neha Kapoor (HR Manager + Employee), HR queue › request › Reply]; right = hr-admin/52-tkt-05-resolved [Neha Kapoor (HR Manager + Employee), HR queue › request (after Take it, Reply, Resolve)].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employee sees.
LEFT, My requests (Resolved tab): Tip: My requests opens with a status filter that hides Resolved; clear it to see answered requests.
RIGHT, The answer: HR's resolution and the conversation; the employee can close and rate, or reopen.
OBSERVE: point out what differs between the two screens.
EVIDENCE: left = employee/52-tkt-06-my-requests [Rahul Sharma (Employee), My requests (filter cleared, Resolved tab)]; right = employee/52-tkt-07-request-answer [Rahul Sharma (Employee), My requests › TKT request].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13, Exit, full &amp; final, alumni. From resignation to a lifetime alumni record.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Record the resignation, clear every stage, settle full &amp; final, complete the exit and keep the person as an alumnus.
WHO: The employee resigns; the manager and HR clear stages; HR settles and completes.
WHERE: You › My exit; People › Lifecycle › Exit cases; Alumni
BEFORE YOU START: Assets in the leaver's custody must be taken back first.
SEQUENCE: RESIGN employee → CLEAR manager, assets, HR → SETTLE full &amp; final → COMPLETE Exited → ALUMNI portal
EVIDENCE: Executed on the training database on 21 Oct 2026 as Kavya Menon (Tenant HR Admin), Neha Kapoor (HR Manager) and Arjun Bose (Payroll Admin), fictional people at the fictional Demo Group (tools/capture/20-, 50-, 55-, 60-, 62-, 65-, 70-, 75-). Rahul Sharma (fictional) resigned and was taken through every step on 21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OBSERVATION: the requested last day (18 Dec) was not applied; the case used the end of notice (20 Nov). Check the last working day on the case.
SAY: The employee resigns.
LEFT, Resign: Reason and requested last day; blank = end of the notice period.
RIGHT, My exit: The exit case with its status and last working day.
OBSERVE: point out what differs between the two screens.
EVIDENCE: left = employee/70-exit-01-resign [Rahul Sharma (Employee), My exit › Resign]; right = employee/70-exit-02-my-exit [Rahul Sharma (Employee), My exit].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Check the last working day.
- Observed in training: Rahul asked for 18 Dec as his last day; the exit case used the end of his notice period (20 Nov) instead.
- What to do: Check the last working day on the exit case and correct it before clearance if it differs from the agreed date.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HR picks up the case.
LEFT, Exit cases: The resignation appears as a new case; HR can also initiate an exit.
RIGHT, The case: Status, dates, notice; start clearance, record the interview, generate letters, complete.
OBSERVE: point out what differs between the two screens.
EVIDENCE: left = hr-admin/70-exit-03-exit-cases [Neha Kapoor (HR Manager + Employee), People › Lifecycle › Exit cases]; right = hr-admin/70-exit-04-case [Neha Kapoor (HR Manager + Employee), Exit case (HR view)].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Clearance.
LEFT, Started: Stages created from the exit checklist; owners notified.
RIGHT, Stages: Manager, IT, finance, assets, HR: Clear, Block or Not applicable.
OBSERVE: point out what differs between the two screens.
EVIDENCE: left = hr-admin/70-exit-05-clearance-started [Neha Kapoor (HR Manager + Employee), Exit case › Clearance]; right = hr-admin/70-exit-06-clearance-stages [Neha Kapoor (HR Manager + Employee), Exit case › Clearance (stages)].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Assets block clearance until returned.
LEFT, Asset stage refused: "Not allowed: Assets still in custody: LT-0001. Take them back, or record a recoverable amount."
RIGHT, Take back: Custody ends; the laptop returns to stock.
OBSERVE: point out what differs between the two screens.
EVIDENCE: left = hr-admin/70-exit-08a-asset-stage-blocked [Neha Kapoor (HR Manager + Employee), Exit case › Clearance › Asset clearance › Clear]; right = hr-admin/70-exit-08b-take-back-asset [Kavya Menon (Tenant HR Admin + Employee), Asset register › LT-0001 › Take back].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stages cleared; exit interview.
LEFT, Cleared: Every stage cleared, with who and when (the manager cleared his own stage).
RIGHT, Record exit interview: Answers feed Exit insights; averages use employee answers only.
OBSERVE: point out what differs between the two screens.
EVIDENCE: left = hr-admin/70-exit-08-clearance-done [Neha Kapoor (HR Manager + Employee), Exit case › Clearance (all stages cleared)]; right = hr-admin/70-exit-09-exit-interview [Neha Kapoor (HR Manager + Employee), Exit case › Record exit interview].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OBSERVATIONS: the same HR person calculated and approved the settlement (no separation of duties enforced here); gratuity is not implemented (stored rule only); statutory deductions use unverified rules.
SAY: Full &amp; final settlement.
LEFT, Settlement: Earnings 43,400.06, deductions 5,146.00, net 38,254.06; Paid with reference.
RIGHT, Breakdown: Each line with its basis (shown as raw technical values). Gratuity is not calculated.
OBSERVE: point out what differs between the two screens.
EVIDENCE: left = hr-admin/70-exit-11-ff-settlement [Neha Kapoor (HR Manager + Employee), Exit case › Full &amp; final]; right = hr-admin/70-exit-12-ff-breakdown [Neha Kapoor (HR Manager + Employee), Full &amp; final › Breakdown].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Complete the exit.
LEFT, Complete exit: The employee becomes Exited on the last working day.
RIGHT, Completed: "Exit completed".
OBSERVE: point out what differs between the two screens.
EVIDENCE: left = hr-admin/70-exit-14-complete-exit [Neha Kapoor (HR Manager + Employee), Exit case › Complete exit]; right = hr-admin/70-exit-15-completed [Neha Kapoor (HR Manager + Employee), Exit case (after Complete exit)].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Alumni: the record continues.
LEFT, Alumni list: The new alumni profile.
RIGHT, Employee 360 after exit: Exited / Alumni; one lifetime record keeps the whole journey.
OBSERVE: point out what differs between the two screens.
EVIDENCE: left = hr-admin/70-exit-17-alumni-list [Neha Kapoor (HR Manager + Employee), People › Lifecycle › Alumni]; right = hr-admin/70-exit-18-employee-exited [Neha Kapoor (HR Manager + Employee), Employee 360 (after the exit)].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live verification of the alumni portal (previous documentation could only describe it from code). OBSERVATION: the alumnus's Home still shows "Bank account missing" and "PAN not on file" reminders.
SAY: Alumni portal (verified live).
LEFT, Former employee signs in: My requests, My documents, Payslips; Request a document or reference.
RIGHT, HR receives the request: Verify identity, Approve &amp; generate, Mark delivered, Reject.
OBSERVE: point out what differs between the two screens.
EVIDENCE: left = employee/70-alumni-01-portal [Rahul Sharma (Employee), Alumni portal (former employee)]; right = hr-admin/70-alumni-04-hr-requests [Neha Kapoor (HR Manager + Employee), Alumni › Rahul Sharma › Requests].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14, Employee imports. Upload, inspect, map, validate, approve, run: blocked today at Map columns.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Import batches with their status (Tenant HR Admin and Account Owner only). The list works; imports are blocked at Map columns (F25).
ON SCREEN: Open Employee imports.
WALK THROUGH: (1) Upload CSV.
LEARNERS SHOULD SEE: Import batches with their status; Upload CSV
SCREEN: People › Lifecycle › All in Lifecycle › Employee imports. Signed in as Kavya Menon (Tenant HR Admin + Employee). Prerequisite: employee.import (Tenant HR Admin, Account Owner, Tenant Super Admin).
EVIDENCE: screenshot screenshots/hr-admin/75-imp-01-imports.png,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Upload and inspect.
LEFT, Uploaded: Status Uploaded; next: Inspect file.
RIGHT, Inspected: "3 row(s) staged; 5 column(s) mapped automatically"; next: Map columns.
OBSERVE: point out what differs between the two screens.
EVIDENCE: left = hr-admin/75-imp-03-uploaded [Kavya Menon (Tenant HR Admin + Employee), Employee import (batch)]; right = hr-admin/75-imp-04-inspected [Kavya Menon (Tenant HR Admin + Employee), Employee import (after Inspect file)].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WORKAROUND: Discard the batch; hire people with the wizard, or ask Markedge for an API load (POST /api/v1/employees, not exercised in this training). Defect F25.
SAY: Map columns fails (F25).
LEFT, Map columns: Column → field; what to do when the person exists.
RIGHT, Submit: "Failed: Undefined variable $svc". The batch stays Inspected; Validate, Approve and Run never become available.
OBSERVE: point out what differs between the two screens.
EVIDENCE: left = hr-admin/75-imp-05-map-columns [Kavya Menon (Tenant HR Admin + Employee), Employee import › Map columns]; right = support/75-imp-06-map-columns-fails-f25 [Kavya Menon (Tenant HR Admin + Employee), Employee import (after Map columns › Submit)].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Discard, and who may import.
LEFT, Discarded: Nothing was imported.
RIGHT, HR Manager: 403 "This page is not available to you": employee.import is not in the HR Manager role.
OBSERVE: point out what differs between the two screens.
EVIDENCE: left = hr-admin/75-imp-07-discarded [Kavya Menon (Tenant HR Admin + Employee), Employee import (after Discard)]; right = security-compliance/75-imp-08-hr-manager-not-available [Neha Kapoor (HR Manager + Employee), Employee imports (as HR Manager)]. Real screens, fictional data (SCREENSHOT-INVENTORY.md).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15, Audit history. Prove who changed what, when and why.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audited event, newest first, with action, module, record, who and reason.
ON SCREEN: Open Change history.
LEARNERS SHOULD SEE: Every audited event: when, action, module, record, who, reason; newest first; filters
SCREEN: Insights › Audit › Change history (Audit events). Signed in as Kavya Menon (Tenant HR Admin + Employee). Prerequisite: audit.view (Tenant HR Admin, HR Manager, Payroll Admin, Auditor, Account Owner).
EVIDENCE: screenshot screenshots/hr-admin/50-aud-01-change-history.png,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Action Transferred, reason, effective date 22 Oct 2026; field change team Platform → Mobile; who and where; integrity hash.
ON SCREEN: Open one event: the transfer of Tanvi Joshi.
LEARNERS SHOULD SEE: What happened (action Transferred, module, record, reason, effective date 22 Oct 2026), Field changes (team Platform → Mobile), Who and where, Integrity (tamper-evident hash chain)
SCREEN: Change history › event. Signed in as Kavya Menon (Tenant HR Admin + Employee). Prerequisite: audit.view (Tenant HR Admin, HR Manager, Payroll Admin, Auditor, Account Owner).
EVIDENCE: screenshot screenshots/hr-admin/50-aud-02-event-detail.png,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Employee 360 › More › All changes opens Change intelligence for that person: hire, documents, transfer, reporting change, onboarding, each with Explain.
ON SCREEN: Open All changes for one person.
LEARNERS SHOULD SEE: Change intelligence filtered to this person: hire, documents, transfer, reporting change, onboarding task …, each with who, why and Explain; sensitive values are masked unless you may see them
SCREEN: Employee 360 › More › All changes (opens Change intelligence). Signed in as Kavya Menon (Tenant HR Admin + Employee). Prerequisite: audit.view (Tenant HR Admin, HR Manager, Payroll Admin, Auditor, Account Owner).
EVIDENCE: screenshot screenshots/hr-admin/50-aud-03-all-changes-person.png,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observations during the 21 Oct 2026 capture (fork B report): transfer refusal, onboarding tasks kept by the previous manager, F&amp;F calculated and approved by the same person.
SAY: Common mistakes in HR operations.
- Same-day changes: A transfer effective today is refused ("must start after the current one"): use tomorrow's date.
- One person doing two steps: Letters, documents and pay need a second person; plan who holds each role.
- Exits with assets out: Take assets back first; clearance refuses otherwise.
- Onboarding after a manager change: Open onboarding tasks stay with the previous manager: reassign them.
- Imports: Blocked by F25: do not retry; hire individually or ask Markedge.
- Errors in development mode: History tabs and some lower sections error outside production; use Change history.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give learners about 10 minutes in a practice tenant (never a live one). Walk around and help.
SUCCESS: each learner can show the result on screen.
ANSWERS: (1) "This person already exists…". (2) Header Reports to, the Journey, Records › Employment and Change history. (3) "The person who requested a letter cannot approve it."; a second HR person approves and issues. (4) The asset stage: "Assets still in custody…"; take the laptop back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Answer key. 
- 1 | The wizard stops: "This person already exists… same personal email." Re-use the person or correct the details.
- 2 | Header (Reports to), Journey, Records › Employment and Insights › Audit › Change history.
- 3 | "Not allowed: The person who requested a letter cannot approve it." A second HR person approves, then Issue.
- 4 | Asset clearance: "Assets still in custody: … Take them back, or record a recoverable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Recap the key points:
- The Employee 360 is the record; every change is effective-dated and audited.
- Duplicates are stopped at hire; managers and jobs change through guided steps.
- Documents, letters and pay changes need a second person.
- Payroll can be calculated and checked; finalising waits for statutory verification.
- Known defects have workarounds: Apply on behalf (F38) → use the Employee 360; imports (F25) → hire wizard; History tabs (F26) → Change history.
POINT TO: Deck 07: troubleshooting; Deck 08: access and audit controls; Deck 12: reports and analytics; Your Tenant Super Admin for role changes
ASK: "What will you do first in PeopleOS?" Collect questions you cannot answer and send them to the PeopleOS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EOPLEOS_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457200" cy="256032"/>
          </a:xfrm>
          <a:prstGeom prst="rect">
            <a:avLst/>
          </a:prstGeom>
          <a:noFill/>
          <a:ln/>
        </p:spPr>
        <p:txBody>
          <a:bodyPr wrap="square" lIns="0" tIns="0" rIns="0" bIns="0" rtlCol="0" anchor="ctr"/>
          <a:lstStyle/>
          <a:p>
            <a:pPr indent="0" marL="0">
              <a:buNone/>
            </a:pPr>
            <a:r>
              <a:rPr lang="en-US" sz="1000" b="1" dirty="0">
                <a:solidFill>
                  <a:schemeClr val="tx2"/>
                </a:solidFill>
                <a:latin typeface="Cambria" pitchFamily="34" charset="0"/>
                <a:ea typeface="Cambria" pitchFamily="34" charset="-122"/>
                <a:cs typeface="Cambria" pitchFamily="34" charset="-120"/>
              </a:rPr>
              <a:t>People</a:t>
            </a:r>
            <a:endParaRPr lang="en-US" sz="1000" dirty="0"/>
          </a:p>
        </p:txBody>
      </p:sp>
      <p:sp>
        <p:nvSpPr>
          <p:cNvPr id="3" name="Text 1"/>
          <p:cNvSpPr txBox="1"/>
          <p:nvPr/>
        </p:nvSpPr>
        <p:spPr>
          <a:xfrm>
            <a:off x="982980" y="6419088"/>
            <a:ext cx="274320" cy="256032"/>
          </a:xfrm>
          <a:prstGeom prst="rect">
            <a:avLst/>
          </a:prstGeom>
          <a:noFill/>
          <a:ln/>
        </p:spPr>
        <p:txBody>
          <a:bodyPr wrap="square" lIns="0" tIns="0" rIns="0" bIns="0" rtlCol="0" anchor="ctr"/>
          <a:lstStyle/>
          <a:p>
            <a:pPr indent="0" marL="0">
              <a:buNone/>
            </a:pPr>
            <a:r>
              <a:rPr lang="en-US" sz="1000" b="1" dirty="0">
                <a:solidFill>
                  <a:schemeClr val="accent2"/>
                </a:solidFill>
                <a:latin typeface="Cambria" pitchFamily="34" charset="0"/>
                <a:ea typeface="Cambria" pitchFamily="34" charset="-122"/>
                <a:cs typeface="Cambria" pitchFamily="34" charset="-120"/>
              </a:rPr>
              <a:t>OS</a:t>
            </a:r>
            <a:endParaRPr lang="en-US" sz="1000" dirty="0"/>
          </a:p>
        </p:txBody>
      </p:sp>
      <p:sp>
        <p:nvSpPr>
          <p:cNvPr id="4" name="Text 2"/>
          <p:cNvSpPr txBox="1"/>
          <p:nvPr/>
        </p:nvSpPr>
        <p:spPr>
          <a:xfrm>
            <a:off x="1371600" y="6419088"/>
            <a:ext cx="6858000" cy="256032"/>
          </a:xfrm>
          <a:prstGeom prst="rect">
            <a:avLst/>
          </a:prstGeom>
          <a:noFill/>
          <a:ln/>
        </p:spPr>
        <p:txBody>
          <a:bodyPr wrap="square" lIns="0" tIns="0" rIns="0" bIns="0" rtlCol="0" anchor="ctr"/>
          <a:lstStyle/>
          <a:p>
            <a:pPr indent="0" marL="0">
              <a:buNone/>
            </a:pPr>
            <a:r>
              <a:rPr lang="en-US" sz="900" dirty="0">
                <a:solidFill>
                  <a:srgbClr val="5B6275"/>
                </a:solidFill>
              </a:rPr>
              <a:t>Markedge PeopleOS training  ·  HR administrator training</a:t>
            </a:r>
            <a:endParaRPr lang="en-US" sz="900" dirty="0"/>
          </a:p>
        </p:txBody>
      </p:sp>
      <p:sp>
        <p:nvSpPr>
          <p:cNvPr id="5" name="Text 3"/>
          <p:cNvSpPr/>
          <p:nvPr>
            <p:ph idx="103" type="body" hasCustomPrompt="1"/>
          </p:nvPr>
        </p:nvSpPr>
        <p:spPr>
          <a:xfrm>
            <a:off x="548640" y="292608"/>
            <a:ext cx="8686800" cy="274320"/>
          </a:xfrm>
          <a:prstGeom prst="rect">
            <a:avLst/>
          </a:prstGeom>
          <a:noFill/>
          <a:ln/>
        </p:spPr>
        <p:txBody>
          <a:bodyPr wrap="square" rtlCol="0"/>
          <a:lstStyle>
            <a:lvl1pPr algn="l" indent="0" marL="0">
              <a:buNone/>
              <a:defRPr lang="en-US" sz="1100" b="1" spc="150" kern="0" dirty="0">
                <a:solidFill>
                  <a:schemeClr val="accent1"/>
                </a:solidFill>
              </a:defRPr>
            </a:lvl1pPr>
          </a:lstStyle>
          <a:p>
            <a:pPr algn="l" indent="0" marL="0">
              <a:buNone/>
            </a:pPr>
            <a:endParaRPr lang="en-US" sz="1100" dirty="0"/>
          </a:p>
        </p:txBody>
      </p:sp>
      <p:sp>
        <p:nvSpPr>
          <p:cNvPr id="6" name="Text 3"/>
          <p:cNvSpPr/>
          <p:nvPr>
            <p:ph idx="104" type="title" hasCustomPrompt="1"/>
          </p:nvPr>
        </p:nvSpPr>
        <p:spPr>
          <a:xfrm>
            <a:off x="548640" y="548640"/>
            <a:ext cx="11094415" cy="713232"/>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OPLEOS_DARK">
    <p:bg>
      <p:bgPr>
        <a:solidFill>
          <a:srgbClr val="141A30"/>
        </a:solidFill>
      </p:bgPr>
    </p:bg>
    <p:spTree>
      <p:nvGrpSpPr>
        <p:cNvPr id="1" name=""/>
        <p:cNvGrpSpPr/>
        <p:nvPr/>
      </p:nvGrpSpPr>
      <p:grpSpPr>
        <a:xfrm>
          <a:off x="0" y="0"/>
          <a:ext cx="0" cy="0"/>
          <a:chOff x="0" y="0"/>
          <a:chExt cx="0" cy="0"/>
        </a:xfrm>
      </p:grpSpPr>
      <p:sp>
        <p:nvSpPr>
          <p:cNvPr id="2" name="Text 0"/>
          <p:cNvSpPr txBox="1"/>
          <p:nvPr/>
        </p:nvSpPr>
        <p:spPr>
          <a:xfrm>
            <a:off x="548640" y="6419088"/>
            <a:ext cx="457200" cy="25603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People</a:t>
            </a:r>
            <a:endParaRPr lang="en-US" sz="1000" dirty="0"/>
          </a:p>
        </p:txBody>
      </p:sp>
      <p:sp>
        <p:nvSpPr>
          <p:cNvPr id="3" name="Text 1"/>
          <p:cNvSpPr txBox="1"/>
          <p:nvPr/>
        </p:nvSpPr>
        <p:spPr>
          <a:xfrm>
            <a:off x="982980" y="6419088"/>
            <a:ext cx="274320" cy="256032"/>
          </a:xfrm>
          <a:prstGeom prst="rect">
            <a:avLst/>
          </a:prstGeom>
          <a:noFill/>
          <a:ln/>
        </p:spPr>
        <p:txBody>
          <a:bodyPr wrap="square" lIns="0" tIns="0" rIns="0" bIns="0" rtlCol="0" anchor="ctr"/>
          <a:lstStyle/>
          <a:p>
            <a:pPr indent="0" marL="0">
              <a:buNone/>
            </a:pPr>
            <a:r>
              <a:rPr lang="en-US" sz="1000" b="1" dirty="0">
                <a:solidFill>
                  <a:srgbClr val="E6C98F"/>
                </a:solidFill>
                <a:latin typeface="Cambria" pitchFamily="34" charset="0"/>
                <a:ea typeface="Cambria" pitchFamily="34" charset="-122"/>
                <a:cs typeface="Cambria" pitchFamily="34" charset="-120"/>
              </a:rPr>
              <a:t>OS</a:t>
            </a:r>
            <a:endParaRPr lang="en-US" sz="1000" dirty="0"/>
          </a:p>
        </p:txBody>
      </p:sp>
      <p:sp>
        <p:nvSpPr>
          <p:cNvPr id="4" name="Text 2"/>
          <p:cNvSpPr txBox="1"/>
          <p:nvPr/>
        </p:nvSpPr>
        <p:spPr>
          <a:xfrm>
            <a:off x="1371600" y="6419088"/>
            <a:ext cx="6858000" cy="256032"/>
          </a:xfrm>
          <a:prstGeom prst="rect">
            <a:avLst/>
          </a:prstGeom>
          <a:noFill/>
          <a:ln/>
        </p:spPr>
        <p:txBody>
          <a:bodyPr wrap="square" lIns="0" tIns="0" rIns="0" bIns="0" rtlCol="0" anchor="ctr"/>
          <a:lstStyle/>
          <a:p>
            <a:pPr indent="0" marL="0">
              <a:buNone/>
            </a:pPr>
            <a:r>
              <a:rPr lang="en-US" sz="900" dirty="0">
                <a:solidFill>
                  <a:srgbClr val="AEB3C7"/>
                </a:solidFill>
              </a:rPr>
              <a:t>Markedge PeopleOS training  ·  HR administrator training</a:t>
            </a:r>
            <a:endParaRPr lang="en-US" sz="900" dirty="0"/>
          </a:p>
        </p:txBody>
      </p:sp>
      <p:sp>
        <p:nvSpPr>
          <p:cNvPr id="5" name="Text 3"/>
          <p:cNvSpPr/>
          <p:nvPr>
            <p:ph idx="103" type="title" hasCustomPrompt="1"/>
          </p:nvPr>
        </p:nvSpPr>
        <p:spPr>
          <a:xfrm>
            <a:off x="548640" y="2331720"/>
            <a:ext cx="7040880"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image" Target="../media/image-40-2.jp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41-2.jp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image" Target="../media/image-46-2.jp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0-2.jpg"/><Relationship Id="rId3" Type="http://schemas.openxmlformats.org/officeDocument/2006/relationships/slideLayout" Target="../slideLayouts/slideLayout2.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image" Target="../media/image-51-2.jpg"/><Relationship Id="rId3" Type="http://schemas.openxmlformats.org/officeDocument/2006/relationships/slideLayout" Target="../slideLayouts/slideLayout2.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image" Target="../media/image-54-2.jpg"/><Relationship Id="rId3" Type="http://schemas.openxmlformats.org/officeDocument/2006/relationships/slideLayout" Target="../slideLayouts/slideLayout2.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image" Target="../media/image-56-2.jp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slideLayout" Target="../slideLayouts/slideLayout2.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image" Target="../media/image-61-2.jpg"/><Relationship Id="rId3" Type="http://schemas.openxmlformats.org/officeDocument/2006/relationships/slideLayout" Target="../slideLayouts/slideLayout2.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image" Target="../media/image-62-2.jpg"/><Relationship Id="rId3" Type="http://schemas.openxmlformats.org/officeDocument/2006/relationships/slideLayout" Target="../slideLayouts/slideLayout2.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image" Target="../media/image-65-2.jpg"/><Relationship Id="rId3" Type="http://schemas.openxmlformats.org/officeDocument/2006/relationships/slideLayout" Target="../slideLayouts/slideLayout2.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image" Target="../media/image-67-2.jpg"/><Relationship Id="rId3" Type="http://schemas.openxmlformats.org/officeDocument/2006/relationships/slideLayout" Target="../slideLayouts/slideLayout2.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image" Target="../media/image-68-2.jp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image" Target="../media/image-71-2.jpg"/><Relationship Id="rId3" Type="http://schemas.openxmlformats.org/officeDocument/2006/relationships/slideLayout" Target="../slideLayouts/slideLayout2.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image" Target="../media/image-72-2.jpg"/><Relationship Id="rId3" Type="http://schemas.openxmlformats.org/officeDocument/2006/relationships/slideLayout" Target="../slideLayouts/slideLayout2.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jpg"/><Relationship Id="rId3" Type="http://schemas.openxmlformats.org/officeDocument/2006/relationships/slideLayout" Target="../slideLayouts/slideLayout2.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image" Target="../media/image-77-2.jpg"/><Relationship Id="rId3" Type="http://schemas.openxmlformats.org/officeDocument/2006/relationships/slideLayout" Target="../slideLayouts/slideLayout2.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image" Target="../media/image-78-2.jpg"/><Relationship Id="rId3" Type="http://schemas.openxmlformats.org/officeDocument/2006/relationships/slideLayout" Target="../slideLayouts/slideLayout2.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image" Target="../media/image-79-2.jpg"/><Relationship Id="rId3" Type="http://schemas.openxmlformats.org/officeDocument/2006/relationships/slideLayout" Target="../slideLayouts/slideLayout2.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image" Target="../media/image-81-2.jpg"/><Relationship Id="rId3" Type="http://schemas.openxmlformats.org/officeDocument/2006/relationships/slideLayout" Target="../slideLayouts/slideLayout2.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image" Target="../media/image-82-2.jpg"/><Relationship Id="rId3" Type="http://schemas.openxmlformats.org/officeDocument/2006/relationships/slideLayout" Target="../slideLayouts/slideLayout2.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83-2.jpg"/><Relationship Id="rId3" Type="http://schemas.openxmlformats.org/officeDocument/2006/relationships/slideLayout" Target="../slideLayouts/slideLayout2.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image" Target="../media/image-84-2.jpg"/><Relationship Id="rId3" Type="http://schemas.openxmlformats.org/officeDocument/2006/relationships/slideLayout" Target="../slideLayouts/slideLayout2.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image" Target="../media/image-85-2.jpg"/><Relationship Id="rId3" Type="http://schemas.openxmlformats.org/officeDocument/2006/relationships/slideLayout" Target="../slideLayouts/slideLayout2.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image" Target="../media/image-89-2.jpg"/><Relationship Id="rId3" Type="http://schemas.openxmlformats.org/officeDocument/2006/relationships/slideLayout" Target="../slideLayouts/slideLayout2.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image" Target="../media/image-90-2.jpg"/><Relationship Id="rId3" Type="http://schemas.openxmlformats.org/officeDocument/2006/relationships/slideLayout" Target="../slideLayouts/slideLayout2.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2.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image" Target="../media/image-92-2.jpg"/><Relationship Id="rId3" Type="http://schemas.openxmlformats.org/officeDocument/2006/relationships/slideLayout" Target="../slideLayouts/slideLayout2.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2.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slideLayout" Target="../slideLayouts/slideLayout2.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2.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image" Target="../media/image-97-2.jpg"/><Relationship Id="rId3" Type="http://schemas.openxmlformats.org/officeDocument/2006/relationships/slideLayout" Target="../slideLayouts/slideLayout2.xml"/><Relationship Id="rId4"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image" Target="../media/image-98-2.jpg"/><Relationship Id="rId3" Type="http://schemas.openxmlformats.org/officeDocument/2006/relationships/slideLayout" Target="../slideLayouts/slideLayout2.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2.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image" Target="../media/image-100-2.jpg"/><Relationship Id="rId3" Type="http://schemas.openxmlformats.org/officeDocument/2006/relationships/slideLayout" Target="../slideLayouts/slideLayout2.xml"/><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2.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image" Target="../media/image-102-2.jpg"/><Relationship Id="rId3" Type="http://schemas.openxmlformats.org/officeDocument/2006/relationships/slideLayout" Target="../slideLayouts/slideLayout2.xml"/><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slideLayout" Target="../slideLayouts/slideLayout2.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image" Target="../media/image-104-2.jpg"/><Relationship Id="rId3" Type="http://schemas.openxmlformats.org/officeDocument/2006/relationships/slideLayout" Target="../slideLayouts/slideLayout2.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image" Target="../media/image-105-2.jpg"/><Relationship Id="rId3" Type="http://schemas.openxmlformats.org/officeDocument/2006/relationships/slideLayout" Target="../slideLayouts/slideLayout2.xm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image" Target="../media/image-108-2.jpg"/><Relationship Id="rId3" Type="http://schemas.openxmlformats.org/officeDocument/2006/relationships/slideLayout" Target="../slideLayouts/slideLayout2.xm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image" Target="../media/image-110-2.jpg"/><Relationship Id="rId3" Type="http://schemas.openxmlformats.org/officeDocument/2006/relationships/slideLayout" Target="../slideLayouts/slideLayout2.xm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image" Target="../media/image-111-2.jpg"/><Relationship Id="rId3" Type="http://schemas.openxmlformats.org/officeDocument/2006/relationships/slideLayout" Target="../slideLayouts/slideLayout2.xml"/><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image" Target="../media/image-112-2.jpg"/><Relationship Id="rId3" Type="http://schemas.openxmlformats.org/officeDocument/2006/relationships/slideLayout" Target="../slideLayouts/slideLayout2.xml"/><Relationship Id="rId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image" Target="../media/image-113-2.jpg"/><Relationship Id="rId3" Type="http://schemas.openxmlformats.org/officeDocument/2006/relationships/slideLayout" Target="../slideLayouts/slideLayout2.xml"/><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image" Target="../media/image-114-2.jpg"/><Relationship Id="rId3" Type="http://schemas.openxmlformats.org/officeDocument/2006/relationships/slideLayout" Target="../slideLayouts/slideLayout2.xml"/><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image" Target="../media/image-115-2.jpg"/><Relationship Id="rId3" Type="http://schemas.openxmlformats.org/officeDocument/2006/relationships/slideLayout" Target="../slideLayouts/slideLayout2.xml"/><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image" Target="../media/image-116-2.jpg"/><Relationship Id="rId3" Type="http://schemas.openxmlformats.org/officeDocument/2006/relationships/slideLayout" Target="../slideLayouts/slideLayout2.xml"/><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jpg"/><Relationship Id="rId2" Type="http://schemas.openxmlformats.org/officeDocument/2006/relationships/image" Target="../media/image-117-2.jpg"/><Relationship Id="rId3" Type="http://schemas.openxmlformats.org/officeDocument/2006/relationships/slideLayout" Target="../slideLayouts/slideLayout2.xml"/><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slideLayout" Target="../slideLayouts/slideLayout2.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image" Target="../media/image-120-2.jpg"/><Relationship Id="rId3" Type="http://schemas.openxmlformats.org/officeDocument/2006/relationships/slideLayout" Target="../slideLayouts/slideLayout2.xml"/><Relationship Id="rId4"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image" Target="../media/image-121-2.jpg"/><Relationship Id="rId3" Type="http://schemas.openxmlformats.org/officeDocument/2006/relationships/slideLayout" Target="../slideLayouts/slideLayout2.xml"/><Relationship Id="rId4"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image" Target="../media/image-122-2.jpg"/><Relationship Id="rId3" Type="http://schemas.openxmlformats.org/officeDocument/2006/relationships/slideLayout" Target="../slideLayouts/slideLayout2.xm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2.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jpg"/><Relationship Id="rId2" Type="http://schemas.openxmlformats.org/officeDocument/2006/relationships/slideLayout" Target="../slideLayouts/slideLayout2.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slideLayout" Target="../slideLayouts/slideLayout2.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640080"/>
            <a:ext cx="6400800" cy="274320"/>
          </a:xfrm>
          <a:prstGeom prst="rect">
            <a:avLst/>
          </a:prstGeom>
          <a:noFill/>
          <a:ln/>
        </p:spPr>
        <p:txBody>
          <a:bodyPr wrap="square" lIns="0" tIns="0" rIns="0" bIns="0" rtlCol="0" anchor="ctr"/>
          <a:lstStyle/>
          <a:p>
            <a:pPr indent="0" marL="0">
              <a:buNone/>
            </a:pPr>
            <a:r>
              <a:rPr lang="en-US" sz="1200" b="1" spc="200" kern="0" dirty="0">
                <a:solidFill>
                  <a:srgbClr val="E6C98F"/>
                </a:solidFill>
              </a:rPr>
              <a:t>MARKEDGE PEOPLEOS  ·  TRAINING LIBRARY</a:t>
            </a:r>
            <a:endParaRPr lang="en-US" sz="1200" dirty="0"/>
          </a:p>
        </p:txBody>
      </p:sp>
      <p:sp>
        <p:nvSpPr>
          <p:cNvPr id="4" name="Text 1"/>
          <p:cNvSpPr txBox="1"/>
          <p:nvPr/>
        </p:nvSpPr>
        <p:spPr>
          <a:xfrm>
            <a:off x="548640" y="960120"/>
            <a:ext cx="3657600" cy="274320"/>
          </a:xfrm>
          <a:prstGeom prst="rect">
            <a:avLst/>
          </a:prstGeom>
          <a:noFill/>
          <a:ln/>
        </p:spPr>
        <p:txBody>
          <a:bodyPr wrap="square" lIns="0" tIns="0" rIns="0" bIns="0" rtlCol="0" anchor="ctr"/>
          <a:lstStyle/>
          <a:p>
            <a:pPr indent="0" marL="0">
              <a:buNone/>
            </a:pPr>
            <a:r>
              <a:rPr lang="en-US" sz="1200" dirty="0">
                <a:solidFill>
                  <a:srgbClr val="AEB3C7"/>
                </a:solidFill>
              </a:rPr>
              <a:t>Deck 03 of 12</a:t>
            </a:r>
            <a:endParaRPr lang="en-US" sz="1200" dirty="0"/>
          </a:p>
        </p:txBody>
      </p:sp>
      <p:sp>
        <p:nvSpPr>
          <p:cNvPr id="5"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HR Administrator Training</a:t>
            </a:r>
            <a:endParaRPr lang="en-US" sz="4000" dirty="0"/>
          </a:p>
        </p:txBody>
      </p:sp>
      <p:sp>
        <p:nvSpPr>
          <p:cNvPr id="6" name="Text 3"/>
          <p:cNvSpPr txBox="1"/>
          <p:nvPr/>
        </p:nvSpPr>
        <p:spPr>
          <a:xfrm>
            <a:off x="548640" y="3794760"/>
            <a:ext cx="6675120" cy="91440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Run people operations: records, hiring, changes, documents, time and leave, payroll inputs, growth, compensation, letters, requests, exits and audit.</a:t>
            </a:r>
            <a:endParaRPr lang="en-US" sz="1800" dirty="0"/>
          </a:p>
        </p:txBody>
      </p:sp>
      <p:sp>
        <p:nvSpPr>
          <p:cNvPr id="7" name="Text 4"/>
          <p:cNvSpPr txBox="1"/>
          <p:nvPr/>
        </p:nvSpPr>
        <p:spPr>
          <a:xfrm>
            <a:off x="548640" y="4846320"/>
            <a:ext cx="6766560" cy="960120"/>
          </a:xfrm>
          <a:prstGeom prst="rect">
            <a:avLst/>
          </a:prstGeom>
          <a:noFill/>
          <a:ln/>
        </p:spPr>
        <p:txBody>
          <a:bodyPr wrap="square" lIns="0" tIns="0" rIns="0" bIns="0" rtlCol="0" anchor="t"/>
          <a:lstStyle/>
          <a:p>
            <a:pPr indent="0" marL="0">
              <a:buNone/>
            </a:pPr>
            <a:r>
              <a:rPr lang="en-US" sz="1200" dirty="0">
                <a:solidFill>
                  <a:srgbClr val="AEB3C7"/>
                </a:solidFill>
                <a:latin typeface="Calibri" pitchFamily="34" charset="0"/>
                <a:ea typeface="Calibri" pitchFamily="34" charset="-122"/>
                <a:cs typeface="Calibri" pitchFamily="34" charset="-120"/>
              </a:rPr>
              <a:t>For: HR administrators, HR managers and payroll administrators of a customer tenant</a:t>
            </a:r>
            <a:endParaRPr lang="en-US" sz="1200" dirty="0"/>
          </a:p>
          <a:p>
            <a:pPr indent="0" marL="0">
              <a:buNone/>
            </a:pPr>
            <a:r>
              <a:rPr lang="en-US" sz="1200" dirty="0">
                <a:solidFill>
                  <a:srgbClr val="AEB3C7"/>
                </a:solidFill>
                <a:latin typeface="Calibri" pitchFamily="34" charset="0"/>
                <a:ea typeface="Calibri" pitchFamily="34" charset="-122"/>
                <a:cs typeface="Calibri" pitchFamily="34" charset="-120"/>
              </a:rPr>
              <a:t>Built from the running application (local, disposable database, fictional people) · 21 October 2026</a:t>
            </a:r>
            <a:endParaRPr lang="en-US" sz="1200" dirty="0"/>
          </a:p>
        </p:txBody>
      </p:sp>
      <p:pic>
        <p:nvPicPr>
          <p:cNvPr id="8" name="Screenshot hr-admin/50-360-01-header-now" descr="Screenshot: Employee 360 › Now (Kavya Menon, fictional data)">    </p:cNvPr>
          <p:cNvPicPr>
            <a:picLocks noChangeAspect="1"/>
          </p:cNvPicPr>
          <p:nvPr/>
        </p:nvPicPr>
        <p:blipFill>
          <a:blip r:embed="rId1"/>
          <a:stretch>
            <a:fillRect/>
          </a:stretch>
        </p:blipFill>
        <p:spPr>
          <a:xfrm>
            <a:off x="7818120" y="2320290"/>
            <a:ext cx="3840480" cy="2400300"/>
          </a:xfrm>
          <a:prstGeom prst="rect">
            <a:avLst/>
          </a:prstGeom>
        </p:spPr>
      </p:pic>
      <p:sp>
        <p:nvSpPr>
          <p:cNvPr id="9" name="Screenshot frame"/>
          <p:cNvSpPr/>
          <p:nvPr/>
        </p:nvSpPr>
        <p:spPr>
          <a:xfrm>
            <a:off x="7818120" y="2320290"/>
            <a:ext cx="3840480" cy="2400300"/>
          </a:xfrm>
          <a:prstGeom prst="rect">
            <a:avLst/>
          </a:prstGeom>
          <a:ln w="9525">
            <a:solidFill>
              <a:srgbClr val="D9DCE3"/>
            </a:solidFill>
            <a:prstDash val="solid"/>
          </a:ln>
        </p:spPr>
      </p:sp>
      <p:sp>
        <p:nvSpPr>
          <p:cNvPr id="10" name="Text 6"/>
          <p:cNvSpPr txBox="1"/>
          <p:nvPr/>
        </p:nvSpPr>
        <p:spPr>
          <a:xfrm>
            <a:off x="7818120" y="5943600"/>
            <a:ext cx="3840480" cy="256032"/>
          </a:xfrm>
          <a:prstGeom prst="rect">
            <a:avLst/>
          </a:prstGeom>
          <a:noFill/>
          <a:ln/>
        </p:spPr>
        <p:txBody>
          <a:bodyPr wrap="square" lIns="0" tIns="0" rIns="0" bIns="0" rtlCol="0" anchor="ctr"/>
          <a:lstStyle/>
          <a:p>
            <a:pPr algn="ctr" indent="0" marL="0">
              <a:buNone/>
            </a:pPr>
            <a:r>
              <a:rPr lang="en-US" sz="1000" dirty="0">
                <a:solidFill>
                  <a:srgbClr val="AEB3C7"/>
                </a:solidFill>
              </a:rPr>
              <a:t>Real screen, fictional data</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BEFORE YOU START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to read this deck</a:t>
            </a:r>
            <a:endParaRPr lang="en-US" sz="2800" dirty="0"/>
          </a:p>
        </p:txBody>
      </p:sp>
      <p:sp>
        <p:nvSpPr>
          <p:cNvPr id="5" name="Status"/>
          <p:cNvSpPr txBox="1"/>
          <p:nvPr/>
        </p:nvSpPr>
        <p:spPr>
          <a:xfrm>
            <a:off x="548640" y="1463040"/>
            <a:ext cx="374904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6" name="Text 3"/>
          <p:cNvSpPr txBox="1"/>
          <p:nvPr/>
        </p:nvSpPr>
        <p:spPr>
          <a:xfrm>
            <a:off x="4526280" y="1444752"/>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We ran it on the training database and captured each step.</a:t>
            </a:r>
            <a:endParaRPr lang="en-US" sz="1200" dirty="0"/>
          </a:p>
        </p:txBody>
      </p:sp>
      <p:sp>
        <p:nvSpPr>
          <p:cNvPr id="7" name="Status"/>
          <p:cNvSpPr txBox="1"/>
          <p:nvPr/>
        </p:nvSpPr>
        <p:spPr>
          <a:xfrm>
            <a:off x="548640" y="2084832"/>
            <a:ext cx="3749040" cy="292608"/>
          </a:xfrm>
          <a:prstGeom prst="roundRect">
            <a:avLst>
              <a:gd name="adj" fmla="val 50000"/>
            </a:avLst>
          </a:prstGeom>
          <a:solidFill>
            <a:srgbClr val="ECEAFB"/>
          </a:solidFill>
          <a:ln/>
        </p:spPr>
        <p:txBody>
          <a:bodyPr wrap="square" lIns="0" tIns="0" rIns="0" bIns="0" rtlCol="0" anchor="ctr"/>
          <a:lstStyle/>
          <a:p>
            <a:pPr algn="ctr" indent="0" marL="0">
              <a:buNone/>
            </a:pPr>
            <a:r>
              <a:rPr lang="en-US" sz="1050" b="1" dirty="0">
                <a:solidFill>
                  <a:srgbClr val="3E3594"/>
                </a:solidFill>
              </a:rPr>
              <a:t>Implemented · not verified end to end</a:t>
            </a:r>
            <a:endParaRPr lang="en-US" sz="1050" dirty="0"/>
          </a:p>
        </p:txBody>
      </p:sp>
      <p:sp>
        <p:nvSpPr>
          <p:cNvPr id="8" name="Text 5"/>
          <p:cNvSpPr txBox="1"/>
          <p:nvPr/>
        </p:nvSpPr>
        <p:spPr>
          <a:xfrm>
            <a:off x="4526280" y="2066544"/>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screen exists; the last steps need data or a second party we could not provide.</a:t>
            </a:r>
            <a:endParaRPr lang="en-US" sz="1200" dirty="0"/>
          </a:p>
        </p:txBody>
      </p:sp>
      <p:sp>
        <p:nvSpPr>
          <p:cNvPr id="9" name="Status"/>
          <p:cNvSpPr txBox="1"/>
          <p:nvPr/>
        </p:nvSpPr>
        <p:spPr>
          <a:xfrm>
            <a:off x="548640" y="2706624"/>
            <a:ext cx="3749040" cy="292608"/>
          </a:xfrm>
          <a:prstGeom prst="roundRect">
            <a:avLst>
              <a:gd name="adj" fmla="val 50000"/>
            </a:avLst>
          </a:prstGeom>
          <a:solidFill>
            <a:srgbClr val="E4EEF8"/>
          </a:solidFill>
          <a:ln/>
        </p:spPr>
        <p:txBody>
          <a:bodyPr wrap="square" lIns="0" tIns="0" rIns="0" bIns="0" rtlCol="0" anchor="ctr"/>
          <a:lstStyle/>
          <a:p>
            <a:pPr algn="ctr" indent="0" marL="0">
              <a:buNone/>
            </a:pPr>
            <a:r>
              <a:rPr lang="en-US" sz="1050" b="1" dirty="0">
                <a:solidFill>
                  <a:srgbClr val="2F6FB3"/>
                </a:solidFill>
              </a:rPr>
              <a:t>Available only after configuration</a:t>
            </a:r>
            <a:endParaRPr lang="en-US" sz="1050" dirty="0"/>
          </a:p>
        </p:txBody>
      </p:sp>
      <p:sp>
        <p:nvSpPr>
          <p:cNvPr id="10" name="Text 7"/>
          <p:cNvSpPr txBox="1"/>
          <p:nvPr/>
        </p:nvSpPr>
        <p:spPr>
          <a:xfrm>
            <a:off x="4526280" y="2688336"/>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Works once an administrator or Markedge has set it up.</a:t>
            </a:r>
            <a:endParaRPr lang="en-US" sz="1200" dirty="0"/>
          </a:p>
        </p:txBody>
      </p:sp>
      <p:sp>
        <p:nvSpPr>
          <p:cNvPr id="11" name="Status"/>
          <p:cNvSpPr txBox="1"/>
          <p:nvPr/>
        </p:nvSpPr>
        <p:spPr>
          <a:xfrm>
            <a:off x="548640" y="3328416"/>
            <a:ext cx="3749040" cy="292608"/>
          </a:xfrm>
          <a:prstGeom prst="roundRect">
            <a:avLst>
              <a:gd name="adj" fmla="val 50000"/>
            </a:avLst>
          </a:prstGeom>
          <a:solidFill>
            <a:srgbClr val="FDF0DD"/>
          </a:solidFill>
          <a:ln/>
        </p:spPr>
        <p:txBody>
          <a:bodyPr wrap="square" lIns="0" tIns="0" rIns="0" bIns="0" rtlCol="0" anchor="ctr"/>
          <a:lstStyle/>
          <a:p>
            <a:pPr algn="ctr" indent="0" marL="0">
              <a:buNone/>
            </a:pPr>
            <a:r>
              <a:rPr lang="en-US" sz="1050" b="1" dirty="0">
                <a:solidFill>
                  <a:srgbClr val="8A5A00"/>
                </a:solidFill>
              </a:rPr>
              <a:t>Disabled by safety or commercial gates</a:t>
            </a:r>
            <a:endParaRPr lang="en-US" sz="1050" dirty="0"/>
          </a:p>
        </p:txBody>
      </p:sp>
      <p:sp>
        <p:nvSpPr>
          <p:cNvPr id="12" name="Text 9"/>
          <p:cNvSpPr txBox="1"/>
          <p:nvPr/>
        </p:nvSpPr>
        <p:spPr>
          <a:xfrm>
            <a:off x="4526280" y="3310128"/>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Switched off on purpose until owner decisions and approvals arrive.</a:t>
            </a:r>
            <a:endParaRPr lang="en-US" sz="1200" dirty="0"/>
          </a:p>
        </p:txBody>
      </p:sp>
      <p:sp>
        <p:nvSpPr>
          <p:cNvPr id="13" name="Status"/>
          <p:cNvSpPr txBox="1"/>
          <p:nvPr/>
        </p:nvSpPr>
        <p:spPr>
          <a:xfrm>
            <a:off x="548640" y="3950208"/>
            <a:ext cx="3749040"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14" name="Text 11"/>
          <p:cNvSpPr txBox="1"/>
          <p:nvPr/>
        </p:nvSpPr>
        <p:spPr>
          <a:xfrm>
            <a:off x="4526280" y="3931920"/>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Partly working: a known defect or gap is stated on the slide.</a:t>
            </a:r>
            <a:endParaRPr lang="en-US" sz="1200" dirty="0"/>
          </a:p>
        </p:txBody>
      </p:sp>
      <p:sp>
        <p:nvSpPr>
          <p:cNvPr id="15" name="Status"/>
          <p:cNvSpPr txBox="1"/>
          <p:nvPr/>
        </p:nvSpPr>
        <p:spPr>
          <a:xfrm>
            <a:off x="548640" y="4572000"/>
            <a:ext cx="3749040" cy="292608"/>
          </a:xfrm>
          <a:prstGeom prst="roundRect">
            <a:avLst>
              <a:gd name="adj" fmla="val 50000"/>
            </a:avLst>
          </a:prstGeom>
          <a:solidFill>
            <a:srgbClr val="EEEFF2"/>
          </a:solidFill>
          <a:ln/>
        </p:spPr>
        <p:txBody>
          <a:bodyPr wrap="square" lIns="0" tIns="0" rIns="0" bIns="0" rtlCol="0" anchor="ctr"/>
          <a:lstStyle/>
          <a:p>
            <a:pPr algn="ctr" indent="0" marL="0">
              <a:buNone/>
            </a:pPr>
            <a:r>
              <a:rPr lang="en-US" sz="1050" b="1" dirty="0">
                <a:solidFill>
                  <a:srgbClr val="6B7280"/>
                </a:solidFill>
              </a:rPr>
              <a:t>Not implemented</a:t>
            </a:r>
            <a:endParaRPr lang="en-US" sz="1050" dirty="0"/>
          </a:p>
        </p:txBody>
      </p:sp>
      <p:sp>
        <p:nvSpPr>
          <p:cNvPr id="16" name="Text 13"/>
          <p:cNvSpPr txBox="1"/>
          <p:nvPr/>
        </p:nvSpPr>
        <p:spPr>
          <a:xfrm>
            <a:off x="4526280" y="4553712"/>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Not in the product today.</a:t>
            </a:r>
            <a:endParaRPr lang="en-US" sz="1200" dirty="0"/>
          </a:p>
        </p:txBody>
      </p:sp>
      <p:sp>
        <p:nvSpPr>
          <p:cNvPr id="17" name="Status"/>
          <p:cNvSpPr txBox="1"/>
          <p:nvPr/>
        </p:nvSpPr>
        <p:spPr>
          <a:xfrm>
            <a:off x="548640" y="5193792"/>
            <a:ext cx="3749040" cy="292608"/>
          </a:xfrm>
          <a:prstGeom prst="roundRect">
            <a:avLst>
              <a:gd name="adj" fmla="val 50000"/>
            </a:avLst>
          </a:prstGeom>
          <a:solidFill>
            <a:srgbClr val="EEEFF2"/>
          </a:solidFill>
          <a:ln/>
        </p:spPr>
        <p:txBody>
          <a:bodyPr wrap="square" lIns="0" tIns="0" rIns="0" bIns="0" rtlCol="0" anchor="ctr"/>
          <a:lstStyle/>
          <a:p>
            <a:pPr algn="ctr" indent="0" marL="0">
              <a:buNone/>
            </a:pPr>
            <a:r>
              <a:rPr lang="en-US" sz="1050" b="1" dirty="0">
                <a:solidFill>
                  <a:srgbClr val="6B7280"/>
                </a:solidFill>
              </a:rPr>
              <a:t>Unable to verify</a:t>
            </a:r>
            <a:endParaRPr lang="en-US" sz="1050" dirty="0"/>
          </a:p>
        </p:txBody>
      </p:sp>
      <p:sp>
        <p:nvSpPr>
          <p:cNvPr id="18" name="Text 15"/>
          <p:cNvSpPr txBox="1"/>
          <p:nvPr/>
        </p:nvSpPr>
        <p:spPr>
          <a:xfrm>
            <a:off x="4526280" y="5175504"/>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Could not be checked in this environment.</a:t>
            </a:r>
            <a:endParaRPr lang="en-US" sz="1200" dirty="0"/>
          </a:p>
        </p:txBody>
      </p:sp>
      <p:sp>
        <p:nvSpPr>
          <p:cNvPr id="19" name="Shape 16"/>
          <p:cNvSpPr/>
          <p:nvPr/>
        </p:nvSpPr>
        <p:spPr>
          <a:xfrm>
            <a:off x="7818120" y="1463040"/>
            <a:ext cx="3824935" cy="4206240"/>
          </a:xfrm>
          <a:prstGeom prst="roundRect">
            <a:avLst>
              <a:gd name="adj" fmla="val 2869"/>
            </a:avLst>
          </a:prstGeom>
          <a:solidFill>
            <a:srgbClr val="F4F5F8"/>
          </a:solidFill>
          <a:ln w="12700">
            <a:solidFill>
              <a:srgbClr val="F4F5F8"/>
            </a:solidFill>
            <a:prstDash val="solid"/>
          </a:ln>
        </p:spPr>
      </p:sp>
      <p:sp>
        <p:nvSpPr>
          <p:cNvPr id="20" name="Callout 1"/>
          <p:cNvSpPr txBox="1"/>
          <p:nvPr/>
        </p:nvSpPr>
        <p:spPr>
          <a:xfrm>
            <a:off x="8092440" y="1691640"/>
            <a:ext cx="329184" cy="329184"/>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8"/>
          <p:cNvSpPr txBox="1"/>
          <p:nvPr/>
        </p:nvSpPr>
        <p:spPr>
          <a:xfrm>
            <a:off x="8549640" y="1673352"/>
            <a:ext cx="2910535"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Numbered markers on a screenshot match the numbered steps beside it.</a:t>
            </a:r>
            <a:endParaRPr lang="en-US" sz="1300" dirty="0"/>
          </a:p>
        </p:txBody>
      </p:sp>
      <p:sp>
        <p:nvSpPr>
          <p:cNvPr id="22" name="Text 19"/>
          <p:cNvSpPr txBox="1"/>
          <p:nvPr/>
        </p:nvSpPr>
        <p:spPr>
          <a:xfrm>
            <a:off x="8092440" y="2514600"/>
            <a:ext cx="3276295"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screenshot is a real capture of PeopleOS. The people and companies in it are fictional.</a:t>
            </a:r>
            <a:endParaRPr lang="en-US" sz="1300" dirty="0"/>
          </a:p>
        </p:txBody>
      </p:sp>
      <p:sp>
        <p:nvSpPr>
          <p:cNvPr id="23" name="Text 20"/>
          <p:cNvSpPr txBox="1"/>
          <p:nvPr/>
        </p:nvSpPr>
        <p:spPr>
          <a:xfrm>
            <a:off x="8092440" y="3383280"/>
            <a:ext cx="3276295"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Diagrams are marked "Conceptual diagram". They explain ideas; they are not screens.</a:t>
            </a:r>
            <a:endParaRPr lang="en-US" sz="1300" dirty="0"/>
          </a:p>
        </p:txBody>
      </p:sp>
      <p:sp>
        <p:nvSpPr>
          <p:cNvPr id="24" name="Text 21"/>
          <p:cNvSpPr txBox="1"/>
          <p:nvPr/>
        </p:nvSpPr>
        <p:spPr>
          <a:xfrm>
            <a:off x="8092440" y="4251960"/>
            <a:ext cx="3276295" cy="128016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Release gate: NO-GO (10 of 14 gates blocked, re-verified 13 Oct 2026). Not yet generally available.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RELEASE STATUS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Release gate: NO-GO until these are resolved (1 of 2)</a:t>
            </a:r>
            <a:endParaRPr lang="en-US" sz="2800" dirty="0"/>
          </a:p>
        </p:txBody>
      </p:sp>
      <p:sp>
        <p:nvSpPr>
          <p:cNvPr id="5" name="Text 2"/>
          <p:cNvSpPr txBox="1"/>
          <p:nvPr/>
        </p:nvSpPr>
        <p:spPr>
          <a:xfrm>
            <a:off x="548640" y="1353312"/>
            <a:ext cx="11094415" cy="566928"/>
          </a:xfrm>
          <a:prstGeom prst="rect">
            <a:avLst/>
          </a:prstGeom>
          <a:noFill/>
          <a:ln/>
        </p:spPr>
        <p:txBody>
          <a:bodyPr wrap="square" lIns="0" tIns="0" rIns="0" bIns="0" rtlCol="0" anchor="t"/>
          <a:lstStyle/>
          <a:p>
            <a:pPr indent="0" marL="0">
              <a:buNone/>
            </a:pPr>
            <a:r>
              <a:rPr lang="en-US" sz="1400" dirty="0">
                <a:solidFill>
                  <a:srgbClr val="5B6275"/>
                </a:solidFill>
                <a:latin typeface="Calibri" pitchFamily="34" charset="0"/>
                <a:ea typeface="Calibri" pitchFamily="34" charset="-122"/>
                <a:cs typeface="Calibri" pitchFamily="34" charset="-120"/>
              </a:rPr>
              <a:t>Status as written in the release gate document. Ten of fourteen gates are blocked by owner decisions, external parties or missing infrastructure.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11480"/>
                <a:gridCol w="3749040"/>
                <a:gridCol w="2514600"/>
                <a:gridCol w="4416552"/>
              </a:tblGrid>
              <a:tr h="384048">
                <a:tc>
                  <a:txBody>
                    <a:bodyPr/>
                    <a:lstStyle/>
                    <a:p>
                      <a:pPr indent="0" marL="0">
                        <a:buNone/>
                      </a:pPr>
                      <a:r>
                        <a:rPr lang="en-US" sz="1150" b="1" dirty="0">
                          <a:solidFill>
                            <a:srgbClr val="FFFFFF"/>
                          </a:solidFill>
                        </a:rPr>
                        <a:t>#</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Gate</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Gate status</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Remaining dependency</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200" dirty="0">
                          <a:solidFill>
                            <a:srgbClr val="1F2433"/>
                          </a:solidFill>
                        </a:rPr>
                        <a:t>1</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Application and architecture integrity</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1E7F4F"/>
                          </a:solidFill>
                        </a:rPr>
                        <a:t>PASS (workstation)</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c>
                  <a:txBody>
                    <a:bodyPr/>
                    <a:lstStyle/>
                    <a:p>
                      <a:pPr indent="0" marL="0">
                        <a:buNone/>
                      </a:pPr>
                      <a:r>
                        <a:rPr lang="en-US" sz="1200" dirty="0">
                          <a:solidFill>
                            <a:srgbClr val="1F2433"/>
                          </a:solidFill>
                        </a:rPr>
                        <a:t>Repeat the full suites in staging</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2</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Credential exposure and repository remediation</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Owner: rotation confirmation, repository visibility (O-1 to O-3)</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3</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Authentication and operator MFA</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Operators enrol MFA in the target environment (O-14, O-7)</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4</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Independent security review</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Engage a reviewer; triage and retest findings (O-4)</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5</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Statutory verification and gratuity</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0 of 24 rules verified; gratuity not implemented (O-5, O-12, O-18)</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6</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Data protection, retention, legal holds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100" b="1" dirty="0">
                          <a:solidFill>
                            <a:srgbClr val="8A5A00"/>
                          </a:solidFill>
                        </a:rPr>
                        <a:t>PASS (controls) / BLOCKED (policy)</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DF0DD"/>
                    </a:solidFill>
                  </a:tcPr>
                </a:tc>
                <a:tc>
                  <a:txBody>
                    <a:bodyPr/>
                    <a:lstStyle/>
                    <a:p>
                      <a:pPr indent="0" marL="0">
                        <a:buNone/>
                      </a:pPr>
                      <a:r>
                        <a:rPr lang="en-US" sz="1200" dirty="0">
                          <a:solidFill>
                            <a:srgbClr val="1F2433"/>
                          </a:solidFill>
                        </a:rPr>
                        <a:t>Retention decisions with counsel (D8); privacy review</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7</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Backup, restore and disaster recovery</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Recovery objectives and an isolated target (O-6, O-7)</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RELEASE STATUS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Release gate: NO-GO until these are resolved (2 of 2)</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11480"/>
                <a:gridCol w="3749040"/>
                <a:gridCol w="2514600"/>
                <a:gridCol w="4416552"/>
              </a:tblGrid>
              <a:tr h="384048">
                <a:tc>
                  <a:txBody>
                    <a:bodyPr/>
                    <a:lstStyle/>
                    <a:p>
                      <a:pPr indent="0" marL="0">
                        <a:buNone/>
                      </a:pPr>
                      <a:r>
                        <a:rPr lang="en-US" sz="1150" b="1" dirty="0">
                          <a:solidFill>
                            <a:srgbClr val="FFFFFF"/>
                          </a:solidFill>
                        </a:rPr>
                        <a:t>#</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Gate</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Gate status</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Remaining dependency</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200" dirty="0">
                          <a:solidFill>
                            <a:srgbClr val="1F2433"/>
                          </a:solidFill>
                        </a:rPr>
                        <a:t>8</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Hosting, monitoring and on-call</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Environment, alerting, on-call (O-7, O-10, O-11)</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9</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Signup and tenant provisioning</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100" b="1" dirty="0">
                          <a:solidFill>
                            <a:srgbClr val="8A5A00"/>
                          </a:solidFill>
                        </a:rPr>
                        <a:t>PASS (disabled) / BLOCKED (activation)</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DF0DD"/>
                    </a:solidFill>
                  </a:tcPr>
                </a:tc>
                <a:tc>
                  <a:txBody>
                    <a:bodyPr/>
                    <a:lstStyle/>
                    <a:p>
                      <a:pPr indent="0" marL="0">
                        <a:buNone/>
                      </a:pPr>
                      <a:r>
                        <a:rPr lang="en-US" sz="1200" dirty="0">
                          <a:solidFill>
                            <a:srgbClr val="1F2433"/>
                          </a:solidFill>
                        </a:rPr>
                        <a:t>Only if self-service signup is wanted at launch (D10)</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10</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Billing, tax and payment controls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8A5A00"/>
                          </a:solidFill>
                        </a:rPr>
                        <a:t>PASS (disabled) / BLOCKED (activation)</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DF0DD"/>
                    </a:solidFill>
                  </a:tcPr>
                </a:tc>
                <a:tc>
                  <a:txBody>
                    <a:bodyPr/>
                    <a:lstStyle/>
                    <a:p>
                      <a:pPr indent="0" marL="0">
                        <a:buNone/>
                      </a:pPr>
                      <a:r>
                        <a:rPr lang="en-US" sz="1200" dirty="0">
                          <a:solidFill>
                            <a:srgbClr val="1F2433"/>
                          </a:solidFill>
                        </a:rPr>
                        <a:t>Only for paid billing (B-4, B-7, B-8, B-9)</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11</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Tenant deletion and offboarding</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100" b="1" dirty="0">
                          <a:solidFill>
                            <a:srgbClr val="8A5A00"/>
                          </a:solidFill>
                        </a:rPr>
                        <a:t>PASS (disabled) / BLOCKED (activation)</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DF0DD"/>
                    </a:solidFill>
                  </a:tcPr>
                </a:tc>
                <a:tc>
                  <a:txBody>
                    <a:bodyPr/>
                    <a:lstStyle/>
                    <a:p>
                      <a:pPr indent="0" marL="0">
                        <a:buNone/>
                      </a:pPr>
                      <a:r>
                        <a:rPr lang="en-US" sz="1200" dirty="0">
                          <a:solidFill>
                            <a:srgbClr val="1F2433"/>
                          </a:solidFill>
                        </a:rPr>
                        <a:t>Retention decisions, register disk, review (D8)</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12</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Regression and target-environment testing</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A staging environment (O-7, O-8)</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13</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Owner decisions and written approvals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All owner action items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14</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Deployment, rollback, post-deployment checks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B3261E"/>
                          </a:solidFill>
                        </a:rPr>
                        <a:t>BLOCKED</a:t>
                      </a:r>
                      <a:endParaRPr lang="en-US" sz="11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200" dirty="0">
                          <a:solidFill>
                            <a:srgbClr val="1F2433"/>
                          </a:solidFill>
                        </a:rPr>
                        <a:t>Rehearse in staging; authorise (O-7 to O-9)</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LEARNING OBJECTIVES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you will be able to do</a:t>
            </a:r>
            <a:endParaRPr lang="en-US" sz="2800" dirty="0"/>
          </a:p>
        </p:txBody>
      </p:sp>
      <p:sp>
        <p:nvSpPr>
          <p:cNvPr id="5" name="Shape 2"/>
          <p:cNvSpPr/>
          <p:nvPr/>
        </p:nvSpPr>
        <p:spPr>
          <a:xfrm>
            <a:off x="548640" y="1463040"/>
            <a:ext cx="5410048" cy="960120"/>
          </a:xfrm>
          <a:prstGeom prst="roundRect">
            <a:avLst>
              <a:gd name="adj" fmla="val 9524"/>
            </a:avLst>
          </a:prstGeom>
          <a:solidFill>
            <a:srgbClr val="F4F5F8"/>
          </a:solidFill>
          <a:ln w="12700">
            <a:solidFill>
              <a:srgbClr val="F4F5F8"/>
            </a:solidFill>
            <a:prstDash val="solid"/>
          </a:ln>
        </p:spPr>
      </p:sp>
      <p:sp>
        <p:nvSpPr>
          <p:cNvPr id="6" name="Callout 1"/>
          <p:cNvSpPr txBox="1"/>
          <p:nvPr/>
        </p:nvSpPr>
        <p:spPr>
          <a:xfrm>
            <a:off x="731520" y="1751076"/>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1536192"/>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Find and read any employee record</a:t>
            </a:r>
            <a:endParaRPr lang="en-US" sz="1500" dirty="0"/>
          </a:p>
          <a:p>
            <a:pPr indent="0" marL="0">
              <a:buNone/>
            </a:pPr>
            <a:r>
              <a:rPr lang="en-US" sz="1300" dirty="0">
                <a:solidFill>
                  <a:srgbClr val="5B6275"/>
                </a:solidFill>
              </a:rPr>
              <a:t>Directory, register, Employee 360</a:t>
            </a:r>
            <a:endParaRPr lang="en-US" sz="1500" dirty="0"/>
          </a:p>
        </p:txBody>
      </p:sp>
      <p:sp>
        <p:nvSpPr>
          <p:cNvPr id="8" name="Shape 5"/>
          <p:cNvSpPr/>
          <p:nvPr/>
        </p:nvSpPr>
        <p:spPr>
          <a:xfrm>
            <a:off x="548640" y="2587752"/>
            <a:ext cx="5410048" cy="960120"/>
          </a:xfrm>
          <a:prstGeom prst="roundRect">
            <a:avLst>
              <a:gd name="adj" fmla="val 9524"/>
            </a:avLst>
          </a:prstGeom>
          <a:solidFill>
            <a:srgbClr val="F4F5F8"/>
          </a:solidFill>
          <a:ln w="12700">
            <a:solidFill>
              <a:srgbClr val="F4F5F8"/>
            </a:solidFill>
            <a:prstDash val="solid"/>
          </a:ln>
        </p:spPr>
      </p:sp>
      <p:sp>
        <p:nvSpPr>
          <p:cNvPr id="9" name="Callout 2"/>
          <p:cNvSpPr txBox="1"/>
          <p:nvPr/>
        </p:nvSpPr>
        <p:spPr>
          <a:xfrm>
            <a:off x="731520" y="2875788"/>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1280160" y="2660904"/>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Hire without duplicates; change jobs and managers</a:t>
            </a:r>
            <a:endParaRPr lang="en-US" sz="1500" dirty="0"/>
          </a:p>
          <a:p>
            <a:pPr indent="0" marL="0">
              <a:buNone/>
            </a:pPr>
            <a:r>
              <a:rPr lang="en-US" sz="1300" dirty="0">
                <a:solidFill>
                  <a:srgbClr val="5B6275"/>
                </a:solidFill>
              </a:rPr>
              <a:t>guided, effective-dated, audited</a:t>
            </a:r>
            <a:endParaRPr lang="en-US" sz="1500" dirty="0"/>
          </a:p>
        </p:txBody>
      </p:sp>
      <p:sp>
        <p:nvSpPr>
          <p:cNvPr id="11" name="Shape 8"/>
          <p:cNvSpPr/>
          <p:nvPr/>
        </p:nvSpPr>
        <p:spPr>
          <a:xfrm>
            <a:off x="548640" y="3712464"/>
            <a:ext cx="5410048" cy="960120"/>
          </a:xfrm>
          <a:prstGeom prst="roundRect">
            <a:avLst>
              <a:gd name="adj" fmla="val 9524"/>
            </a:avLst>
          </a:prstGeom>
          <a:solidFill>
            <a:srgbClr val="F4F5F8"/>
          </a:solidFill>
          <a:ln w="12700">
            <a:solidFill>
              <a:srgbClr val="F4F5F8"/>
            </a:solidFill>
            <a:prstDash val="solid"/>
          </a:ln>
        </p:spPr>
      </p:sp>
      <p:sp>
        <p:nvSpPr>
          <p:cNvPr id="12" name="Callout 3"/>
          <p:cNvSpPr txBox="1"/>
          <p:nvPr/>
        </p:nvSpPr>
        <p:spPr>
          <a:xfrm>
            <a:off x="731520" y="4000500"/>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0"/>
          <p:cNvSpPr txBox="1"/>
          <p:nvPr/>
        </p:nvSpPr>
        <p:spPr>
          <a:xfrm>
            <a:off x="1280160" y="3785616"/>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Run onboarding and verify documents</a:t>
            </a:r>
            <a:endParaRPr lang="en-US" sz="1500" dirty="0"/>
          </a:p>
          <a:p>
            <a:pPr indent="0" marL="0">
              <a:buNone/>
            </a:pPr>
            <a:r>
              <a:rPr lang="en-US" sz="1300" dirty="0">
                <a:solidFill>
                  <a:srgbClr val="5B6275"/>
                </a:solidFill>
              </a:rPr>
              <a:t>with separation of duties</a:t>
            </a:r>
            <a:endParaRPr lang="en-US" sz="1500" dirty="0"/>
          </a:p>
        </p:txBody>
      </p:sp>
      <p:sp>
        <p:nvSpPr>
          <p:cNvPr id="14" name="Shape 11"/>
          <p:cNvSpPr/>
          <p:nvPr/>
        </p:nvSpPr>
        <p:spPr>
          <a:xfrm>
            <a:off x="6233008" y="1463040"/>
            <a:ext cx="5410048" cy="960120"/>
          </a:xfrm>
          <a:prstGeom prst="roundRect">
            <a:avLst>
              <a:gd name="adj" fmla="val 9524"/>
            </a:avLst>
          </a:prstGeom>
          <a:solidFill>
            <a:srgbClr val="F4F5F8"/>
          </a:solidFill>
          <a:ln w="12700">
            <a:solidFill>
              <a:srgbClr val="F4F5F8"/>
            </a:solidFill>
            <a:prstDash val="solid"/>
          </a:ln>
        </p:spPr>
      </p:sp>
      <p:sp>
        <p:nvSpPr>
          <p:cNvPr id="15" name="Callout 4"/>
          <p:cNvSpPr txBox="1"/>
          <p:nvPr/>
        </p:nvSpPr>
        <p:spPr>
          <a:xfrm>
            <a:off x="6415888" y="1751076"/>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6" name="Text 13"/>
          <p:cNvSpPr txBox="1"/>
          <p:nvPr/>
        </p:nvSpPr>
        <p:spPr>
          <a:xfrm>
            <a:off x="6964528" y="1536192"/>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Administer attendance and leave</a:t>
            </a:r>
            <a:endParaRPr lang="en-US" sz="1500" dirty="0"/>
          </a:p>
          <a:p>
            <a:pPr indent="0" marL="0">
              <a:buNone/>
            </a:pPr>
            <a:r>
              <a:rPr lang="en-US" sz="1300" dirty="0">
                <a:solidFill>
                  <a:srgbClr val="5B6275"/>
                </a:solidFill>
              </a:rPr>
              <a:t>processing, balances, policies, known defects</a:t>
            </a:r>
            <a:endParaRPr lang="en-US" sz="1500" dirty="0"/>
          </a:p>
        </p:txBody>
      </p:sp>
      <p:sp>
        <p:nvSpPr>
          <p:cNvPr id="17" name="Shape 14"/>
          <p:cNvSpPr/>
          <p:nvPr/>
        </p:nvSpPr>
        <p:spPr>
          <a:xfrm>
            <a:off x="6233008" y="2587752"/>
            <a:ext cx="5410048" cy="960120"/>
          </a:xfrm>
          <a:prstGeom prst="roundRect">
            <a:avLst>
              <a:gd name="adj" fmla="val 9524"/>
            </a:avLst>
          </a:prstGeom>
          <a:solidFill>
            <a:srgbClr val="F4F5F8"/>
          </a:solidFill>
          <a:ln w="12700">
            <a:solidFill>
              <a:srgbClr val="F4F5F8"/>
            </a:solidFill>
            <a:prstDash val="solid"/>
          </a:ln>
        </p:spPr>
      </p:sp>
      <p:sp>
        <p:nvSpPr>
          <p:cNvPr id="18" name="Callout 5"/>
          <p:cNvSpPr txBox="1"/>
          <p:nvPr/>
        </p:nvSpPr>
        <p:spPr>
          <a:xfrm>
            <a:off x="6415888" y="2875788"/>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9" name="Text 16"/>
          <p:cNvSpPr txBox="1"/>
          <p:nvPr/>
        </p:nvSpPr>
        <p:spPr>
          <a:xfrm>
            <a:off x="6964528" y="2660904"/>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Prepare payroll and statutory inputs</a:t>
            </a:r>
            <a:endParaRPr lang="en-US" sz="1500" dirty="0"/>
          </a:p>
          <a:p>
            <a:pPr indent="0" marL="0">
              <a:buNone/>
            </a:pPr>
            <a:r>
              <a:rPr lang="en-US" sz="1300" dirty="0">
                <a:solidFill>
                  <a:srgbClr val="5B6275"/>
                </a:solidFill>
              </a:rPr>
              <a:t>and understand why finalising is blocked</a:t>
            </a:r>
            <a:endParaRPr lang="en-US" sz="1500" dirty="0"/>
          </a:p>
        </p:txBody>
      </p:sp>
      <p:sp>
        <p:nvSpPr>
          <p:cNvPr id="20" name="Shape 17"/>
          <p:cNvSpPr/>
          <p:nvPr/>
        </p:nvSpPr>
        <p:spPr>
          <a:xfrm>
            <a:off x="6233008" y="3712464"/>
            <a:ext cx="5410048" cy="960120"/>
          </a:xfrm>
          <a:prstGeom prst="roundRect">
            <a:avLst>
              <a:gd name="adj" fmla="val 9524"/>
            </a:avLst>
          </a:prstGeom>
          <a:solidFill>
            <a:srgbClr val="F4F5F8"/>
          </a:solidFill>
          <a:ln w="12700">
            <a:solidFill>
              <a:srgbClr val="F4F5F8"/>
            </a:solidFill>
            <a:prstDash val="solid"/>
          </a:ln>
        </p:spPr>
      </p:sp>
      <p:sp>
        <p:nvSpPr>
          <p:cNvPr id="21" name="Callout 6"/>
          <p:cNvSpPr txBox="1"/>
          <p:nvPr/>
        </p:nvSpPr>
        <p:spPr>
          <a:xfrm>
            <a:off x="6415888" y="4000500"/>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2" name="Text 19"/>
          <p:cNvSpPr txBox="1"/>
          <p:nvPr/>
        </p:nvSpPr>
        <p:spPr>
          <a:xfrm>
            <a:off x="6964528" y="3785616"/>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Handle growth, compensation, letters, requests and exits</a:t>
            </a:r>
            <a:endParaRPr lang="en-US" sz="1500" dirty="0"/>
          </a:p>
          <a:p>
            <a:pPr indent="0" marL="0">
              <a:buNone/>
            </a:pPr>
            <a:r>
              <a:rPr lang="en-US" sz="1300" dirty="0">
                <a:solidFill>
                  <a:srgbClr val="5B6275"/>
                </a:solidFill>
              </a:rPr>
              <a:t>and prove it in the audit trail</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ROLES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Who can do what in HR (system roles)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325112"/>
                <a:gridCol w="2286000"/>
                <a:gridCol w="2286000"/>
                <a:gridCol w="2194560"/>
              </a:tblGrid>
              <a:tr h="384048">
                <a:tc>
                  <a:txBody>
                    <a:bodyPr/>
                    <a:lstStyle/>
                    <a:p>
                      <a:pPr indent="0" marL="0">
                        <a:buNone/>
                      </a:pPr>
                      <a:r>
                        <a:rPr lang="en-US" sz="1150" b="1" dirty="0">
                          <a:solidFill>
                            <a:srgbClr val="FFFFFF"/>
                          </a:solidFill>
                        </a:rPr>
                        <a:t>Task</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Tenant HR Admin</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HR Manager</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150" b="1" dirty="0">
                          <a:solidFill>
                            <a:srgbClr val="FFFFFF"/>
                          </a:solidFill>
                        </a:rPr>
                        <a:t>Payroll Admin</a:t>
                      </a:r>
                      <a:endParaRPr lang="en-US" sz="11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200" dirty="0">
                          <a:solidFill>
                            <a:srgbClr val="1F2433"/>
                          </a:solidFill>
                        </a:rPr>
                        <a:t>Hire, change job or manager, lifecycle state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Yes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Yes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Upload / verify documents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Yes / Yes (not own upload)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Yes / Yes (not own upload)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Process attendance, manual punches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Yes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Payroll runs, components, adjustments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Yes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View structures only</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Yes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Statutory returns screens (EPF, ESI, PT, LWF, TDS)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Yes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No (F15)</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Propose / review / approve / execute compensation</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Propose, review, approve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Propose, review</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Execute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200" dirty="0">
                          <a:solidFill>
                            <a:srgbClr val="1F2433"/>
                          </a:solidFill>
                        </a:rPr>
                        <a:t>Employee imports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Yes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No (page not available)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433"/>
                          </a:solidFill>
                        </a:rPr>
                        <a:t>Edit role permissions</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No (F5)</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dirty="0">
                          <a:solidFill>
                            <a:srgbClr val="1F2433"/>
                          </a:solidFill>
                        </a:rPr>
                        <a:t>No</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01</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People records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Directory, register and the Employee 360: one lifetime record per person.</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RECORDS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People Directory</a:t>
            </a:r>
            <a:endParaRPr lang="en-US" sz="2800" dirty="0"/>
          </a:p>
        </p:txBody>
      </p:sp>
      <p:pic>
        <p:nvPicPr>
          <p:cNvPr id="5" name="Screenshot hr-admin/50-dir-01-directory-cards" descr="Screenshot: People › Directory (Card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303780" y="2627105"/>
            <a:ext cx="2046224" cy="157954"/>
          </a:xfrm>
          <a:prstGeom prst="roundRect">
            <a:avLst>
              <a:gd name="adj" fmla="val 28945"/>
            </a:avLst>
          </a:prstGeom>
          <a:ln w="25400">
            <a:solidFill>
              <a:srgbClr val="D97706"/>
            </a:solidFill>
            <a:prstDash val="solid"/>
          </a:ln>
        </p:spPr>
      </p:sp>
      <p:sp>
        <p:nvSpPr>
          <p:cNvPr id="8" name="Callout box 2"/>
          <p:cNvSpPr/>
          <p:nvPr/>
        </p:nvSpPr>
        <p:spPr>
          <a:xfrm>
            <a:off x="4414622" y="2580437"/>
            <a:ext cx="922596" cy="247701"/>
          </a:xfrm>
          <a:prstGeom prst="roundRect">
            <a:avLst>
              <a:gd name="adj" fmla="val 18458"/>
            </a:avLst>
          </a:prstGeom>
          <a:ln w="25400">
            <a:solidFill>
              <a:srgbClr val="D97706"/>
            </a:solidFill>
            <a:prstDash val="solid"/>
          </a:ln>
        </p:spPr>
      </p:sp>
      <p:sp>
        <p:nvSpPr>
          <p:cNvPr id="9" name="Callout box 3"/>
          <p:cNvSpPr/>
          <p:nvPr/>
        </p:nvSpPr>
        <p:spPr>
          <a:xfrm>
            <a:off x="6144937" y="2846087"/>
            <a:ext cx="236931" cy="204622"/>
          </a:xfrm>
          <a:prstGeom prst="roundRect">
            <a:avLst>
              <a:gd name="adj" fmla="val 22344"/>
            </a:avLst>
          </a:prstGeom>
          <a:ln w="25400">
            <a:solidFill>
              <a:srgbClr val="D97706"/>
            </a:solidFill>
            <a:prstDash val="solid"/>
          </a:ln>
        </p:spPr>
      </p:sp>
      <p:sp>
        <p:nvSpPr>
          <p:cNvPr id="10" name="Callout box 4"/>
          <p:cNvSpPr/>
          <p:nvPr/>
        </p:nvSpPr>
        <p:spPr>
          <a:xfrm>
            <a:off x="7426520" y="2838907"/>
            <a:ext cx="761052" cy="215392"/>
          </a:xfrm>
          <a:prstGeom prst="roundRect">
            <a:avLst>
              <a:gd name="adj" fmla="val 21226"/>
            </a:avLst>
          </a:prstGeom>
          <a:ln w="25400">
            <a:solidFill>
              <a:srgbClr val="D97706"/>
            </a:solidFill>
            <a:prstDash val="solid"/>
          </a:ln>
        </p:spPr>
      </p:sp>
      <p:sp>
        <p:nvSpPr>
          <p:cNvPr id="11" name="Callout 1"/>
          <p:cNvSpPr txBox="1"/>
          <p:nvPr/>
        </p:nvSpPr>
        <p:spPr>
          <a:xfrm>
            <a:off x="1992884" y="257806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2" name="Callout 2"/>
          <p:cNvSpPr txBox="1"/>
          <p:nvPr/>
        </p:nvSpPr>
        <p:spPr>
          <a:xfrm>
            <a:off x="4286606" y="228782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Callout 3"/>
          <p:cNvSpPr txBox="1"/>
          <p:nvPr/>
        </p:nvSpPr>
        <p:spPr>
          <a:xfrm>
            <a:off x="6016921" y="255347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Callout 4"/>
          <p:cNvSpPr txBox="1"/>
          <p:nvPr/>
        </p:nvSpPr>
        <p:spPr>
          <a:xfrm>
            <a:off x="7298504" y="254629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5"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3"/>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Search.</a:t>
            </a:r>
            <a:endParaRPr lang="en-US" sz="1400" dirty="0"/>
          </a:p>
        </p:txBody>
      </p:sp>
      <p:sp>
        <p:nvSpPr>
          <p:cNvPr id="18"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5"/>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Filters.</a:t>
            </a:r>
            <a:endParaRPr lang="en-US" sz="1400" dirty="0"/>
          </a:p>
        </p:txBody>
      </p:sp>
      <p:sp>
        <p:nvSpPr>
          <p:cNvPr id="20"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7"/>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Cards / Table.</a:t>
            </a:r>
            <a:endParaRPr lang="en-US" sz="1400" dirty="0"/>
          </a:p>
        </p:txBody>
      </p:sp>
      <p:sp>
        <p:nvSpPr>
          <p:cNvPr id="22" name="Callout 4"/>
          <p:cNvSpPr txBox="1"/>
          <p:nvPr/>
        </p:nvSpPr>
        <p:spPr>
          <a:xfrm>
            <a:off x="8595360" y="299008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9"/>
          <p:cNvSpPr txBox="1"/>
          <p:nvPr/>
        </p:nvSpPr>
        <p:spPr>
          <a:xfrm>
            <a:off x="9006840" y="2971800"/>
            <a:ext cx="2636215" cy="329184"/>
          </a:xfrm>
          <a:prstGeom prst="rect">
            <a:avLst/>
          </a:prstGeom>
          <a:noFill/>
          <a:ln/>
        </p:spPr>
        <p:txBody>
          <a:bodyPr wrap="square" lIns="0" tIns="0" rIns="0" bIns="0" rtlCol="0" anchor="t"/>
          <a:lstStyle/>
          <a:p>
            <a:pPr indent="0" marL="0">
              <a:buNone/>
            </a:pPr>
            <a:r>
              <a:rPr lang="en-US" sz="1400" dirty="0">
                <a:solidFill>
                  <a:schemeClr val="tx1"/>
                </a:solidFill>
              </a:rPr>
              <a:t>Employee register.</a:t>
            </a:r>
            <a:endParaRPr lang="en-US" sz="1400" dirty="0"/>
          </a:p>
        </p:txBody>
      </p:sp>
      <p:sp>
        <p:nvSpPr>
          <p:cNvPr id="24" name="Shape 20"/>
          <p:cNvSpPr/>
          <p:nvPr/>
        </p:nvSpPr>
        <p:spPr>
          <a:xfrm>
            <a:off x="8595360" y="3429000"/>
            <a:ext cx="3047695" cy="818769"/>
          </a:xfrm>
          <a:prstGeom prst="roundRect">
            <a:avLst>
              <a:gd name="adj" fmla="val 8934"/>
            </a:avLst>
          </a:prstGeom>
          <a:solidFill>
            <a:srgbClr val="F4F5F8"/>
          </a:solidFill>
          <a:ln w="12700">
            <a:solidFill>
              <a:srgbClr val="F4F5F8"/>
            </a:solidFill>
            <a:prstDash val="solid"/>
          </a:ln>
        </p:spPr>
      </p:sp>
      <p:sp>
        <p:nvSpPr>
          <p:cNvPr id="25" name="Text 21"/>
          <p:cNvSpPr txBox="1"/>
          <p:nvPr/>
        </p:nvSpPr>
        <p:spPr>
          <a:xfrm>
            <a:off x="8732520" y="352044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Everyone you may see, with department, location, status and grouping filters.</a:t>
            </a:r>
            <a:endParaRPr lang="en-US" sz="1050" dirty="0"/>
          </a:p>
        </p:txBody>
      </p:sp>
      <p:sp>
        <p:nvSpPr>
          <p:cNvPr id="26" name="Text 2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Directory (Cards)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RECORDS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Preview and register</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Person preview</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0-dir-02-person-preview" descr="Screenshot: People › Directory › person preview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Role, manager and quick actions: Open profile, Message, Org map, Start a change.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Directory › person preview</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Employees register</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0-dir-03-employee-register" descr="Screenshot: People › Lifecycle › Employee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Table with ID, designation, department, manager, status; Hire employee; View and Edit.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Lifecycle › Employees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Employee 360: the header and Now</a:t>
            </a:r>
            <a:endParaRPr lang="en-US" sz="2800" dirty="0"/>
          </a:p>
        </p:txBody>
      </p:sp>
      <p:pic>
        <p:nvPicPr>
          <p:cNvPr id="5" name="Screenshot hr-admin/50-360-01-header-now" descr="Screenshot: Employee 360 › Now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399794"/>
          </a:xfrm>
          <a:prstGeom prst="roundRect">
            <a:avLst>
              <a:gd name="adj" fmla="val 5226"/>
            </a:avLst>
          </a:prstGeom>
          <a:solidFill>
            <a:srgbClr val="F4F5F8"/>
          </a:solidFill>
          <a:ln w="12700">
            <a:solidFill>
              <a:srgbClr val="F4F5F8"/>
            </a:solidFill>
            <a:prstDash val="solid"/>
          </a:ln>
        </p:spPr>
      </p:sp>
      <p:sp>
        <p:nvSpPr>
          <p:cNvPr id="9" name="Text 5"/>
          <p:cNvSpPr txBox="1"/>
          <p:nvPr/>
        </p:nvSpPr>
        <p:spPr>
          <a:xfrm>
            <a:off x="8732520" y="1965960"/>
            <a:ext cx="2773375" cy="12169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Status, tenure, manager; Summarise, Message, Request, Action and More; views Now, Journey, Work, Growth, Rewards, Documents and Records. Now shows what is next for the person.</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Now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Action and More menus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Action</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0-360-02-action-menu" descr="Screenshot: Employee 360 › Action menu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Transfer / promote, Change manager, Change lifecycle state, Start onboarding, Initiate background check, Assign work schedule, Start workflow.</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Action menu</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More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0-360-03-more-menu" descr="Screenshot: Employee 360 › More menu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Edit profile, All changes, Statutory details, Edit statutory details. Menus depend on your permissions.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More menu</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Journey: the effective-dated history</a:t>
            </a:r>
            <a:endParaRPr lang="en-US" sz="2800" dirty="0"/>
          </a:p>
        </p:txBody>
      </p:sp>
      <p:pic>
        <p:nvPicPr>
          <p:cNvPr id="5" name="Screenshot hr-admin/50-360-04-journey" descr="Screenshot: Employee 360 › Journey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418656" y="3161995"/>
            <a:ext cx="452323" cy="287189"/>
          </a:xfrm>
          <a:prstGeom prst="roundRect">
            <a:avLst>
              <a:gd name="adj" fmla="val 15920"/>
            </a:avLst>
          </a:prstGeom>
          <a:ln w="25400">
            <a:solidFill>
              <a:srgbClr val="D97706"/>
            </a:solidFill>
            <a:prstDash val="solid"/>
          </a:ln>
        </p:spPr>
      </p:sp>
      <p:sp>
        <p:nvSpPr>
          <p:cNvPr id="8" name="Callout 1"/>
          <p:cNvSpPr txBox="1"/>
          <p:nvPr/>
        </p:nvSpPr>
        <p:spPr>
          <a:xfrm>
            <a:off x="2290640" y="2869387"/>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Journey.</a:t>
            </a:r>
            <a:endParaRPr lang="en-US" sz="1400" dirty="0"/>
          </a:p>
        </p:txBody>
      </p:sp>
      <p:sp>
        <p:nvSpPr>
          <p:cNvPr id="12" name="Shape 8"/>
          <p:cNvSpPr/>
          <p:nvPr/>
        </p:nvSpPr>
        <p:spPr>
          <a:xfrm>
            <a:off x="8595360" y="2331720"/>
            <a:ext cx="3047695" cy="1206119"/>
          </a:xfrm>
          <a:prstGeom prst="roundRect">
            <a:avLst>
              <a:gd name="adj" fmla="val 6065"/>
            </a:avLst>
          </a:prstGeom>
          <a:solidFill>
            <a:srgbClr val="F4F5F8"/>
          </a:solidFill>
          <a:ln w="12700">
            <a:solidFill>
              <a:srgbClr val="F4F5F8"/>
            </a:solidFill>
            <a:prstDash val="solid"/>
          </a:ln>
        </p:spPr>
      </p:sp>
      <p:sp>
        <p:nvSpPr>
          <p:cNvPr id="13" name="Text 9"/>
          <p:cNvSpPr txBox="1"/>
          <p:nvPr/>
        </p:nvSpPr>
        <p:spPr>
          <a:xfrm>
            <a:off x="8732520" y="242316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Joining, onboarding, probation, assets, leave and manager assignment in order. Select a stage to see what happened in it.</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Journey</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Records: employment and time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Employment</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0-360-05-records-employment" descr="Screenshot: Employee 360 › Records › Employment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Position assignments and reporting lines, each with from/to dates and change type.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 Employment</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Time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0-360-06-records-time" descr="Screenshot: Employee 360 › Records › Time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Attendance and leave for this person; Apply for leave on their behalf.</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 Time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Records: rewards and operations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Rewards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0-360-07-records-rewards" descr="Screenshot: Employee 360 › Records › Rewards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Compensation, compensation changes and payslips, only with the matching permission.</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 Rewards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Operations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0-360-08-records-operations" descr="Screenshot: Employee 360 › Records › Operation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Documents (Upload, Verify, Reject), letters and requests.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 Operations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Different HR roles, different record tabs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Tenant HR Admin</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security-compliance/50-sec-01-360-records-tenant-hr-admin" descr="Screenshot: Employee 360 › Records (as Tenant HR Admin (Kavya))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Timeline, Employment, Time, Growth, Rewards, Operations, Bank &amp; personal, History.</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(as Tenant HR Admin (Kavya))</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HR Manager</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security-compliance/50-sec-02-360-records-hr-manager" descr="Screenshot: Employee 360 › Records (as HR Manager (Neha)) (Neha Kapoo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 Growth; Personal instead of Bank &amp; personal: no bank or identity details.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Employee 360 › Records (as HR Manager (Neha))</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Bank &amp; personal: sensitive and permission-controlled</a:t>
            </a:r>
            <a:endParaRPr lang="en-US" sz="2800" dirty="0"/>
          </a:p>
        </p:txBody>
      </p:sp>
      <p:pic>
        <p:nvPicPr>
          <p:cNvPr id="5" name="Screenshot hr-admin/50-360-09-records-bank-personal" descr="Screenshot: Employee 360 › Records › Bank &amp; personal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4920793" y="1988109"/>
            <a:ext cx="761052" cy="280010"/>
          </a:xfrm>
          <a:prstGeom prst="roundRect">
            <a:avLst>
              <a:gd name="adj" fmla="val 16328"/>
            </a:avLst>
          </a:prstGeom>
          <a:ln w="25400">
            <a:solidFill>
              <a:srgbClr val="D97706"/>
            </a:solidFill>
            <a:prstDash val="solid"/>
          </a:ln>
        </p:spPr>
      </p:sp>
      <p:sp>
        <p:nvSpPr>
          <p:cNvPr id="8" name="Callout 1"/>
          <p:cNvSpPr txBox="1"/>
          <p:nvPr/>
        </p:nvSpPr>
        <p:spPr>
          <a:xfrm>
            <a:off x="4792777" y="169550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Bank &amp; personal.</a:t>
            </a:r>
            <a:endParaRPr lang="en-US" sz="1400" dirty="0"/>
          </a:p>
        </p:txBody>
      </p:sp>
      <p:sp>
        <p:nvSpPr>
          <p:cNvPr id="12" name="Shape 8"/>
          <p:cNvSpPr/>
          <p:nvPr/>
        </p:nvSpPr>
        <p:spPr>
          <a:xfrm>
            <a:off x="8595360" y="2331720"/>
            <a:ext cx="3047695" cy="1593469"/>
          </a:xfrm>
          <a:prstGeom prst="roundRect">
            <a:avLst>
              <a:gd name="adj" fmla="val 4591"/>
            </a:avLst>
          </a:prstGeom>
          <a:solidFill>
            <a:srgbClr val="F4F5F8"/>
          </a:solidFill>
          <a:ln w="12700">
            <a:solidFill>
              <a:srgbClr val="F4F5F8"/>
            </a:solidFill>
            <a:prstDash val="solid"/>
          </a:ln>
        </p:spPr>
      </p:sp>
      <p:sp>
        <p:nvSpPr>
          <p:cNvPr id="13" name="Text 9"/>
          <p:cNvSpPr txBox="1"/>
          <p:nvPr/>
        </p:nvSpPr>
        <p:spPr>
          <a:xfrm>
            <a:off x="8732520" y="2423160"/>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Sections for addresses, family and nominees, emergency contacts, bank accounts and identifiers (empty for this fictional employee). Sensitive fields need *.sensitive.* permissions and are masked otherwise.</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Records › Bank &amp; personal</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EMPLOYEE 360</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Two errors you may meet on the 360 (development mode)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History tab</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FBE6E4"/>
          </a:solidFill>
          <a:ln/>
        </p:spPr>
        <p:txBody>
          <a:bodyPr wrap="square" lIns="0" tIns="0" rIns="0" bIns="0" rtlCol="0" anchor="ctr"/>
          <a:lstStyle/>
          <a:p>
            <a:pPr algn="ctr" indent="0" marL="0">
              <a:buNone/>
            </a:pPr>
            <a:r>
              <a:rPr lang="en-US" sz="950" b="1" dirty="0">
                <a:solidFill>
                  <a:srgbClr val="B3261E"/>
                </a:solidFill>
              </a:rPr>
              <a:t>Incomplete</a:t>
            </a:r>
            <a:endParaRPr lang="en-US" sz="950" dirty="0"/>
          </a:p>
        </p:txBody>
      </p:sp>
      <p:pic>
        <p:nvPicPr>
          <p:cNvPr id="7" name="Screenshot hr-admin/50-360-10-records-history" descr="Screenshot: Employee 360 › Records › History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LazyLoadingViolationException (F26) in non-production strict mode. Use Insights › Audit › Change history instead.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 History</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Employment section on scroll</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FBE6E4"/>
          </a:solidFill>
          <a:ln/>
        </p:spPr>
        <p:txBody>
          <a:bodyPr wrap="square" lIns="0" tIns="0" rIns="0" bIns="0" rtlCol="0" anchor="ctr"/>
          <a:lstStyle/>
          <a:p>
            <a:pPr algn="ctr" indent="0" marL="0">
              <a:buNone/>
            </a:pPr>
            <a:r>
              <a:rPr lang="en-US" sz="950" b="1" dirty="0">
                <a:solidFill>
                  <a:srgbClr val="B3261E"/>
                </a:solidFill>
              </a:rPr>
              <a:t>Incomplete</a:t>
            </a:r>
            <a:endParaRPr lang="en-US" sz="950" dirty="0"/>
          </a:p>
        </p:txBody>
      </p:sp>
      <p:pic>
        <p:nvPicPr>
          <p:cNvPr id="13" name="Screenshot support/50-360-err-01-records-employment" descr="Screenshot: Employee 360 › Records › Employment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TypeError in a lazily loaded section (new finding, 21 Oct 2026).</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 Employment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02</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Hire and person matching</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Four guided steps; the person is matched before anything is created.</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HIRE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Hire an employee</a:t>
            </a:r>
            <a:endParaRPr lang="en-US" sz="2800" dirty="0"/>
          </a:p>
        </p:txBody>
      </p:sp>
      <p:sp>
        <p:nvSpPr>
          <p:cNvPr id="5" name="Text 2"/>
          <p:cNvSpPr txBox="1"/>
          <p:nvPr/>
        </p:nvSpPr>
        <p:spPr>
          <a:xfrm>
            <a:off x="548640" y="1463040"/>
            <a:ext cx="6949440" cy="1143000"/>
          </a:xfrm>
          <a:prstGeom prst="rect">
            <a:avLst/>
          </a:prstGeom>
          <a:noFill/>
          <a:ln/>
        </p:spPr>
        <p:txBody>
          <a:bodyPr wrap="square" lIns="0" tIns="0" rIns="0" bIns="0" rtlCol="0" anchor="t"/>
          <a:lstStyle/>
          <a:p>
            <a:pPr indent="0" marL="0">
              <a:buNone/>
            </a:pPr>
            <a:r>
              <a:rPr lang="en-US" sz="2000" dirty="0">
                <a:solidFill>
                  <a:schemeClr val="tx2"/>
                </a:solidFill>
                <a:latin typeface="Cambria" pitchFamily="34" charset="0"/>
                <a:ea typeface="Cambria" pitchFamily="34" charset="-122"/>
                <a:cs typeface="Cambria" pitchFamily="34" charset="-120"/>
              </a:rPr>
              <a:t>Create one lifetime record for a new joiner, placed in the organisation with a manager, without duplicating a person who already exists.</a:t>
            </a:r>
            <a:endParaRPr lang="en-US" sz="2000" dirty="0"/>
          </a:p>
        </p:txBody>
      </p:sp>
      <p:sp>
        <p:nvSpPr>
          <p:cNvPr id="6" name="Shape 3"/>
          <p:cNvSpPr/>
          <p:nvPr/>
        </p:nvSpPr>
        <p:spPr>
          <a:xfrm>
            <a:off x="548640" y="2788920"/>
            <a:ext cx="3576218" cy="1600200"/>
          </a:xfrm>
          <a:prstGeom prst="roundRect">
            <a:avLst>
              <a:gd name="adj" fmla="val 5714"/>
            </a:avLst>
          </a:prstGeom>
          <a:solidFill>
            <a:srgbClr val="F4F5F8"/>
          </a:solidFill>
          <a:ln w="12700">
            <a:solidFill>
              <a:srgbClr val="F4F5F8"/>
            </a:solidFill>
            <a:prstDash val="solid"/>
          </a:ln>
        </p:spPr>
      </p:sp>
      <p:sp>
        <p:nvSpPr>
          <p:cNvPr id="7" name="Text 4"/>
          <p:cNvSpPr txBox="1"/>
          <p:nvPr/>
        </p:nvSpPr>
        <p:spPr>
          <a:xfrm>
            <a:off x="777240"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WHO</a:t>
            </a:r>
            <a:endParaRPr lang="en-US" sz="1100" dirty="0"/>
          </a:p>
        </p:txBody>
      </p:sp>
      <p:sp>
        <p:nvSpPr>
          <p:cNvPr id="8" name="Text 5"/>
          <p:cNvSpPr txBox="1"/>
          <p:nvPr/>
        </p:nvSpPr>
        <p:spPr>
          <a:xfrm>
            <a:off x="777240"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Tenant HR Admin, HR Manager, HR Executive (employee.create)</a:t>
            </a:r>
            <a:endParaRPr lang="en-US" sz="1400" dirty="0"/>
          </a:p>
        </p:txBody>
      </p:sp>
      <p:sp>
        <p:nvSpPr>
          <p:cNvPr id="9" name="Shape 6"/>
          <p:cNvSpPr/>
          <p:nvPr/>
        </p:nvSpPr>
        <p:spPr>
          <a:xfrm>
            <a:off x="4307738" y="2788920"/>
            <a:ext cx="3576218" cy="1600200"/>
          </a:xfrm>
          <a:prstGeom prst="roundRect">
            <a:avLst>
              <a:gd name="adj" fmla="val 5714"/>
            </a:avLst>
          </a:prstGeom>
          <a:solidFill>
            <a:srgbClr val="F4F5F8"/>
          </a:solidFill>
          <a:ln w="12700">
            <a:solidFill>
              <a:srgbClr val="F4F5F8"/>
            </a:solidFill>
            <a:prstDash val="solid"/>
          </a:ln>
        </p:spPr>
      </p:sp>
      <p:sp>
        <p:nvSpPr>
          <p:cNvPr id="10" name="Text 7"/>
          <p:cNvSpPr txBox="1"/>
          <p:nvPr/>
        </p:nvSpPr>
        <p:spPr>
          <a:xfrm>
            <a:off x="4536338"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WHERE</a:t>
            </a:r>
            <a:endParaRPr lang="en-US" sz="1100" dirty="0"/>
          </a:p>
        </p:txBody>
      </p:sp>
      <p:sp>
        <p:nvSpPr>
          <p:cNvPr id="11" name="Text 8"/>
          <p:cNvSpPr txBox="1"/>
          <p:nvPr/>
        </p:nvSpPr>
        <p:spPr>
          <a:xfrm>
            <a:off x="4536338"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People › Lifecycle › Employees › Hire employee</a:t>
            </a:r>
            <a:endParaRPr lang="en-US" sz="1400" dirty="0"/>
          </a:p>
        </p:txBody>
      </p:sp>
      <p:sp>
        <p:nvSpPr>
          <p:cNvPr id="12" name="Shape 9"/>
          <p:cNvSpPr/>
          <p:nvPr/>
        </p:nvSpPr>
        <p:spPr>
          <a:xfrm>
            <a:off x="8066837" y="2788920"/>
            <a:ext cx="3576218" cy="1600200"/>
          </a:xfrm>
          <a:prstGeom prst="roundRect">
            <a:avLst>
              <a:gd name="adj" fmla="val 5714"/>
            </a:avLst>
          </a:prstGeom>
          <a:solidFill>
            <a:srgbClr val="F4F5F8"/>
          </a:solidFill>
          <a:ln w="12700">
            <a:solidFill>
              <a:srgbClr val="F4F5F8"/>
            </a:solidFill>
            <a:prstDash val="solid"/>
          </a:ln>
        </p:spPr>
      </p:sp>
      <p:sp>
        <p:nvSpPr>
          <p:cNvPr id="13" name="Text 10"/>
          <p:cNvSpPr txBox="1"/>
          <p:nvPr/>
        </p:nvSpPr>
        <p:spPr>
          <a:xfrm>
            <a:off x="8295437"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BEFORE YOU START</a:t>
            </a:r>
            <a:endParaRPr lang="en-US" sz="1100" dirty="0"/>
          </a:p>
        </p:txBody>
      </p:sp>
      <p:sp>
        <p:nvSpPr>
          <p:cNvPr id="14" name="Text 11"/>
          <p:cNvSpPr txBox="1"/>
          <p:nvPr/>
        </p:nvSpPr>
        <p:spPr>
          <a:xfrm>
            <a:off x="8295437"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Organisation, designations and the manager's record exist (Deck 4, stages 4–8).</a:t>
            </a:r>
            <a:endParaRPr lang="en-US" sz="1400" dirty="0"/>
          </a:p>
        </p:txBody>
      </p:sp>
      <p:sp>
        <p:nvSpPr>
          <p:cNvPr id="15" name="Status"/>
          <p:cNvSpPr txBox="1"/>
          <p:nvPr/>
        </p:nvSpPr>
        <p:spPr>
          <a:xfrm>
            <a:off x="8351215" y="1508760"/>
            <a:ext cx="329184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Shape 13"/>
          <p:cNvSpPr/>
          <p:nvPr/>
        </p:nvSpPr>
        <p:spPr>
          <a:xfrm>
            <a:off x="548640" y="4709160"/>
            <a:ext cx="1984797" cy="1143000"/>
          </a:xfrm>
          <a:prstGeom prst="roundRect">
            <a:avLst>
              <a:gd name="adj" fmla="val 8000"/>
            </a:avLst>
          </a:prstGeom>
          <a:solidFill>
            <a:srgbClr val="574BC4"/>
          </a:solidFill>
          <a:ln w="15875">
            <a:solidFill>
              <a:srgbClr val="574BC4"/>
            </a:solidFill>
            <a:prstDash val="solid"/>
          </a:ln>
        </p:spPr>
      </p:sp>
      <p:sp>
        <p:nvSpPr>
          <p:cNvPr id="17" name="Text 14"/>
          <p:cNvSpPr txBox="1"/>
          <p:nvPr/>
        </p:nvSpPr>
        <p:spPr>
          <a:xfrm>
            <a:off x="640080" y="4782312"/>
            <a:ext cx="1801917" cy="996696"/>
          </a:xfrm>
          <a:prstGeom prst="rect">
            <a:avLst/>
          </a:prstGeom>
          <a:noFill/>
          <a:ln/>
        </p:spPr>
        <p:txBody>
          <a:bodyPr wrap="square" lIns="0" tIns="0" rIns="0" bIns="0" rtlCol="0" anchor="ctr"/>
          <a:lstStyle/>
          <a:p>
            <a:pPr algn="ctr" indent="0" marL="0">
              <a:buNone/>
            </a:pPr>
            <a:r>
              <a:rPr lang="en-US" sz="1300" b="1" dirty="0">
                <a:solidFill>
                  <a:srgbClr val="FFFFFF"/>
                </a:solidFill>
              </a:rPr>
              <a:t>START</a:t>
            </a:r>
            <a:endParaRPr lang="en-US" sz="1300" dirty="0"/>
          </a:p>
          <a:p>
            <a:pPr algn="ctr" indent="0" marL="0">
              <a:buNone/>
            </a:pPr>
            <a:r>
              <a:rPr lang="en-US" sz="1100" dirty="0">
                <a:solidFill>
                  <a:srgbClr val="E4E2F7"/>
                </a:solidFill>
              </a:rPr>
              <a:t>Employees</a:t>
            </a:r>
            <a:endParaRPr lang="en-US" sz="1300" dirty="0"/>
          </a:p>
        </p:txBody>
      </p:sp>
      <p:sp>
        <p:nvSpPr>
          <p:cNvPr id="18" name="Shape 15"/>
          <p:cNvSpPr/>
          <p:nvPr/>
        </p:nvSpPr>
        <p:spPr>
          <a:xfrm>
            <a:off x="2579157" y="5166360"/>
            <a:ext cx="201168" cy="228600"/>
          </a:xfrm>
          <a:prstGeom prst="rightArrow">
            <a:avLst/>
          </a:prstGeom>
          <a:solidFill>
            <a:srgbClr val="C9A45C"/>
          </a:solidFill>
          <a:ln w="12700">
            <a:solidFill>
              <a:srgbClr val="C9A45C"/>
            </a:solidFill>
            <a:prstDash val="solid"/>
          </a:ln>
        </p:spPr>
      </p:sp>
      <p:sp>
        <p:nvSpPr>
          <p:cNvPr id="19" name="Shape 16"/>
          <p:cNvSpPr/>
          <p:nvPr/>
        </p:nvSpPr>
        <p:spPr>
          <a:xfrm>
            <a:off x="2826045" y="4709160"/>
            <a:ext cx="1984797" cy="1143000"/>
          </a:xfrm>
          <a:prstGeom prst="roundRect">
            <a:avLst>
              <a:gd name="adj" fmla="val 8000"/>
            </a:avLst>
          </a:prstGeom>
          <a:solidFill>
            <a:srgbClr val="FFFFFF"/>
          </a:solidFill>
          <a:ln w="15875">
            <a:solidFill>
              <a:srgbClr val="574BC4"/>
            </a:solidFill>
            <a:prstDash val="solid"/>
          </a:ln>
        </p:spPr>
      </p:sp>
      <p:sp>
        <p:nvSpPr>
          <p:cNvPr id="20" name="Text 17"/>
          <p:cNvSpPr txBox="1"/>
          <p:nvPr/>
        </p:nvSpPr>
        <p:spPr>
          <a:xfrm>
            <a:off x="2917485"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PERSON</a:t>
            </a:r>
            <a:endParaRPr lang="en-US" sz="1300" dirty="0"/>
          </a:p>
          <a:p>
            <a:pPr algn="ctr" indent="0" marL="0">
              <a:buNone/>
            </a:pPr>
            <a:r>
              <a:rPr lang="en-US" sz="1100" dirty="0">
                <a:solidFill>
                  <a:srgbClr val="5B6275"/>
                </a:solidFill>
              </a:rPr>
              <a:t>duplicate check</a:t>
            </a:r>
            <a:endParaRPr lang="en-US" sz="1300" dirty="0"/>
          </a:p>
        </p:txBody>
      </p:sp>
      <p:sp>
        <p:nvSpPr>
          <p:cNvPr id="21" name="Shape 18"/>
          <p:cNvSpPr/>
          <p:nvPr/>
        </p:nvSpPr>
        <p:spPr>
          <a:xfrm>
            <a:off x="4856561" y="5166360"/>
            <a:ext cx="201168" cy="228600"/>
          </a:xfrm>
          <a:prstGeom prst="rightArrow">
            <a:avLst/>
          </a:prstGeom>
          <a:solidFill>
            <a:srgbClr val="C9A45C"/>
          </a:solidFill>
          <a:ln w="12700">
            <a:solidFill>
              <a:srgbClr val="C9A45C"/>
            </a:solidFill>
            <a:prstDash val="solid"/>
          </a:ln>
        </p:spPr>
      </p:sp>
      <p:sp>
        <p:nvSpPr>
          <p:cNvPr id="22" name="Shape 19"/>
          <p:cNvSpPr/>
          <p:nvPr/>
        </p:nvSpPr>
        <p:spPr>
          <a:xfrm>
            <a:off x="5103449" y="4709160"/>
            <a:ext cx="1984797" cy="1143000"/>
          </a:xfrm>
          <a:prstGeom prst="roundRect">
            <a:avLst>
              <a:gd name="adj" fmla="val 8000"/>
            </a:avLst>
          </a:prstGeom>
          <a:solidFill>
            <a:srgbClr val="FFFFFF"/>
          </a:solidFill>
          <a:ln w="15875">
            <a:solidFill>
              <a:srgbClr val="574BC4"/>
            </a:solidFill>
            <a:prstDash val="solid"/>
          </a:ln>
        </p:spPr>
      </p:sp>
      <p:sp>
        <p:nvSpPr>
          <p:cNvPr id="23" name="Text 20"/>
          <p:cNvSpPr txBox="1"/>
          <p:nvPr/>
        </p:nvSpPr>
        <p:spPr>
          <a:xfrm>
            <a:off x="5194889"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EMPLOYMENT</a:t>
            </a:r>
            <a:endParaRPr lang="en-US" sz="1300" dirty="0"/>
          </a:p>
          <a:p>
            <a:pPr algn="ctr" indent="0" marL="0">
              <a:buNone/>
            </a:pPr>
            <a:r>
              <a:rPr lang="en-US" sz="1100" dirty="0">
                <a:solidFill>
                  <a:srgbClr val="5B6275"/>
                </a:solidFill>
              </a:rPr>
              <a:t>dates, code</a:t>
            </a:r>
            <a:endParaRPr lang="en-US" sz="1300" dirty="0"/>
          </a:p>
        </p:txBody>
      </p:sp>
      <p:sp>
        <p:nvSpPr>
          <p:cNvPr id="24" name="Shape 21"/>
          <p:cNvSpPr/>
          <p:nvPr/>
        </p:nvSpPr>
        <p:spPr>
          <a:xfrm>
            <a:off x="7133966" y="5166360"/>
            <a:ext cx="201168" cy="228600"/>
          </a:xfrm>
          <a:prstGeom prst="rightArrow">
            <a:avLst/>
          </a:prstGeom>
          <a:solidFill>
            <a:srgbClr val="C9A45C"/>
          </a:solidFill>
          <a:ln w="12700">
            <a:solidFill>
              <a:srgbClr val="C9A45C"/>
            </a:solidFill>
            <a:prstDash val="solid"/>
          </a:ln>
        </p:spPr>
      </p:sp>
      <p:sp>
        <p:nvSpPr>
          <p:cNvPr id="25" name="Shape 22"/>
          <p:cNvSpPr/>
          <p:nvPr/>
        </p:nvSpPr>
        <p:spPr>
          <a:xfrm>
            <a:off x="7380854" y="4709160"/>
            <a:ext cx="1984797" cy="1143000"/>
          </a:xfrm>
          <a:prstGeom prst="roundRect">
            <a:avLst>
              <a:gd name="adj" fmla="val 8000"/>
            </a:avLst>
          </a:prstGeom>
          <a:solidFill>
            <a:srgbClr val="FFFFFF"/>
          </a:solidFill>
          <a:ln w="15875">
            <a:solidFill>
              <a:srgbClr val="574BC4"/>
            </a:solidFill>
            <a:prstDash val="solid"/>
          </a:ln>
        </p:spPr>
      </p:sp>
      <p:sp>
        <p:nvSpPr>
          <p:cNvPr id="26" name="Text 23"/>
          <p:cNvSpPr txBox="1"/>
          <p:nvPr/>
        </p:nvSpPr>
        <p:spPr>
          <a:xfrm>
            <a:off x="7472294"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POSITION</a:t>
            </a:r>
            <a:endParaRPr lang="en-US" sz="1300" dirty="0"/>
          </a:p>
          <a:p>
            <a:pPr algn="ctr" indent="0" marL="0">
              <a:buNone/>
            </a:pPr>
            <a:r>
              <a:rPr lang="en-US" sz="1100" dirty="0">
                <a:solidFill>
                  <a:srgbClr val="5B6275"/>
                </a:solidFill>
              </a:rPr>
              <a:t>placement</a:t>
            </a:r>
            <a:endParaRPr lang="en-US" sz="1300" dirty="0"/>
          </a:p>
        </p:txBody>
      </p:sp>
      <p:sp>
        <p:nvSpPr>
          <p:cNvPr id="27" name="Shape 24"/>
          <p:cNvSpPr/>
          <p:nvPr/>
        </p:nvSpPr>
        <p:spPr>
          <a:xfrm>
            <a:off x="9411371" y="5166360"/>
            <a:ext cx="201168" cy="228600"/>
          </a:xfrm>
          <a:prstGeom prst="rightArrow">
            <a:avLst/>
          </a:prstGeom>
          <a:solidFill>
            <a:srgbClr val="C9A45C"/>
          </a:solidFill>
          <a:ln w="12700">
            <a:solidFill>
              <a:srgbClr val="C9A45C"/>
            </a:solidFill>
            <a:prstDash val="solid"/>
          </a:ln>
        </p:spPr>
      </p:sp>
      <p:sp>
        <p:nvSpPr>
          <p:cNvPr id="28" name="Shape 25"/>
          <p:cNvSpPr/>
          <p:nvPr/>
        </p:nvSpPr>
        <p:spPr>
          <a:xfrm>
            <a:off x="9658259" y="4709160"/>
            <a:ext cx="1984797" cy="1143000"/>
          </a:xfrm>
          <a:prstGeom prst="roundRect">
            <a:avLst>
              <a:gd name="adj" fmla="val 8000"/>
            </a:avLst>
          </a:prstGeom>
          <a:solidFill>
            <a:srgbClr val="FFFFFF"/>
          </a:solidFill>
          <a:ln w="15875">
            <a:solidFill>
              <a:srgbClr val="574BC4"/>
            </a:solidFill>
            <a:prstDash val="solid"/>
          </a:ln>
        </p:spPr>
      </p:sp>
      <p:sp>
        <p:nvSpPr>
          <p:cNvPr id="29" name="Text 26"/>
          <p:cNvSpPr txBox="1"/>
          <p:nvPr/>
        </p:nvSpPr>
        <p:spPr>
          <a:xfrm>
            <a:off x="9749699"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MANAGER</a:t>
            </a:r>
            <a:endParaRPr lang="en-US" sz="1300" dirty="0"/>
          </a:p>
          <a:p>
            <a:pPr algn="ctr" indent="0" marL="0">
              <a:buNone/>
            </a:pPr>
            <a:r>
              <a:rPr lang="en-US" sz="1100" dirty="0">
                <a:solidFill>
                  <a:srgbClr val="5B6275"/>
                </a:solidFill>
              </a:rPr>
              <a:t>reason → create</a:t>
            </a:r>
            <a:endParaRPr lang="en-US" sz="1300" dirty="0"/>
          </a:p>
        </p:txBody>
      </p:sp>
      <p:sp>
        <p:nvSpPr>
          <p:cNvPr id="30" name="Text 27"/>
          <p:cNvSpPr txBox="1"/>
          <p:nvPr/>
        </p:nvSpPr>
        <p:spPr>
          <a:xfrm>
            <a:off x="548640" y="5916168"/>
            <a:ext cx="36576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sequence summary</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HIRE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duplicate check stops a second record</a:t>
            </a:r>
            <a:endParaRPr lang="en-US" sz="2800" dirty="0"/>
          </a:p>
        </p:txBody>
      </p:sp>
      <p:pic>
        <p:nvPicPr>
          <p:cNvPr id="5" name="Screenshot hr-admin/50-hire-01-duplicate-refused" descr="Screenshot: Hire employee › Person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6159297" y="1481938"/>
            <a:ext cx="2110842" cy="678485"/>
          </a:xfrm>
          <a:prstGeom prst="roundRect">
            <a:avLst>
              <a:gd name="adj" fmla="val 6739"/>
            </a:avLst>
          </a:prstGeom>
          <a:ln w="25400">
            <a:solidFill>
              <a:srgbClr val="D97706"/>
            </a:solidFill>
            <a:prstDash val="solid"/>
          </a:ln>
        </p:spPr>
      </p:sp>
      <p:sp>
        <p:nvSpPr>
          <p:cNvPr id="8" name="Callout box 2"/>
          <p:cNvSpPr/>
          <p:nvPr/>
        </p:nvSpPr>
        <p:spPr>
          <a:xfrm>
            <a:off x="2109927" y="5445150"/>
            <a:ext cx="1967247" cy="236931"/>
          </a:xfrm>
          <a:prstGeom prst="roundRect">
            <a:avLst>
              <a:gd name="adj" fmla="val 19297"/>
            </a:avLst>
          </a:prstGeom>
          <a:ln w="25400">
            <a:solidFill>
              <a:srgbClr val="D97706"/>
            </a:solidFill>
            <a:prstDash val="solid"/>
          </a:ln>
        </p:spPr>
      </p:sp>
      <p:sp>
        <p:nvSpPr>
          <p:cNvPr id="9" name="Callout 1"/>
          <p:cNvSpPr txBox="1"/>
          <p:nvPr/>
        </p:nvSpPr>
        <p:spPr>
          <a:xfrm>
            <a:off x="5848401" y="169316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1799031" y="5435600"/>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Duplicate refused.</a:t>
            </a:r>
            <a:endParaRPr lang="en-US" sz="1400" dirty="0"/>
          </a:p>
        </p:txBody>
      </p:sp>
      <p:sp>
        <p:nvSpPr>
          <p:cNvPr id="14"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Matching field.</a:t>
            </a:r>
            <a:endParaRPr lang="en-US" sz="1400" dirty="0"/>
          </a:p>
        </p:txBody>
      </p:sp>
      <p:sp>
        <p:nvSpPr>
          <p:cNvPr id="16" name="Shape 12"/>
          <p:cNvSpPr/>
          <p:nvPr/>
        </p:nvSpPr>
        <p:spPr>
          <a:xfrm>
            <a:off x="8595360" y="2697480"/>
            <a:ext cx="3047695" cy="1399794"/>
          </a:xfrm>
          <a:prstGeom prst="roundRect">
            <a:avLst>
              <a:gd name="adj" fmla="val 5226"/>
            </a:avLst>
          </a:prstGeom>
          <a:solidFill>
            <a:srgbClr val="F4F5F8"/>
          </a:solidFill>
          <a:ln w="12700">
            <a:solidFill>
              <a:srgbClr val="F4F5F8"/>
            </a:solidFill>
            <a:prstDash val="solid"/>
          </a:ln>
        </p:spPr>
      </p:sp>
      <p:sp>
        <p:nvSpPr>
          <p:cNvPr id="17" name="Text 13"/>
          <p:cNvSpPr txBox="1"/>
          <p:nvPr/>
        </p:nvSpPr>
        <p:spPr>
          <a:xfrm>
            <a:off x="8732520" y="2788920"/>
            <a:ext cx="2773375" cy="12169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"This person already exists: Priya Nair (EMP00004), same personal email." The wizard does not move on. Re-use the existing person or correct the details.</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Hire employee › Person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HIRE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Step 1: Person</a:t>
            </a:r>
            <a:endParaRPr lang="en-US" sz="2800" dirty="0"/>
          </a:p>
        </p:txBody>
      </p:sp>
      <p:pic>
        <p:nvPicPr>
          <p:cNvPr id="5" name="Screenshot hr-admin/50-hire-02-person-step" descr="Screenshot: Hire employee › 01 Person (Kavya Menon, fictional data)">    </p:cNvPr>
          <p:cNvPicPr>
            <a:picLocks noChangeAspect="1"/>
          </p:cNvPicPr>
          <p:nvPr/>
        </p:nvPicPr>
        <p:blipFill>
          <a:blip r:embed="rId1"/>
          <a:stretch>
            <a:fillRect/>
          </a:stretch>
        </p:blipFill>
        <p:spPr>
          <a:xfrm>
            <a:off x="1906627" y="1417320"/>
            <a:ext cx="5102146" cy="4846320"/>
          </a:xfrm>
          <a:prstGeom prst="rect">
            <a:avLst/>
          </a:prstGeom>
        </p:spPr>
      </p:pic>
      <p:sp>
        <p:nvSpPr>
          <p:cNvPr id="6" name="Screenshot frame"/>
          <p:cNvSpPr/>
          <p:nvPr/>
        </p:nvSpPr>
        <p:spPr>
          <a:xfrm>
            <a:off x="1906627" y="1417320"/>
            <a:ext cx="5102146" cy="4846320"/>
          </a:xfrm>
          <a:prstGeom prst="rect">
            <a:avLst/>
          </a:prstGeom>
          <a:ln w="9525">
            <a:solidFill>
              <a:srgbClr val="D9DCE3"/>
            </a:solidFill>
            <a:prstDash val="solid"/>
          </a:ln>
        </p:spPr>
      </p:sp>
      <p:sp>
        <p:nvSpPr>
          <p:cNvPr id="7" name="Callout box 1"/>
          <p:cNvSpPr/>
          <p:nvPr/>
        </p:nvSpPr>
        <p:spPr>
          <a:xfrm>
            <a:off x="2024479" y="3504170"/>
            <a:ext cx="1575198" cy="189714"/>
          </a:xfrm>
          <a:prstGeom prst="roundRect">
            <a:avLst>
              <a:gd name="adj" fmla="val 24099"/>
            </a:avLst>
          </a:prstGeom>
          <a:ln w="25400">
            <a:solidFill>
              <a:srgbClr val="D97706"/>
            </a:solidFill>
            <a:prstDash val="solid"/>
          </a:ln>
        </p:spPr>
      </p:sp>
      <p:sp>
        <p:nvSpPr>
          <p:cNvPr id="8" name="Callout box 2"/>
          <p:cNvSpPr/>
          <p:nvPr/>
        </p:nvSpPr>
        <p:spPr>
          <a:xfrm>
            <a:off x="2024479" y="4642451"/>
            <a:ext cx="1575198" cy="189714"/>
          </a:xfrm>
          <a:prstGeom prst="roundRect">
            <a:avLst>
              <a:gd name="adj" fmla="val 24099"/>
            </a:avLst>
          </a:prstGeom>
          <a:ln w="25400">
            <a:solidFill>
              <a:srgbClr val="D97706"/>
            </a:solidFill>
            <a:prstDash val="solid"/>
          </a:ln>
        </p:spPr>
      </p:sp>
      <p:sp>
        <p:nvSpPr>
          <p:cNvPr id="9" name="Callout box 3"/>
          <p:cNvSpPr/>
          <p:nvPr/>
        </p:nvSpPr>
        <p:spPr>
          <a:xfrm>
            <a:off x="6617848" y="4901151"/>
            <a:ext cx="273073" cy="189714"/>
          </a:xfrm>
          <a:prstGeom prst="roundRect">
            <a:avLst>
              <a:gd name="adj" fmla="val 24099"/>
            </a:avLst>
          </a:prstGeom>
          <a:ln w="25400">
            <a:solidFill>
              <a:srgbClr val="D97706"/>
            </a:solidFill>
            <a:prstDash val="solid"/>
          </a:ln>
        </p:spPr>
      </p:sp>
      <p:sp>
        <p:nvSpPr>
          <p:cNvPr id="10" name="Callout 1"/>
          <p:cNvSpPr txBox="1"/>
          <p:nvPr/>
        </p:nvSpPr>
        <p:spPr>
          <a:xfrm>
            <a:off x="1713583" y="3471010"/>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1713583" y="4609292"/>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6489832" y="460854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First name (required)</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Personal e-mail (matched)</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Next</a:t>
            </a:r>
            <a:endParaRPr lang="en-US" sz="1400" dirty="0"/>
          </a:p>
        </p:txBody>
      </p:sp>
      <p:sp>
        <p:nvSpPr>
          <p:cNvPr id="20" name="Shape 16"/>
          <p:cNvSpPr/>
          <p:nvPr/>
        </p:nvSpPr>
        <p:spPr>
          <a:xfrm>
            <a:off x="8595360" y="3063240"/>
            <a:ext cx="3047695" cy="625094"/>
          </a:xfrm>
          <a:prstGeom prst="roundRect">
            <a:avLst>
              <a:gd name="adj" fmla="val 11703"/>
            </a:avLst>
          </a:prstGeom>
          <a:solidFill>
            <a:srgbClr val="F4F5F8"/>
          </a:solidFill>
          <a:ln w="12700">
            <a:solidFill>
              <a:srgbClr val="F4F5F8"/>
            </a:solidFill>
            <a:prstDash val="solid"/>
          </a:ln>
        </p:spPr>
      </p:sp>
      <p:sp>
        <p:nvSpPr>
          <p:cNvPr id="21" name="Text 17"/>
          <p:cNvSpPr txBox="1"/>
          <p:nvPr/>
        </p:nvSpPr>
        <p:spPr>
          <a:xfrm>
            <a:off x="8732520" y="315468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Name, personal e-mail and phone; no duplicate found</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Hire employee › 01 Person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HIRE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Step 2: Employment</a:t>
            </a:r>
            <a:endParaRPr lang="en-US" sz="2800" dirty="0"/>
          </a:p>
        </p:txBody>
      </p:sp>
      <p:pic>
        <p:nvPicPr>
          <p:cNvPr id="5" name="Screenshot hr-admin/50-hire-03-employment-step" descr="Screenshot: Hire employee › 02 Employment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398926"/>
            <a:ext cx="1967247" cy="236931"/>
          </a:xfrm>
          <a:prstGeom prst="roundRect">
            <a:avLst>
              <a:gd name="adj" fmla="val 19297"/>
            </a:avLst>
          </a:prstGeom>
          <a:ln w="25400">
            <a:solidFill>
              <a:srgbClr val="D97706"/>
            </a:solidFill>
            <a:prstDash val="solid"/>
          </a:ln>
        </p:spPr>
      </p:sp>
      <p:sp>
        <p:nvSpPr>
          <p:cNvPr id="8" name="Callout box 2"/>
          <p:cNvSpPr/>
          <p:nvPr/>
        </p:nvSpPr>
        <p:spPr>
          <a:xfrm>
            <a:off x="6216735" y="3398926"/>
            <a:ext cx="1967247" cy="236931"/>
          </a:xfrm>
          <a:prstGeom prst="roundRect">
            <a:avLst>
              <a:gd name="adj" fmla="val 19297"/>
            </a:avLst>
          </a:prstGeom>
          <a:ln w="25400">
            <a:solidFill>
              <a:srgbClr val="D97706"/>
            </a:solidFill>
            <a:prstDash val="solid"/>
          </a:ln>
        </p:spPr>
      </p:sp>
      <p:sp>
        <p:nvSpPr>
          <p:cNvPr id="9" name="Callout box 3"/>
          <p:cNvSpPr/>
          <p:nvPr/>
        </p:nvSpPr>
        <p:spPr>
          <a:xfrm>
            <a:off x="2109927" y="4023563"/>
            <a:ext cx="1967247" cy="236931"/>
          </a:xfrm>
          <a:prstGeom prst="roundRect">
            <a:avLst>
              <a:gd name="adj" fmla="val 19297"/>
            </a:avLst>
          </a:prstGeom>
          <a:ln w="25400">
            <a:solidFill>
              <a:srgbClr val="D97706"/>
            </a:solidFill>
            <a:prstDash val="solid"/>
          </a:ln>
        </p:spPr>
      </p:sp>
      <p:sp>
        <p:nvSpPr>
          <p:cNvPr id="10" name="Callout 1"/>
          <p:cNvSpPr txBox="1"/>
          <p:nvPr/>
        </p:nvSpPr>
        <p:spPr>
          <a:xfrm>
            <a:off x="1799031" y="338937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5905839" y="338937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1799031" y="401401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Joining date</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Code (auto if blank)</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Work e-mail</a:t>
            </a:r>
            <a:endParaRPr lang="en-US" sz="1400" dirty="0"/>
          </a:p>
        </p:txBody>
      </p:sp>
      <p:sp>
        <p:nvSpPr>
          <p:cNvPr id="20" name="Shape 16"/>
          <p:cNvSpPr/>
          <p:nvPr/>
        </p:nvSpPr>
        <p:spPr>
          <a:xfrm>
            <a:off x="8595360" y="3063240"/>
            <a:ext cx="3047695" cy="625094"/>
          </a:xfrm>
          <a:prstGeom prst="roundRect">
            <a:avLst>
              <a:gd name="adj" fmla="val 11703"/>
            </a:avLst>
          </a:prstGeom>
          <a:solidFill>
            <a:srgbClr val="F4F5F8"/>
          </a:solidFill>
          <a:ln w="12700">
            <a:solidFill>
              <a:srgbClr val="F4F5F8"/>
            </a:solidFill>
            <a:prstDash val="solid"/>
          </a:ln>
        </p:spPr>
      </p:sp>
      <p:sp>
        <p:nvSpPr>
          <p:cNvPr id="21" name="Text 17"/>
          <p:cNvSpPr txBox="1"/>
          <p:nvPr/>
        </p:nvSpPr>
        <p:spPr>
          <a:xfrm>
            <a:off x="8732520" y="315468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Employment details completed</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Hire employee › 02 Employment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HIRE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Step 3: Position</a:t>
            </a:r>
            <a:endParaRPr lang="en-US" sz="2800" dirty="0"/>
          </a:p>
        </p:txBody>
      </p:sp>
      <p:pic>
        <p:nvPicPr>
          <p:cNvPr id="5" name="Screenshot hr-admin/50-hire-04-position-step" descr="Screenshot: Hire employee › 03 Position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398926"/>
            <a:ext cx="1967247" cy="236931"/>
          </a:xfrm>
          <a:prstGeom prst="roundRect">
            <a:avLst>
              <a:gd name="adj" fmla="val 19297"/>
            </a:avLst>
          </a:prstGeom>
          <a:ln w="25400">
            <a:solidFill>
              <a:srgbClr val="D97706"/>
            </a:solidFill>
            <a:prstDash val="solid"/>
          </a:ln>
        </p:spPr>
      </p:sp>
      <p:sp>
        <p:nvSpPr>
          <p:cNvPr id="8" name="Callout box 2"/>
          <p:cNvSpPr/>
          <p:nvPr/>
        </p:nvSpPr>
        <p:spPr>
          <a:xfrm>
            <a:off x="4163331" y="3872789"/>
            <a:ext cx="1967247" cy="236931"/>
          </a:xfrm>
          <a:prstGeom prst="roundRect">
            <a:avLst>
              <a:gd name="adj" fmla="val 19297"/>
            </a:avLst>
          </a:prstGeom>
          <a:ln w="25400">
            <a:solidFill>
              <a:srgbClr val="D97706"/>
            </a:solidFill>
            <a:prstDash val="solid"/>
          </a:ln>
        </p:spPr>
      </p:sp>
      <p:sp>
        <p:nvSpPr>
          <p:cNvPr id="9" name="Callout box 3"/>
          <p:cNvSpPr/>
          <p:nvPr/>
        </p:nvSpPr>
        <p:spPr>
          <a:xfrm>
            <a:off x="6216735" y="3872789"/>
            <a:ext cx="1967247" cy="236931"/>
          </a:xfrm>
          <a:prstGeom prst="roundRect">
            <a:avLst>
              <a:gd name="adj" fmla="val 19297"/>
            </a:avLst>
          </a:prstGeom>
          <a:ln w="25400">
            <a:solidFill>
              <a:srgbClr val="D97706"/>
            </a:solidFill>
            <a:prstDash val="solid"/>
          </a:ln>
        </p:spPr>
      </p:sp>
      <p:sp>
        <p:nvSpPr>
          <p:cNvPr id="10" name="Callout box 4"/>
          <p:cNvSpPr/>
          <p:nvPr/>
        </p:nvSpPr>
        <p:spPr>
          <a:xfrm>
            <a:off x="2109927" y="4346651"/>
            <a:ext cx="1967247" cy="236931"/>
          </a:xfrm>
          <a:prstGeom prst="roundRect">
            <a:avLst>
              <a:gd name="adj" fmla="val 19297"/>
            </a:avLst>
          </a:prstGeom>
          <a:ln w="25400">
            <a:solidFill>
              <a:srgbClr val="D97706"/>
            </a:solidFill>
            <a:prstDash val="solid"/>
          </a:ln>
        </p:spPr>
      </p:sp>
      <p:sp>
        <p:nvSpPr>
          <p:cNvPr id="11" name="Callout 1"/>
          <p:cNvSpPr txBox="1"/>
          <p:nvPr/>
        </p:nvSpPr>
        <p:spPr>
          <a:xfrm>
            <a:off x="1799031" y="338937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2" name="Callout 2"/>
          <p:cNvSpPr txBox="1"/>
          <p:nvPr/>
        </p:nvSpPr>
        <p:spPr>
          <a:xfrm>
            <a:off x="3852435" y="3863238"/>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Callout 3"/>
          <p:cNvSpPr txBox="1"/>
          <p:nvPr/>
        </p:nvSpPr>
        <p:spPr>
          <a:xfrm>
            <a:off x="7653630" y="3863238"/>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Callout 4"/>
          <p:cNvSpPr txBox="1"/>
          <p:nvPr/>
        </p:nvSpPr>
        <p:spPr>
          <a:xfrm>
            <a:off x="1799031" y="433710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5"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3"/>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Company (required)</a:t>
            </a:r>
            <a:endParaRPr lang="en-US" sz="1400" dirty="0"/>
          </a:p>
        </p:txBody>
      </p:sp>
      <p:sp>
        <p:nvSpPr>
          <p:cNvPr id="18"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5"/>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Department</a:t>
            </a:r>
            <a:endParaRPr lang="en-US" sz="1400" dirty="0"/>
          </a:p>
        </p:txBody>
      </p:sp>
      <p:sp>
        <p:nvSpPr>
          <p:cNvPr id="20"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7"/>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Team</a:t>
            </a:r>
            <a:endParaRPr lang="en-US" sz="1400" dirty="0"/>
          </a:p>
        </p:txBody>
      </p:sp>
      <p:sp>
        <p:nvSpPr>
          <p:cNvPr id="22" name="Callout 4"/>
          <p:cNvSpPr txBox="1"/>
          <p:nvPr/>
        </p:nvSpPr>
        <p:spPr>
          <a:xfrm>
            <a:off x="8595360" y="299008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9"/>
          <p:cNvSpPr txBox="1"/>
          <p:nvPr/>
        </p:nvSpPr>
        <p:spPr>
          <a:xfrm>
            <a:off x="9006840" y="2971800"/>
            <a:ext cx="2636215" cy="329184"/>
          </a:xfrm>
          <a:prstGeom prst="rect">
            <a:avLst/>
          </a:prstGeom>
          <a:noFill/>
          <a:ln/>
        </p:spPr>
        <p:txBody>
          <a:bodyPr wrap="square" lIns="0" tIns="0" rIns="0" bIns="0" rtlCol="0" anchor="t"/>
          <a:lstStyle/>
          <a:p>
            <a:pPr indent="0" marL="0">
              <a:buNone/>
            </a:pPr>
            <a:r>
              <a:rPr lang="en-US" sz="1400" dirty="0">
                <a:solidFill>
                  <a:schemeClr val="tx1"/>
                </a:solidFill>
              </a:rPr>
              <a:t>Designation</a:t>
            </a:r>
            <a:endParaRPr lang="en-US" sz="1400" dirty="0"/>
          </a:p>
        </p:txBody>
      </p:sp>
      <p:sp>
        <p:nvSpPr>
          <p:cNvPr id="24" name="Shape 20"/>
          <p:cNvSpPr/>
          <p:nvPr/>
        </p:nvSpPr>
        <p:spPr>
          <a:xfrm>
            <a:off x="8595360" y="3429000"/>
            <a:ext cx="3047695" cy="818769"/>
          </a:xfrm>
          <a:prstGeom prst="roundRect">
            <a:avLst>
              <a:gd name="adj" fmla="val 8934"/>
            </a:avLst>
          </a:prstGeom>
          <a:solidFill>
            <a:srgbClr val="F4F5F8"/>
          </a:solidFill>
          <a:ln w="12700">
            <a:solidFill>
              <a:srgbClr val="F4F5F8"/>
            </a:solidFill>
            <a:prstDash val="solid"/>
          </a:ln>
        </p:spPr>
      </p:sp>
      <p:sp>
        <p:nvSpPr>
          <p:cNvPr id="25" name="Text 21"/>
          <p:cNvSpPr txBox="1"/>
          <p:nvPr/>
        </p:nvSpPr>
        <p:spPr>
          <a:xfrm>
            <a:off x="8732520" y="352044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Organisation placement chosen from the configured structure</a:t>
            </a:r>
            <a:endParaRPr lang="en-US" sz="1050" dirty="0"/>
          </a:p>
        </p:txBody>
      </p:sp>
      <p:sp>
        <p:nvSpPr>
          <p:cNvPr id="26" name="Text 2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Hire employee › 03 Position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HIRE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Step 4: Manager</a:t>
            </a:r>
            <a:endParaRPr lang="en-US" sz="2800" dirty="0"/>
          </a:p>
        </p:txBody>
      </p:sp>
      <p:pic>
        <p:nvPicPr>
          <p:cNvPr id="5" name="Screenshot hr-admin/50-hire-05-manager-step" descr="Screenshot: Hire employee › 04 Manager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398926"/>
            <a:ext cx="6074054" cy="236931"/>
          </a:xfrm>
          <a:prstGeom prst="roundRect">
            <a:avLst>
              <a:gd name="adj" fmla="val 19297"/>
            </a:avLst>
          </a:prstGeom>
          <a:ln w="25400">
            <a:solidFill>
              <a:srgbClr val="D97706"/>
            </a:solidFill>
            <a:prstDash val="solid"/>
          </a:ln>
        </p:spPr>
      </p:sp>
      <p:sp>
        <p:nvSpPr>
          <p:cNvPr id="8" name="Callout box 2"/>
          <p:cNvSpPr/>
          <p:nvPr/>
        </p:nvSpPr>
        <p:spPr>
          <a:xfrm>
            <a:off x="2109927" y="3872789"/>
            <a:ext cx="6074054" cy="366166"/>
          </a:xfrm>
          <a:prstGeom prst="roundRect">
            <a:avLst>
              <a:gd name="adj" fmla="val 12486"/>
            </a:avLst>
          </a:prstGeom>
          <a:ln w="25400">
            <a:solidFill>
              <a:srgbClr val="D97706"/>
            </a:solidFill>
            <a:prstDash val="solid"/>
          </a:ln>
        </p:spPr>
      </p:sp>
      <p:sp>
        <p:nvSpPr>
          <p:cNvPr id="9" name="Callout box 3"/>
          <p:cNvSpPr/>
          <p:nvPr/>
        </p:nvSpPr>
        <p:spPr>
          <a:xfrm>
            <a:off x="7397801" y="4475886"/>
            <a:ext cx="786181" cy="236931"/>
          </a:xfrm>
          <a:prstGeom prst="roundRect">
            <a:avLst>
              <a:gd name="adj" fmla="val 19297"/>
            </a:avLst>
          </a:prstGeom>
          <a:ln w="25400">
            <a:solidFill>
              <a:srgbClr val="D97706"/>
            </a:solidFill>
            <a:prstDash val="solid"/>
          </a:ln>
        </p:spPr>
      </p:sp>
      <p:sp>
        <p:nvSpPr>
          <p:cNvPr id="10" name="Callout 1"/>
          <p:cNvSpPr txBox="1"/>
          <p:nvPr/>
        </p:nvSpPr>
        <p:spPr>
          <a:xfrm>
            <a:off x="1799031" y="338937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1799031" y="392785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7086905" y="446633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Line manager</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Reason (audited)</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Create</a:t>
            </a:r>
            <a:endParaRPr lang="en-US" sz="1400" dirty="0"/>
          </a:p>
        </p:txBody>
      </p:sp>
      <p:sp>
        <p:nvSpPr>
          <p:cNvPr id="20" name="Shape 16"/>
          <p:cNvSpPr/>
          <p:nvPr/>
        </p:nvSpPr>
        <p:spPr>
          <a:xfrm>
            <a:off x="8595360" y="3063240"/>
            <a:ext cx="3047695" cy="625094"/>
          </a:xfrm>
          <a:prstGeom prst="roundRect">
            <a:avLst>
              <a:gd name="adj" fmla="val 11703"/>
            </a:avLst>
          </a:prstGeom>
          <a:solidFill>
            <a:srgbClr val="F4F5F8"/>
          </a:solidFill>
          <a:ln w="12700">
            <a:solidFill>
              <a:srgbClr val="F4F5F8"/>
            </a:solidFill>
            <a:prstDash val="solid"/>
          </a:ln>
        </p:spPr>
      </p:sp>
      <p:sp>
        <p:nvSpPr>
          <p:cNvPr id="21" name="Text 17"/>
          <p:cNvSpPr txBox="1"/>
          <p:nvPr/>
        </p:nvSpPr>
        <p:spPr>
          <a:xfrm>
            <a:off x="8732520" y="315468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Manager and reason entered; review and create</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Hire employee › 04 Manager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HIRE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Created: the new Employee 360</a:t>
            </a:r>
            <a:endParaRPr lang="en-US" sz="2800" dirty="0"/>
          </a:p>
        </p:txBody>
      </p:sp>
      <p:pic>
        <p:nvPicPr>
          <p:cNvPr id="5" name="Screenshot hr-admin/50-hire-07-created-record" descr="Screenshot: Employee 360 (new hire)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6159297" y="1481938"/>
            <a:ext cx="2110842" cy="333858"/>
          </a:xfrm>
          <a:prstGeom prst="roundRect">
            <a:avLst>
              <a:gd name="adj" fmla="val 13694"/>
            </a:avLst>
          </a:prstGeom>
          <a:ln w="25400">
            <a:solidFill>
              <a:srgbClr val="D97706"/>
            </a:solidFill>
            <a:prstDash val="solid"/>
          </a:ln>
        </p:spPr>
      </p:sp>
      <p:sp>
        <p:nvSpPr>
          <p:cNvPr id="8" name="Callout box 2"/>
          <p:cNvSpPr/>
          <p:nvPr/>
        </p:nvSpPr>
        <p:spPr>
          <a:xfrm>
            <a:off x="2551481" y="2085035"/>
            <a:ext cx="3715512" cy="226162"/>
          </a:xfrm>
          <a:prstGeom prst="roundRect">
            <a:avLst>
              <a:gd name="adj" fmla="val 20216"/>
            </a:avLst>
          </a:prstGeom>
          <a:ln w="25400">
            <a:solidFill>
              <a:srgbClr val="D97706"/>
            </a:solidFill>
            <a:prstDash val="solid"/>
          </a:ln>
        </p:spPr>
      </p:sp>
      <p:sp>
        <p:nvSpPr>
          <p:cNvPr id="9" name="Callout box 3"/>
          <p:cNvSpPr/>
          <p:nvPr/>
        </p:nvSpPr>
        <p:spPr>
          <a:xfrm>
            <a:off x="5200802" y="2505050"/>
            <a:ext cx="387706" cy="140005"/>
          </a:xfrm>
          <a:prstGeom prst="roundRect">
            <a:avLst>
              <a:gd name="adj" fmla="val 32656"/>
            </a:avLst>
          </a:prstGeom>
          <a:ln w="25400">
            <a:solidFill>
              <a:srgbClr val="D97706"/>
            </a:solidFill>
            <a:prstDash val="solid"/>
          </a:ln>
        </p:spPr>
      </p:sp>
      <p:sp>
        <p:nvSpPr>
          <p:cNvPr id="10" name="Callout 1"/>
          <p:cNvSpPr txBox="1"/>
          <p:nvPr/>
        </p:nvSpPr>
        <p:spPr>
          <a:xfrm>
            <a:off x="5848401" y="1520850"/>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2240585" y="2070100"/>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4889906" y="244703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Created.</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New record.</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Manager.</a:t>
            </a:r>
            <a:endParaRPr lang="en-US" sz="1400" dirty="0"/>
          </a:p>
        </p:txBody>
      </p:sp>
      <p:sp>
        <p:nvSpPr>
          <p:cNvPr id="20" name="Shape 16"/>
          <p:cNvSpPr/>
          <p:nvPr/>
        </p:nvSpPr>
        <p:spPr>
          <a:xfrm>
            <a:off x="8595360" y="3063240"/>
            <a:ext cx="3047695" cy="1206119"/>
          </a:xfrm>
          <a:prstGeom prst="roundRect">
            <a:avLst>
              <a:gd name="adj" fmla="val 6065"/>
            </a:avLst>
          </a:prstGeom>
          <a:solidFill>
            <a:srgbClr val="F4F5F8"/>
          </a:solidFill>
          <a:ln w="12700">
            <a:solidFill>
              <a:srgbClr val="F4F5F8"/>
            </a:solidFill>
            <a:prstDash val="solid"/>
          </a:ln>
        </p:spPr>
      </p:sp>
      <p:sp>
        <p:nvSpPr>
          <p:cNvPr id="21" name="Text 17"/>
          <p:cNvSpPr txBox="1"/>
          <p:nvPr/>
        </p:nvSpPr>
        <p:spPr>
          <a:xfrm>
            <a:off x="8732520" y="315468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Tanvi Joshi (EMP00023), Senior Software Engineer, Probation; onboarding started automatically and the hire is audited.</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(new hire)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03</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Job, manager and lifecycle changes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Guided changes with Before → After, an effective date and a reason.</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Transfer / promote: 1 Context</a:t>
            </a:r>
            <a:endParaRPr lang="en-US" sz="2800" dirty="0"/>
          </a:p>
        </p:txBody>
      </p:sp>
      <p:pic>
        <p:nvPicPr>
          <p:cNvPr id="5" name="Screenshot hr-admin/50-chg-01-transfer-context" descr="Screenshot: Employee 360 › Action › Transfer or promote › 01 Context (Kavya Menon, fictional data)">    </p:cNvPr>
          <p:cNvPicPr>
            <a:picLocks noChangeAspect="1"/>
          </p:cNvPicPr>
          <p:nvPr/>
        </p:nvPicPr>
        <p:blipFill>
          <a:blip r:embed="rId1"/>
          <a:stretch>
            <a:fillRect/>
          </a:stretch>
        </p:blipFill>
        <p:spPr>
          <a:xfrm>
            <a:off x="552752" y="1417320"/>
            <a:ext cx="7809897" cy="4846320"/>
          </a:xfrm>
          <a:prstGeom prst="rect">
            <a:avLst/>
          </a:prstGeom>
        </p:spPr>
      </p:pic>
      <p:sp>
        <p:nvSpPr>
          <p:cNvPr id="6" name="Screenshot frame"/>
          <p:cNvSpPr/>
          <p:nvPr/>
        </p:nvSpPr>
        <p:spPr>
          <a:xfrm>
            <a:off x="552752" y="1417320"/>
            <a:ext cx="7809897" cy="4846320"/>
          </a:xfrm>
          <a:prstGeom prst="rect">
            <a:avLst/>
          </a:prstGeom>
          <a:ln w="9525">
            <a:solidFill>
              <a:srgbClr val="D9DCE3"/>
            </a:solidFill>
            <a:prstDash val="solid"/>
          </a:ln>
        </p:spPr>
      </p:sp>
      <p:sp>
        <p:nvSpPr>
          <p:cNvPr id="7" name="Callout box 1"/>
          <p:cNvSpPr/>
          <p:nvPr/>
        </p:nvSpPr>
        <p:spPr>
          <a:xfrm>
            <a:off x="727080" y="5182806"/>
            <a:ext cx="2394105" cy="383522"/>
          </a:xfrm>
          <a:prstGeom prst="roundRect">
            <a:avLst>
              <a:gd name="adj" fmla="val 11921"/>
            </a:avLst>
          </a:prstGeom>
          <a:ln w="25400">
            <a:solidFill>
              <a:srgbClr val="D97706"/>
            </a:solidFill>
            <a:prstDash val="solid"/>
          </a:ln>
        </p:spPr>
      </p:sp>
      <p:sp>
        <p:nvSpPr>
          <p:cNvPr id="8" name="Callout box 2"/>
          <p:cNvSpPr/>
          <p:nvPr/>
        </p:nvSpPr>
        <p:spPr>
          <a:xfrm>
            <a:off x="3260647" y="5182806"/>
            <a:ext cx="2394105" cy="383522"/>
          </a:xfrm>
          <a:prstGeom prst="roundRect">
            <a:avLst>
              <a:gd name="adj" fmla="val 11921"/>
            </a:avLst>
          </a:prstGeom>
          <a:ln w="25400">
            <a:solidFill>
              <a:srgbClr val="D97706"/>
            </a:solidFill>
            <a:prstDash val="solid"/>
          </a:ln>
        </p:spPr>
      </p:sp>
      <p:sp>
        <p:nvSpPr>
          <p:cNvPr id="9" name="Callout box 3"/>
          <p:cNvSpPr/>
          <p:nvPr/>
        </p:nvSpPr>
        <p:spPr>
          <a:xfrm>
            <a:off x="7642093" y="5705790"/>
            <a:ext cx="552039" cy="383522"/>
          </a:xfrm>
          <a:prstGeom prst="roundRect">
            <a:avLst>
              <a:gd name="adj" fmla="val 11921"/>
            </a:avLst>
          </a:prstGeom>
          <a:ln w="25400">
            <a:solidFill>
              <a:srgbClr val="D97706"/>
            </a:solidFill>
            <a:prstDash val="solid"/>
          </a:ln>
        </p:spPr>
      </p:sp>
      <p:sp>
        <p:nvSpPr>
          <p:cNvPr id="10" name="Callout 1"/>
          <p:cNvSpPr txBox="1"/>
          <p:nvPr/>
        </p:nvSpPr>
        <p:spPr>
          <a:xfrm>
            <a:off x="2590833" y="524655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5124401" y="524655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7514077" y="5413182"/>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Kind of change.</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Effective from.</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Next.</a:t>
            </a:r>
            <a:endParaRPr lang="en-US" sz="1400" dirty="0"/>
          </a:p>
        </p:txBody>
      </p:sp>
      <p:sp>
        <p:nvSpPr>
          <p:cNvPr id="20" name="Shape 16"/>
          <p:cNvSpPr/>
          <p:nvPr/>
        </p:nvSpPr>
        <p:spPr>
          <a:xfrm>
            <a:off x="8595360" y="3063240"/>
            <a:ext cx="3047695" cy="1399794"/>
          </a:xfrm>
          <a:prstGeom prst="roundRect">
            <a:avLst>
              <a:gd name="adj" fmla="val 5226"/>
            </a:avLst>
          </a:prstGeom>
          <a:solidFill>
            <a:srgbClr val="F4F5F8"/>
          </a:solidFill>
          <a:ln w="12700">
            <a:solidFill>
              <a:srgbClr val="F4F5F8"/>
            </a:solidFill>
            <a:prstDash val="solid"/>
          </a:ln>
        </p:spPr>
      </p:sp>
      <p:sp>
        <p:nvSpPr>
          <p:cNvPr id="21" name="Text 17"/>
          <p:cNvSpPr txBox="1"/>
          <p:nvPr/>
        </p:nvSpPr>
        <p:spPr>
          <a:xfrm>
            <a:off x="8732520" y="3154680"/>
            <a:ext cx="2773375" cy="12169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Three guided steps: Context, Change, Review. This first attempt used today's date (21 Oct) and is refused at the end; the retry with 22 Oct succeeded.</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Action › Transfer or promote › 01 Context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Transfer / promote: 2 Change</a:t>
            </a:r>
            <a:endParaRPr lang="en-US" sz="2800" dirty="0"/>
          </a:p>
        </p:txBody>
      </p:sp>
      <p:pic>
        <p:nvPicPr>
          <p:cNvPr id="5" name="Screenshot hr-admin/50-chg-02-transfer-change" descr="Screenshot: Transfer or promote › 02 Change (Kavya Menon, fictional data)">    </p:cNvPr>
          <p:cNvPicPr>
            <a:picLocks noChangeAspect="1"/>
          </p:cNvPicPr>
          <p:nvPr/>
        </p:nvPicPr>
        <p:blipFill>
          <a:blip r:embed="rId1"/>
          <a:stretch>
            <a:fillRect/>
          </a:stretch>
        </p:blipFill>
        <p:spPr>
          <a:xfrm>
            <a:off x="1688374" y="1417320"/>
            <a:ext cx="5538651" cy="4846320"/>
          </a:xfrm>
          <a:prstGeom prst="rect">
            <a:avLst/>
          </a:prstGeom>
        </p:spPr>
      </p:pic>
      <p:sp>
        <p:nvSpPr>
          <p:cNvPr id="6" name="Screenshot frame"/>
          <p:cNvSpPr/>
          <p:nvPr/>
        </p:nvSpPr>
        <p:spPr>
          <a:xfrm>
            <a:off x="1688374" y="1417320"/>
            <a:ext cx="5538651" cy="4846320"/>
          </a:xfrm>
          <a:prstGeom prst="rect">
            <a:avLst/>
          </a:prstGeom>
          <a:ln w="9525">
            <a:solidFill>
              <a:srgbClr val="D9DCE3"/>
            </a:solidFill>
            <a:prstDash val="solid"/>
          </a:ln>
        </p:spPr>
      </p:sp>
      <p:sp>
        <p:nvSpPr>
          <p:cNvPr id="7" name="Callout box 1"/>
          <p:cNvSpPr/>
          <p:nvPr/>
        </p:nvSpPr>
        <p:spPr>
          <a:xfrm>
            <a:off x="5405535" y="3321231"/>
            <a:ext cx="1697860" cy="271987"/>
          </a:xfrm>
          <a:prstGeom prst="roundRect">
            <a:avLst>
              <a:gd name="adj" fmla="val 16810"/>
            </a:avLst>
          </a:prstGeom>
          <a:ln w="25400">
            <a:solidFill>
              <a:srgbClr val="D97706"/>
            </a:solidFill>
            <a:prstDash val="solid"/>
          </a:ln>
        </p:spPr>
      </p:sp>
      <p:sp>
        <p:nvSpPr>
          <p:cNvPr id="8" name="Callout 1"/>
          <p:cNvSpPr txBox="1"/>
          <p:nvPr/>
        </p:nvSpPr>
        <p:spPr>
          <a:xfrm>
            <a:off x="5094639" y="332920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New team.</a:t>
            </a:r>
            <a:endParaRPr lang="en-US" sz="1400" dirty="0"/>
          </a:p>
        </p:txBody>
      </p:sp>
      <p:sp>
        <p:nvSpPr>
          <p:cNvPr id="12" name="Shape 8"/>
          <p:cNvSpPr/>
          <p:nvPr/>
        </p:nvSpPr>
        <p:spPr>
          <a:xfrm>
            <a:off x="8595360" y="2331720"/>
            <a:ext cx="3047695" cy="625094"/>
          </a:xfrm>
          <a:prstGeom prst="roundRect">
            <a:avLst>
              <a:gd name="adj" fmla="val 11703"/>
            </a:avLst>
          </a:prstGeom>
          <a:solidFill>
            <a:srgbClr val="F4F5F8"/>
          </a:solidFill>
          <a:ln w="12700">
            <a:solidFill>
              <a:srgbClr val="F4F5F8"/>
            </a:solidFill>
            <a:prstDash val="solid"/>
          </a:ln>
        </p:spPr>
      </p:sp>
      <p:sp>
        <p:nvSpPr>
          <p:cNvPr id="13" name="Text 9"/>
          <p:cNvSpPr txBox="1"/>
          <p:nvPr/>
        </p:nvSpPr>
        <p:spPr>
          <a:xfrm>
            <a:off x="8732520" y="242316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Only the field that changes is edited.</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Transfer or promote › 02 Change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Transfer / promote: 3 Review</a:t>
            </a:r>
            <a:endParaRPr lang="en-US" sz="2800" dirty="0"/>
          </a:p>
        </p:txBody>
      </p:sp>
      <p:pic>
        <p:nvPicPr>
          <p:cNvPr id="5" name="Screenshot hr-admin/50-chg-03-transfer-review" descr="Screenshot: Transfer or promote › 03 Review (Kavya Menon, fictional data)">    </p:cNvPr>
          <p:cNvPicPr>
            <a:picLocks noChangeAspect="1"/>
          </p:cNvPicPr>
          <p:nvPr/>
        </p:nvPicPr>
        <p:blipFill>
          <a:blip r:embed="rId1"/>
          <a:stretch>
            <a:fillRect/>
          </a:stretch>
        </p:blipFill>
        <p:spPr>
          <a:xfrm>
            <a:off x="548640" y="1417320"/>
            <a:ext cx="7818120" cy="4502399"/>
          </a:xfrm>
          <a:prstGeom prst="rect">
            <a:avLst/>
          </a:prstGeom>
        </p:spPr>
      </p:pic>
      <p:sp>
        <p:nvSpPr>
          <p:cNvPr id="6" name="Screenshot frame"/>
          <p:cNvSpPr/>
          <p:nvPr/>
        </p:nvSpPr>
        <p:spPr>
          <a:xfrm>
            <a:off x="548640" y="1417320"/>
            <a:ext cx="7818120" cy="4502399"/>
          </a:xfrm>
          <a:prstGeom prst="rect">
            <a:avLst/>
          </a:prstGeom>
          <a:ln w="9525">
            <a:solidFill>
              <a:srgbClr val="D9DCE3"/>
            </a:solidFill>
            <a:prstDash val="solid"/>
          </a:ln>
        </p:spPr>
      </p:sp>
      <p:sp>
        <p:nvSpPr>
          <p:cNvPr id="7" name="Callout box 2"/>
          <p:cNvSpPr/>
          <p:nvPr/>
        </p:nvSpPr>
        <p:spPr>
          <a:xfrm>
            <a:off x="723152" y="4384017"/>
            <a:ext cx="7469097" cy="593339"/>
          </a:xfrm>
          <a:prstGeom prst="roundRect">
            <a:avLst>
              <a:gd name="adj" fmla="val 7706"/>
            </a:avLst>
          </a:prstGeom>
          <a:ln w="25400">
            <a:solidFill>
              <a:srgbClr val="D97706"/>
            </a:solidFill>
            <a:prstDash val="solid"/>
          </a:ln>
        </p:spPr>
      </p:sp>
      <p:sp>
        <p:nvSpPr>
          <p:cNvPr id="8" name="Callout box 3"/>
          <p:cNvSpPr/>
          <p:nvPr/>
        </p:nvSpPr>
        <p:spPr>
          <a:xfrm>
            <a:off x="6970667" y="5361282"/>
            <a:ext cx="1221581" cy="383926"/>
          </a:xfrm>
          <a:prstGeom prst="roundRect">
            <a:avLst>
              <a:gd name="adj" fmla="val 11909"/>
            </a:avLst>
          </a:prstGeom>
          <a:ln w="25400">
            <a:solidFill>
              <a:srgbClr val="D97706"/>
            </a:solidFill>
            <a:prstDash val="solid"/>
          </a:ln>
        </p:spPr>
      </p:sp>
      <p:sp>
        <p:nvSpPr>
          <p:cNvPr id="9" name="Callout 1"/>
          <p:cNvSpPr txBox="1"/>
          <p:nvPr/>
        </p:nvSpPr>
        <p:spPr>
          <a:xfrm>
            <a:off x="7661896" y="455267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6842651" y="506867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Bullet"/>
          <p:cNvSpPr/>
          <p:nvPr/>
        </p:nvSpPr>
        <p:spPr>
          <a:xfrm>
            <a:off x="8686800" y="1965960"/>
            <a:ext cx="109728" cy="109728"/>
          </a:xfrm>
          <a:prstGeom prst="ellipse">
            <a:avLst/>
          </a:prstGeom>
          <a:solidFill>
            <a:srgbClr val="8A90A2"/>
          </a:solidFill>
          <a:ln w="12700">
            <a:solidFill>
              <a:srgbClr val="8A90A2"/>
            </a:solidFill>
            <a:prstDash val="solid"/>
          </a:ln>
        </p:spPr>
      </p:sp>
      <p:sp>
        <p:nvSpPr>
          <p:cNvPr id="13" name="Text 9"/>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Before → After panel: today's team and the new team.</a:t>
            </a:r>
            <a:endParaRPr lang="en-US" sz="1400" dirty="0"/>
          </a:p>
        </p:txBody>
      </p:sp>
      <p:sp>
        <p:nvSpPr>
          <p:cNvPr id="14" name="Callout 1"/>
          <p:cNvSpPr txBox="1"/>
          <p:nvPr/>
        </p:nvSpPr>
        <p:spPr>
          <a:xfrm>
            <a:off x="8595360" y="24363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2418080"/>
            <a:ext cx="2636215" cy="329184"/>
          </a:xfrm>
          <a:prstGeom prst="rect">
            <a:avLst/>
          </a:prstGeom>
          <a:noFill/>
          <a:ln/>
        </p:spPr>
        <p:txBody>
          <a:bodyPr wrap="square" lIns="0" tIns="0" rIns="0" bIns="0" rtlCol="0" anchor="t"/>
          <a:lstStyle/>
          <a:p>
            <a:pPr indent="0" marL="0">
              <a:buNone/>
            </a:pPr>
            <a:r>
              <a:rPr lang="en-US" sz="1400" dirty="0">
                <a:solidFill>
                  <a:schemeClr val="tx1"/>
                </a:solidFill>
              </a:rPr>
              <a:t>Reason (audited).</a:t>
            </a:r>
            <a:endParaRPr lang="en-US" sz="1400" dirty="0"/>
          </a:p>
        </p:txBody>
      </p:sp>
      <p:sp>
        <p:nvSpPr>
          <p:cNvPr id="16" name="Callout 2"/>
          <p:cNvSpPr txBox="1"/>
          <p:nvPr/>
        </p:nvSpPr>
        <p:spPr>
          <a:xfrm>
            <a:off x="8595360" y="28021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783840"/>
            <a:ext cx="2636215" cy="329184"/>
          </a:xfrm>
          <a:prstGeom prst="rect">
            <a:avLst/>
          </a:prstGeom>
          <a:noFill/>
          <a:ln/>
        </p:spPr>
        <p:txBody>
          <a:bodyPr wrap="square" lIns="0" tIns="0" rIns="0" bIns="0" rtlCol="0" anchor="t"/>
          <a:lstStyle/>
          <a:p>
            <a:pPr indent="0" marL="0">
              <a:buNone/>
            </a:pPr>
            <a:r>
              <a:rPr lang="en-US" sz="1400" dirty="0">
                <a:solidFill>
                  <a:schemeClr val="tx1"/>
                </a:solidFill>
              </a:rPr>
              <a:t>Confirm.</a:t>
            </a:r>
            <a:endParaRPr lang="en-US" sz="1400" dirty="0"/>
          </a:p>
        </p:txBody>
      </p:sp>
      <p:sp>
        <p:nvSpPr>
          <p:cNvPr id="18" name="Shape 14"/>
          <p:cNvSpPr/>
          <p:nvPr/>
        </p:nvSpPr>
        <p:spPr>
          <a:xfrm>
            <a:off x="8595360" y="3241040"/>
            <a:ext cx="3047695" cy="625094"/>
          </a:xfrm>
          <a:prstGeom prst="roundRect">
            <a:avLst>
              <a:gd name="adj" fmla="val 11703"/>
            </a:avLst>
          </a:prstGeom>
          <a:solidFill>
            <a:srgbClr val="F4F5F8"/>
          </a:solidFill>
          <a:ln w="12700">
            <a:solidFill>
              <a:srgbClr val="F4F5F8"/>
            </a:solidFill>
            <a:prstDash val="solid"/>
          </a:ln>
        </p:spPr>
      </p:sp>
      <p:sp>
        <p:nvSpPr>
          <p:cNvPr id="19" name="Text 15"/>
          <p:cNvSpPr txBox="1"/>
          <p:nvPr/>
        </p:nvSpPr>
        <p:spPr>
          <a:xfrm>
            <a:off x="8732520" y="333248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Confirming with today's date is refused (next slide).</a:t>
            </a:r>
            <a:endParaRPr lang="en-US" sz="1050" dirty="0"/>
          </a:p>
        </p:txBody>
      </p:sp>
      <p:sp>
        <p:nvSpPr>
          <p:cNvPr id="20" name="Text 1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Transfer or promote › 03 Review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Same-day changes are refused</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Effective today (the message)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0-chg-04-transfer-refused-same-day" descr="Screenshot: Employee 360 (after Confirm change) (Kavya Menon, fictional data)">    </p:cNvPr>
          <p:cNvPicPr>
            <a:picLocks noChangeAspect="1"/>
          </p:cNvPicPr>
          <p:nvPr/>
        </p:nvPicPr>
        <p:blipFill>
          <a:blip r:embed="rId1"/>
          <a:stretch>
            <a:fillRect/>
          </a:stretch>
        </p:blipFill>
        <p:spPr>
          <a:xfrm>
            <a:off x="548640" y="1755648"/>
            <a:ext cx="5364328" cy="1508717"/>
          </a:xfrm>
          <a:prstGeom prst="rect">
            <a:avLst/>
          </a:prstGeom>
        </p:spPr>
      </p:pic>
      <p:sp>
        <p:nvSpPr>
          <p:cNvPr id="8" name="Screenshot frame"/>
          <p:cNvSpPr/>
          <p:nvPr/>
        </p:nvSpPr>
        <p:spPr>
          <a:xfrm>
            <a:off x="548640" y="1755648"/>
            <a:ext cx="5364328" cy="1508717"/>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"Not allowed: The new position must start after the current one (2026-10-21)." Nothing changes.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Employee 360 (after Confirm change)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Effective tomorrow (the message)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0-chg-04b-transfer-done" descr="Screenshot: Employee 360 (after the transfer) (Kavya Menon, fictional data)">    </p:cNvPr>
          <p:cNvPicPr>
            <a:picLocks noChangeAspect="1"/>
          </p:cNvPicPr>
          <p:nvPr/>
        </p:nvPicPr>
        <p:blipFill>
          <a:blip r:embed="rId2"/>
          <a:stretch>
            <a:fillRect/>
          </a:stretch>
        </p:blipFill>
        <p:spPr>
          <a:xfrm>
            <a:off x="6278728" y="1755648"/>
            <a:ext cx="5364328" cy="1508717"/>
          </a:xfrm>
          <a:prstGeom prst="rect">
            <a:avLst/>
          </a:prstGeom>
        </p:spPr>
      </p:pic>
      <p:sp>
        <p:nvSpPr>
          <p:cNvPr id="14" name="Screenshot frame"/>
          <p:cNvSpPr/>
          <p:nvPr/>
        </p:nvSpPr>
        <p:spPr>
          <a:xfrm>
            <a:off x="6278728" y="1755648"/>
            <a:ext cx="5364328" cy="1508717"/>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"Position assigned": scheduled for 22 Oct and shown on the Journey.</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Employee 360 (after the transfer)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manager: 1 Context</a:t>
            </a:r>
            <a:endParaRPr lang="en-US" sz="2800" dirty="0"/>
          </a:p>
        </p:txBody>
      </p:sp>
      <p:pic>
        <p:nvPicPr>
          <p:cNvPr id="5" name="Screenshot hr-admin/50-chg-05-manager-context" descr="Screenshot: Employee 360 › Action › Change manager › 01 Context (Kavya Menon, fictional data)">    </p:cNvPr>
          <p:cNvPicPr>
            <a:picLocks noChangeAspect="1"/>
          </p:cNvPicPr>
          <p:nvPr/>
        </p:nvPicPr>
        <p:blipFill>
          <a:blip r:embed="rId1"/>
          <a:stretch>
            <a:fillRect/>
          </a:stretch>
        </p:blipFill>
        <p:spPr>
          <a:xfrm>
            <a:off x="548640" y="1417320"/>
            <a:ext cx="7818120" cy="4607106"/>
          </a:xfrm>
          <a:prstGeom prst="rect">
            <a:avLst/>
          </a:prstGeom>
        </p:spPr>
      </p:pic>
      <p:sp>
        <p:nvSpPr>
          <p:cNvPr id="6" name="Screenshot frame"/>
          <p:cNvSpPr/>
          <p:nvPr/>
        </p:nvSpPr>
        <p:spPr>
          <a:xfrm>
            <a:off x="548640" y="1417320"/>
            <a:ext cx="7818120" cy="4607106"/>
          </a:xfrm>
          <a:prstGeom prst="rect">
            <a:avLst/>
          </a:prstGeom>
          <a:ln w="9525">
            <a:solidFill>
              <a:srgbClr val="D9DCE3"/>
            </a:solidFill>
            <a:prstDash val="solid"/>
          </a:ln>
        </p:spPr>
      </p:sp>
      <p:sp>
        <p:nvSpPr>
          <p:cNvPr id="7" name="Callout box 1"/>
          <p:cNvSpPr/>
          <p:nvPr/>
        </p:nvSpPr>
        <p:spPr>
          <a:xfrm>
            <a:off x="723152" y="4936637"/>
            <a:ext cx="7469097" cy="383926"/>
          </a:xfrm>
          <a:prstGeom prst="roundRect">
            <a:avLst>
              <a:gd name="adj" fmla="val 11909"/>
            </a:avLst>
          </a:prstGeom>
          <a:ln w="25400">
            <a:solidFill>
              <a:srgbClr val="D97706"/>
            </a:solidFill>
            <a:prstDash val="solid"/>
          </a:ln>
        </p:spPr>
      </p:sp>
      <p:sp>
        <p:nvSpPr>
          <p:cNvPr id="8" name="Callout 1"/>
          <p:cNvSpPr txBox="1"/>
          <p:nvPr/>
        </p:nvSpPr>
        <p:spPr>
          <a:xfrm>
            <a:off x="7661896" y="500058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Relationship</a:t>
            </a:r>
            <a:endParaRPr lang="en-US" sz="1400" dirty="0"/>
          </a:p>
        </p:txBody>
      </p:sp>
      <p:sp>
        <p:nvSpPr>
          <p:cNvPr id="12" name="Shape 8"/>
          <p:cNvSpPr/>
          <p:nvPr/>
        </p:nvSpPr>
        <p:spPr>
          <a:xfrm>
            <a:off x="8595360" y="2331720"/>
            <a:ext cx="3047695" cy="818769"/>
          </a:xfrm>
          <a:prstGeom prst="roundRect">
            <a:avLst>
              <a:gd name="adj" fmla="val 8934"/>
            </a:avLst>
          </a:prstGeom>
          <a:solidFill>
            <a:srgbClr val="F4F5F8"/>
          </a:solidFill>
          <a:ln w="12700">
            <a:solidFill>
              <a:srgbClr val="F4F5F8"/>
            </a:solidFill>
            <a:prstDash val="solid"/>
          </a:ln>
        </p:spPr>
      </p:sp>
      <p:sp>
        <p:nvSpPr>
          <p:cNvPr id="13" name="Text 9"/>
          <p:cNvSpPr txBox="1"/>
          <p:nvPr/>
        </p:nvSpPr>
        <p:spPr>
          <a:xfrm>
            <a:off x="8732520" y="242316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Choose which relationship changes: line, dotted, project, mentor…</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Action › Change manager › 01 Context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manager: 2 Change</a:t>
            </a:r>
            <a:endParaRPr lang="en-US" sz="2800" dirty="0"/>
          </a:p>
        </p:txBody>
      </p:sp>
      <p:pic>
        <p:nvPicPr>
          <p:cNvPr id="5" name="Screenshot hr-admin/50-chg-06-manager-change" descr="Screenshot: Change manager › 02 Change (Kavya Menon, fictional data)">    </p:cNvPr>
          <p:cNvPicPr>
            <a:picLocks noChangeAspect="1"/>
          </p:cNvPicPr>
          <p:nvPr/>
        </p:nvPicPr>
        <p:blipFill>
          <a:blip r:embed="rId1"/>
          <a:stretch>
            <a:fillRect/>
          </a:stretch>
        </p:blipFill>
        <p:spPr>
          <a:xfrm>
            <a:off x="548640" y="1417320"/>
            <a:ext cx="7818120" cy="3769451"/>
          </a:xfrm>
          <a:prstGeom prst="rect">
            <a:avLst/>
          </a:prstGeom>
        </p:spPr>
      </p:pic>
      <p:sp>
        <p:nvSpPr>
          <p:cNvPr id="6" name="Screenshot frame"/>
          <p:cNvSpPr/>
          <p:nvPr/>
        </p:nvSpPr>
        <p:spPr>
          <a:xfrm>
            <a:off x="548640" y="1417320"/>
            <a:ext cx="7818120" cy="3769451"/>
          </a:xfrm>
          <a:prstGeom prst="rect">
            <a:avLst/>
          </a:prstGeom>
          <a:ln w="9525">
            <a:solidFill>
              <a:srgbClr val="D9DCE3"/>
            </a:solidFill>
            <a:prstDash val="solid"/>
          </a:ln>
        </p:spPr>
      </p:sp>
      <p:sp>
        <p:nvSpPr>
          <p:cNvPr id="7" name="Callout box 1"/>
          <p:cNvSpPr/>
          <p:nvPr/>
        </p:nvSpPr>
        <p:spPr>
          <a:xfrm>
            <a:off x="723152" y="3336948"/>
            <a:ext cx="7469097" cy="383926"/>
          </a:xfrm>
          <a:prstGeom prst="roundRect">
            <a:avLst>
              <a:gd name="adj" fmla="val 11909"/>
            </a:avLst>
          </a:prstGeom>
          <a:ln w="25400">
            <a:solidFill>
              <a:srgbClr val="D97706"/>
            </a:solidFill>
            <a:prstDash val="solid"/>
          </a:ln>
        </p:spPr>
      </p:sp>
      <p:sp>
        <p:nvSpPr>
          <p:cNvPr id="8" name="Callout 1"/>
          <p:cNvSpPr txBox="1"/>
          <p:nvPr/>
        </p:nvSpPr>
        <p:spPr>
          <a:xfrm>
            <a:off x="7661896" y="340089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New manager.</a:t>
            </a:r>
            <a:endParaRPr lang="en-US" sz="1400" dirty="0"/>
          </a:p>
        </p:txBody>
      </p:sp>
      <p:sp>
        <p:nvSpPr>
          <p:cNvPr id="12" name="Shape 8"/>
          <p:cNvSpPr/>
          <p:nvPr/>
        </p:nvSpPr>
        <p:spPr>
          <a:xfrm>
            <a:off x="8595360" y="2331720"/>
            <a:ext cx="3047695" cy="1012444"/>
          </a:xfrm>
          <a:prstGeom prst="roundRect">
            <a:avLst>
              <a:gd name="adj" fmla="val 7225"/>
            </a:avLst>
          </a:prstGeom>
          <a:solidFill>
            <a:srgbClr val="F4F5F8"/>
          </a:solidFill>
          <a:ln w="12700">
            <a:solidFill>
              <a:srgbClr val="F4F5F8"/>
            </a:solidFill>
            <a:prstDash val="solid"/>
          </a:ln>
        </p:spPr>
      </p:sp>
      <p:sp>
        <p:nvSpPr>
          <p:cNvPr id="13" name="Text 9"/>
          <p:cNvSpPr txBox="1"/>
          <p:nvPr/>
        </p:nvSpPr>
        <p:spPr>
          <a:xfrm>
            <a:off x="8732520" y="242316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New line manager Ravi Kumar and the date it takes effect. Only employed people are offered.</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Change manager › 02 Change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manager: 3 Review</a:t>
            </a:r>
            <a:endParaRPr lang="en-US" sz="2800" dirty="0"/>
          </a:p>
        </p:txBody>
      </p:sp>
      <p:pic>
        <p:nvPicPr>
          <p:cNvPr id="5" name="Screenshot hr-admin/50-chg-07-manager-review" descr="Screenshot: Change manager › 03 Review (Kavya Menon, fictional data)">    </p:cNvPr>
          <p:cNvPicPr>
            <a:picLocks noChangeAspect="1"/>
          </p:cNvPicPr>
          <p:nvPr/>
        </p:nvPicPr>
        <p:blipFill>
          <a:blip r:embed="rId1"/>
          <a:stretch>
            <a:fillRect/>
          </a:stretch>
        </p:blipFill>
        <p:spPr>
          <a:xfrm>
            <a:off x="548640" y="1417320"/>
            <a:ext cx="7818120" cy="4502399"/>
          </a:xfrm>
          <a:prstGeom prst="rect">
            <a:avLst/>
          </a:prstGeom>
        </p:spPr>
      </p:pic>
      <p:sp>
        <p:nvSpPr>
          <p:cNvPr id="6" name="Screenshot frame"/>
          <p:cNvSpPr/>
          <p:nvPr/>
        </p:nvSpPr>
        <p:spPr>
          <a:xfrm>
            <a:off x="548640" y="1417320"/>
            <a:ext cx="7818120" cy="4502399"/>
          </a:xfrm>
          <a:prstGeom prst="rect">
            <a:avLst/>
          </a:prstGeom>
          <a:ln w="9525">
            <a:solidFill>
              <a:srgbClr val="D9DCE3"/>
            </a:solidFill>
            <a:prstDash val="solid"/>
          </a:ln>
        </p:spPr>
      </p:sp>
      <p:sp>
        <p:nvSpPr>
          <p:cNvPr id="7" name="Callout box 1"/>
          <p:cNvSpPr/>
          <p:nvPr/>
        </p:nvSpPr>
        <p:spPr>
          <a:xfrm>
            <a:off x="723152" y="4384017"/>
            <a:ext cx="7469097" cy="593339"/>
          </a:xfrm>
          <a:prstGeom prst="roundRect">
            <a:avLst>
              <a:gd name="adj" fmla="val 7706"/>
            </a:avLst>
          </a:prstGeom>
          <a:ln w="25400">
            <a:solidFill>
              <a:srgbClr val="D97706"/>
            </a:solidFill>
            <a:prstDash val="solid"/>
          </a:ln>
        </p:spPr>
      </p:sp>
      <p:sp>
        <p:nvSpPr>
          <p:cNvPr id="8" name="Callout box 2"/>
          <p:cNvSpPr/>
          <p:nvPr/>
        </p:nvSpPr>
        <p:spPr>
          <a:xfrm>
            <a:off x="6394779" y="5361282"/>
            <a:ext cx="1797470" cy="383926"/>
          </a:xfrm>
          <a:prstGeom prst="roundRect">
            <a:avLst>
              <a:gd name="adj" fmla="val 11909"/>
            </a:avLst>
          </a:prstGeom>
          <a:ln w="25400">
            <a:solidFill>
              <a:srgbClr val="D97706"/>
            </a:solidFill>
            <a:prstDash val="solid"/>
          </a:ln>
        </p:spPr>
      </p:sp>
      <p:sp>
        <p:nvSpPr>
          <p:cNvPr id="9" name="Callout 1"/>
          <p:cNvSpPr txBox="1"/>
          <p:nvPr/>
        </p:nvSpPr>
        <p:spPr>
          <a:xfrm>
            <a:off x="7661896" y="455267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6083883" y="542522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Reason (audited).</a:t>
            </a:r>
            <a:endParaRPr lang="en-US" sz="1400" dirty="0"/>
          </a:p>
        </p:txBody>
      </p:sp>
      <p:sp>
        <p:nvSpPr>
          <p:cNvPr id="14"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Confirm.</a:t>
            </a:r>
            <a:endParaRPr lang="en-US" sz="1400" dirty="0"/>
          </a:p>
        </p:txBody>
      </p:sp>
      <p:sp>
        <p:nvSpPr>
          <p:cNvPr id="16" name="Shape 12"/>
          <p:cNvSpPr/>
          <p:nvPr/>
        </p:nvSpPr>
        <p:spPr>
          <a:xfrm>
            <a:off x="8595360" y="2697480"/>
            <a:ext cx="3047695" cy="818769"/>
          </a:xfrm>
          <a:prstGeom prst="roundRect">
            <a:avLst>
              <a:gd name="adj" fmla="val 8934"/>
            </a:avLst>
          </a:prstGeom>
          <a:solidFill>
            <a:srgbClr val="F4F5F8"/>
          </a:solidFill>
          <a:ln w="12700">
            <a:solidFill>
              <a:srgbClr val="F4F5F8"/>
            </a:solidFill>
            <a:prstDash val="solid"/>
          </a:ln>
        </p:spPr>
      </p:sp>
      <p:sp>
        <p:nvSpPr>
          <p:cNvPr id="17" name="Text 13"/>
          <p:cNvSpPr txBox="1"/>
          <p:nvPr/>
        </p:nvSpPr>
        <p:spPr>
          <a:xfrm>
            <a:off x="8732520" y="278892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Amit Verma → Ravi Kumar, with the reason. Confirm reporting change.</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Change manager › 03 Review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Recorded on the record</a:t>
            </a:r>
            <a:endParaRPr lang="en-US" sz="2800" dirty="0"/>
          </a:p>
        </p:txBody>
      </p:sp>
      <p:pic>
        <p:nvPicPr>
          <p:cNvPr id="5" name="Screenshot hr-admin/50-chg-08-manager-done" descr="Screenshot: Employee 360 (after the change)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012444"/>
          </a:xfrm>
          <a:prstGeom prst="roundRect">
            <a:avLst>
              <a:gd name="adj" fmla="val 7225"/>
            </a:avLst>
          </a:prstGeom>
          <a:solidFill>
            <a:srgbClr val="F4F5F8"/>
          </a:solidFill>
          <a:ln w="12700">
            <a:solidFill>
              <a:srgbClr val="F4F5F8"/>
            </a:solidFill>
            <a:prstDash val="solid"/>
          </a:ln>
        </p:spPr>
      </p:sp>
      <p:sp>
        <p:nvSpPr>
          <p:cNvPr id="9" name="Text 5"/>
          <p:cNvSpPr txBox="1"/>
          <p:nvPr/>
        </p:nvSpPr>
        <p:spPr>
          <a:xfrm>
            <a:off x="8732520" y="196596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Header: Reports to Ravi Kumar. History is never overwritten: the previous line stays with its end date.</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(after the change)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CHANGES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lifecycle state</a:t>
            </a:r>
            <a:endParaRPr lang="en-US" sz="2800" dirty="0"/>
          </a:p>
        </p:txBody>
      </p:sp>
      <p:pic>
        <p:nvPicPr>
          <p:cNvPr id="5" name="Screenshot hr-admin/50-chg-09-lifecycle-modal" descr="Screenshot: Employee 360 › Action › Change lifecycle state (Kavya Menon, fictional data)">    </p:cNvPr>
          <p:cNvPicPr>
            <a:picLocks noChangeAspect="1"/>
          </p:cNvPicPr>
          <p:nvPr/>
        </p:nvPicPr>
        <p:blipFill>
          <a:blip r:embed="rId1"/>
          <a:stretch>
            <a:fillRect/>
          </a:stretch>
        </p:blipFill>
        <p:spPr>
          <a:xfrm>
            <a:off x="548640" y="1417320"/>
            <a:ext cx="7818120" cy="3909060"/>
          </a:xfrm>
          <a:prstGeom prst="rect">
            <a:avLst/>
          </a:prstGeom>
        </p:spPr>
      </p:pic>
      <p:sp>
        <p:nvSpPr>
          <p:cNvPr id="6" name="Screenshot frame"/>
          <p:cNvSpPr/>
          <p:nvPr/>
        </p:nvSpPr>
        <p:spPr>
          <a:xfrm>
            <a:off x="548640" y="1417320"/>
            <a:ext cx="7818120" cy="3909060"/>
          </a:xfrm>
          <a:prstGeom prst="rect">
            <a:avLst/>
          </a:prstGeom>
          <a:ln w="9525">
            <a:solidFill>
              <a:srgbClr val="D9DCE3"/>
            </a:solidFill>
            <a:prstDash val="solid"/>
          </a:ln>
        </p:spPr>
      </p:sp>
      <p:sp>
        <p:nvSpPr>
          <p:cNvPr id="7" name="Callout box 1"/>
          <p:cNvSpPr/>
          <p:nvPr/>
        </p:nvSpPr>
        <p:spPr>
          <a:xfrm>
            <a:off x="723152" y="2254976"/>
            <a:ext cx="7469097" cy="383926"/>
          </a:xfrm>
          <a:prstGeom prst="roundRect">
            <a:avLst>
              <a:gd name="adj" fmla="val 11909"/>
            </a:avLst>
          </a:prstGeom>
          <a:ln w="25400">
            <a:solidFill>
              <a:srgbClr val="D97706"/>
            </a:solidFill>
            <a:prstDash val="solid"/>
          </a:ln>
        </p:spPr>
      </p:sp>
      <p:sp>
        <p:nvSpPr>
          <p:cNvPr id="8" name="Callout box 2"/>
          <p:cNvSpPr/>
          <p:nvPr/>
        </p:nvSpPr>
        <p:spPr>
          <a:xfrm>
            <a:off x="723152" y="3022827"/>
            <a:ext cx="7469097" cy="383926"/>
          </a:xfrm>
          <a:prstGeom prst="roundRect">
            <a:avLst>
              <a:gd name="adj" fmla="val 11909"/>
            </a:avLst>
          </a:prstGeom>
          <a:ln w="25400">
            <a:solidFill>
              <a:srgbClr val="D97706"/>
            </a:solidFill>
            <a:prstDash val="solid"/>
          </a:ln>
        </p:spPr>
      </p:sp>
      <p:sp>
        <p:nvSpPr>
          <p:cNvPr id="9" name="Callout box 3"/>
          <p:cNvSpPr/>
          <p:nvPr/>
        </p:nvSpPr>
        <p:spPr>
          <a:xfrm>
            <a:off x="723152" y="3790678"/>
            <a:ext cx="7469097" cy="593339"/>
          </a:xfrm>
          <a:prstGeom prst="roundRect">
            <a:avLst>
              <a:gd name="adj" fmla="val 7706"/>
            </a:avLst>
          </a:prstGeom>
          <a:ln w="25400">
            <a:solidFill>
              <a:srgbClr val="D97706"/>
            </a:solidFill>
            <a:prstDash val="solid"/>
          </a:ln>
        </p:spPr>
      </p:sp>
      <p:sp>
        <p:nvSpPr>
          <p:cNvPr id="10" name="Callout 1"/>
          <p:cNvSpPr txBox="1"/>
          <p:nvPr/>
        </p:nvSpPr>
        <p:spPr>
          <a:xfrm>
            <a:off x="7661896" y="2318922"/>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7661896" y="308677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7661896" y="3959332"/>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Allowed next states.</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Effective date.</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Reason (required).</a:t>
            </a:r>
            <a:endParaRPr lang="en-US" sz="1400" dirty="0"/>
          </a:p>
        </p:txBody>
      </p:sp>
      <p:sp>
        <p:nvSpPr>
          <p:cNvPr id="20" name="Shape 16"/>
          <p:cNvSpPr/>
          <p:nvPr/>
        </p:nvSpPr>
        <p:spPr>
          <a:xfrm>
            <a:off x="8595360" y="3063240"/>
            <a:ext cx="3047695" cy="1206119"/>
          </a:xfrm>
          <a:prstGeom prst="roundRect">
            <a:avLst>
              <a:gd name="adj" fmla="val 6065"/>
            </a:avLst>
          </a:prstGeom>
          <a:solidFill>
            <a:srgbClr val="F4F5F8"/>
          </a:solidFill>
          <a:ln w="12700">
            <a:solidFill>
              <a:srgbClr val="F4F5F8"/>
            </a:solidFill>
            <a:prstDash val="solid"/>
          </a:ln>
        </p:spPr>
      </p:sp>
      <p:sp>
        <p:nvSpPr>
          <p:cNvPr id="21" name="Text 17"/>
          <p:cNvSpPr txBox="1"/>
          <p:nvPr/>
        </p:nvSpPr>
        <p:spPr>
          <a:xfrm>
            <a:off x="8732520" y="315468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Only allowed next states; effective date and reason required. Opened and cancelled here. Exit uses the exit case, not this dialog.</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Action › Change lifecycle state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04</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Onboarding</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A plan starts on hire; tasks go to HR, the manager and the new joiner.</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ONBOARDING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Onboarding plans</a:t>
            </a:r>
            <a:endParaRPr lang="en-US" sz="2800" dirty="0"/>
          </a:p>
        </p:txBody>
      </p:sp>
      <p:pic>
        <p:nvPicPr>
          <p:cNvPr id="5" name="Screenshot hr-admin/50-onb-01-plans" descr="Screenshot: People › Lifecycle › Onboarding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520982"/>
            <a:ext cx="6074054" cy="373346"/>
          </a:xfrm>
          <a:prstGeom prst="roundRect">
            <a:avLst>
              <a:gd name="adj" fmla="val 12246"/>
            </a:avLst>
          </a:prstGeom>
          <a:ln w="25400">
            <a:solidFill>
              <a:srgbClr val="D97706"/>
            </a:solidFill>
            <a:prstDash val="solid"/>
          </a:ln>
        </p:spPr>
      </p:sp>
      <p:sp>
        <p:nvSpPr>
          <p:cNvPr id="8" name="Callout box 2"/>
          <p:cNvSpPr/>
          <p:nvPr/>
        </p:nvSpPr>
        <p:spPr>
          <a:xfrm>
            <a:off x="5258240" y="3258922"/>
            <a:ext cx="743102" cy="305139"/>
          </a:xfrm>
          <a:prstGeom prst="roundRect">
            <a:avLst>
              <a:gd name="adj" fmla="val 14983"/>
            </a:avLst>
          </a:prstGeom>
          <a:ln w="25400">
            <a:solidFill>
              <a:srgbClr val="D97706"/>
            </a:solidFill>
            <a:prstDash val="solid"/>
          </a:ln>
        </p:spPr>
      </p:sp>
      <p:sp>
        <p:nvSpPr>
          <p:cNvPr id="9" name="Callout 1"/>
          <p:cNvSpPr txBox="1"/>
          <p:nvPr/>
        </p:nvSpPr>
        <p:spPr>
          <a:xfrm>
            <a:off x="1799031" y="3579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5130224" y="296631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Auto-started plan.</a:t>
            </a:r>
            <a:endParaRPr lang="en-US" sz="1400" dirty="0"/>
          </a:p>
        </p:txBody>
      </p:sp>
      <p:sp>
        <p:nvSpPr>
          <p:cNvPr id="14"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Progress.</a:t>
            </a:r>
            <a:endParaRPr lang="en-US" sz="1400" dirty="0"/>
          </a:p>
        </p:txBody>
      </p:sp>
      <p:sp>
        <p:nvSpPr>
          <p:cNvPr id="16" name="Shape 12"/>
          <p:cNvSpPr/>
          <p:nvPr/>
        </p:nvSpPr>
        <p:spPr>
          <a:xfrm>
            <a:off x="8595360" y="2697480"/>
            <a:ext cx="3047695" cy="1012444"/>
          </a:xfrm>
          <a:prstGeom prst="roundRect">
            <a:avLst>
              <a:gd name="adj" fmla="val 7225"/>
            </a:avLst>
          </a:prstGeom>
          <a:solidFill>
            <a:srgbClr val="F4F5F8"/>
          </a:solidFill>
          <a:ln w="12700">
            <a:solidFill>
              <a:srgbClr val="F4F5F8"/>
            </a:solidFill>
            <a:prstDash val="solid"/>
          </a:ln>
        </p:spPr>
      </p:sp>
      <p:sp>
        <p:nvSpPr>
          <p:cNvPr id="17" name="Text 13"/>
          <p:cNvSpPr txBox="1"/>
          <p:nvPr/>
        </p:nvSpPr>
        <p:spPr>
          <a:xfrm>
            <a:off x="8732520" y="278892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Plans in progress with joining date, progress, open and overdue tasks. The new hire's plan started automatically.</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Lifecycle › Onboarding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ONBOARDING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Onboarding template</a:t>
            </a:r>
            <a:endParaRPr lang="en-US" sz="2800" dirty="0"/>
          </a:p>
        </p:txBody>
      </p:sp>
      <p:pic>
        <p:nvPicPr>
          <p:cNvPr id="5" name="Screenshot hr-admin/50-onb-02-template" descr="Screenshot: People › Lifecycle › Onboarding templates › Edit Standard onboarding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239162" y="4353831"/>
            <a:ext cx="297959" cy="150774"/>
          </a:xfrm>
          <a:prstGeom prst="roundRect">
            <a:avLst>
              <a:gd name="adj" fmla="val 30324"/>
            </a:avLst>
          </a:prstGeom>
          <a:ln w="25400">
            <a:solidFill>
              <a:srgbClr val="D97706"/>
            </a:solidFill>
            <a:prstDash val="solid"/>
          </a:ln>
        </p:spPr>
      </p:sp>
      <p:sp>
        <p:nvSpPr>
          <p:cNvPr id="8" name="Callout box 2"/>
          <p:cNvSpPr/>
          <p:nvPr/>
        </p:nvSpPr>
        <p:spPr>
          <a:xfrm>
            <a:off x="5319268" y="2968142"/>
            <a:ext cx="2563165" cy="129235"/>
          </a:xfrm>
          <a:prstGeom prst="roundRect">
            <a:avLst>
              <a:gd name="adj" fmla="val 35377"/>
            </a:avLst>
          </a:prstGeom>
          <a:ln w="25400">
            <a:solidFill>
              <a:srgbClr val="D97706"/>
            </a:solidFill>
            <a:prstDash val="solid"/>
          </a:ln>
        </p:spPr>
      </p:sp>
      <p:sp>
        <p:nvSpPr>
          <p:cNvPr id="9" name="Callout 1"/>
          <p:cNvSpPr txBox="1"/>
          <p:nvPr/>
        </p:nvSpPr>
        <p:spPr>
          <a:xfrm>
            <a:off x="2111146" y="406122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5008372" y="290474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Priority.</a:t>
            </a:r>
            <a:endParaRPr lang="en-US" sz="1400" dirty="0"/>
          </a:p>
        </p:txBody>
      </p:sp>
      <p:sp>
        <p:nvSpPr>
          <p:cNvPr id="14"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Applies to.</a:t>
            </a:r>
            <a:endParaRPr lang="en-US" sz="1400" dirty="0"/>
          </a:p>
        </p:txBody>
      </p:sp>
      <p:sp>
        <p:nvSpPr>
          <p:cNvPr id="16" name="Shape 12"/>
          <p:cNvSpPr/>
          <p:nvPr/>
        </p:nvSpPr>
        <p:spPr>
          <a:xfrm>
            <a:off x="8595360" y="2697480"/>
            <a:ext cx="3047695" cy="1012444"/>
          </a:xfrm>
          <a:prstGeom prst="roundRect">
            <a:avLst>
              <a:gd name="adj" fmla="val 7225"/>
            </a:avLst>
          </a:prstGeom>
          <a:solidFill>
            <a:srgbClr val="F4F5F8"/>
          </a:solidFill>
          <a:ln w="12700">
            <a:solidFill>
              <a:srgbClr val="F4F5F8"/>
            </a:solidFill>
            <a:prstDash val="solid"/>
          </a:ln>
        </p:spPr>
      </p:sp>
      <p:sp>
        <p:nvSpPr>
          <p:cNvPr id="17" name="Text 13"/>
          <p:cNvSpPr txBox="1"/>
          <p:nvPr/>
        </p:nvSpPr>
        <p:spPr>
          <a:xfrm>
            <a:off x="8732520" y="278892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Name, priority (lower wins), status and Applies to conditions; checklist items with phase, owner and due days.</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Lifecycle › Onboarding templates › Edit Standard onboarding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ONBOARDING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Tasks on the plan</a:t>
            </a:r>
            <a:endParaRPr lang="en-US" sz="2800" dirty="0"/>
          </a:p>
        </p:txBody>
      </p:sp>
      <p:pic>
        <p:nvPicPr>
          <p:cNvPr id="5" name="Screenshot hr-admin/50-onb-03-plan-tasks" descr="Screenshot: Employee 360 › Records › Employment › Onboarding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4493836"/>
            <a:ext cx="6074054" cy="351807"/>
          </a:xfrm>
          <a:prstGeom prst="roundRect">
            <a:avLst>
              <a:gd name="adj" fmla="val 12996"/>
            </a:avLst>
          </a:prstGeom>
          <a:ln w="25400">
            <a:solidFill>
              <a:srgbClr val="D97706"/>
            </a:solidFill>
            <a:prstDash val="solid"/>
          </a:ln>
        </p:spPr>
      </p:sp>
      <p:sp>
        <p:nvSpPr>
          <p:cNvPr id="8" name="Callout box 2"/>
          <p:cNvSpPr/>
          <p:nvPr/>
        </p:nvSpPr>
        <p:spPr>
          <a:xfrm>
            <a:off x="7383441" y="4583582"/>
            <a:ext cx="341037" cy="172314"/>
          </a:xfrm>
          <a:prstGeom prst="roundRect">
            <a:avLst>
              <a:gd name="adj" fmla="val 26533"/>
            </a:avLst>
          </a:prstGeom>
          <a:ln w="25400">
            <a:solidFill>
              <a:srgbClr val="D97706"/>
            </a:solidFill>
            <a:prstDash val="solid"/>
          </a:ln>
        </p:spPr>
      </p:sp>
      <p:sp>
        <p:nvSpPr>
          <p:cNvPr id="9" name="Callout box 3"/>
          <p:cNvSpPr/>
          <p:nvPr/>
        </p:nvSpPr>
        <p:spPr>
          <a:xfrm>
            <a:off x="7742428" y="4583582"/>
            <a:ext cx="312318" cy="172314"/>
          </a:xfrm>
          <a:prstGeom prst="roundRect">
            <a:avLst>
              <a:gd name="adj" fmla="val 26533"/>
            </a:avLst>
          </a:prstGeom>
          <a:ln w="25400">
            <a:solidFill>
              <a:srgbClr val="D97706"/>
            </a:solidFill>
            <a:prstDash val="solid"/>
          </a:ln>
        </p:spPr>
      </p:sp>
      <p:sp>
        <p:nvSpPr>
          <p:cNvPr id="10" name="Callout 1"/>
          <p:cNvSpPr txBox="1"/>
          <p:nvPr/>
        </p:nvSpPr>
        <p:spPr>
          <a:xfrm>
            <a:off x="1799031" y="454172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7255425" y="429097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7614412" y="429097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Task.</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Done.</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Skip (note required).</a:t>
            </a:r>
            <a:endParaRPr lang="en-US" sz="1400" dirty="0"/>
          </a:p>
        </p:txBody>
      </p:sp>
      <p:sp>
        <p:nvSpPr>
          <p:cNvPr id="20" name="Shape 16"/>
          <p:cNvSpPr/>
          <p:nvPr/>
        </p:nvSpPr>
        <p:spPr>
          <a:xfrm>
            <a:off x="8595360" y="3063240"/>
            <a:ext cx="3047695" cy="1012444"/>
          </a:xfrm>
          <a:prstGeom prst="roundRect">
            <a:avLst>
              <a:gd name="adj" fmla="val 7225"/>
            </a:avLst>
          </a:prstGeom>
          <a:solidFill>
            <a:srgbClr val="F4F5F8"/>
          </a:solidFill>
          <a:ln w="12700">
            <a:solidFill>
              <a:srgbClr val="F4F5F8"/>
            </a:solidFill>
            <a:prstDash val="solid"/>
          </a:ln>
        </p:spPr>
      </p:sp>
      <p:sp>
        <p:nvSpPr>
          <p:cNvPr id="21" name="Text 17"/>
          <p:cNvSpPr txBox="1"/>
          <p:nvPr/>
        </p:nvSpPr>
        <p:spPr>
          <a:xfrm>
            <a:off x="8732520" y="315468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By phase (Preboarding, Day 1, First week, 30 days), with owner, due date and status; Done or Skip per task.</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Records › Employment › Onboarding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ONBOARDING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Complete a task</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Done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0-onb-04-task-done-confirm" descr="Screenshot: Onboarding task › Done (Kavya Menon, fictional data)">    </p:cNvPr>
          <p:cNvPicPr>
            <a:picLocks noChangeAspect="1"/>
          </p:cNvPicPr>
          <p:nvPr/>
        </p:nvPicPr>
        <p:blipFill>
          <a:blip r:embed="rId1"/>
          <a:stretch>
            <a:fillRect/>
          </a:stretch>
        </p:blipFill>
        <p:spPr>
          <a:xfrm>
            <a:off x="548640" y="1755648"/>
            <a:ext cx="5364328" cy="1460821"/>
          </a:xfrm>
          <a:prstGeom prst="rect">
            <a:avLst/>
          </a:prstGeom>
        </p:spPr>
      </p:pic>
      <p:sp>
        <p:nvSpPr>
          <p:cNvPr id="8" name="Screenshot frame"/>
          <p:cNvSpPr/>
          <p:nvPr/>
        </p:nvSpPr>
        <p:spPr>
          <a:xfrm>
            <a:off x="548640" y="1755648"/>
            <a:ext cx="5364328" cy="1460821"/>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Confirm completion; document tasks require the document.</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Onboarding task › Done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Completed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0-onb-05-task-completed" descr="Screenshot: Employee 360 › Records › Employment › Onboarding (after Done)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Status done with who and when (the plan's progress figure updates after a refresh).</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 Records › Employment › Onboarding (after Done)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ONBOARDING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Manager tasks, and a template error</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Manager's Task inbox</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manager/50-onb-06-manager-onboarding-tasks" descr="Screenshot: My work › Task inbox › Onboarding tasks (Amit Verma,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Tasks assigned to the manager: meet the team, 30-day goals, check-in; Done / Skip.</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Amit Verma (Manager + Employee) · My work › Task inbox › Onboarding tasks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Template › Checklist items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FBE6E4"/>
          </a:solidFill>
          <a:ln/>
        </p:spPr>
        <p:txBody>
          <a:bodyPr wrap="square" lIns="0" tIns="0" rIns="0" bIns="0" rtlCol="0" anchor="ctr"/>
          <a:lstStyle/>
          <a:p>
            <a:pPr algn="ctr" indent="0" marL="0">
              <a:buNone/>
            </a:pPr>
            <a:r>
              <a:rPr lang="en-US" sz="950" b="1" dirty="0">
                <a:solidFill>
                  <a:srgbClr val="B3261E"/>
                </a:solidFill>
              </a:rPr>
              <a:t>Incomplete</a:t>
            </a:r>
            <a:endParaRPr lang="en-US" sz="950" dirty="0"/>
          </a:p>
        </p:txBody>
      </p:sp>
      <p:pic>
        <p:nvPicPr>
          <p:cNvPr id="13" name="Screenshot support/50-onb-err-01-template-items-lazy-loading" descr="Screenshot: Onboarding templates › Edit › Checklist item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LazyLoadingViolationException in development mode (new finding). Items were edited before this error appeared in the demo.</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Onboarding templates › Edit › Checklist items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05</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Employee documents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Upload by one person, verification by another.</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DOCUMENTS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Upload a document</a:t>
            </a:r>
            <a:endParaRPr lang="en-US" sz="2800" dirty="0"/>
          </a:p>
        </p:txBody>
      </p:sp>
      <p:pic>
        <p:nvPicPr>
          <p:cNvPr id="5" name="Screenshot hr-admin/50-doc-01-upload-form" descr="Screenshot: Employee 360 › Records › Operations › Documents › Upload (Kavya Menon, fictional data)">    </p:cNvPr>
          <p:cNvPicPr>
            <a:picLocks noChangeAspect="1"/>
          </p:cNvPicPr>
          <p:nvPr/>
        </p:nvPicPr>
        <p:blipFill>
          <a:blip r:embed="rId1"/>
          <a:stretch>
            <a:fillRect/>
          </a:stretch>
        </p:blipFill>
        <p:spPr>
          <a:xfrm>
            <a:off x="1645328" y="1417320"/>
            <a:ext cx="5624744" cy="4846320"/>
          </a:xfrm>
          <a:prstGeom prst="rect">
            <a:avLst/>
          </a:prstGeom>
        </p:spPr>
      </p:pic>
      <p:sp>
        <p:nvSpPr>
          <p:cNvPr id="6" name="Screenshot frame"/>
          <p:cNvSpPr/>
          <p:nvPr/>
        </p:nvSpPr>
        <p:spPr>
          <a:xfrm>
            <a:off x="1645328" y="1417320"/>
            <a:ext cx="5624744" cy="4846320"/>
          </a:xfrm>
          <a:prstGeom prst="rect">
            <a:avLst/>
          </a:prstGeom>
          <a:ln w="9525">
            <a:solidFill>
              <a:srgbClr val="D9DCE3"/>
            </a:solidFill>
            <a:prstDash val="solid"/>
          </a:ln>
        </p:spPr>
      </p:sp>
      <p:sp>
        <p:nvSpPr>
          <p:cNvPr id="7" name="Callout box 1"/>
          <p:cNvSpPr/>
          <p:nvPr/>
        </p:nvSpPr>
        <p:spPr>
          <a:xfrm>
            <a:off x="1770880" y="2019971"/>
            <a:ext cx="5373640" cy="276215"/>
          </a:xfrm>
          <a:prstGeom prst="roundRect">
            <a:avLst>
              <a:gd name="adj" fmla="val 16552"/>
            </a:avLst>
          </a:prstGeom>
          <a:ln w="25400">
            <a:solidFill>
              <a:srgbClr val="D97706"/>
            </a:solidFill>
            <a:prstDash val="solid"/>
          </a:ln>
        </p:spPr>
      </p:sp>
      <p:sp>
        <p:nvSpPr>
          <p:cNvPr id="8" name="Callout box 2"/>
          <p:cNvSpPr/>
          <p:nvPr/>
        </p:nvSpPr>
        <p:spPr>
          <a:xfrm>
            <a:off x="1770880" y="2572401"/>
            <a:ext cx="5373640" cy="276215"/>
          </a:xfrm>
          <a:prstGeom prst="roundRect">
            <a:avLst>
              <a:gd name="adj" fmla="val 16552"/>
            </a:avLst>
          </a:prstGeom>
          <a:ln w="25400">
            <a:solidFill>
              <a:srgbClr val="D97706"/>
            </a:solidFill>
            <a:prstDash val="solid"/>
          </a:ln>
        </p:spPr>
      </p:sp>
      <p:sp>
        <p:nvSpPr>
          <p:cNvPr id="9" name="Callout box 3"/>
          <p:cNvSpPr/>
          <p:nvPr/>
        </p:nvSpPr>
        <p:spPr>
          <a:xfrm>
            <a:off x="1770880" y="3300605"/>
            <a:ext cx="5373640" cy="472914"/>
          </a:xfrm>
          <a:prstGeom prst="roundRect">
            <a:avLst>
              <a:gd name="adj" fmla="val 9668"/>
            </a:avLst>
          </a:prstGeom>
          <a:ln w="25400">
            <a:solidFill>
              <a:srgbClr val="D97706"/>
            </a:solidFill>
            <a:prstDash val="solid"/>
          </a:ln>
        </p:spPr>
      </p:sp>
      <p:sp>
        <p:nvSpPr>
          <p:cNvPr id="10" name="Callout box 4"/>
          <p:cNvSpPr/>
          <p:nvPr/>
        </p:nvSpPr>
        <p:spPr>
          <a:xfrm>
            <a:off x="1770880" y="5154594"/>
            <a:ext cx="5373640" cy="426878"/>
          </a:xfrm>
          <a:prstGeom prst="roundRect">
            <a:avLst>
              <a:gd name="adj" fmla="val 10710"/>
            </a:avLst>
          </a:prstGeom>
          <a:ln w="25400">
            <a:solidFill>
              <a:srgbClr val="D97706"/>
            </a:solidFill>
            <a:prstDash val="solid"/>
          </a:ln>
        </p:spPr>
      </p:sp>
      <p:sp>
        <p:nvSpPr>
          <p:cNvPr id="11" name="Callout 1"/>
          <p:cNvSpPr txBox="1"/>
          <p:nvPr/>
        </p:nvSpPr>
        <p:spPr>
          <a:xfrm>
            <a:off x="1459984" y="203006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2" name="Callout 2"/>
          <p:cNvSpPr txBox="1"/>
          <p:nvPr/>
        </p:nvSpPr>
        <p:spPr>
          <a:xfrm>
            <a:off x="1459984" y="258249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Callout 3"/>
          <p:cNvSpPr txBox="1"/>
          <p:nvPr/>
        </p:nvSpPr>
        <p:spPr>
          <a:xfrm>
            <a:off x="1459984" y="340904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Callout 4"/>
          <p:cNvSpPr txBox="1"/>
          <p:nvPr/>
        </p:nvSpPr>
        <p:spPr>
          <a:xfrm>
            <a:off x="1459984" y="5240017"/>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5"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3"/>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Document type.</a:t>
            </a:r>
            <a:endParaRPr lang="en-US" sz="1400" dirty="0"/>
          </a:p>
        </p:txBody>
      </p:sp>
      <p:sp>
        <p:nvSpPr>
          <p:cNvPr id="18"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5"/>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Title.</a:t>
            </a:r>
            <a:endParaRPr lang="en-US" sz="1400" dirty="0"/>
          </a:p>
        </p:txBody>
      </p:sp>
      <p:sp>
        <p:nvSpPr>
          <p:cNvPr id="20"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7"/>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File.</a:t>
            </a:r>
            <a:endParaRPr lang="en-US" sz="1400" dirty="0"/>
          </a:p>
        </p:txBody>
      </p:sp>
      <p:sp>
        <p:nvSpPr>
          <p:cNvPr id="22" name="Callout 4"/>
          <p:cNvSpPr txBox="1"/>
          <p:nvPr/>
        </p:nvSpPr>
        <p:spPr>
          <a:xfrm>
            <a:off x="8595360" y="299008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9"/>
          <p:cNvSpPr txBox="1"/>
          <p:nvPr/>
        </p:nvSpPr>
        <p:spPr>
          <a:xfrm>
            <a:off x="9006840" y="2971800"/>
            <a:ext cx="2636215" cy="329184"/>
          </a:xfrm>
          <a:prstGeom prst="rect">
            <a:avLst/>
          </a:prstGeom>
          <a:noFill/>
          <a:ln/>
        </p:spPr>
        <p:txBody>
          <a:bodyPr wrap="square" lIns="0" tIns="0" rIns="0" bIns="0" rtlCol="0" anchor="t"/>
          <a:lstStyle/>
          <a:p>
            <a:pPr indent="0" marL="0">
              <a:buNone/>
            </a:pPr>
            <a:r>
              <a:rPr lang="en-US" sz="1400" dirty="0">
                <a:solidFill>
                  <a:schemeClr val="tx1"/>
                </a:solidFill>
              </a:rPr>
              <a:t>Reason.</a:t>
            </a:r>
            <a:endParaRPr lang="en-US" sz="1400" dirty="0"/>
          </a:p>
        </p:txBody>
      </p:sp>
      <p:sp>
        <p:nvSpPr>
          <p:cNvPr id="24" name="Shape 20"/>
          <p:cNvSpPr/>
          <p:nvPr/>
        </p:nvSpPr>
        <p:spPr>
          <a:xfrm>
            <a:off x="8595360" y="3429000"/>
            <a:ext cx="3047695" cy="818769"/>
          </a:xfrm>
          <a:prstGeom prst="roundRect">
            <a:avLst>
              <a:gd name="adj" fmla="val 8934"/>
            </a:avLst>
          </a:prstGeom>
          <a:solidFill>
            <a:srgbClr val="F4F5F8"/>
          </a:solidFill>
          <a:ln w="12700">
            <a:solidFill>
              <a:srgbClr val="F4F5F8"/>
            </a:solidFill>
            <a:prstDash val="solid"/>
          </a:ln>
        </p:spPr>
      </p:sp>
      <p:sp>
        <p:nvSpPr>
          <p:cNvPr id="25" name="Text 21"/>
          <p:cNvSpPr txBox="1"/>
          <p:nvPr/>
        </p:nvSpPr>
        <p:spPr>
          <a:xfrm>
            <a:off x="8732520" y="352044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PDF, JPEG, PNG or Word, up to 10 MB. Saved as Pending verification.</a:t>
            </a:r>
            <a:endParaRPr lang="en-US" sz="1050" dirty="0"/>
          </a:p>
        </p:txBody>
      </p:sp>
      <p:sp>
        <p:nvSpPr>
          <p:cNvPr id="26" name="Text 2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Records › Operations › Documents › Upload</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DOCUMENTS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Pending verification</a:t>
            </a:r>
            <a:endParaRPr lang="en-US" sz="2800" dirty="0"/>
          </a:p>
        </p:txBody>
      </p:sp>
      <p:pic>
        <p:nvPicPr>
          <p:cNvPr id="5" name="Screenshot hr-admin/50-doc-02-uploaded-pending" descr="Screenshot: Employee 360 › Records › Operations › Documents (Kavya Menon, fictional data)">    </p:cNvPr>
          <p:cNvPicPr>
            <a:picLocks noChangeAspect="1"/>
          </p:cNvPicPr>
          <p:nvPr/>
        </p:nvPicPr>
        <p:blipFill>
          <a:blip r:embed="rId1"/>
          <a:stretch>
            <a:fillRect/>
          </a:stretch>
        </p:blipFill>
        <p:spPr>
          <a:xfrm>
            <a:off x="1850967" y="1417320"/>
            <a:ext cx="5213465" cy="4846320"/>
          </a:xfrm>
          <a:prstGeom prst="rect">
            <a:avLst/>
          </a:prstGeom>
        </p:spPr>
      </p:pic>
      <p:sp>
        <p:nvSpPr>
          <p:cNvPr id="6" name="Screenshot frame"/>
          <p:cNvSpPr/>
          <p:nvPr/>
        </p:nvSpPr>
        <p:spPr>
          <a:xfrm>
            <a:off x="1850967" y="1417320"/>
            <a:ext cx="5213465"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625094"/>
          </a:xfrm>
          <a:prstGeom prst="roundRect">
            <a:avLst>
              <a:gd name="adj" fmla="val 11703"/>
            </a:avLst>
          </a:prstGeom>
          <a:solidFill>
            <a:srgbClr val="F4F5F8"/>
          </a:solidFill>
          <a:ln w="12700">
            <a:solidFill>
              <a:srgbClr val="F4F5F8"/>
            </a:solidFill>
            <a:prstDash val="solid"/>
          </a:ln>
        </p:spPr>
      </p:sp>
      <p:sp>
        <p:nvSpPr>
          <p:cNvPr id="9" name="Text 5"/>
          <p:cNvSpPr txBox="1"/>
          <p:nvPr/>
        </p:nvSpPr>
        <p:spPr>
          <a:xfrm>
            <a:off x="8732520" y="196596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Download (10-minute link), Verify and Reject.</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Employee 360 › Records › Operations › Documents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DOCUMENTS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uploader cannot verify</a:t>
            </a:r>
            <a:endParaRPr lang="en-US" sz="2800" dirty="0"/>
          </a:p>
        </p:txBody>
      </p:sp>
      <p:pic>
        <p:nvPicPr>
          <p:cNvPr id="5" name="Screenshot security-compliance/50-doc-03-uploader-cannot-verify" descr="Screenshot: Employee 360 › Records › Operations › Documents (Kavya Menon, fictional data)">    </p:cNvPr>
          <p:cNvPicPr>
            <a:picLocks noChangeAspect="1"/>
          </p:cNvPicPr>
          <p:nvPr/>
        </p:nvPicPr>
        <p:blipFill>
          <a:blip r:embed="rId1"/>
          <a:stretch>
            <a:fillRect/>
          </a:stretch>
        </p:blipFill>
        <p:spPr>
          <a:xfrm>
            <a:off x="1352002" y="1417320"/>
            <a:ext cx="6211397" cy="4846320"/>
          </a:xfrm>
          <a:prstGeom prst="rect">
            <a:avLst/>
          </a:prstGeom>
        </p:spPr>
      </p:pic>
      <p:sp>
        <p:nvSpPr>
          <p:cNvPr id="6" name="Screenshot frame"/>
          <p:cNvSpPr/>
          <p:nvPr/>
        </p:nvSpPr>
        <p:spPr>
          <a:xfrm>
            <a:off x="1352002" y="1417320"/>
            <a:ext cx="6211397"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8" name="Shape 4"/>
          <p:cNvSpPr/>
          <p:nvPr/>
        </p:nvSpPr>
        <p:spPr>
          <a:xfrm>
            <a:off x="8595360" y="1874520"/>
            <a:ext cx="3047695" cy="1593469"/>
          </a:xfrm>
          <a:prstGeom prst="roundRect">
            <a:avLst>
              <a:gd name="adj" fmla="val 4591"/>
            </a:avLst>
          </a:prstGeom>
          <a:solidFill>
            <a:srgbClr val="F4F5F8"/>
          </a:solidFill>
          <a:ln w="12700">
            <a:solidFill>
              <a:srgbClr val="F4F5F8"/>
            </a:solidFill>
            <a:prstDash val="solid"/>
          </a:ln>
        </p:spPr>
      </p:sp>
      <p:sp>
        <p:nvSpPr>
          <p:cNvPr id="9" name="Text 5"/>
          <p:cNvSpPr txBox="1"/>
          <p:nvPr/>
        </p:nvSpPr>
        <p:spPr>
          <a:xfrm>
            <a:off x="8732520" y="1965960"/>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The rule holds ("The person who uploaded a document cannot verify it.") but it surfaces as a server error instead of a message. Nothing is changed. Ask a second HR person to verify.</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Employee 360 › Records › Operations › Documents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DOCUMENTS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second HR person verifies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Verify</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0-doc-04-verify-confirm" descr="Screenshot: Documents › Verify (second HR person) (Neha Kapoor, fictional data)">    </p:cNvPr>
          <p:cNvPicPr>
            <a:picLocks noChangeAspect="1"/>
          </p:cNvPicPr>
          <p:nvPr/>
        </p:nvPicPr>
        <p:blipFill>
          <a:blip r:embed="rId1"/>
          <a:stretch>
            <a:fillRect/>
          </a:stretch>
        </p:blipFill>
        <p:spPr>
          <a:xfrm>
            <a:off x="548640" y="1755648"/>
            <a:ext cx="5364328" cy="1460821"/>
          </a:xfrm>
          <a:prstGeom prst="rect">
            <a:avLst/>
          </a:prstGeom>
        </p:spPr>
      </p:pic>
      <p:sp>
        <p:nvSpPr>
          <p:cNvPr id="8" name="Screenshot frame"/>
          <p:cNvSpPr/>
          <p:nvPr/>
        </p:nvSpPr>
        <p:spPr>
          <a:xfrm>
            <a:off x="548640" y="1755648"/>
            <a:ext cx="5364328" cy="1460821"/>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Neha Kapoor (HR Manager) verifies a document Kavya uploaded.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Documents › Verify (second HR person)</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Verified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0-doc-05-verified" descr="Screenshot: Employee 360 › Records › Operations › Documents (after Verify) (Neha Kapoor, fictional data)">    </p:cNvPr>
          <p:cNvPicPr>
            <a:picLocks noChangeAspect="1"/>
          </p:cNvPicPr>
          <p:nvPr/>
        </p:nvPicPr>
        <p:blipFill>
          <a:blip r:embed="rId2"/>
          <a:stretch>
            <a:fillRect/>
          </a:stretch>
        </p:blipFill>
        <p:spPr>
          <a:xfrm>
            <a:off x="6364272" y="1755648"/>
            <a:ext cx="5193238" cy="3429000"/>
          </a:xfrm>
          <a:prstGeom prst="rect">
            <a:avLst/>
          </a:prstGeom>
        </p:spPr>
      </p:pic>
      <p:sp>
        <p:nvSpPr>
          <p:cNvPr id="14" name="Screenshot frame"/>
          <p:cNvSpPr/>
          <p:nvPr/>
        </p:nvSpPr>
        <p:spPr>
          <a:xfrm>
            <a:off x="6364272" y="1755648"/>
            <a:ext cx="5193238"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Status Verified, with who verified it.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Neha Kapoor (HR Manager + Employee) · Employee 360 › Records › Operations › Documents (after Verify)</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06</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Attendance administration</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Punches become records when the day is processed.</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ATTENDANCE ADMINISTRATION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Attendance records and the two HR actions</a:t>
            </a:r>
            <a:endParaRPr lang="en-US" sz="2800" dirty="0"/>
          </a:p>
        </p:txBody>
      </p:sp>
      <p:pic>
        <p:nvPicPr>
          <p:cNvPr id="5" name="Screenshot hr-admin/20-att-10-records-before" descr="Screenshot: Attendance record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6590081" y="2293247"/>
            <a:ext cx="829259" cy="236931"/>
          </a:xfrm>
          <a:prstGeom prst="roundRect">
            <a:avLst>
              <a:gd name="adj" fmla="val 19297"/>
            </a:avLst>
          </a:prstGeom>
          <a:ln w="25400">
            <a:solidFill>
              <a:srgbClr val="D97706"/>
            </a:solidFill>
            <a:prstDash val="solid"/>
          </a:ln>
        </p:spPr>
      </p:sp>
      <p:sp>
        <p:nvSpPr>
          <p:cNvPr id="8" name="Callout box 2"/>
          <p:cNvSpPr/>
          <p:nvPr/>
        </p:nvSpPr>
        <p:spPr>
          <a:xfrm>
            <a:off x="7440879" y="2293247"/>
            <a:ext cx="743102" cy="236931"/>
          </a:xfrm>
          <a:prstGeom prst="roundRect">
            <a:avLst>
              <a:gd name="adj" fmla="val 19297"/>
            </a:avLst>
          </a:prstGeom>
          <a:ln w="25400">
            <a:solidFill>
              <a:srgbClr val="D97706"/>
            </a:solidFill>
            <a:prstDash val="solid"/>
          </a:ln>
        </p:spPr>
      </p:sp>
      <p:sp>
        <p:nvSpPr>
          <p:cNvPr id="9" name="Callout 1"/>
          <p:cNvSpPr txBox="1"/>
          <p:nvPr/>
        </p:nvSpPr>
        <p:spPr>
          <a:xfrm>
            <a:off x="6462065"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7312863"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723900"/>
          </a:xfrm>
          <a:prstGeom prst="rect">
            <a:avLst/>
          </a:prstGeom>
          <a:noFill/>
          <a:ln/>
        </p:spPr>
        <p:txBody>
          <a:bodyPr wrap="square" lIns="0" tIns="0" rIns="0" bIns="0" rtlCol="0" anchor="t"/>
          <a:lstStyle/>
          <a:p>
            <a:pPr indent="0" marL="0">
              <a:buNone/>
            </a:pPr>
            <a:r>
              <a:rPr lang="en-US" sz="1400" dirty="0">
                <a:solidFill>
                  <a:schemeClr val="tx1"/>
                </a:solidFill>
              </a:rPr>
              <a:t>Manual punch: record a punch when a device was offline.</a:t>
            </a:r>
            <a:endParaRPr lang="en-US" sz="1400" dirty="0"/>
          </a:p>
        </p:txBody>
      </p:sp>
      <p:sp>
        <p:nvSpPr>
          <p:cNvPr id="14" name="Callout 2"/>
          <p:cNvSpPr txBox="1"/>
          <p:nvPr/>
        </p:nvSpPr>
        <p:spPr>
          <a:xfrm>
            <a:off x="8595360" y="2653284"/>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634996"/>
            <a:ext cx="2636215" cy="723900"/>
          </a:xfrm>
          <a:prstGeom prst="rect">
            <a:avLst/>
          </a:prstGeom>
          <a:noFill/>
          <a:ln/>
        </p:spPr>
        <p:txBody>
          <a:bodyPr wrap="square" lIns="0" tIns="0" rIns="0" bIns="0" rtlCol="0" anchor="t"/>
          <a:lstStyle/>
          <a:p>
            <a:pPr indent="0" marL="0">
              <a:buNone/>
            </a:pPr>
            <a:r>
              <a:rPr lang="en-US" sz="1400" dirty="0">
                <a:solidFill>
                  <a:schemeClr val="tx1"/>
                </a:solidFill>
              </a:rPr>
              <a:t>Process day: turn punches and approved corrections into attendance records.</a:t>
            </a:r>
            <a:endParaRPr lang="en-US" sz="1400" dirty="0"/>
          </a:p>
        </p:txBody>
      </p:sp>
      <p:sp>
        <p:nvSpPr>
          <p:cNvPr id="16" name="Shape 12"/>
          <p:cNvSpPr/>
          <p:nvPr/>
        </p:nvSpPr>
        <p:spPr>
          <a:xfrm>
            <a:off x="8595360" y="3486912"/>
            <a:ext cx="3047695" cy="818769"/>
          </a:xfrm>
          <a:prstGeom prst="roundRect">
            <a:avLst>
              <a:gd name="adj" fmla="val 8934"/>
            </a:avLst>
          </a:prstGeom>
          <a:solidFill>
            <a:srgbClr val="F4F5F8"/>
          </a:solidFill>
          <a:ln w="12700">
            <a:solidFill>
              <a:srgbClr val="F4F5F8"/>
            </a:solidFill>
            <a:prstDash val="solid"/>
          </a:ln>
        </p:spPr>
      </p:sp>
      <p:sp>
        <p:nvSpPr>
          <p:cNvPr id="17" name="Text 13"/>
          <p:cNvSpPr txBox="1"/>
          <p:nvPr/>
        </p:nvSpPr>
        <p:spPr>
          <a:xfrm>
            <a:off x="8732520" y="3578352"/>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Both need the attendance.manage permission (Tenant HR Admin, Attendance Admin).</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Attendance records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ATTENDANCE ADMINISTRATION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Record a manual punch</a:t>
            </a:r>
            <a:endParaRPr lang="en-US" sz="2800" dirty="0"/>
          </a:p>
        </p:txBody>
      </p:sp>
      <p:pic>
        <p:nvPicPr>
          <p:cNvPr id="5" name="Screenshot hr-admin/20-att-11-manual-punch" descr="Screenshot: Manual punch (dialog) (Kavya Menon, fictional data)">    </p:cNvPr>
          <p:cNvPicPr>
            <a:picLocks noChangeAspect="1"/>
          </p:cNvPicPr>
          <p:nvPr/>
        </p:nvPicPr>
        <p:blipFill>
          <a:blip r:embed="rId1"/>
          <a:stretch>
            <a:fillRect/>
          </a:stretch>
        </p:blipFill>
        <p:spPr>
          <a:xfrm>
            <a:off x="548640" y="1417320"/>
            <a:ext cx="7818120" cy="4676911"/>
          </a:xfrm>
          <a:prstGeom prst="rect">
            <a:avLst/>
          </a:prstGeom>
        </p:spPr>
      </p:pic>
      <p:sp>
        <p:nvSpPr>
          <p:cNvPr id="6" name="Screenshot frame"/>
          <p:cNvSpPr/>
          <p:nvPr/>
        </p:nvSpPr>
        <p:spPr>
          <a:xfrm>
            <a:off x="548640" y="1417320"/>
            <a:ext cx="7818120" cy="4676911"/>
          </a:xfrm>
          <a:prstGeom prst="rect">
            <a:avLst/>
          </a:prstGeom>
          <a:ln w="9525">
            <a:solidFill>
              <a:srgbClr val="D9DCE3"/>
            </a:solidFill>
            <a:prstDash val="solid"/>
          </a:ln>
        </p:spPr>
      </p:sp>
      <p:sp>
        <p:nvSpPr>
          <p:cNvPr id="7" name="Callout box 1"/>
          <p:cNvSpPr/>
          <p:nvPr/>
        </p:nvSpPr>
        <p:spPr>
          <a:xfrm>
            <a:off x="723152" y="3022827"/>
            <a:ext cx="7469097" cy="383926"/>
          </a:xfrm>
          <a:prstGeom prst="roundRect">
            <a:avLst>
              <a:gd name="adj" fmla="val 11909"/>
            </a:avLst>
          </a:prstGeom>
          <a:ln w="25400">
            <a:solidFill>
              <a:srgbClr val="D97706"/>
            </a:solidFill>
            <a:prstDash val="solid"/>
          </a:ln>
        </p:spPr>
      </p:sp>
      <p:sp>
        <p:nvSpPr>
          <p:cNvPr id="8" name="Callout box 2"/>
          <p:cNvSpPr/>
          <p:nvPr/>
        </p:nvSpPr>
        <p:spPr>
          <a:xfrm>
            <a:off x="723152" y="3790678"/>
            <a:ext cx="7469097" cy="383926"/>
          </a:xfrm>
          <a:prstGeom prst="roundRect">
            <a:avLst>
              <a:gd name="adj" fmla="val 11909"/>
            </a:avLst>
          </a:prstGeom>
          <a:ln w="25400">
            <a:solidFill>
              <a:srgbClr val="D97706"/>
            </a:solidFill>
            <a:prstDash val="solid"/>
          </a:ln>
        </p:spPr>
      </p:sp>
      <p:sp>
        <p:nvSpPr>
          <p:cNvPr id="9" name="Callout box 3"/>
          <p:cNvSpPr/>
          <p:nvPr/>
        </p:nvSpPr>
        <p:spPr>
          <a:xfrm>
            <a:off x="723152" y="4558529"/>
            <a:ext cx="7469097" cy="593339"/>
          </a:xfrm>
          <a:prstGeom prst="roundRect">
            <a:avLst>
              <a:gd name="adj" fmla="val 7706"/>
            </a:avLst>
          </a:prstGeom>
          <a:ln w="25400">
            <a:solidFill>
              <a:srgbClr val="D97706"/>
            </a:solidFill>
            <a:prstDash val="solid"/>
          </a:ln>
        </p:spPr>
      </p:sp>
      <p:sp>
        <p:nvSpPr>
          <p:cNvPr id="10" name="Callout 1"/>
          <p:cNvSpPr txBox="1"/>
          <p:nvPr/>
        </p:nvSpPr>
        <p:spPr>
          <a:xfrm>
            <a:off x="7661896" y="308677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7661896" y="3854625"/>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7661896" y="472718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When the punch happened.</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506984"/>
          </a:xfrm>
          <a:prstGeom prst="rect">
            <a:avLst/>
          </a:prstGeom>
          <a:noFill/>
          <a:ln/>
        </p:spPr>
        <p:txBody>
          <a:bodyPr wrap="square" lIns="0" tIns="0" rIns="0" bIns="0" rtlCol="0" anchor="t"/>
          <a:lstStyle/>
          <a:p>
            <a:pPr indent="0" marL="0">
              <a:buNone/>
            </a:pPr>
            <a:r>
              <a:rPr lang="en-US" sz="1400" dirty="0">
                <a:solidFill>
                  <a:schemeClr val="tx1"/>
                </a:solidFill>
              </a:rPr>
              <a:t>Direction (Auto, In or Out).</a:t>
            </a:r>
            <a:endParaRPr lang="en-US" sz="1400" dirty="0"/>
          </a:p>
        </p:txBody>
      </p:sp>
      <p:sp>
        <p:nvSpPr>
          <p:cNvPr id="18" name="Callout 3"/>
          <p:cNvSpPr txBox="1"/>
          <p:nvPr/>
        </p:nvSpPr>
        <p:spPr>
          <a:xfrm>
            <a:off x="8595360" y="28021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783840"/>
            <a:ext cx="2636215" cy="329184"/>
          </a:xfrm>
          <a:prstGeom prst="rect">
            <a:avLst/>
          </a:prstGeom>
          <a:noFill/>
          <a:ln/>
        </p:spPr>
        <p:txBody>
          <a:bodyPr wrap="square" lIns="0" tIns="0" rIns="0" bIns="0" rtlCol="0" anchor="t"/>
          <a:lstStyle/>
          <a:p>
            <a:pPr indent="0" marL="0">
              <a:buNone/>
            </a:pPr>
            <a:r>
              <a:rPr lang="en-US" sz="1400" dirty="0">
                <a:solidFill>
                  <a:schemeClr val="tx1"/>
                </a:solidFill>
              </a:rPr>
              <a:t>A note explaining why.</a:t>
            </a:r>
            <a:endParaRPr lang="en-US" sz="1400" dirty="0"/>
          </a:p>
        </p:txBody>
      </p:sp>
      <p:sp>
        <p:nvSpPr>
          <p:cNvPr id="20" name="Shape 16"/>
          <p:cNvSpPr/>
          <p:nvPr/>
        </p:nvSpPr>
        <p:spPr>
          <a:xfrm>
            <a:off x="8595360" y="3241040"/>
            <a:ext cx="3047695" cy="818769"/>
          </a:xfrm>
          <a:prstGeom prst="roundRect">
            <a:avLst>
              <a:gd name="adj" fmla="val 8934"/>
            </a:avLst>
          </a:prstGeom>
          <a:solidFill>
            <a:srgbClr val="F4F5F8"/>
          </a:solidFill>
          <a:ln w="12700">
            <a:solidFill>
              <a:srgbClr val="F4F5F8"/>
            </a:solidFill>
            <a:prstDash val="solid"/>
          </a:ln>
        </p:spPr>
      </p:sp>
      <p:sp>
        <p:nvSpPr>
          <p:cNvPr id="21" name="Text 17"/>
          <p:cNvSpPr txBox="1"/>
          <p:nvPr/>
        </p:nvSpPr>
        <p:spPr>
          <a:xfrm>
            <a:off x="8732520" y="333248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"Punch recorded and day reprocessed". The punch is stored with source "manual".</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Manual punch (dialog)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ATTENDANCE ADMINISTRATION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Process a day</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Process day dialog</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20-att-12-process-day" descr="Screenshot: Process day (dialog) (Kavya Menon, fictional data)">    </p:cNvPr>
          <p:cNvPicPr>
            <a:picLocks noChangeAspect="1"/>
          </p:cNvPicPr>
          <p:nvPr/>
        </p:nvPicPr>
        <p:blipFill>
          <a:blip r:embed="rId1"/>
          <a:stretch>
            <a:fillRect/>
          </a:stretch>
        </p:blipFill>
        <p:spPr>
          <a:xfrm>
            <a:off x="548640" y="1755648"/>
            <a:ext cx="5364328" cy="1317134"/>
          </a:xfrm>
          <a:prstGeom prst="rect">
            <a:avLst/>
          </a:prstGeom>
        </p:spPr>
      </p:pic>
      <p:sp>
        <p:nvSpPr>
          <p:cNvPr id="8" name="Screenshot frame"/>
          <p:cNvSpPr/>
          <p:nvPr/>
        </p:nvSpPr>
        <p:spPr>
          <a:xfrm>
            <a:off x="548640" y="1755648"/>
            <a:ext cx="5364328" cy="1317134"/>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Choose the date and Submit.</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Process day (dialog)</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Result</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20-att-13-day-processed" descr="Screenshot: Attendance records (after Process day)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"21 employee(s) processed for 2026-10-20". Records show shift, status, in/out, worked time and exceptions.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Attendance records (after Process day)</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ATTENDANCE ADMINISTRATION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Check exceptions and raw punches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Exception centre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20-att-14-exception-centre" descr="Screenshot: Exception centre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Counts for 30 days; rows that need action.</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Exception centre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Punches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20-att-15-punches" descr="Screenshot: Punche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punch with its source (web, manual, device) and processing status.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Punches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07</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Leave administration</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Balances, ledger, types, policies, requests, and the workaround for Apply on behalf.</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Balances</a:t>
            </a:r>
            <a:endParaRPr lang="en-US" sz="2800" dirty="0"/>
          </a:p>
        </p:txBody>
      </p:sp>
      <p:pic>
        <p:nvPicPr>
          <p:cNvPr id="5" name="Screenshot hr-admin/55-lv-01-balances" descr="Screenshot: People › Time &amp; leave › Balance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7286515" y="2293247"/>
            <a:ext cx="901057" cy="236931"/>
          </a:xfrm>
          <a:prstGeom prst="roundRect">
            <a:avLst>
              <a:gd name="adj" fmla="val 19297"/>
            </a:avLst>
          </a:prstGeom>
          <a:ln w="25400">
            <a:solidFill>
              <a:srgbClr val="D97706"/>
            </a:solidFill>
            <a:prstDash val="solid"/>
          </a:ln>
        </p:spPr>
      </p:sp>
      <p:sp>
        <p:nvSpPr>
          <p:cNvPr id="8" name="Callout box 2"/>
          <p:cNvSpPr/>
          <p:nvPr/>
        </p:nvSpPr>
        <p:spPr>
          <a:xfrm>
            <a:off x="7674221" y="3686116"/>
            <a:ext cx="384116" cy="172314"/>
          </a:xfrm>
          <a:prstGeom prst="roundRect">
            <a:avLst>
              <a:gd name="adj" fmla="val 26533"/>
            </a:avLst>
          </a:prstGeom>
          <a:ln w="25400">
            <a:solidFill>
              <a:srgbClr val="D97706"/>
            </a:solidFill>
            <a:prstDash val="solid"/>
          </a:ln>
        </p:spPr>
      </p:sp>
      <p:sp>
        <p:nvSpPr>
          <p:cNvPr id="9" name="Callout box 3"/>
          <p:cNvSpPr/>
          <p:nvPr/>
        </p:nvSpPr>
        <p:spPr>
          <a:xfrm>
            <a:off x="7645502" y="4601532"/>
            <a:ext cx="409245" cy="172314"/>
          </a:xfrm>
          <a:prstGeom prst="roundRect">
            <a:avLst>
              <a:gd name="adj" fmla="val 26533"/>
            </a:avLst>
          </a:prstGeom>
          <a:ln w="25400">
            <a:solidFill>
              <a:srgbClr val="D97706"/>
            </a:solidFill>
            <a:prstDash val="solid"/>
          </a:ln>
        </p:spPr>
      </p:sp>
      <p:sp>
        <p:nvSpPr>
          <p:cNvPr id="10" name="Callout 1"/>
          <p:cNvSpPr txBox="1"/>
          <p:nvPr/>
        </p:nvSpPr>
        <p:spPr>
          <a:xfrm>
            <a:off x="7158499"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7546205" y="3393508"/>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7517486" y="430892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Run accrual now.</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Adjust.</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Encash.</a:t>
            </a:r>
            <a:endParaRPr lang="en-US" sz="1400" dirty="0"/>
          </a:p>
        </p:txBody>
      </p:sp>
      <p:sp>
        <p:nvSpPr>
          <p:cNvPr id="20" name="Shape 16"/>
          <p:cNvSpPr/>
          <p:nvPr/>
        </p:nvSpPr>
        <p:spPr>
          <a:xfrm>
            <a:off x="8595360" y="3063240"/>
            <a:ext cx="3047695" cy="1206119"/>
          </a:xfrm>
          <a:prstGeom prst="roundRect">
            <a:avLst>
              <a:gd name="adj" fmla="val 6065"/>
            </a:avLst>
          </a:prstGeom>
          <a:solidFill>
            <a:srgbClr val="F4F5F8"/>
          </a:solidFill>
          <a:ln w="12700">
            <a:solidFill>
              <a:srgbClr val="F4F5F8"/>
            </a:solidFill>
            <a:prstDash val="solid"/>
          </a:ln>
        </p:spPr>
      </p:sp>
      <p:sp>
        <p:nvSpPr>
          <p:cNvPr id="21" name="Text 17"/>
          <p:cNvSpPr txBox="1"/>
          <p:nvPr/>
        </p:nvSpPr>
        <p:spPr>
          <a:xfrm>
            <a:off x="8732520" y="315468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Per person, type and year: opening, accrued, adjusted, used, pending, encashed, lapsed, closing, available. Adjust, Encash and Run accrual now.</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Time &amp; leave › Balances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Adjust a balance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Adjust</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5-lv-02-adjust-form" descr="Screenshot: Balances › Adjust (Kavya Menon, fictional data)">    </p:cNvPr>
          <p:cNvPicPr>
            <a:picLocks noChangeAspect="1"/>
          </p:cNvPicPr>
          <p:nvPr/>
        </p:nvPicPr>
        <p:blipFill>
          <a:blip r:embed="rId1"/>
          <a:stretch>
            <a:fillRect/>
          </a:stretch>
        </p:blipFill>
        <p:spPr>
          <a:xfrm>
            <a:off x="548640" y="1755648"/>
            <a:ext cx="5364328" cy="2155310"/>
          </a:xfrm>
          <a:prstGeom prst="rect">
            <a:avLst/>
          </a:prstGeom>
        </p:spPr>
      </p:pic>
      <p:sp>
        <p:nvSpPr>
          <p:cNvPr id="8" name="Screenshot frame"/>
          <p:cNvSpPr/>
          <p:nvPr/>
        </p:nvSpPr>
        <p:spPr>
          <a:xfrm>
            <a:off x="548640" y="1755648"/>
            <a:ext cx="5364328" cy="215531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Days (+ or −) and a note; posted to the ledger.</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Balances › Adjust</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Adjusted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5-lv-03-adjusted" descr="Screenshot: Balances (after Adjust)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Casual leave: adjusted 1.0; Available updated.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Balances (after Adjust)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ledger records the adjustment</a:t>
            </a:r>
            <a:endParaRPr lang="en-US" sz="2800" dirty="0"/>
          </a:p>
        </p:txBody>
      </p:sp>
      <p:pic>
        <p:nvPicPr>
          <p:cNvPr id="5" name="Screenshot hr-admin/55-lv-04-ledger" descr="Screenshot: People › Time &amp; leave › Transactions (Leave ledger entrie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319949"/>
            <a:ext cx="6074054" cy="481042"/>
          </a:xfrm>
          <a:prstGeom prst="roundRect">
            <a:avLst>
              <a:gd name="adj" fmla="val 9504"/>
            </a:avLst>
          </a:prstGeom>
          <a:ln w="25400">
            <a:solidFill>
              <a:srgbClr val="D97706"/>
            </a:solidFill>
            <a:prstDash val="solid"/>
          </a:ln>
        </p:spPr>
      </p:sp>
      <p:sp>
        <p:nvSpPr>
          <p:cNvPr id="8" name="Callout 1"/>
          <p:cNvSpPr txBox="1"/>
          <p:nvPr/>
        </p:nvSpPr>
        <p:spPr>
          <a:xfrm>
            <a:off x="1799031" y="343245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Adjustment entry.</a:t>
            </a:r>
            <a:endParaRPr lang="en-US" sz="1400" dirty="0"/>
          </a:p>
        </p:txBody>
      </p:sp>
      <p:sp>
        <p:nvSpPr>
          <p:cNvPr id="12" name="Shape 8"/>
          <p:cNvSpPr/>
          <p:nvPr/>
        </p:nvSpPr>
        <p:spPr>
          <a:xfrm>
            <a:off x="8595360" y="2331720"/>
            <a:ext cx="3047695" cy="1012444"/>
          </a:xfrm>
          <a:prstGeom prst="roundRect">
            <a:avLst>
              <a:gd name="adj" fmla="val 7225"/>
            </a:avLst>
          </a:prstGeom>
          <a:solidFill>
            <a:srgbClr val="F4F5F8"/>
          </a:solidFill>
          <a:ln w="12700">
            <a:solidFill>
              <a:srgbClr val="F4F5F8"/>
            </a:solidFill>
            <a:prstDash val="solid"/>
          </a:ln>
        </p:spPr>
      </p:sp>
      <p:sp>
        <p:nvSpPr>
          <p:cNvPr id="13" name="Text 9"/>
          <p:cNvSpPr txBox="1"/>
          <p:nvPr/>
        </p:nvSpPr>
        <p:spPr>
          <a:xfrm>
            <a:off x="8732520" y="242316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Append-only: the adjustment is its own entry with the note. Nobody edits past entries.</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Time &amp; leave › Transactions (Leave ledger entries)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Leave types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Leave types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5-lv-05-leave-types" descr="Screenshot: People › Time &amp; leave › All in Time &amp; leave › Leave types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Category, paid, half day, encashable, unit, approval, eligibility.</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Time &amp; leave › All in Time &amp; leave › Leave types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Edit Casual leave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5-lv-06-leave-type-edit" descr="Screenshot: Leave types › Edit Casual leave (Kavya Menon, fictional data)">    </p:cNvPr>
          <p:cNvPicPr>
            <a:picLocks noChangeAspect="1"/>
          </p:cNvPicPr>
          <p:nvPr/>
        </p:nvPicPr>
        <p:blipFill>
          <a:blip r:embed="rId2"/>
          <a:stretch>
            <a:fillRect/>
          </a:stretch>
        </p:blipFill>
        <p:spPr>
          <a:xfrm>
            <a:off x="6363047" y="1755648"/>
            <a:ext cx="5195689" cy="3429000"/>
          </a:xfrm>
          <a:prstGeom prst="rect">
            <a:avLst/>
          </a:prstGeom>
        </p:spPr>
      </p:pic>
      <p:sp>
        <p:nvSpPr>
          <p:cNvPr id="14" name="Screenshot frame"/>
          <p:cNvSpPr/>
          <p:nvPr/>
        </p:nvSpPr>
        <p:spPr>
          <a:xfrm>
            <a:off x="6363047" y="1755648"/>
            <a:ext cx="5195689"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Code locked on edit; a reason is required for changes.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Leave types › Edit Casual leave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Policies and the leave policy</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Policies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5-lv-07-policies" descr="Screenshot: Workflows › Policies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Versioned policies (exit, attendance, working hours, leave) with effective dates.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Workflows › Policies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Standard leave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5-lv-08-leave-policy" descr="Screenshot: Policies › Standard leave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Entitlements per type live in the version settings.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Policies › Standard leave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Everyone's leave requests</a:t>
            </a:r>
            <a:endParaRPr lang="en-US" sz="2800" dirty="0"/>
          </a:p>
        </p:txBody>
      </p:sp>
      <p:pic>
        <p:nvPicPr>
          <p:cNvPr id="5" name="Screenshot hr-admin/55-lv-09-requests-hr" descr="Screenshot: People › Time &amp; leave › Leave requests (HR view)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7300874" y="2293247"/>
            <a:ext cx="883107" cy="236931"/>
          </a:xfrm>
          <a:prstGeom prst="roundRect">
            <a:avLst>
              <a:gd name="adj" fmla="val 19297"/>
            </a:avLst>
          </a:prstGeom>
          <a:ln w="25400">
            <a:solidFill>
              <a:srgbClr val="D97706"/>
            </a:solidFill>
            <a:prstDash val="solid"/>
          </a:ln>
        </p:spPr>
      </p:sp>
      <p:sp>
        <p:nvSpPr>
          <p:cNvPr id="8" name="Callout box 2"/>
          <p:cNvSpPr/>
          <p:nvPr/>
        </p:nvSpPr>
        <p:spPr>
          <a:xfrm>
            <a:off x="2529942" y="2698902"/>
            <a:ext cx="1116449" cy="204622"/>
          </a:xfrm>
          <a:prstGeom prst="roundRect">
            <a:avLst>
              <a:gd name="adj" fmla="val 22344"/>
            </a:avLst>
          </a:prstGeom>
          <a:ln w="25400">
            <a:solidFill>
              <a:srgbClr val="D97706"/>
            </a:solidFill>
            <a:prstDash val="solid"/>
          </a:ln>
        </p:spPr>
      </p:sp>
      <p:sp>
        <p:nvSpPr>
          <p:cNvPr id="9" name="Callout box 3"/>
          <p:cNvSpPr/>
          <p:nvPr/>
        </p:nvSpPr>
        <p:spPr>
          <a:xfrm>
            <a:off x="7010095" y="2731211"/>
            <a:ext cx="1109269" cy="143595"/>
          </a:xfrm>
          <a:prstGeom prst="roundRect">
            <a:avLst>
              <a:gd name="adj" fmla="val 31840"/>
            </a:avLst>
          </a:prstGeom>
          <a:ln w="25400">
            <a:solidFill>
              <a:srgbClr val="D97706"/>
            </a:solidFill>
            <a:prstDash val="solid"/>
          </a:ln>
        </p:spPr>
      </p:sp>
      <p:sp>
        <p:nvSpPr>
          <p:cNvPr id="10" name="Callout 1"/>
          <p:cNvSpPr txBox="1"/>
          <p:nvPr/>
        </p:nvSpPr>
        <p:spPr>
          <a:xfrm>
            <a:off x="7172858"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llout 2"/>
          <p:cNvSpPr txBox="1"/>
          <p:nvPr/>
        </p:nvSpPr>
        <p:spPr>
          <a:xfrm>
            <a:off x="2219046" y="2673198"/>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Callout 3"/>
          <p:cNvSpPr txBox="1"/>
          <p:nvPr/>
        </p:nvSpPr>
        <p:spPr>
          <a:xfrm>
            <a:off x="6699199" y="267499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4"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1"/>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Apply on behalf.</a:t>
            </a:r>
            <a:endParaRPr lang="en-US" sz="1400" dirty="0"/>
          </a:p>
        </p:txBody>
      </p:sp>
      <p:sp>
        <p:nvSpPr>
          <p:cNvPr id="16"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Status tabs.</a:t>
            </a:r>
            <a:endParaRPr lang="en-US" sz="1400" dirty="0"/>
          </a:p>
        </p:txBody>
      </p:sp>
      <p:sp>
        <p:nvSpPr>
          <p:cNvPr id="18"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Approval Center.</a:t>
            </a:r>
            <a:endParaRPr lang="en-US" sz="1400" dirty="0"/>
          </a:p>
        </p:txBody>
      </p:sp>
      <p:sp>
        <p:nvSpPr>
          <p:cNvPr id="20" name="Shape 16"/>
          <p:cNvSpPr/>
          <p:nvPr/>
        </p:nvSpPr>
        <p:spPr>
          <a:xfrm>
            <a:off x="8595360" y="3063240"/>
            <a:ext cx="3047695" cy="1012444"/>
          </a:xfrm>
          <a:prstGeom prst="roundRect">
            <a:avLst>
              <a:gd name="adj" fmla="val 7225"/>
            </a:avLst>
          </a:prstGeom>
          <a:solidFill>
            <a:srgbClr val="F4F5F8"/>
          </a:solidFill>
          <a:ln w="12700">
            <a:solidFill>
              <a:srgbClr val="F4F5F8"/>
            </a:solidFill>
            <a:prstDash val="solid"/>
          </a:ln>
        </p:spPr>
      </p:sp>
      <p:sp>
        <p:nvSpPr>
          <p:cNvPr id="21" name="Text 17"/>
          <p:cNvSpPr txBox="1"/>
          <p:nvPr/>
        </p:nvSpPr>
        <p:spPr>
          <a:xfrm>
            <a:off x="8732520" y="315468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Status tabs; Approve, Reject, Cancel per row; Apply on behalf; a link to the Approval Center.</a:t>
            </a:r>
            <a:endParaRPr lang="en-US" sz="1050" dirty="0"/>
          </a:p>
        </p:txBody>
      </p:sp>
      <p:sp>
        <p:nvSpPr>
          <p:cNvPr id="22" name="Text 18"/>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Time &amp; leave › Leave requests (HR view)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Apply on behalf fails: use the 360 instead</a:t>
            </a:r>
            <a:endParaRPr lang="en-US" sz="2800" dirty="0"/>
          </a:p>
        </p:txBody>
      </p:sp>
      <p:pic>
        <p:nvPicPr>
          <p:cNvPr id="5" name="Screenshot support/55-lv-err-01-apply-on-behalf" descr="Screenshot: Leave requests › Apply on behalf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8" name="Shape 4"/>
          <p:cNvSpPr/>
          <p:nvPr/>
        </p:nvSpPr>
        <p:spPr>
          <a:xfrm>
            <a:off x="8595360" y="1874520"/>
            <a:ext cx="3047695" cy="818769"/>
          </a:xfrm>
          <a:prstGeom prst="roundRect">
            <a:avLst>
              <a:gd name="adj" fmla="val 8934"/>
            </a:avLst>
          </a:prstGeom>
          <a:solidFill>
            <a:srgbClr val="F4F5F8"/>
          </a:solidFill>
          <a:ln w="12700">
            <a:solidFill>
              <a:srgbClr val="F4F5F8"/>
            </a:solidFill>
            <a:prstDash val="solid"/>
          </a:ln>
        </p:spPr>
      </p:sp>
      <p:sp>
        <p:nvSpPr>
          <p:cNvPr id="9" name="Text 5"/>
          <p:cNvSpPr txBox="1"/>
          <p:nvPr/>
        </p:nvSpPr>
        <p:spPr>
          <a:xfrm>
            <a:off x="8732520" y="196596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Defect F38: "Call to a member function getFormData() on array" when the dialog opens.</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Leave requests › Apply on behalf</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Workaround: Employee 360 › Records › Time</a:t>
            </a:r>
            <a:endParaRPr lang="en-US" sz="2800" dirty="0"/>
          </a:p>
        </p:txBody>
      </p:sp>
      <p:pic>
        <p:nvPicPr>
          <p:cNvPr id="5" name="Screenshot hr-admin/55-lv-10-360-time-apply" descr="Screenshot: Employee 360 › Records › Time (Kavya Menon, fictional data)">    </p:cNvPr>
          <p:cNvPicPr>
            <a:picLocks noChangeAspect="1"/>
          </p:cNvPicPr>
          <p:nvPr/>
        </p:nvPicPr>
        <p:blipFill>
          <a:blip r:embed="rId1"/>
          <a:stretch>
            <a:fillRect/>
          </a:stretch>
        </p:blipFill>
        <p:spPr>
          <a:xfrm>
            <a:off x="1906627" y="1417320"/>
            <a:ext cx="5102146" cy="4846320"/>
          </a:xfrm>
          <a:prstGeom prst="rect">
            <a:avLst/>
          </a:prstGeom>
        </p:spPr>
      </p:pic>
      <p:sp>
        <p:nvSpPr>
          <p:cNvPr id="6" name="Screenshot frame"/>
          <p:cNvSpPr/>
          <p:nvPr/>
        </p:nvSpPr>
        <p:spPr>
          <a:xfrm>
            <a:off x="1906627" y="1417320"/>
            <a:ext cx="5102146" cy="4846320"/>
          </a:xfrm>
          <a:prstGeom prst="rect">
            <a:avLst/>
          </a:prstGeom>
          <a:ln w="9525">
            <a:solidFill>
              <a:srgbClr val="D9DCE3"/>
            </a:solidFill>
            <a:prstDash val="solid"/>
          </a:ln>
        </p:spPr>
      </p:sp>
      <p:sp>
        <p:nvSpPr>
          <p:cNvPr id="7" name="Callout box 1"/>
          <p:cNvSpPr/>
          <p:nvPr/>
        </p:nvSpPr>
        <p:spPr>
          <a:xfrm>
            <a:off x="6103322" y="4967264"/>
            <a:ext cx="681244" cy="189714"/>
          </a:xfrm>
          <a:prstGeom prst="roundRect">
            <a:avLst>
              <a:gd name="adj" fmla="val 24099"/>
            </a:avLst>
          </a:prstGeom>
          <a:ln w="25400">
            <a:solidFill>
              <a:srgbClr val="D97706"/>
            </a:solidFill>
            <a:prstDash val="solid"/>
          </a:ln>
        </p:spPr>
      </p:sp>
      <p:sp>
        <p:nvSpPr>
          <p:cNvPr id="8" name="Callout box 2"/>
          <p:cNvSpPr/>
          <p:nvPr/>
        </p:nvSpPr>
        <p:spPr>
          <a:xfrm>
            <a:off x="2127960" y="4993134"/>
            <a:ext cx="1454471" cy="137974"/>
          </a:xfrm>
          <a:prstGeom prst="roundRect">
            <a:avLst>
              <a:gd name="adj" fmla="val 33137"/>
            </a:avLst>
          </a:prstGeom>
          <a:ln w="25400">
            <a:solidFill>
              <a:srgbClr val="D97706"/>
            </a:solidFill>
            <a:prstDash val="solid"/>
          </a:ln>
        </p:spPr>
      </p:sp>
      <p:sp>
        <p:nvSpPr>
          <p:cNvPr id="9" name="Callout 1"/>
          <p:cNvSpPr txBox="1"/>
          <p:nvPr/>
        </p:nvSpPr>
        <p:spPr>
          <a:xfrm>
            <a:off x="5975306" y="467465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1817064" y="4934105"/>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Apply for leave.</a:t>
            </a:r>
            <a:endParaRPr lang="en-US" sz="1400" dirty="0"/>
          </a:p>
        </p:txBody>
      </p:sp>
      <p:sp>
        <p:nvSpPr>
          <p:cNvPr id="14"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Balances.</a:t>
            </a:r>
            <a:endParaRPr lang="en-US" sz="1400" dirty="0"/>
          </a:p>
        </p:txBody>
      </p:sp>
      <p:sp>
        <p:nvSpPr>
          <p:cNvPr id="16" name="Shape 12"/>
          <p:cNvSpPr/>
          <p:nvPr/>
        </p:nvSpPr>
        <p:spPr>
          <a:xfrm>
            <a:off x="8595360" y="2697480"/>
            <a:ext cx="3047695" cy="625094"/>
          </a:xfrm>
          <a:prstGeom prst="roundRect">
            <a:avLst>
              <a:gd name="adj" fmla="val 11703"/>
            </a:avLst>
          </a:prstGeom>
          <a:solidFill>
            <a:srgbClr val="F4F5F8"/>
          </a:solidFill>
          <a:ln w="12700">
            <a:solidFill>
              <a:srgbClr val="F4F5F8"/>
            </a:solidFill>
            <a:prstDash val="solid"/>
          </a:ln>
        </p:spPr>
      </p:sp>
      <p:sp>
        <p:nvSpPr>
          <p:cNvPr id="17" name="Text 13"/>
          <p:cNvSpPr txBox="1"/>
          <p:nvPr/>
        </p:nvSpPr>
        <p:spPr>
          <a:xfrm>
            <a:off x="8732520" y="278892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The Leave section shows balances and Apply for leave.</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Employee 360 › Records › Time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Apply for leave on the employee's behalf</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Apply for leave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5-lv-11-apply-form" descr="Screenshot: Employee 360 › Records › Time › Apply for leave (Kavya Menon, fictional data)">    </p:cNvPr>
          <p:cNvPicPr>
            <a:picLocks noChangeAspect="1"/>
          </p:cNvPicPr>
          <p:nvPr/>
        </p:nvPicPr>
        <p:blipFill>
          <a:blip r:embed="rId1"/>
          <a:stretch>
            <a:fillRect/>
          </a:stretch>
        </p:blipFill>
        <p:spPr>
          <a:xfrm>
            <a:off x="632959" y="1755648"/>
            <a:ext cx="5195689" cy="3429000"/>
          </a:xfrm>
          <a:prstGeom prst="rect">
            <a:avLst/>
          </a:prstGeom>
        </p:spPr>
      </p:pic>
      <p:sp>
        <p:nvSpPr>
          <p:cNvPr id="8" name="Screenshot frame"/>
          <p:cNvSpPr/>
          <p:nvPr/>
        </p:nvSpPr>
        <p:spPr>
          <a:xfrm>
            <a:off x="632959" y="1755648"/>
            <a:ext cx="5195689"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same form and Before → After preview as the employee's own request.</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Employee 360 › Records › Time › Apply for leave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Applied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5-lv-12-applied" descr="Screenshot: Employee 360 (after applying)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request goes to the employee's approver like any other.</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360 (after applying)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LEAVE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Leave calendar and a search defect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Leave calendar</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5-lv-13-leave-calendar" descr="Screenshot: People › Time &amp; leave › Leave calendar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Approved and pending leave this month to the end of next; reasons never shown.</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Time &amp; leave › Leave calendar</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Balances search</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FBE6E4"/>
          </a:solidFill>
          <a:ln/>
        </p:spPr>
        <p:txBody>
          <a:bodyPr wrap="square" lIns="0" tIns="0" rIns="0" bIns="0" rtlCol="0" anchor="ctr"/>
          <a:lstStyle/>
          <a:p>
            <a:pPr algn="ctr" indent="0" marL="0">
              <a:buNone/>
            </a:pPr>
            <a:r>
              <a:rPr lang="en-US" sz="950" b="1" dirty="0">
                <a:solidFill>
                  <a:srgbClr val="B3261E"/>
                </a:solidFill>
              </a:rPr>
              <a:t>Incomplete</a:t>
            </a:r>
            <a:endParaRPr lang="en-US" sz="950" dirty="0"/>
          </a:p>
        </p:txBody>
      </p:sp>
      <p:pic>
        <p:nvPicPr>
          <p:cNvPr id="13" name="Screenshot support/55-lv-err-02-balances-search" descr="Screenshot: People › Time &amp; leave › Balances (search box)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Typing a name in the Balances search box fails with a database error (new finding). Use the filters instead.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Time &amp; leave › Balances (search box)</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08</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Payroll operations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Configure, calculate and check runs. Finalising is blocked until statutory rules are verified.</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Payroll control room</a:t>
            </a:r>
            <a:endParaRPr lang="en-US" sz="2800" dirty="0"/>
          </a:p>
        </p:txBody>
      </p:sp>
      <p:pic>
        <p:nvPicPr>
          <p:cNvPr id="5" name="Screenshot hr-admin/60-pay-01-control-room" descr="Screenshot: People › Pay › Control room (Payroll control room) (Arjun Bose, fictional data)">    </p:cNvPr>
          <p:cNvPicPr>
            <a:picLocks noChangeAspect="1"/>
          </p:cNvPicPr>
          <p:nvPr/>
        </p:nvPicPr>
        <p:blipFill>
          <a:blip r:embed="rId1"/>
          <a:stretch>
            <a:fillRect/>
          </a:stretch>
        </p:blipFill>
        <p:spPr>
          <a:xfrm>
            <a:off x="2584552" y="1371600"/>
            <a:ext cx="7022592" cy="4389120"/>
          </a:xfrm>
          <a:prstGeom prst="rect">
            <a:avLst/>
          </a:prstGeom>
        </p:spPr>
      </p:pic>
      <p:sp>
        <p:nvSpPr>
          <p:cNvPr id="6" name="Screenshot frame"/>
          <p:cNvSpPr/>
          <p:nvPr/>
        </p:nvSpPr>
        <p:spPr>
          <a:xfrm>
            <a:off x="2584552" y="1371600"/>
            <a:ext cx="7022592" cy="4389120"/>
          </a:xfrm>
          <a:prstGeom prst="rect">
            <a:avLst/>
          </a:prstGeom>
          <a:ln w="9525">
            <a:solidFill>
              <a:srgbClr val="D9DCE3"/>
            </a:solidFill>
            <a:prstDash val="solid"/>
          </a:ln>
        </p:spPr>
      </p:sp>
      <p:sp>
        <p:nvSpPr>
          <p:cNvPr id="7" name="Text 3"/>
          <p:cNvSpPr txBox="1"/>
          <p:nvPr/>
        </p:nvSpPr>
        <p:spPr>
          <a:xfrm>
            <a:off x="548640" y="5760720"/>
            <a:ext cx="11094415" cy="438912"/>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Readiness figures, the company card and the run register. The subheading lists statutory rules that are not verified: runs cannot be finalised.</a:t>
            </a:r>
            <a:endParaRPr lang="en-US" sz="1250" dirty="0"/>
          </a:p>
        </p:txBody>
      </p:sp>
      <p:sp>
        <p:nvSpPr>
          <p:cNvPr id="8" name="Text 4"/>
          <p:cNvSpPr txBox="1"/>
          <p:nvPr/>
        </p:nvSpPr>
        <p:spPr>
          <a:xfrm>
            <a:off x="548640" y="6199632"/>
            <a:ext cx="11094415" cy="182880"/>
          </a:xfrm>
          <a:prstGeom prst="rect">
            <a:avLst/>
          </a:prstGeom>
          <a:noFill/>
          <a:ln/>
        </p:spPr>
        <p:txBody>
          <a:bodyPr wrap="square" lIns="0" tIns="0" rIns="0" bIns="0" rtlCol="0" anchor="ctr"/>
          <a:lstStyle/>
          <a:p>
            <a:pPr indent="0" marL="0">
              <a:buNone/>
            </a:pPr>
            <a:r>
              <a:rPr lang="en-US" sz="900" dirty="0">
                <a:solidFill>
                  <a:srgbClr val="8A90A2"/>
                </a:solidFill>
              </a:rPr>
              <a:t>Real screen · Arjun Bose (Payroll Admin + Employee) · People › Pay › Control room (Payroll control room)</a:t>
            </a:r>
            <a:endParaRPr lang="en-US" sz="900" dirty="0"/>
          </a:p>
        </p:txBody>
      </p:sp>
      <p:sp>
        <p:nvSpPr>
          <p:cNvPr id="9" name="Status"/>
          <p:cNvSpPr txBox="1"/>
          <p:nvPr/>
        </p:nvSpPr>
        <p:spPr>
          <a:xfrm>
            <a:off x="8534095" y="274320"/>
            <a:ext cx="310896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Runs and opening a run</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Payroll runs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pay-02-runs-list" descr="Screenshot: People › Pay › Payroll runs (Arjun Bose,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One run per company and month.</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Payroll runs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Open payroll run</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0-pay-03-open-run-form" descr="Screenshot: Open payroll run (dialog) (Arjun Bose, fictional data)">    </p:cNvPr>
          <p:cNvPicPr>
            <a:picLocks noChangeAspect="1"/>
          </p:cNvPicPr>
          <p:nvPr/>
        </p:nvPicPr>
        <p:blipFill>
          <a:blip r:embed="rId2"/>
          <a:stretch>
            <a:fillRect/>
          </a:stretch>
        </p:blipFill>
        <p:spPr>
          <a:xfrm>
            <a:off x="6278728" y="1755648"/>
            <a:ext cx="5364328" cy="2370841"/>
          </a:xfrm>
          <a:prstGeom prst="rect">
            <a:avLst/>
          </a:prstGeom>
        </p:spPr>
      </p:pic>
      <p:sp>
        <p:nvSpPr>
          <p:cNvPr id="14" name="Screenshot frame"/>
          <p:cNvSpPr/>
          <p:nvPr/>
        </p:nvSpPr>
        <p:spPr>
          <a:xfrm>
            <a:off x="6278728" y="1755648"/>
            <a:ext cx="5364328" cy="2370841"/>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Company, year, month (cancelled here; the October run already exists).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Open payroll run (dialog)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run</a:t>
            </a:r>
            <a:endParaRPr lang="en-US" sz="2800" dirty="0"/>
          </a:p>
        </p:txBody>
      </p:sp>
      <p:pic>
        <p:nvPicPr>
          <p:cNvPr id="5" name="Screenshot hr-admin/60-pay-04-run-view" descr="Screenshot: Payroll run (Oct 2026, Demo Technologies) (Arjun Bose,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2598386"/>
            <a:ext cx="1374919" cy="157954"/>
          </a:xfrm>
          <a:prstGeom prst="roundRect">
            <a:avLst>
              <a:gd name="adj" fmla="val 28945"/>
            </a:avLst>
          </a:prstGeom>
          <a:ln w="25400">
            <a:solidFill>
              <a:srgbClr val="D97706"/>
            </a:solidFill>
            <a:prstDash val="solid"/>
          </a:ln>
        </p:spPr>
      </p:sp>
      <p:sp>
        <p:nvSpPr>
          <p:cNvPr id="8" name="Callout box 2"/>
          <p:cNvSpPr/>
          <p:nvPr/>
        </p:nvSpPr>
        <p:spPr>
          <a:xfrm>
            <a:off x="5825439" y="2368635"/>
            <a:ext cx="739513" cy="236931"/>
          </a:xfrm>
          <a:prstGeom prst="roundRect">
            <a:avLst>
              <a:gd name="adj" fmla="val 19297"/>
            </a:avLst>
          </a:prstGeom>
          <a:ln w="25400">
            <a:solidFill>
              <a:srgbClr val="D97706"/>
            </a:solidFill>
            <a:prstDash val="solid"/>
          </a:ln>
        </p:spPr>
      </p:sp>
      <p:sp>
        <p:nvSpPr>
          <p:cNvPr id="9" name="Callout box 3"/>
          <p:cNvSpPr/>
          <p:nvPr/>
        </p:nvSpPr>
        <p:spPr>
          <a:xfrm>
            <a:off x="6586491" y="2368635"/>
            <a:ext cx="613867" cy="236931"/>
          </a:xfrm>
          <a:prstGeom prst="roundRect">
            <a:avLst>
              <a:gd name="adj" fmla="val 19297"/>
            </a:avLst>
          </a:prstGeom>
          <a:ln w="25400">
            <a:solidFill>
              <a:srgbClr val="D97706"/>
            </a:solidFill>
            <a:prstDash val="solid"/>
          </a:ln>
        </p:spPr>
      </p:sp>
      <p:sp>
        <p:nvSpPr>
          <p:cNvPr id="10" name="Callout box 4"/>
          <p:cNvSpPr/>
          <p:nvPr/>
        </p:nvSpPr>
        <p:spPr>
          <a:xfrm>
            <a:off x="7200358" y="3276871"/>
            <a:ext cx="312318" cy="150774"/>
          </a:xfrm>
          <a:prstGeom prst="roundRect">
            <a:avLst>
              <a:gd name="adj" fmla="val 30324"/>
            </a:avLst>
          </a:prstGeom>
          <a:ln w="25400">
            <a:solidFill>
              <a:srgbClr val="D97706"/>
            </a:solidFill>
            <a:prstDash val="solid"/>
          </a:ln>
        </p:spPr>
      </p:sp>
      <p:sp>
        <p:nvSpPr>
          <p:cNvPr id="11" name="Callout 1"/>
          <p:cNvSpPr txBox="1"/>
          <p:nvPr/>
        </p:nvSpPr>
        <p:spPr>
          <a:xfrm>
            <a:off x="1799031" y="2549347"/>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2" name="Callout 2"/>
          <p:cNvSpPr txBox="1"/>
          <p:nvPr/>
        </p:nvSpPr>
        <p:spPr>
          <a:xfrm>
            <a:off x="5697423" y="2076027"/>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Callout 3"/>
          <p:cNvSpPr txBox="1"/>
          <p:nvPr/>
        </p:nvSpPr>
        <p:spPr>
          <a:xfrm>
            <a:off x="6458475" y="2076027"/>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Callout 4"/>
          <p:cNvSpPr txBox="1"/>
          <p:nvPr/>
        </p:nvSpPr>
        <p:spPr>
          <a:xfrm>
            <a:off x="7072342" y="2984263"/>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5"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3"/>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Run status.</a:t>
            </a:r>
            <a:endParaRPr lang="en-US" sz="1400" dirty="0"/>
          </a:p>
        </p:txBody>
      </p:sp>
      <p:sp>
        <p:nvSpPr>
          <p:cNvPr id="18"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5"/>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Recalculate.</a:t>
            </a:r>
            <a:endParaRPr lang="en-US" sz="1400" dirty="0"/>
          </a:p>
        </p:txBody>
      </p:sp>
      <p:sp>
        <p:nvSpPr>
          <p:cNvPr id="20"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7"/>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Validate.</a:t>
            </a:r>
            <a:endParaRPr lang="en-US" sz="1400" dirty="0"/>
          </a:p>
        </p:txBody>
      </p:sp>
      <p:sp>
        <p:nvSpPr>
          <p:cNvPr id="22" name="Callout 4"/>
          <p:cNvSpPr txBox="1"/>
          <p:nvPr/>
        </p:nvSpPr>
        <p:spPr>
          <a:xfrm>
            <a:off x="8595360" y="299008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9"/>
          <p:cNvSpPr txBox="1"/>
          <p:nvPr/>
        </p:nvSpPr>
        <p:spPr>
          <a:xfrm>
            <a:off x="9006840" y="2971800"/>
            <a:ext cx="2636215" cy="329184"/>
          </a:xfrm>
          <a:prstGeom prst="rect">
            <a:avLst/>
          </a:prstGeom>
          <a:noFill/>
          <a:ln/>
        </p:spPr>
        <p:txBody>
          <a:bodyPr wrap="square" lIns="0" tIns="0" rIns="0" bIns="0" rtlCol="0" anchor="t"/>
          <a:lstStyle/>
          <a:p>
            <a:pPr indent="0" marL="0">
              <a:buNone/>
            </a:pPr>
            <a:r>
              <a:rPr lang="en-US" sz="1400" dirty="0">
                <a:solidFill>
                  <a:schemeClr val="tx1"/>
                </a:solidFill>
              </a:rPr>
              <a:t>Totals.</a:t>
            </a:r>
            <a:endParaRPr lang="en-US" sz="1400" dirty="0"/>
          </a:p>
        </p:txBody>
      </p:sp>
      <p:sp>
        <p:nvSpPr>
          <p:cNvPr id="24" name="Shape 20"/>
          <p:cNvSpPr/>
          <p:nvPr/>
        </p:nvSpPr>
        <p:spPr>
          <a:xfrm>
            <a:off x="8595360" y="3429000"/>
            <a:ext cx="3047695" cy="1012444"/>
          </a:xfrm>
          <a:prstGeom prst="roundRect">
            <a:avLst>
              <a:gd name="adj" fmla="val 7225"/>
            </a:avLst>
          </a:prstGeom>
          <a:solidFill>
            <a:srgbClr val="F4F5F8"/>
          </a:solidFill>
          <a:ln w="12700">
            <a:solidFill>
              <a:srgbClr val="F4F5F8"/>
            </a:solidFill>
            <a:prstDash val="solid"/>
          </a:ln>
        </p:spPr>
      </p:sp>
      <p:sp>
        <p:nvSpPr>
          <p:cNvPr id="25" name="Text 21"/>
          <p:cNvSpPr txBox="1"/>
          <p:nvPr/>
        </p:nvSpPr>
        <p:spPr>
          <a:xfrm>
            <a:off x="8732520" y="352044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Totals, status and actions: Calculate / Recalculate, Validate; Approve and Finalize appear only when allowed.</a:t>
            </a:r>
            <a:endParaRPr lang="en-US" sz="1050" dirty="0"/>
          </a:p>
        </p:txBody>
      </p:sp>
      <p:sp>
        <p:nvSpPr>
          <p:cNvPr id="26" name="Text 2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Arjun Bose (Payroll Admin + Employee) · Payroll run (Oct 2026, Demo Technologies)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Issues and the breakdown</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Employees tab: Issues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pay-05-employee-issues" descr="Screenshot: Payroll run › Employees tab (Arjun Bose,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Issue codes appear raw, e.g. unverified_statutory_rule (F12).</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Payroll run › Employees tab</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Breakdown</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0-pay-06-breakdown" descr="Screenshot: Payroll run › Breakdown (dialog) (Arjun Bose,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Earnings and deductions; statutory lines are exceptions while rules are unverified.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Payroll run › Breakdown (dialog)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Recalculate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Confirm</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pay-07-recalculate-confirm" descr="Screenshot: Recalculate (confirmation) (Arjun Bose, fictional data)">    </p:cNvPr>
          <p:cNvPicPr>
            <a:picLocks noChangeAspect="1"/>
          </p:cNvPicPr>
          <p:nvPr/>
        </p:nvPicPr>
        <p:blipFill>
          <a:blip r:embed="rId1"/>
          <a:stretch>
            <a:fillRect/>
          </a:stretch>
        </p:blipFill>
        <p:spPr>
          <a:xfrm>
            <a:off x="548640" y="1755648"/>
            <a:ext cx="5364328" cy="2969538"/>
          </a:xfrm>
          <a:prstGeom prst="rect">
            <a:avLst/>
          </a:prstGeom>
        </p:spPr>
      </p:pic>
      <p:sp>
        <p:nvSpPr>
          <p:cNvPr id="8" name="Screenshot frame"/>
          <p:cNvSpPr/>
          <p:nvPr/>
        </p:nvSpPr>
        <p:spPr>
          <a:xfrm>
            <a:off x="548640" y="1755648"/>
            <a:ext cx="5364328" cy="2969538"/>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Recalculate re-reads attendance, leave, salary and adjustments.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Recalculate (confirmation)</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Recalculated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0-pay-08-recalculated" descr="Screenshot: Payroll run (after Recalculate) (Arjun Bose,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"Calculated for 19 employee(s); 19 with exceptions." Every salaried employee of the company is included.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Payroll run (after Recalculate)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Validate is refused: blocking exceptions</a:t>
            </a:r>
            <a:endParaRPr lang="en-US" sz="2800" dirty="0"/>
          </a:p>
        </p:txBody>
      </p:sp>
      <p:pic>
        <p:nvPicPr>
          <p:cNvPr id="5" name="Screenshot hr-admin/60-pay-09-validate-blocked" descr="Screenshot: Payroll run › Validate (Arjun Bose,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6159297" y="1481938"/>
            <a:ext cx="2110842" cy="570789"/>
          </a:xfrm>
          <a:prstGeom prst="roundRect">
            <a:avLst>
              <a:gd name="adj" fmla="val 8010"/>
            </a:avLst>
          </a:prstGeom>
          <a:ln w="25400">
            <a:solidFill>
              <a:srgbClr val="D97706"/>
            </a:solidFill>
            <a:prstDash val="solid"/>
          </a:ln>
        </p:spPr>
      </p:sp>
      <p:sp>
        <p:nvSpPr>
          <p:cNvPr id="8" name="Callout 1"/>
          <p:cNvSpPr txBox="1"/>
          <p:nvPr/>
        </p:nvSpPr>
        <p:spPr>
          <a:xfrm>
            <a:off x="5848401" y="163931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FDF0DD"/>
          </a:solidFill>
          <a:ln/>
        </p:spPr>
        <p:txBody>
          <a:bodyPr wrap="square" lIns="0" tIns="0" rIns="0" bIns="0" rtlCol="0" anchor="ctr"/>
          <a:lstStyle/>
          <a:p>
            <a:pPr algn="ctr" indent="0" marL="0">
              <a:buNone/>
            </a:pPr>
            <a:r>
              <a:rPr lang="en-US" sz="1050" b="1" dirty="0">
                <a:solidFill>
                  <a:srgbClr val="8A5A00"/>
                </a:solidFill>
              </a:rPr>
              <a:t>Disabled by safety or commercial gates</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Blocking message.</a:t>
            </a:r>
            <a:endParaRPr lang="en-US" sz="1400" dirty="0"/>
          </a:p>
        </p:txBody>
      </p:sp>
      <p:sp>
        <p:nvSpPr>
          <p:cNvPr id="12" name="Shape 8"/>
          <p:cNvSpPr/>
          <p:nvPr/>
        </p:nvSpPr>
        <p:spPr>
          <a:xfrm>
            <a:off x="8595360" y="2331720"/>
            <a:ext cx="3047695" cy="1980819"/>
          </a:xfrm>
          <a:prstGeom prst="roundRect">
            <a:avLst>
              <a:gd name="adj" fmla="val 3693"/>
            </a:avLst>
          </a:prstGeom>
          <a:solidFill>
            <a:srgbClr val="F4F5F8"/>
          </a:solidFill>
          <a:ln w="12700">
            <a:solidFill>
              <a:srgbClr val="F4F5F8"/>
            </a:solidFill>
            <a:prstDash val="solid"/>
          </a:ln>
        </p:spPr>
      </p:sp>
      <p:sp>
        <p:nvSpPr>
          <p:cNvPr id="13" name="Text 9"/>
          <p:cNvSpPr txBox="1"/>
          <p:nvPr/>
        </p:nvSpPr>
        <p:spPr>
          <a:xfrm>
            <a:off x="8732520" y="2423160"/>
            <a:ext cx="2773375" cy="17979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"Not allowed: 19 employee(s) have blocking exceptions. Fix the inputs and recalculate." The exceptions are the unverified statutory rules (Issues column: unverified_statutory_rule). Approve, Finalize, payslips and bank files are not reachable.</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Arjun Bose (Payroll Admin + Employee) · Payroll run › Validate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Payroll Auditor</a:t>
            </a:r>
            <a:endParaRPr lang="en-US" sz="2800" dirty="0"/>
          </a:p>
        </p:txBody>
      </p:sp>
      <p:pic>
        <p:nvPicPr>
          <p:cNvPr id="5" name="Screenshot hr-admin/60-pay-11-payroll-auditor" descr="Screenshot: People › Pay › Payroll Auditor (Arjun Bose,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7469598" y="2221450"/>
            <a:ext cx="717973" cy="236931"/>
          </a:xfrm>
          <a:prstGeom prst="roundRect">
            <a:avLst>
              <a:gd name="adj" fmla="val 19297"/>
            </a:avLst>
          </a:prstGeom>
          <a:ln w="25400">
            <a:solidFill>
              <a:srgbClr val="D97706"/>
            </a:solidFill>
            <a:prstDash val="solid"/>
          </a:ln>
        </p:spPr>
      </p:sp>
      <p:sp>
        <p:nvSpPr>
          <p:cNvPr id="8" name="Callout box 2"/>
          <p:cNvSpPr/>
          <p:nvPr/>
        </p:nvSpPr>
        <p:spPr>
          <a:xfrm>
            <a:off x="2239162" y="3711245"/>
            <a:ext cx="5815584" cy="129235"/>
          </a:xfrm>
          <a:prstGeom prst="roundRect">
            <a:avLst>
              <a:gd name="adj" fmla="val 35377"/>
            </a:avLst>
          </a:prstGeom>
          <a:ln w="25400">
            <a:solidFill>
              <a:srgbClr val="D97706"/>
            </a:solidFill>
            <a:prstDash val="solid"/>
          </a:ln>
        </p:spPr>
      </p:sp>
      <p:sp>
        <p:nvSpPr>
          <p:cNvPr id="9" name="Callout 1"/>
          <p:cNvSpPr txBox="1"/>
          <p:nvPr/>
        </p:nvSpPr>
        <p:spPr>
          <a:xfrm>
            <a:off x="7341582" y="1928842"/>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1928266" y="364784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Choose run.</a:t>
            </a:r>
            <a:endParaRPr lang="en-US" sz="1400" dirty="0"/>
          </a:p>
        </p:txBody>
      </p:sp>
      <p:sp>
        <p:nvSpPr>
          <p:cNvPr id="14"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1"/>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Findings.</a:t>
            </a:r>
            <a:endParaRPr lang="en-US" sz="1400" dirty="0"/>
          </a:p>
        </p:txBody>
      </p:sp>
      <p:sp>
        <p:nvSpPr>
          <p:cNvPr id="16" name="Shape 12"/>
          <p:cNvSpPr/>
          <p:nvPr/>
        </p:nvSpPr>
        <p:spPr>
          <a:xfrm>
            <a:off x="8595360" y="2697480"/>
            <a:ext cx="3047695" cy="1206119"/>
          </a:xfrm>
          <a:prstGeom prst="roundRect">
            <a:avLst>
              <a:gd name="adj" fmla="val 6065"/>
            </a:avLst>
          </a:prstGeom>
          <a:solidFill>
            <a:srgbClr val="F4F5F8"/>
          </a:solidFill>
          <a:ln w="12700">
            <a:solidFill>
              <a:srgbClr val="F4F5F8"/>
            </a:solidFill>
            <a:prstDash val="solid"/>
          </a:ln>
        </p:spPr>
      </p:sp>
      <p:sp>
        <p:nvSpPr>
          <p:cNvPr id="17" name="Text 13"/>
          <p:cNvSpPr txBox="1"/>
          <p:nvPr/>
        </p:nvSpPr>
        <p:spPr>
          <a:xfrm>
            <a:off x="8732520" y="278892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Findings with severity and evidence for the run. Rule-based (despite the "AI" label); some findings show raw technical text.</a:t>
            </a:r>
            <a:endParaRPr lang="en-US" sz="1050" dirty="0"/>
          </a:p>
        </p:txBody>
      </p:sp>
      <p:sp>
        <p:nvSpPr>
          <p:cNvPr id="18" name="Text 14"/>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Arjun Bose (Payroll Admin + Employee) · People › Pay › Payroll Auditor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Salary components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Components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pay-12-salary-components" descr="Screenshot: People › Pay › Salary components (Arjun Bose,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Formula, order and flags; statutory codes are reserved.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Salary components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New component</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0-pay-13-new-component-form" descr="Screenshot: New salary component (Arjun Bose,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Formula validated on save (not saved here).</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New salary component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Salary structures and versions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Structures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pay-14-salary-structures" descr="Screenshot: People › Pay › Salary structures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Standard structure.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Pay › Salary structures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Versions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0-pay-15-structure-versions" descr="Screenshot: Edit salary structure › Versions (Kavya Menon, fictional data)">    </p:cNvPr>
          <p:cNvPicPr>
            <a:picLocks noChangeAspect="1"/>
          </p:cNvPicPr>
          <p:nvPr/>
        </p:nvPicPr>
        <p:blipFill>
          <a:blip r:embed="rId2"/>
          <a:stretch>
            <a:fillRect/>
          </a:stretch>
        </p:blipFill>
        <p:spPr>
          <a:xfrm>
            <a:off x="6278728" y="1755648"/>
            <a:ext cx="5364328" cy="1462998"/>
          </a:xfrm>
          <a:prstGeom prst="rect">
            <a:avLst/>
          </a:prstGeom>
        </p:spPr>
      </p:pic>
      <p:sp>
        <p:nvSpPr>
          <p:cNvPr id="14" name="Screenshot frame"/>
          <p:cNvSpPr/>
          <p:nvPr/>
        </p:nvSpPr>
        <p:spPr>
          <a:xfrm>
            <a:off x="6278728" y="1755648"/>
            <a:ext cx="5364328" cy="1462998"/>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Draft → submit → approve; versions cannot start inside a finalised period.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Edit salary structure › Versions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Adjustments and tax declarations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New payroll adjustment</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pay-16-new-adjustment" descr="Screenshot: New payroll adjustment (Arjun Bose, fictional data)">    </p:cNvPr>
          <p:cNvPicPr>
            <a:picLocks noChangeAspect="1"/>
          </p:cNvPicPr>
          <p:nvPr/>
        </p:nvPicPr>
        <p:blipFill>
          <a:blip r:embed="rId1"/>
          <a:stretch>
            <a:fillRect/>
          </a:stretch>
        </p:blipFill>
        <p:spPr>
          <a:xfrm>
            <a:off x="632959" y="1755648"/>
            <a:ext cx="5195689" cy="3429000"/>
          </a:xfrm>
          <a:prstGeom prst="rect">
            <a:avLst/>
          </a:prstGeom>
        </p:spPr>
      </p:pic>
      <p:sp>
        <p:nvSpPr>
          <p:cNvPr id="8" name="Screenshot frame"/>
          <p:cNvSpPr/>
          <p:nvPr/>
        </p:nvSpPr>
        <p:spPr>
          <a:xfrm>
            <a:off x="632959" y="1755648"/>
            <a:ext cx="5195689"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Employee, period, type, component, amount or days, taxable (cancelled).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Arjun Bose (Payroll Admin + Employee) · New payroll adjustment</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Tax declarations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FBE6E4"/>
          </a:solidFill>
          <a:ln/>
        </p:spPr>
        <p:txBody>
          <a:bodyPr wrap="square" lIns="0" tIns="0" rIns="0" bIns="0" rtlCol="0" anchor="ctr"/>
          <a:lstStyle/>
          <a:p>
            <a:pPr algn="ctr" indent="0" marL="0">
              <a:buNone/>
            </a:pPr>
            <a:r>
              <a:rPr lang="en-US" sz="950" b="1" dirty="0">
                <a:solidFill>
                  <a:srgbClr val="B3261E"/>
                </a:solidFill>
              </a:rPr>
              <a:t>Incomplete</a:t>
            </a:r>
            <a:endParaRPr lang="en-US" sz="950" dirty="0"/>
          </a:p>
        </p:txBody>
      </p:sp>
      <p:pic>
        <p:nvPicPr>
          <p:cNvPr id="13" name="Screenshot hr-admin/60-pay-17-tax-declarations" descr="Screenshot: People › Pay › Tax declarations (Arjun Bose,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Empty here. Employees cannot submit a declaration themselves (F13).</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Tax declarations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Run History tab error (development mode)</a:t>
            </a:r>
            <a:endParaRPr lang="en-US" sz="2800" dirty="0"/>
          </a:p>
        </p:txBody>
      </p:sp>
      <p:pic>
        <p:nvPicPr>
          <p:cNvPr id="5" name="Screenshot hr-admin/60-pay-10-run-history-error-f26" descr="Screenshot: Payroll run › History tab (error) (Arjun Bose,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8" name="Shape 4"/>
          <p:cNvSpPr/>
          <p:nvPr/>
        </p:nvSpPr>
        <p:spPr>
          <a:xfrm>
            <a:off x="8595360" y="1874520"/>
            <a:ext cx="3047695" cy="1012444"/>
          </a:xfrm>
          <a:prstGeom prst="roundRect">
            <a:avLst>
              <a:gd name="adj" fmla="val 7225"/>
            </a:avLst>
          </a:prstGeom>
          <a:solidFill>
            <a:srgbClr val="F4F5F8"/>
          </a:solidFill>
          <a:ln w="12700">
            <a:solidFill>
              <a:srgbClr val="F4F5F8"/>
            </a:solidFill>
            <a:prstDash val="solid"/>
          </a:ln>
        </p:spPr>
      </p:sp>
      <p:sp>
        <p:nvSpPr>
          <p:cNvPr id="9" name="Text 5"/>
          <p:cNvSpPr txBox="1"/>
          <p:nvPr/>
        </p:nvSpPr>
        <p:spPr>
          <a:xfrm>
            <a:off x="8732520" y="196596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LazyLoadingViolationException (F26) on the run's History tab outside production. Use Change history.</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Arjun Bose (Payroll Admin + Employee) · Payroll run › History tab (error)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09</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Statutory configuration</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The tenant records registrations; the platform verifies rules.</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STATUTORY</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Compliance control room</a:t>
            </a:r>
            <a:endParaRPr lang="en-US" sz="2800" dirty="0"/>
          </a:p>
        </p:txBody>
      </p:sp>
      <p:pic>
        <p:nvPicPr>
          <p:cNvPr id="5" name="Screenshot hr-admin/60-stat-01-compliance-control-room" descr="Screenshot: People › Pay › Control room (Compliance control room) (Arjun Bose, fictional data)">    </p:cNvPr>
          <p:cNvPicPr>
            <a:picLocks noChangeAspect="1"/>
          </p:cNvPicPr>
          <p:nvPr/>
        </p:nvPicPr>
        <p:blipFill>
          <a:blip r:embed="rId1"/>
          <a:stretch>
            <a:fillRect/>
          </a:stretch>
        </p:blipFill>
        <p:spPr>
          <a:xfrm>
            <a:off x="2666848" y="1371600"/>
            <a:ext cx="6858000" cy="4389120"/>
          </a:xfrm>
          <a:prstGeom prst="rect">
            <a:avLst/>
          </a:prstGeom>
        </p:spPr>
      </p:pic>
      <p:sp>
        <p:nvSpPr>
          <p:cNvPr id="6" name="Screenshot frame"/>
          <p:cNvSpPr/>
          <p:nvPr/>
        </p:nvSpPr>
        <p:spPr>
          <a:xfrm>
            <a:off x="2666848" y="1371600"/>
            <a:ext cx="6858000" cy="4389120"/>
          </a:xfrm>
          <a:prstGeom prst="rect">
            <a:avLst/>
          </a:prstGeom>
          <a:ln w="9525">
            <a:solidFill>
              <a:srgbClr val="D9DCE3"/>
            </a:solidFill>
            <a:prstDash val="solid"/>
          </a:ln>
        </p:spPr>
      </p:sp>
      <p:sp>
        <p:nvSpPr>
          <p:cNvPr id="7" name="Text 3"/>
          <p:cNvSpPr txBox="1"/>
          <p:nvPr/>
        </p:nvSpPr>
        <p:spPr>
          <a:xfrm>
            <a:off x="548640" y="5760720"/>
            <a:ext cx="11094415" cy="438912"/>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0 of 24 rule versions verified; required rules, open notices and missing registrations (ESI, LWF, PT) per establishment.</a:t>
            </a:r>
            <a:endParaRPr lang="en-US" sz="1250" dirty="0"/>
          </a:p>
        </p:txBody>
      </p:sp>
      <p:sp>
        <p:nvSpPr>
          <p:cNvPr id="8" name="Text 4"/>
          <p:cNvSpPr txBox="1"/>
          <p:nvPr/>
        </p:nvSpPr>
        <p:spPr>
          <a:xfrm>
            <a:off x="548640" y="6199632"/>
            <a:ext cx="11094415" cy="182880"/>
          </a:xfrm>
          <a:prstGeom prst="rect">
            <a:avLst/>
          </a:prstGeom>
          <a:noFill/>
          <a:ln/>
        </p:spPr>
        <p:txBody>
          <a:bodyPr wrap="square" lIns="0" tIns="0" rIns="0" bIns="0" rtlCol="0" anchor="ctr"/>
          <a:lstStyle/>
          <a:p>
            <a:pPr indent="0" marL="0">
              <a:buNone/>
            </a:pPr>
            <a:r>
              <a:rPr lang="en-US" sz="900" dirty="0">
                <a:solidFill>
                  <a:srgbClr val="8A90A2"/>
                </a:solidFill>
              </a:rPr>
              <a:t>Real screen (cropped) · Arjun Bose (Payroll Admin + Employee) · People › Pay › Control room (Compliance control room)</a:t>
            </a:r>
            <a:endParaRPr lang="en-US" sz="900" dirty="0"/>
          </a:p>
        </p:txBody>
      </p:sp>
      <p:sp>
        <p:nvSpPr>
          <p:cNvPr id="9" name="Status"/>
          <p:cNvSpPr txBox="1"/>
          <p:nvPr/>
        </p:nvSpPr>
        <p:spPr>
          <a:xfrm>
            <a:off x="8534095" y="274320"/>
            <a:ext cx="3108960" cy="292608"/>
          </a:xfrm>
          <a:prstGeom prst="roundRect">
            <a:avLst>
              <a:gd name="adj" fmla="val 50000"/>
            </a:avLst>
          </a:prstGeom>
          <a:solidFill>
            <a:srgbClr val="FDF0DD"/>
          </a:solidFill>
          <a:ln/>
        </p:spPr>
        <p:txBody>
          <a:bodyPr wrap="square" lIns="0" tIns="0" rIns="0" bIns="0" rtlCol="0" anchor="ctr"/>
          <a:lstStyle/>
          <a:p>
            <a:pPr algn="ctr" indent="0" marL="0">
              <a:buNone/>
            </a:pPr>
            <a:r>
              <a:rPr lang="en-US" sz="1050" b="1" dirty="0">
                <a:solidFill>
                  <a:srgbClr val="8A5A00"/>
                </a:solidFill>
              </a:rPr>
              <a:t>Disabled by safety or commercial gates</a:t>
            </a:r>
            <a:endParaRPr lang="en-US" sz="10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STATUTORY</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Rules and verification</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Compliance rules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stat-02-compliance-rules" descr="Screenshot: People › Pay › Compliance rules (Arjun Bose,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Rule versions shipped by the platform; read only for tenants.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Compliance rules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Rule verification</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FDF0DD"/>
          </a:solidFill>
          <a:ln/>
        </p:spPr>
        <p:txBody>
          <a:bodyPr wrap="square" lIns="0" tIns="0" rIns="0" bIns="0" rtlCol="0" anchor="ctr"/>
          <a:lstStyle/>
          <a:p>
            <a:pPr algn="ctr" indent="0" marL="0">
              <a:buNone/>
            </a:pPr>
            <a:r>
              <a:rPr lang="en-US" sz="950" b="1" dirty="0">
                <a:solidFill>
                  <a:srgbClr val="8A5A00"/>
                </a:solidFill>
              </a:rPr>
              <a:t>Disabled (gate)</a:t>
            </a:r>
            <a:endParaRPr lang="en-US" sz="950" dirty="0"/>
          </a:p>
        </p:txBody>
      </p:sp>
      <p:pic>
        <p:nvPicPr>
          <p:cNvPr id="13" name="Screenshot hr-admin/60-stat-03-rule-verifications" descr="Screenshot: People › Pay › Rule verification (Arjun Bose,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None verified. Two platform administrators verify each rule with official evidence.</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Rule verification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STATUTORY</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Registrations and establishment profiles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Statutory registrations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stat-05-statutory-registrations" descr="Screenshot: People › Pay › Statutory registrations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EPF, ESIC, PT, LWF, TAN numbers with Verify / Correct / New number.</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Pay › Statutory registrations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Statutory profiles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0-stat-06-establishment-profiles" descr="Screenshot: People › Pay › Statutory profile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Which statutes apply at each establishment.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Pay › Statutory profiles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STATUTORY</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Notices and returns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Regulatory notices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0-stat-04-rule-notices" descr="Screenshot: People › Pay › Regulatory notices (Arjun Bose,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5 open notices about statutory changes to resolve.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People › Pay › Regulatory notices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EPF returns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FDF0DD"/>
          </a:solidFill>
          <a:ln/>
        </p:spPr>
        <p:txBody>
          <a:bodyPr wrap="square" lIns="0" tIns="0" rIns="0" bIns="0" rtlCol="0" anchor="ctr"/>
          <a:lstStyle/>
          <a:p>
            <a:pPr algn="ctr" indent="0" marL="0">
              <a:buNone/>
            </a:pPr>
            <a:r>
              <a:rPr lang="en-US" sz="950" b="1" dirty="0">
                <a:solidFill>
                  <a:srgbClr val="8A5A00"/>
                </a:solidFill>
              </a:rPr>
              <a:t>Disabled (gate)</a:t>
            </a:r>
            <a:endParaRPr lang="en-US" sz="950" dirty="0"/>
          </a:p>
        </p:txBody>
      </p:sp>
      <p:pic>
        <p:nvPicPr>
          <p:cNvPr id="13" name="Screenshot hr-admin/60-stat-07-epf-returns-empty" descr="Screenshot: People › Pay › EPF returns (ECR)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Empty: returns need finalised payroll.</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Pay › EPF returns (ECR)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10</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Performance, learning and workforce</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Cycles, appraisals, calibration, courses and positions.</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GROWTH</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Performance cycles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Cycles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5-grow-01-performance-cycles" descr="Screenshot: People › Growth › All in Growth › Cycles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FY 2026-27 annual review in the Self review stage.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Growth › All in Growth › Cycles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New cycle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5-grow-02-new-cycle-form" descr="Screenshot: New performance cycle (Kavya Menon, fictional data)">    </p:cNvPr>
          <p:cNvPicPr>
            <a:picLocks noChangeAspect="1"/>
          </p:cNvPicPr>
          <p:nvPr/>
        </p:nvPicPr>
        <p:blipFill>
          <a:blip r:embed="rId2"/>
          <a:stretch>
            <a:fillRect/>
          </a:stretch>
        </p:blipFill>
        <p:spPr>
          <a:xfrm>
            <a:off x="6364272" y="1755648"/>
            <a:ext cx="5193238" cy="3429000"/>
          </a:xfrm>
          <a:prstGeom prst="rect">
            <a:avLst/>
          </a:prstGeom>
        </p:spPr>
      </p:pic>
      <p:sp>
        <p:nvSpPr>
          <p:cNvPr id="14" name="Screenshot frame"/>
          <p:cNvSpPr/>
          <p:nvPr/>
        </p:nvSpPr>
        <p:spPr>
          <a:xfrm>
            <a:off x="6364272" y="1755648"/>
            <a:ext cx="5193238"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Stages, eligibility rules and options (not saved). Scheduled cycles do not launch on their own (F21).</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New performance cycle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GROWTH</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Appraisals and calibration</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Appraisals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5-grow-03-appraisals" descr="Screenshot: People › Growth › Appraisals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Each employee's appraisal with stage and status.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Growth › Appraisals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Calibration board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5-grow-04-calibration-board" descr="Screenshot: People › Growth › Calibration (Kavya Menon, fictional data)">    </p:cNvPr>
          <p:cNvPicPr>
            <a:picLocks noChangeAspect="1"/>
          </p:cNvPicPr>
          <p:nvPr/>
        </p:nvPicPr>
        <p:blipFill>
          <a:blip r:embed="rId2"/>
          <a:stretch>
            <a:fillRect/>
          </a:stretch>
        </p:blipFill>
        <p:spPr>
          <a:xfrm>
            <a:off x="6363893" y="1755648"/>
            <a:ext cx="5193997" cy="3429000"/>
          </a:xfrm>
          <a:prstGeom prst="rect">
            <a:avLst/>
          </a:prstGeom>
        </p:spPr>
      </p:pic>
      <p:sp>
        <p:nvSpPr>
          <p:cNvPr id="14" name="Screenshot frame"/>
          <p:cNvSpPr/>
          <p:nvPr/>
        </p:nvSpPr>
        <p:spPr>
          <a:xfrm>
            <a:off x="6363893" y="1755648"/>
            <a:ext cx="5193997"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Rating distribution and adjustments before finalising.</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People › Growth › Calibration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GROWTH</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Goals and learning</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Goals (HR view)</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5-grow-05-goals-hr-view" descr="Screenshot: People › Growth › Goals (HR view)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Company → department → individual cascade with progress.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Growth › Goals (HR view)</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Learning assignments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5-learn-02-assignments" descr="Screenshot: People › Growth › All in Growth › Assignments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PoSH for everyone (annual, mandatory).</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People › Growth › All in Growth › Assignments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WORKFORCE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Positions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New position</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5-wf-02-new-position-form" descr="Screenshot: New position (dialog, top half) (Kavya Menon, fictional data)">    </p:cNvPr>
          <p:cNvPicPr>
            <a:picLocks noChangeAspect="1"/>
          </p:cNvPicPr>
          <p:nvPr/>
        </p:nvPicPr>
        <p:blipFill>
          <a:blip r:embed="rId1"/>
          <a:stretch>
            <a:fillRect/>
          </a:stretch>
        </p:blipFill>
        <p:spPr>
          <a:xfrm>
            <a:off x="634185" y="1755648"/>
            <a:ext cx="5193238" cy="3429000"/>
          </a:xfrm>
          <a:prstGeom prst="rect">
            <a:avLst/>
          </a:prstGeom>
        </p:spPr>
      </p:pic>
      <p:sp>
        <p:nvSpPr>
          <p:cNvPr id="8" name="Screenshot frame"/>
          <p:cNvSpPr/>
          <p:nvPr/>
        </p:nvSpPr>
        <p:spPr>
          <a:xfrm>
            <a:off x="634185" y="1755648"/>
            <a:ext cx="5193238"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Code, title, designation, company, unit, grade. FTE left blank (F8).</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New position (dialog, top half)</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Created as a draft</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5-wf-03-position-created" descr="Screenshot: Positions (after Submit)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"Position POS-TRN-001 created as a draft."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Positions (after Submit)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WORKFORCE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Org map and position hierarchy</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Org map</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5-wf-05-org-map" descr="Screenshot: Organisation › Org map (Kavya Menon, fictional data)">    </p:cNvPr>
          <p:cNvPicPr>
            <a:picLocks noChangeAspect="1"/>
          </p:cNvPicPr>
          <p:nvPr/>
        </p:nvPicPr>
        <p:blipFill>
          <a:blip r:embed="rId1"/>
          <a:stretch>
            <a:fillRect/>
          </a:stretch>
        </p:blipFill>
        <p:spPr>
          <a:xfrm>
            <a:off x="634185" y="1755648"/>
            <a:ext cx="5193238" cy="3429000"/>
          </a:xfrm>
          <a:prstGeom prst="rect">
            <a:avLst/>
          </a:prstGeom>
        </p:spPr>
      </p:pic>
      <p:sp>
        <p:nvSpPr>
          <p:cNvPr id="8" name="Screenshot frame"/>
          <p:cNvSpPr/>
          <p:nvPr/>
        </p:nvSpPr>
        <p:spPr>
          <a:xfrm>
            <a:off x="634185" y="1755648"/>
            <a:ext cx="5193238"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Units and people by primary reporting line.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Organisation › Org map</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Position hierarchy</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5-wf-07-position-hierarchy" descr="Screenshot: Organisation › Workforce › Position hierarchy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Positions by reporting position.</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Organisation › Workforce › Position hierarchy</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11</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Compensation changes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Four different people: propose, review, approve, execute.</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COMPENSATION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an employee's pay</a:t>
            </a:r>
            <a:endParaRPr lang="en-US" sz="2800" dirty="0"/>
          </a:p>
        </p:txBody>
      </p:sp>
      <p:sp>
        <p:nvSpPr>
          <p:cNvPr id="5" name="Text 2"/>
          <p:cNvSpPr txBox="1"/>
          <p:nvPr/>
        </p:nvSpPr>
        <p:spPr>
          <a:xfrm>
            <a:off x="548640" y="1463040"/>
            <a:ext cx="6949440" cy="1143000"/>
          </a:xfrm>
          <a:prstGeom prst="rect">
            <a:avLst/>
          </a:prstGeom>
          <a:noFill/>
          <a:ln/>
        </p:spPr>
        <p:txBody>
          <a:bodyPr wrap="square" lIns="0" tIns="0" rIns="0" bIns="0" rtlCol="0" anchor="t"/>
          <a:lstStyle/>
          <a:p>
            <a:pPr indent="0" marL="0">
              <a:buNone/>
            </a:pPr>
            <a:r>
              <a:rPr lang="en-US" sz="2000" dirty="0">
                <a:solidFill>
                  <a:schemeClr val="tx2"/>
                </a:solidFill>
                <a:latin typeface="Cambria" pitchFamily="34" charset="0"/>
                <a:ea typeface="Cambria" pitchFamily="34" charset="-122"/>
                <a:cs typeface="Cambria" pitchFamily="34" charset="-120"/>
              </a:rPr>
              <a:t>Propose a pay change with a reason and take it through review, approval and execution by four different people.</a:t>
            </a:r>
            <a:endParaRPr lang="en-US" sz="2000" dirty="0"/>
          </a:p>
        </p:txBody>
      </p:sp>
      <p:sp>
        <p:nvSpPr>
          <p:cNvPr id="6" name="Shape 3"/>
          <p:cNvSpPr/>
          <p:nvPr/>
        </p:nvSpPr>
        <p:spPr>
          <a:xfrm>
            <a:off x="548640" y="2788920"/>
            <a:ext cx="3576218" cy="1600200"/>
          </a:xfrm>
          <a:prstGeom prst="roundRect">
            <a:avLst>
              <a:gd name="adj" fmla="val 5714"/>
            </a:avLst>
          </a:prstGeom>
          <a:solidFill>
            <a:srgbClr val="F4F5F8"/>
          </a:solidFill>
          <a:ln w="12700">
            <a:solidFill>
              <a:srgbClr val="F4F5F8"/>
            </a:solidFill>
            <a:prstDash val="solid"/>
          </a:ln>
        </p:spPr>
      </p:sp>
      <p:sp>
        <p:nvSpPr>
          <p:cNvPr id="7" name="Text 4"/>
          <p:cNvSpPr txBox="1"/>
          <p:nvPr/>
        </p:nvSpPr>
        <p:spPr>
          <a:xfrm>
            <a:off x="777240"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WHO</a:t>
            </a:r>
            <a:endParaRPr lang="en-US" sz="1100" dirty="0"/>
          </a:p>
        </p:txBody>
      </p:sp>
      <p:sp>
        <p:nvSpPr>
          <p:cNvPr id="8" name="Text 5"/>
          <p:cNvSpPr txBox="1"/>
          <p:nvPr/>
        </p:nvSpPr>
        <p:spPr>
          <a:xfrm>
            <a:off x="777240"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Propose, review: HR Manager or Tenant HR Admin. Approve: a third person (Tenant HR or Super Admin). Execute: Payroll Admin.</a:t>
            </a:r>
            <a:endParaRPr lang="en-US" sz="1400" dirty="0"/>
          </a:p>
        </p:txBody>
      </p:sp>
      <p:sp>
        <p:nvSpPr>
          <p:cNvPr id="9" name="Shape 6"/>
          <p:cNvSpPr/>
          <p:nvPr/>
        </p:nvSpPr>
        <p:spPr>
          <a:xfrm>
            <a:off x="4307738" y="2788920"/>
            <a:ext cx="3576218" cy="1600200"/>
          </a:xfrm>
          <a:prstGeom prst="roundRect">
            <a:avLst>
              <a:gd name="adj" fmla="val 5714"/>
            </a:avLst>
          </a:prstGeom>
          <a:solidFill>
            <a:srgbClr val="F4F5F8"/>
          </a:solidFill>
          <a:ln w="12700">
            <a:solidFill>
              <a:srgbClr val="F4F5F8"/>
            </a:solidFill>
            <a:prstDash val="solid"/>
          </a:ln>
        </p:spPr>
      </p:sp>
      <p:sp>
        <p:nvSpPr>
          <p:cNvPr id="10" name="Text 7"/>
          <p:cNvSpPr txBox="1"/>
          <p:nvPr/>
        </p:nvSpPr>
        <p:spPr>
          <a:xfrm>
            <a:off x="4536338"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WHERE</a:t>
            </a:r>
            <a:endParaRPr lang="en-US" sz="1100" dirty="0"/>
          </a:p>
        </p:txBody>
      </p:sp>
      <p:sp>
        <p:nvSpPr>
          <p:cNvPr id="11" name="Text 8"/>
          <p:cNvSpPr txBox="1"/>
          <p:nvPr/>
        </p:nvSpPr>
        <p:spPr>
          <a:xfrm>
            <a:off x="4536338"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Employee 360 › Records › Rewards › Propose compensation change; People › Pay › Compensation changes</a:t>
            </a:r>
            <a:endParaRPr lang="en-US" sz="1400" dirty="0"/>
          </a:p>
        </p:txBody>
      </p:sp>
      <p:sp>
        <p:nvSpPr>
          <p:cNvPr id="12" name="Shape 9"/>
          <p:cNvSpPr/>
          <p:nvPr/>
        </p:nvSpPr>
        <p:spPr>
          <a:xfrm>
            <a:off x="8066837" y="2788920"/>
            <a:ext cx="3576218" cy="1600200"/>
          </a:xfrm>
          <a:prstGeom prst="roundRect">
            <a:avLst>
              <a:gd name="adj" fmla="val 5714"/>
            </a:avLst>
          </a:prstGeom>
          <a:solidFill>
            <a:srgbClr val="F4F5F8"/>
          </a:solidFill>
          <a:ln w="12700">
            <a:solidFill>
              <a:srgbClr val="F4F5F8"/>
            </a:solidFill>
            <a:prstDash val="solid"/>
          </a:ln>
        </p:spPr>
      </p:sp>
      <p:sp>
        <p:nvSpPr>
          <p:cNvPr id="13" name="Text 10"/>
          <p:cNvSpPr txBox="1"/>
          <p:nvPr/>
        </p:nvSpPr>
        <p:spPr>
          <a:xfrm>
            <a:off x="8295437"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BEFORE YOU START</a:t>
            </a:r>
            <a:endParaRPr lang="en-US" sz="1100" dirty="0"/>
          </a:p>
        </p:txBody>
      </p:sp>
      <p:sp>
        <p:nvSpPr>
          <p:cNvPr id="14" name="Text 11"/>
          <p:cNvSpPr txBox="1"/>
          <p:nvPr/>
        </p:nvSpPr>
        <p:spPr>
          <a:xfrm>
            <a:off x="8295437"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employee is employed (not alumni) and has a salary structure.</a:t>
            </a:r>
            <a:endParaRPr lang="en-US" sz="1400" dirty="0"/>
          </a:p>
        </p:txBody>
      </p:sp>
      <p:sp>
        <p:nvSpPr>
          <p:cNvPr id="15" name="Status"/>
          <p:cNvSpPr txBox="1"/>
          <p:nvPr/>
        </p:nvSpPr>
        <p:spPr>
          <a:xfrm>
            <a:off x="8351215" y="1508760"/>
            <a:ext cx="329184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Shape 13"/>
          <p:cNvSpPr/>
          <p:nvPr/>
        </p:nvSpPr>
        <p:spPr>
          <a:xfrm>
            <a:off x="548640" y="4709160"/>
            <a:ext cx="1984797" cy="1143000"/>
          </a:xfrm>
          <a:prstGeom prst="roundRect">
            <a:avLst>
              <a:gd name="adj" fmla="val 8000"/>
            </a:avLst>
          </a:prstGeom>
          <a:solidFill>
            <a:srgbClr val="574BC4"/>
          </a:solidFill>
          <a:ln w="15875">
            <a:solidFill>
              <a:srgbClr val="574BC4"/>
            </a:solidFill>
            <a:prstDash val="solid"/>
          </a:ln>
        </p:spPr>
      </p:sp>
      <p:sp>
        <p:nvSpPr>
          <p:cNvPr id="17" name="Text 14"/>
          <p:cNvSpPr txBox="1"/>
          <p:nvPr/>
        </p:nvSpPr>
        <p:spPr>
          <a:xfrm>
            <a:off x="640080" y="4782312"/>
            <a:ext cx="1801917" cy="996696"/>
          </a:xfrm>
          <a:prstGeom prst="rect">
            <a:avLst/>
          </a:prstGeom>
          <a:noFill/>
          <a:ln/>
        </p:spPr>
        <p:txBody>
          <a:bodyPr wrap="square" lIns="0" tIns="0" rIns="0" bIns="0" rtlCol="0" anchor="ctr"/>
          <a:lstStyle/>
          <a:p>
            <a:pPr algn="ctr" indent="0" marL="0">
              <a:buNone/>
            </a:pPr>
            <a:r>
              <a:rPr lang="en-US" sz="1300" b="1" dirty="0">
                <a:solidFill>
                  <a:srgbClr val="FFFFFF"/>
                </a:solidFill>
              </a:rPr>
              <a:t>PROPOSE</a:t>
            </a:r>
            <a:endParaRPr lang="en-US" sz="1300" dirty="0"/>
          </a:p>
          <a:p>
            <a:pPr algn="ctr" indent="0" marL="0">
              <a:buNone/>
            </a:pPr>
            <a:r>
              <a:rPr lang="en-US" sz="1100" dirty="0">
                <a:solidFill>
                  <a:srgbClr val="E4E2F7"/>
                </a:solidFill>
              </a:rPr>
              <a:t>Neha (HR Manager)</a:t>
            </a:r>
            <a:endParaRPr lang="en-US" sz="1300" dirty="0"/>
          </a:p>
        </p:txBody>
      </p:sp>
      <p:sp>
        <p:nvSpPr>
          <p:cNvPr id="18" name="Shape 15"/>
          <p:cNvSpPr/>
          <p:nvPr/>
        </p:nvSpPr>
        <p:spPr>
          <a:xfrm>
            <a:off x="2579157" y="5166360"/>
            <a:ext cx="201168" cy="228600"/>
          </a:xfrm>
          <a:prstGeom prst="rightArrow">
            <a:avLst/>
          </a:prstGeom>
          <a:solidFill>
            <a:srgbClr val="C9A45C"/>
          </a:solidFill>
          <a:ln w="12700">
            <a:solidFill>
              <a:srgbClr val="C9A45C"/>
            </a:solidFill>
            <a:prstDash val="solid"/>
          </a:ln>
        </p:spPr>
      </p:sp>
      <p:sp>
        <p:nvSpPr>
          <p:cNvPr id="19" name="Shape 16"/>
          <p:cNvSpPr/>
          <p:nvPr/>
        </p:nvSpPr>
        <p:spPr>
          <a:xfrm>
            <a:off x="2826045" y="4709160"/>
            <a:ext cx="1984797" cy="1143000"/>
          </a:xfrm>
          <a:prstGeom prst="roundRect">
            <a:avLst>
              <a:gd name="adj" fmla="val 8000"/>
            </a:avLst>
          </a:prstGeom>
          <a:solidFill>
            <a:srgbClr val="FFFFFF"/>
          </a:solidFill>
          <a:ln w="15875">
            <a:solidFill>
              <a:srgbClr val="574BC4"/>
            </a:solidFill>
            <a:prstDash val="solid"/>
          </a:ln>
        </p:spPr>
      </p:sp>
      <p:sp>
        <p:nvSpPr>
          <p:cNvPr id="20" name="Text 17"/>
          <p:cNvSpPr txBox="1"/>
          <p:nvPr/>
        </p:nvSpPr>
        <p:spPr>
          <a:xfrm>
            <a:off x="2917485"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REVIEW</a:t>
            </a:r>
            <a:endParaRPr lang="en-US" sz="1300" dirty="0"/>
          </a:p>
          <a:p>
            <a:pPr algn="ctr" indent="0" marL="0">
              <a:buNone/>
            </a:pPr>
            <a:r>
              <a:rPr lang="en-US" sz="1100" dirty="0">
                <a:solidFill>
                  <a:srgbClr val="5B6275"/>
                </a:solidFill>
              </a:rPr>
              <a:t>Kavya (Tenant HR Admin)</a:t>
            </a:r>
            <a:endParaRPr lang="en-US" sz="1300" dirty="0"/>
          </a:p>
        </p:txBody>
      </p:sp>
      <p:sp>
        <p:nvSpPr>
          <p:cNvPr id="21" name="Shape 18"/>
          <p:cNvSpPr/>
          <p:nvPr/>
        </p:nvSpPr>
        <p:spPr>
          <a:xfrm>
            <a:off x="4856561" y="5166360"/>
            <a:ext cx="201168" cy="228600"/>
          </a:xfrm>
          <a:prstGeom prst="rightArrow">
            <a:avLst/>
          </a:prstGeom>
          <a:solidFill>
            <a:srgbClr val="C9A45C"/>
          </a:solidFill>
          <a:ln w="12700">
            <a:solidFill>
              <a:srgbClr val="C9A45C"/>
            </a:solidFill>
            <a:prstDash val="solid"/>
          </a:ln>
        </p:spPr>
      </p:sp>
      <p:sp>
        <p:nvSpPr>
          <p:cNvPr id="22" name="Shape 19"/>
          <p:cNvSpPr/>
          <p:nvPr/>
        </p:nvSpPr>
        <p:spPr>
          <a:xfrm>
            <a:off x="5103449" y="4709160"/>
            <a:ext cx="1984797" cy="1143000"/>
          </a:xfrm>
          <a:prstGeom prst="roundRect">
            <a:avLst>
              <a:gd name="adj" fmla="val 8000"/>
            </a:avLst>
          </a:prstGeom>
          <a:solidFill>
            <a:srgbClr val="FFFFFF"/>
          </a:solidFill>
          <a:ln w="15875">
            <a:solidFill>
              <a:srgbClr val="574BC4"/>
            </a:solidFill>
            <a:prstDash val="solid"/>
          </a:ln>
        </p:spPr>
      </p:sp>
      <p:sp>
        <p:nvSpPr>
          <p:cNvPr id="23" name="Text 20"/>
          <p:cNvSpPr txBox="1"/>
          <p:nvPr/>
        </p:nvSpPr>
        <p:spPr>
          <a:xfrm>
            <a:off x="5194889"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APPROVE</a:t>
            </a:r>
            <a:endParaRPr lang="en-US" sz="1300" dirty="0"/>
          </a:p>
          <a:p>
            <a:pPr algn="ctr" indent="0" marL="0">
              <a:buNone/>
            </a:pPr>
            <a:r>
              <a:rPr lang="en-US" sz="1100" dirty="0">
                <a:solidFill>
                  <a:srgbClr val="5B6275"/>
                </a:solidFill>
              </a:rPr>
              <a:t>Demo Admin</a:t>
            </a:r>
            <a:endParaRPr lang="en-US" sz="1300" dirty="0"/>
          </a:p>
        </p:txBody>
      </p:sp>
      <p:sp>
        <p:nvSpPr>
          <p:cNvPr id="24" name="Shape 21"/>
          <p:cNvSpPr/>
          <p:nvPr/>
        </p:nvSpPr>
        <p:spPr>
          <a:xfrm>
            <a:off x="7133966" y="5166360"/>
            <a:ext cx="201168" cy="228600"/>
          </a:xfrm>
          <a:prstGeom prst="rightArrow">
            <a:avLst/>
          </a:prstGeom>
          <a:solidFill>
            <a:srgbClr val="C9A45C"/>
          </a:solidFill>
          <a:ln w="12700">
            <a:solidFill>
              <a:srgbClr val="C9A45C"/>
            </a:solidFill>
            <a:prstDash val="solid"/>
          </a:ln>
        </p:spPr>
      </p:sp>
      <p:sp>
        <p:nvSpPr>
          <p:cNvPr id="25" name="Shape 22"/>
          <p:cNvSpPr/>
          <p:nvPr/>
        </p:nvSpPr>
        <p:spPr>
          <a:xfrm>
            <a:off x="7380854" y="4709160"/>
            <a:ext cx="1984797" cy="1143000"/>
          </a:xfrm>
          <a:prstGeom prst="roundRect">
            <a:avLst>
              <a:gd name="adj" fmla="val 8000"/>
            </a:avLst>
          </a:prstGeom>
          <a:solidFill>
            <a:srgbClr val="FFFFFF"/>
          </a:solidFill>
          <a:ln w="15875">
            <a:solidFill>
              <a:srgbClr val="574BC4"/>
            </a:solidFill>
            <a:prstDash val="solid"/>
          </a:ln>
        </p:spPr>
      </p:sp>
      <p:sp>
        <p:nvSpPr>
          <p:cNvPr id="26" name="Text 23"/>
          <p:cNvSpPr txBox="1"/>
          <p:nvPr/>
        </p:nvSpPr>
        <p:spPr>
          <a:xfrm>
            <a:off x="7472294"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EXECUTE</a:t>
            </a:r>
            <a:endParaRPr lang="en-US" sz="1300" dirty="0"/>
          </a:p>
          <a:p>
            <a:pPr algn="ctr" indent="0" marL="0">
              <a:buNone/>
            </a:pPr>
            <a:r>
              <a:rPr lang="en-US" sz="1100" dirty="0">
                <a:solidFill>
                  <a:srgbClr val="5B6275"/>
                </a:solidFill>
              </a:rPr>
              <a:t>Arjun (Payroll Admin)</a:t>
            </a:r>
            <a:endParaRPr lang="en-US" sz="1300" dirty="0"/>
          </a:p>
        </p:txBody>
      </p:sp>
      <p:sp>
        <p:nvSpPr>
          <p:cNvPr id="27" name="Shape 24"/>
          <p:cNvSpPr/>
          <p:nvPr/>
        </p:nvSpPr>
        <p:spPr>
          <a:xfrm>
            <a:off x="9411371" y="5166360"/>
            <a:ext cx="201168" cy="228600"/>
          </a:xfrm>
          <a:prstGeom prst="rightArrow">
            <a:avLst/>
          </a:prstGeom>
          <a:solidFill>
            <a:srgbClr val="C9A45C"/>
          </a:solidFill>
          <a:ln w="12700">
            <a:solidFill>
              <a:srgbClr val="C9A45C"/>
            </a:solidFill>
            <a:prstDash val="solid"/>
          </a:ln>
        </p:spPr>
      </p:sp>
      <p:sp>
        <p:nvSpPr>
          <p:cNvPr id="28" name="Shape 25"/>
          <p:cNvSpPr/>
          <p:nvPr/>
        </p:nvSpPr>
        <p:spPr>
          <a:xfrm>
            <a:off x="9658259" y="4709160"/>
            <a:ext cx="1984797" cy="1143000"/>
          </a:xfrm>
          <a:prstGeom prst="roundRect">
            <a:avLst>
              <a:gd name="adj" fmla="val 8000"/>
            </a:avLst>
          </a:prstGeom>
          <a:solidFill>
            <a:srgbClr val="FFFFFF"/>
          </a:solidFill>
          <a:ln w="15875">
            <a:solidFill>
              <a:srgbClr val="574BC4"/>
            </a:solidFill>
            <a:prstDash val="solid"/>
          </a:ln>
        </p:spPr>
      </p:sp>
      <p:sp>
        <p:nvSpPr>
          <p:cNvPr id="29" name="Text 26"/>
          <p:cNvSpPr txBox="1"/>
          <p:nvPr/>
        </p:nvSpPr>
        <p:spPr>
          <a:xfrm>
            <a:off x="9749699"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RESULT</a:t>
            </a:r>
            <a:endParaRPr lang="en-US" sz="1300" dirty="0"/>
          </a:p>
          <a:p>
            <a:pPr algn="ctr" indent="0" marL="0">
              <a:buNone/>
            </a:pPr>
            <a:r>
              <a:rPr lang="en-US" sz="1100" dirty="0">
                <a:solidFill>
                  <a:srgbClr val="5B6275"/>
                </a:solidFill>
              </a:rPr>
              <a:t>Scheduled</a:t>
            </a:r>
            <a:endParaRPr lang="en-US" sz="1300" dirty="0"/>
          </a:p>
        </p:txBody>
      </p:sp>
      <p:sp>
        <p:nvSpPr>
          <p:cNvPr id="30" name="Text 27"/>
          <p:cNvSpPr txBox="1"/>
          <p:nvPr/>
        </p:nvSpPr>
        <p:spPr>
          <a:xfrm>
            <a:off x="548640" y="5916168"/>
            <a:ext cx="36576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sequence summary</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COMPENSATION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Refused for someone who has left</a:t>
            </a:r>
            <a:endParaRPr lang="en-US" sz="2800" dirty="0"/>
          </a:p>
        </p:txBody>
      </p:sp>
      <p:pic>
        <p:nvPicPr>
          <p:cNvPr id="5" name="Screenshot hr-admin/62-comp-00-refused-alumni" descr="Screenshot: Employee 360 (after proposing for an exited employee) (Neha Kapoor,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6159297" y="1481938"/>
            <a:ext cx="2110842" cy="570789"/>
          </a:xfrm>
          <a:prstGeom prst="roundRect">
            <a:avLst>
              <a:gd name="adj" fmla="val 8010"/>
            </a:avLst>
          </a:prstGeom>
          <a:ln w="25400">
            <a:solidFill>
              <a:srgbClr val="D97706"/>
            </a:solidFill>
            <a:prstDash val="solid"/>
          </a:ln>
        </p:spPr>
      </p:sp>
      <p:sp>
        <p:nvSpPr>
          <p:cNvPr id="8" name="Callout 1"/>
          <p:cNvSpPr txBox="1"/>
          <p:nvPr/>
        </p:nvSpPr>
        <p:spPr>
          <a:xfrm>
            <a:off x="5848401" y="163931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Confirmation.</a:t>
            </a:r>
            <a:endParaRPr lang="en-US" sz="1400" dirty="0"/>
          </a:p>
        </p:txBody>
      </p:sp>
      <p:sp>
        <p:nvSpPr>
          <p:cNvPr id="12" name="Shape 8"/>
          <p:cNvSpPr/>
          <p:nvPr/>
        </p:nvSpPr>
        <p:spPr>
          <a:xfrm>
            <a:off x="8595360" y="2331720"/>
            <a:ext cx="3047695" cy="818769"/>
          </a:xfrm>
          <a:prstGeom prst="roundRect">
            <a:avLst>
              <a:gd name="adj" fmla="val 8934"/>
            </a:avLst>
          </a:prstGeom>
          <a:solidFill>
            <a:srgbClr val="F4F5F8"/>
          </a:solidFill>
          <a:ln w="12700">
            <a:solidFill>
              <a:srgbClr val="F4F5F8"/>
            </a:solidFill>
            <a:prstDash val="solid"/>
          </a:ln>
        </p:spPr>
      </p:sp>
      <p:sp>
        <p:nvSpPr>
          <p:cNvPr id="13" name="Text 9"/>
          <p:cNvSpPr txBox="1"/>
          <p:nvPr/>
        </p:nvSpPr>
        <p:spPr>
          <a:xfrm>
            <a:off x="8732520" y="242316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"Cannot propose: An employee who is alumni cannot receive future compensation."</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Neha Kapoor (HR Manager + Employee) · Employee 360 (after proposing for an exited employee)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COMPENSATION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Propose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Rewards tab</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2-comp-01-employee-compensation" descr="Screenshot: Employee 360 › Records › Rewards › Compensation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Current compensation and earlier changes.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Employee 360 › Records › Rewards › Compensation</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Propose compensation change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2-comp-02-propose-form" descr="Screenshot: Propose compensation change (dialog) (Neha Kapoor, fictional data)">    </p:cNvPr>
          <p:cNvPicPr>
            <a:picLocks noChangeAspect="1"/>
          </p:cNvPicPr>
          <p:nvPr/>
        </p:nvPicPr>
        <p:blipFill>
          <a:blip r:embed="rId2"/>
          <a:stretch>
            <a:fillRect/>
          </a:stretch>
        </p:blipFill>
        <p:spPr>
          <a:xfrm>
            <a:off x="6363047" y="1755648"/>
            <a:ext cx="5195689" cy="3429000"/>
          </a:xfrm>
          <a:prstGeom prst="rect">
            <a:avLst/>
          </a:prstGeom>
        </p:spPr>
      </p:pic>
      <p:sp>
        <p:nvSpPr>
          <p:cNvPr id="14" name="Screenshot frame"/>
          <p:cNvSpPr/>
          <p:nvPr/>
        </p:nvSpPr>
        <p:spPr>
          <a:xfrm>
            <a:off x="6363047" y="1755648"/>
            <a:ext cx="5195689"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Change type, effective date, structure, new annual CTC, reason; Submit for review now.</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Neha Kapoor (HR Manager + Employee) · Propose compensation change (dialog)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COMPENSATION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Submitted, then reviewed</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Submitted</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2-comp-04-list-submitted" descr="Screenshot: People › Pay › Compensation changes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Listed as submitted for review.</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People › Pay › Compensation changes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Reviewed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2-comp-06-reviewed" descr="Screenshot: Compensation changes (after review)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Mark reviewed → Confirm (Kavya).</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Compensation changes (after review)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COMPENSATION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reviewer cannot also approve</a:t>
            </a:r>
            <a:endParaRPr lang="en-US" sz="2800" dirty="0"/>
          </a:p>
        </p:txBody>
      </p:sp>
      <p:pic>
        <p:nvPicPr>
          <p:cNvPr id="5" name="Screenshot security-compliance/62-comp-07-reviewer-cannot-approve" descr="Screenshot: Compensation changes › row actions (after reviewing)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6805473" y="3994844"/>
            <a:ext cx="1249274" cy="678485"/>
          </a:xfrm>
          <a:prstGeom prst="roundRect">
            <a:avLst>
              <a:gd name="adj" fmla="val 6739"/>
            </a:avLst>
          </a:prstGeom>
          <a:ln w="25400">
            <a:solidFill>
              <a:srgbClr val="D97706"/>
            </a:solidFill>
            <a:prstDash val="solid"/>
          </a:ln>
        </p:spPr>
      </p:sp>
      <p:sp>
        <p:nvSpPr>
          <p:cNvPr id="8" name="Callout 1"/>
          <p:cNvSpPr txBox="1"/>
          <p:nvPr/>
        </p:nvSpPr>
        <p:spPr>
          <a:xfrm>
            <a:off x="6677457" y="370223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No Approve for the reviewer.</a:t>
            </a:r>
            <a:endParaRPr lang="en-US" sz="1400" dirty="0"/>
          </a:p>
        </p:txBody>
      </p:sp>
      <p:sp>
        <p:nvSpPr>
          <p:cNvPr id="12" name="Shape 8"/>
          <p:cNvSpPr/>
          <p:nvPr/>
        </p:nvSpPr>
        <p:spPr>
          <a:xfrm>
            <a:off x="8595360" y="2509520"/>
            <a:ext cx="3047695" cy="1206119"/>
          </a:xfrm>
          <a:prstGeom prst="roundRect">
            <a:avLst>
              <a:gd name="adj" fmla="val 6065"/>
            </a:avLst>
          </a:prstGeom>
          <a:solidFill>
            <a:srgbClr val="F4F5F8"/>
          </a:solidFill>
          <a:ln w="12700">
            <a:solidFill>
              <a:srgbClr val="F4F5F8"/>
            </a:solidFill>
            <a:prstDash val="solid"/>
          </a:ln>
        </p:spPr>
      </p:sp>
      <p:sp>
        <p:nvSpPr>
          <p:cNvPr id="13" name="Text 9"/>
          <p:cNvSpPr txBox="1"/>
          <p:nvPr/>
        </p:nvSpPr>
        <p:spPr>
          <a:xfrm>
            <a:off x="8732520" y="260096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After reviewing, Kavya's menu offers only Reject, Return to proposer and Cancel: no Approve, although her role holds the approve permission.</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Compensation changes › row actions (after reviewing)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COMPENSATION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Approve, then execute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Approved (third person)</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62-comp-09-approved" descr="Screenshot: Compensation changes (after approval) (Demo Admi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Demo Admin (Tenant Super Admin) approves.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Demo Admin (Tenant Super Admin) · Compensation changes (after approval)</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Executed (fourth person)</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62-comp-10-executed" descr="Screenshot: Compensation changes (after execution) (Arjun Bose,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Arjun (Payroll Admin) executes: status Scheduled for the effective date.</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Arjun Bose (Payroll Admin + Employee) · Compensation changes (after execution)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12</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Letters, assets and HR requests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Issue letters with approval where needed, track assets, answer employees.</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LETTERS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Letters</a:t>
            </a:r>
            <a:endParaRPr lang="en-US" sz="2800" dirty="0"/>
          </a:p>
        </p:txBody>
      </p:sp>
      <p:pic>
        <p:nvPicPr>
          <p:cNvPr id="5" name="Screenshot hr-admin/52-let-01-letters" descr="Screenshot: People › Lifecycle › Letters (Neha Kapoor,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7318824" y="2293247"/>
            <a:ext cx="868748" cy="236931"/>
          </a:xfrm>
          <a:prstGeom prst="roundRect">
            <a:avLst>
              <a:gd name="adj" fmla="val 19297"/>
            </a:avLst>
          </a:prstGeom>
          <a:ln w="25400">
            <a:solidFill>
              <a:srgbClr val="D97706"/>
            </a:solidFill>
            <a:prstDash val="solid"/>
          </a:ln>
        </p:spPr>
      </p:sp>
      <p:sp>
        <p:nvSpPr>
          <p:cNvPr id="8" name="Callout 1"/>
          <p:cNvSpPr txBox="1"/>
          <p:nvPr/>
        </p:nvSpPr>
        <p:spPr>
          <a:xfrm>
            <a:off x="7190808"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Generate letter.</a:t>
            </a:r>
            <a:endParaRPr lang="en-US" sz="1400" dirty="0"/>
          </a:p>
        </p:txBody>
      </p:sp>
      <p:sp>
        <p:nvSpPr>
          <p:cNvPr id="12" name="Shape 8"/>
          <p:cNvSpPr/>
          <p:nvPr/>
        </p:nvSpPr>
        <p:spPr>
          <a:xfrm>
            <a:off x="8595360" y="2331720"/>
            <a:ext cx="3047695" cy="818769"/>
          </a:xfrm>
          <a:prstGeom prst="roundRect">
            <a:avLst>
              <a:gd name="adj" fmla="val 8934"/>
            </a:avLst>
          </a:prstGeom>
          <a:solidFill>
            <a:srgbClr val="F4F5F8"/>
          </a:solidFill>
          <a:ln w="12700">
            <a:solidFill>
              <a:srgbClr val="F4F5F8"/>
            </a:solidFill>
            <a:prstDash val="solid"/>
          </a:ln>
        </p:spPr>
      </p:sp>
      <p:sp>
        <p:nvSpPr>
          <p:cNvPr id="13" name="Text 9"/>
          <p:cNvSpPr txBox="1"/>
          <p:nvPr/>
        </p:nvSpPr>
        <p:spPr>
          <a:xfrm>
            <a:off x="8732520" y="242316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Generated letters with number, employee, type and status.</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Neha Kapoor (HR Manager + Employee) · People › Lifecycle › Letters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LETTERS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Generate a letter</a:t>
            </a:r>
            <a:endParaRPr lang="en-US" sz="2800" dirty="0"/>
          </a:p>
        </p:txBody>
      </p:sp>
      <p:pic>
        <p:nvPicPr>
          <p:cNvPr id="5" name="Screenshot hr-admin/52-let-02-generate-form" descr="Screenshot: Letters › Generate letter (Neha Kapoor, fictional data)">    </p:cNvPr>
          <p:cNvPicPr>
            <a:picLocks noChangeAspect="1"/>
          </p:cNvPicPr>
          <p:nvPr/>
        </p:nvPicPr>
        <p:blipFill>
          <a:blip r:embed="rId1"/>
          <a:stretch>
            <a:fillRect/>
          </a:stretch>
        </p:blipFill>
        <p:spPr>
          <a:xfrm>
            <a:off x="548640" y="1417320"/>
            <a:ext cx="7818120" cy="4112657"/>
          </a:xfrm>
          <a:prstGeom prst="rect">
            <a:avLst/>
          </a:prstGeom>
        </p:spPr>
      </p:pic>
      <p:sp>
        <p:nvSpPr>
          <p:cNvPr id="6" name="Screenshot frame"/>
          <p:cNvSpPr/>
          <p:nvPr/>
        </p:nvSpPr>
        <p:spPr>
          <a:xfrm>
            <a:off x="548640" y="1417320"/>
            <a:ext cx="7818120" cy="4112657"/>
          </a:xfrm>
          <a:prstGeom prst="rect">
            <a:avLst/>
          </a:prstGeom>
          <a:ln w="9525">
            <a:solidFill>
              <a:srgbClr val="D9DCE3"/>
            </a:solidFill>
            <a:prstDash val="solid"/>
          </a:ln>
        </p:spPr>
      </p:sp>
      <p:sp>
        <p:nvSpPr>
          <p:cNvPr id="7" name="Callout box 1"/>
          <p:cNvSpPr/>
          <p:nvPr/>
        </p:nvSpPr>
        <p:spPr>
          <a:xfrm>
            <a:off x="723152" y="2254976"/>
            <a:ext cx="7469097" cy="383926"/>
          </a:xfrm>
          <a:prstGeom prst="roundRect">
            <a:avLst>
              <a:gd name="adj" fmla="val 11909"/>
            </a:avLst>
          </a:prstGeom>
          <a:ln w="25400">
            <a:solidFill>
              <a:srgbClr val="D97706"/>
            </a:solidFill>
            <a:prstDash val="solid"/>
          </a:ln>
        </p:spPr>
      </p:sp>
      <p:sp>
        <p:nvSpPr>
          <p:cNvPr id="8" name="Callout box 2"/>
          <p:cNvSpPr/>
          <p:nvPr/>
        </p:nvSpPr>
        <p:spPr>
          <a:xfrm>
            <a:off x="723152" y="3022827"/>
            <a:ext cx="7469097" cy="383926"/>
          </a:xfrm>
          <a:prstGeom prst="roundRect">
            <a:avLst>
              <a:gd name="adj" fmla="val 11909"/>
            </a:avLst>
          </a:prstGeom>
          <a:ln w="25400">
            <a:solidFill>
              <a:srgbClr val="D97706"/>
            </a:solidFill>
            <a:prstDash val="solid"/>
          </a:ln>
        </p:spPr>
      </p:sp>
      <p:sp>
        <p:nvSpPr>
          <p:cNvPr id="9" name="Callout box 3"/>
          <p:cNvSpPr/>
          <p:nvPr/>
        </p:nvSpPr>
        <p:spPr>
          <a:xfrm>
            <a:off x="723152" y="3790678"/>
            <a:ext cx="7469097" cy="715498"/>
          </a:xfrm>
          <a:prstGeom prst="roundRect">
            <a:avLst>
              <a:gd name="adj" fmla="val 6390"/>
            </a:avLst>
          </a:prstGeom>
          <a:ln w="25400">
            <a:solidFill>
              <a:srgbClr val="D97706"/>
            </a:solidFill>
            <a:prstDash val="solid"/>
          </a:ln>
        </p:spPr>
      </p:sp>
      <p:sp>
        <p:nvSpPr>
          <p:cNvPr id="10" name="Callout box 4"/>
          <p:cNvSpPr/>
          <p:nvPr/>
        </p:nvSpPr>
        <p:spPr>
          <a:xfrm>
            <a:off x="723152" y="4959906"/>
            <a:ext cx="709681" cy="383926"/>
          </a:xfrm>
          <a:prstGeom prst="roundRect">
            <a:avLst>
              <a:gd name="adj" fmla="val 11909"/>
            </a:avLst>
          </a:prstGeom>
          <a:ln w="25400">
            <a:solidFill>
              <a:srgbClr val="D97706"/>
            </a:solidFill>
            <a:prstDash val="solid"/>
          </a:ln>
        </p:spPr>
      </p:sp>
      <p:sp>
        <p:nvSpPr>
          <p:cNvPr id="11" name="Callout 1"/>
          <p:cNvSpPr txBox="1"/>
          <p:nvPr/>
        </p:nvSpPr>
        <p:spPr>
          <a:xfrm>
            <a:off x="7661896" y="2318922"/>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2" name="Callout 2"/>
          <p:cNvSpPr txBox="1"/>
          <p:nvPr/>
        </p:nvSpPr>
        <p:spPr>
          <a:xfrm>
            <a:off x="7661896" y="308677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Callout 3"/>
          <p:cNvSpPr txBox="1"/>
          <p:nvPr/>
        </p:nvSpPr>
        <p:spPr>
          <a:xfrm>
            <a:off x="7661896" y="402041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Callout 4"/>
          <p:cNvSpPr txBox="1"/>
          <p:nvPr/>
        </p:nvSpPr>
        <p:spPr>
          <a:xfrm>
            <a:off x="595136" y="4667298"/>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5"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3"/>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Employee.</a:t>
            </a:r>
            <a:endParaRPr lang="en-US" sz="1400" dirty="0"/>
          </a:p>
        </p:txBody>
      </p:sp>
      <p:sp>
        <p:nvSpPr>
          <p:cNvPr id="18" name="Callout 2"/>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5"/>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Template.</a:t>
            </a:r>
            <a:endParaRPr lang="en-US" sz="1400" dirty="0"/>
          </a:p>
        </p:txBody>
      </p:sp>
      <p:sp>
        <p:nvSpPr>
          <p:cNvPr id="20" name="Callout 3"/>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7"/>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Extra fields.</a:t>
            </a:r>
            <a:endParaRPr lang="en-US" sz="1400" dirty="0"/>
          </a:p>
        </p:txBody>
      </p:sp>
      <p:sp>
        <p:nvSpPr>
          <p:cNvPr id="22" name="Callout 4"/>
          <p:cNvSpPr txBox="1"/>
          <p:nvPr/>
        </p:nvSpPr>
        <p:spPr>
          <a:xfrm>
            <a:off x="8595360" y="299008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9"/>
          <p:cNvSpPr txBox="1"/>
          <p:nvPr/>
        </p:nvSpPr>
        <p:spPr>
          <a:xfrm>
            <a:off x="9006840" y="2971800"/>
            <a:ext cx="2636215" cy="329184"/>
          </a:xfrm>
          <a:prstGeom prst="rect">
            <a:avLst/>
          </a:prstGeom>
          <a:noFill/>
          <a:ln/>
        </p:spPr>
        <p:txBody>
          <a:bodyPr wrap="square" lIns="0" tIns="0" rIns="0" bIns="0" rtlCol="0" anchor="t"/>
          <a:lstStyle/>
          <a:p>
            <a:pPr indent="0" marL="0">
              <a:buNone/>
            </a:pPr>
            <a:r>
              <a:rPr lang="en-US" sz="1400" dirty="0">
                <a:solidFill>
                  <a:schemeClr val="tx1"/>
                </a:solidFill>
              </a:rPr>
              <a:t>Submit.</a:t>
            </a:r>
            <a:endParaRPr lang="en-US" sz="1400" dirty="0"/>
          </a:p>
        </p:txBody>
      </p:sp>
      <p:sp>
        <p:nvSpPr>
          <p:cNvPr id="24" name="Shape 20"/>
          <p:cNvSpPr/>
          <p:nvPr/>
        </p:nvSpPr>
        <p:spPr>
          <a:xfrm>
            <a:off x="8595360" y="3429000"/>
            <a:ext cx="3047695" cy="1206119"/>
          </a:xfrm>
          <a:prstGeom prst="roundRect">
            <a:avLst>
              <a:gd name="adj" fmla="val 6065"/>
            </a:avLst>
          </a:prstGeom>
          <a:solidFill>
            <a:srgbClr val="F4F5F8"/>
          </a:solidFill>
          <a:ln w="12700">
            <a:solidFill>
              <a:srgbClr val="F4F5F8"/>
            </a:solidFill>
            <a:prstDash val="solid"/>
          </a:ln>
        </p:spPr>
      </p:sp>
      <p:sp>
        <p:nvSpPr>
          <p:cNvPr id="25" name="Text 21"/>
          <p:cNvSpPr txBox="1"/>
          <p:nvPr/>
        </p:nvSpPr>
        <p:spPr>
          <a:xfrm>
            <a:off x="8732520" y="352044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Merge fields come from the employee record. Templates marked "needs approval" go to Pending approval; others are ready to issue.</a:t>
            </a:r>
            <a:endParaRPr lang="en-US" sz="1050" dirty="0"/>
          </a:p>
        </p:txBody>
      </p:sp>
      <p:sp>
        <p:nvSpPr>
          <p:cNvPr id="26" name="Text 2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Neha Kapoor (HR Manager + Employee) · Letters › Generate letter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LETTERS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Pending approval and issued</a:t>
            </a:r>
            <a:endParaRPr lang="en-US" sz="2800" dirty="0"/>
          </a:p>
        </p:txBody>
      </p:sp>
      <p:pic>
        <p:nvPicPr>
          <p:cNvPr id="5" name="Screenshot hr-admin/52-let-03-pending" descr="Screenshot: Letters (list) (Neha Kapoor,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2"/>
          <p:cNvSpPr/>
          <p:nvPr/>
        </p:nvSpPr>
        <p:spPr>
          <a:xfrm>
            <a:off x="2529942" y="2698902"/>
            <a:ext cx="1076960" cy="204622"/>
          </a:xfrm>
          <a:prstGeom prst="roundRect">
            <a:avLst>
              <a:gd name="adj" fmla="val 22344"/>
            </a:avLst>
          </a:prstGeom>
          <a:ln w="25400">
            <a:solidFill>
              <a:srgbClr val="D97706"/>
            </a:solidFill>
            <a:prstDash val="solid"/>
          </a:ln>
        </p:spPr>
      </p:sp>
      <p:sp>
        <p:nvSpPr>
          <p:cNvPr id="8" name="Callout 1"/>
          <p:cNvSpPr txBox="1"/>
          <p:nvPr/>
        </p:nvSpPr>
        <p:spPr>
          <a:xfrm>
            <a:off x="2219046" y="2673198"/>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Bullet"/>
          <p:cNvSpPr/>
          <p:nvPr/>
        </p:nvSpPr>
        <p:spPr>
          <a:xfrm>
            <a:off x="8686800" y="1965960"/>
            <a:ext cx="109728" cy="109728"/>
          </a:xfrm>
          <a:prstGeom prst="ellipse">
            <a:avLst/>
          </a:prstGeom>
          <a:solidFill>
            <a:srgbClr val="8A90A2"/>
          </a:solidFill>
          <a:ln w="12700">
            <a:solidFill>
              <a:srgbClr val="8A90A2"/>
            </a:solidFill>
            <a:prstDash val="solid"/>
          </a:ln>
        </p:spPr>
      </p:sp>
      <p:sp>
        <p:nvSpPr>
          <p:cNvPr id="11" name="Text 7"/>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Pending approval (a no-objection certificate).</a:t>
            </a:r>
            <a:endParaRPr lang="en-US" sz="1400" dirty="0"/>
          </a:p>
        </p:txBody>
      </p:sp>
      <p:sp>
        <p:nvSpPr>
          <p:cNvPr id="12" name="Callout 1"/>
          <p:cNvSpPr txBox="1"/>
          <p:nvPr/>
        </p:nvSpPr>
        <p:spPr>
          <a:xfrm>
            <a:off x="8595360" y="24363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2418080"/>
            <a:ext cx="2636215" cy="329184"/>
          </a:xfrm>
          <a:prstGeom prst="rect">
            <a:avLst/>
          </a:prstGeom>
          <a:noFill/>
          <a:ln/>
        </p:spPr>
        <p:txBody>
          <a:bodyPr wrap="square" lIns="0" tIns="0" rIns="0" bIns="0" rtlCol="0" anchor="t"/>
          <a:lstStyle/>
          <a:p>
            <a:pPr indent="0" marL="0">
              <a:buNone/>
            </a:pPr>
            <a:r>
              <a:rPr lang="en-US" sz="1400" dirty="0">
                <a:solidFill>
                  <a:schemeClr val="tx1"/>
                </a:solidFill>
              </a:rPr>
              <a:t>Status tabs.</a:t>
            </a:r>
            <a:endParaRPr lang="en-US" sz="1400" dirty="0"/>
          </a:p>
        </p:txBody>
      </p:sp>
      <p:sp>
        <p:nvSpPr>
          <p:cNvPr id="14" name="Shape 10"/>
          <p:cNvSpPr/>
          <p:nvPr/>
        </p:nvSpPr>
        <p:spPr>
          <a:xfrm>
            <a:off x="8595360" y="2875280"/>
            <a:ext cx="3047695" cy="818769"/>
          </a:xfrm>
          <a:prstGeom prst="roundRect">
            <a:avLst>
              <a:gd name="adj" fmla="val 8934"/>
            </a:avLst>
          </a:prstGeom>
          <a:solidFill>
            <a:srgbClr val="F4F5F8"/>
          </a:solidFill>
          <a:ln w="12700">
            <a:solidFill>
              <a:srgbClr val="F4F5F8"/>
            </a:solidFill>
            <a:prstDash val="solid"/>
          </a:ln>
        </p:spPr>
      </p:sp>
      <p:sp>
        <p:nvSpPr>
          <p:cNvPr id="15" name="Text 11"/>
          <p:cNvSpPr txBox="1"/>
          <p:nvPr/>
        </p:nvSpPr>
        <p:spPr>
          <a:xfrm>
            <a:off x="8732520" y="296672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An employment certificate (no approval needed) was issued straight away.</a:t>
            </a:r>
            <a:endParaRPr lang="en-US" sz="1050" dirty="0"/>
          </a:p>
        </p:txBody>
      </p:sp>
      <p:sp>
        <p:nvSpPr>
          <p:cNvPr id="16" name="Text 1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Neha Kapoor (HR Manager + Employee) · Letters (list)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LETTERS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requester cannot approve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Requester tries to approve</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security-compliance/52-let-04-requester-cannot-approve" descr="Screenshot: Letters › Approve (by the requester)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"Not allowed: The person who requested a letter cannot approve it."</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Letters › Approve (by the requester)</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 second HR person approves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2-let-05-approver-view" descr="Screenshot: Letters › letter (second HR person)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Preview with Approve / Reject.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Letters › letter (second HR person)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LETTERS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Issued, and the employee's copy</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Issued</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2-let-06-issued" descr="Screenshot: Letters › letter (after Approve and Issue)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Issued; Download available.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Letters › letter (after Approve and Issue)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My letters (employee)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employee/52-let-07-my-letters" descr="Screenshot: My letters (Priya Nai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employee sees only their own issued letters. HTML only: no PDF or e-signature yet.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Priya Nair (Employee) · My letters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ASSETS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Asset register</a:t>
            </a:r>
            <a:endParaRPr lang="en-US" sz="2800" dirty="0"/>
          </a:p>
        </p:txBody>
      </p:sp>
      <p:pic>
        <p:nvPicPr>
          <p:cNvPr id="5" name="Screenshot hr-admin/52-ast-01-register" descr="Screenshot: Organisation › Assets › Asset register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7516266" y="2293247"/>
            <a:ext cx="667715" cy="236931"/>
          </a:xfrm>
          <a:prstGeom prst="roundRect">
            <a:avLst>
              <a:gd name="adj" fmla="val 19297"/>
            </a:avLst>
          </a:prstGeom>
          <a:ln w="25400">
            <a:solidFill>
              <a:srgbClr val="D97706"/>
            </a:solidFill>
            <a:prstDash val="solid"/>
          </a:ln>
        </p:spPr>
      </p:sp>
      <p:sp>
        <p:nvSpPr>
          <p:cNvPr id="8" name="Callout box 3"/>
          <p:cNvSpPr/>
          <p:nvPr/>
        </p:nvSpPr>
        <p:spPr>
          <a:xfrm>
            <a:off x="3240735" y="2688133"/>
            <a:ext cx="664125" cy="204622"/>
          </a:xfrm>
          <a:prstGeom prst="roundRect">
            <a:avLst>
              <a:gd name="adj" fmla="val 22344"/>
            </a:avLst>
          </a:prstGeom>
          <a:ln w="25400">
            <a:solidFill>
              <a:srgbClr val="D97706"/>
            </a:solidFill>
            <a:prstDash val="solid"/>
          </a:ln>
        </p:spPr>
      </p:sp>
      <p:sp>
        <p:nvSpPr>
          <p:cNvPr id="9" name="Callout 1"/>
          <p:cNvSpPr txBox="1"/>
          <p:nvPr/>
        </p:nvSpPr>
        <p:spPr>
          <a:xfrm>
            <a:off x="7388250"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Callout 2"/>
          <p:cNvSpPr txBox="1"/>
          <p:nvPr/>
        </p:nvSpPr>
        <p:spPr>
          <a:xfrm>
            <a:off x="3112719" y="2395525"/>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2"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Receive asset.</a:t>
            </a:r>
            <a:endParaRPr lang="en-US" sz="1400" dirty="0"/>
          </a:p>
        </p:txBody>
      </p:sp>
      <p:sp>
        <p:nvSpPr>
          <p:cNvPr id="14" name="Bullet"/>
          <p:cNvSpPr/>
          <p:nvPr/>
        </p:nvSpPr>
        <p:spPr>
          <a:xfrm>
            <a:off x="8686800" y="2331720"/>
            <a:ext cx="109728" cy="109728"/>
          </a:xfrm>
          <a:prstGeom prst="ellipse">
            <a:avLst/>
          </a:prstGeom>
          <a:solidFill>
            <a:srgbClr val="8A90A2"/>
          </a:solidFill>
          <a:ln w="12700">
            <a:solidFill>
              <a:srgbClr val="8A90A2"/>
            </a:solidFill>
            <a:prstDash val="solid"/>
          </a:ln>
        </p:spPr>
      </p:sp>
      <p:sp>
        <p:nvSpPr>
          <p:cNvPr id="15" name="Text 11"/>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A spare laptop in stock.</a:t>
            </a:r>
            <a:endParaRPr lang="en-US" sz="1400" dirty="0"/>
          </a:p>
        </p:txBody>
      </p:sp>
      <p:sp>
        <p:nvSpPr>
          <p:cNvPr id="16" name="Callout 2"/>
          <p:cNvSpPr txBox="1"/>
          <p:nvPr/>
        </p:nvSpPr>
        <p:spPr>
          <a:xfrm>
            <a:off x="8595360" y="262432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txBox="1"/>
          <p:nvPr/>
        </p:nvSpPr>
        <p:spPr>
          <a:xfrm>
            <a:off x="9006840" y="2606040"/>
            <a:ext cx="2636215" cy="329184"/>
          </a:xfrm>
          <a:prstGeom prst="rect">
            <a:avLst/>
          </a:prstGeom>
          <a:noFill/>
          <a:ln/>
        </p:spPr>
        <p:txBody>
          <a:bodyPr wrap="square" lIns="0" tIns="0" rIns="0" bIns="0" rtlCol="0" anchor="t"/>
          <a:lstStyle/>
          <a:p>
            <a:pPr indent="0" marL="0">
              <a:buNone/>
            </a:pPr>
            <a:r>
              <a:rPr lang="en-US" sz="1400" dirty="0">
                <a:solidFill>
                  <a:schemeClr val="tx1"/>
                </a:solidFill>
              </a:rPr>
              <a:t>Status tabs.</a:t>
            </a:r>
            <a:endParaRPr lang="en-US" sz="1400" dirty="0"/>
          </a:p>
        </p:txBody>
      </p:sp>
      <p:sp>
        <p:nvSpPr>
          <p:cNvPr id="18" name="Shape 14"/>
          <p:cNvSpPr/>
          <p:nvPr/>
        </p:nvSpPr>
        <p:spPr>
          <a:xfrm>
            <a:off x="8595360" y="3063240"/>
            <a:ext cx="3047695" cy="818769"/>
          </a:xfrm>
          <a:prstGeom prst="roundRect">
            <a:avLst>
              <a:gd name="adj" fmla="val 8934"/>
            </a:avLst>
          </a:prstGeom>
          <a:solidFill>
            <a:srgbClr val="F4F5F8"/>
          </a:solidFill>
          <a:ln w="12700">
            <a:solidFill>
              <a:srgbClr val="F4F5F8"/>
            </a:solidFill>
            <a:prstDash val="solid"/>
          </a:ln>
        </p:spPr>
      </p:sp>
      <p:sp>
        <p:nvSpPr>
          <p:cNvPr id="19" name="Text 15"/>
          <p:cNvSpPr txBox="1"/>
          <p:nvPr/>
        </p:nvSpPr>
        <p:spPr>
          <a:xfrm>
            <a:off x="8732520" y="315468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Tag, category, serial, status, custodian, location and warranty.</a:t>
            </a:r>
            <a:endParaRPr lang="en-US" sz="1050" dirty="0"/>
          </a:p>
        </p:txBody>
      </p:sp>
      <p:sp>
        <p:nvSpPr>
          <p:cNvPr id="20" name="Text 1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Organisation › Assets › Asset register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ASSETS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Assign an asset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Assign</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2-ast-02-assign" descr="Screenshot: Asset register › LT-0004 › Assign (Kavya Menon, fictional data)">    </p:cNvPr>
          <p:cNvPicPr>
            <a:picLocks noChangeAspect="1"/>
          </p:cNvPicPr>
          <p:nvPr/>
        </p:nvPicPr>
        <p:blipFill>
          <a:blip r:embed="rId1"/>
          <a:stretch>
            <a:fillRect/>
          </a:stretch>
        </p:blipFill>
        <p:spPr>
          <a:xfrm>
            <a:off x="632959" y="1755648"/>
            <a:ext cx="5195689" cy="3429000"/>
          </a:xfrm>
          <a:prstGeom prst="rect">
            <a:avLst/>
          </a:prstGeom>
        </p:spPr>
      </p:pic>
      <p:sp>
        <p:nvSpPr>
          <p:cNvPr id="8" name="Screenshot frame"/>
          <p:cNvSpPr/>
          <p:nvPr/>
        </p:nvSpPr>
        <p:spPr>
          <a:xfrm>
            <a:off x="632959" y="1755648"/>
            <a:ext cx="5195689"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Employee, condition and a note: custody is recorded.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Asset register › LT-0004 › Assign</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Assigned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2-ast-03-assigned" descr="Screenshot: Asset register › LT-0004 (after Assign)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"Asset assigned": LT-0004 to Tanvi Joshi; custody history from today.</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Asset register › LT-0004 (after Assign)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ASSETS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employee's My assets</a:t>
            </a:r>
            <a:endParaRPr lang="en-US" sz="2800" dirty="0"/>
          </a:p>
        </p:txBody>
      </p:sp>
      <p:pic>
        <p:nvPicPr>
          <p:cNvPr id="5" name="Screenshot employee/52-ast-04-my-assets" descr="Screenshot: My assets (Priya Nair,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319949"/>
            <a:ext cx="6074054" cy="477452"/>
          </a:xfrm>
          <a:prstGeom prst="roundRect">
            <a:avLst>
              <a:gd name="adj" fmla="val 9576"/>
            </a:avLst>
          </a:prstGeom>
          <a:ln w="25400">
            <a:solidFill>
              <a:srgbClr val="D97706"/>
            </a:solidFill>
            <a:prstDash val="solid"/>
          </a:ln>
        </p:spPr>
      </p:sp>
      <p:sp>
        <p:nvSpPr>
          <p:cNvPr id="8" name="Callout 1"/>
          <p:cNvSpPr txBox="1"/>
          <p:nvPr/>
        </p:nvSpPr>
        <p:spPr>
          <a:xfrm>
            <a:off x="1799031" y="343065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My laptop.</a:t>
            </a:r>
            <a:endParaRPr lang="en-US" sz="1400" dirty="0"/>
          </a:p>
        </p:txBody>
      </p:sp>
      <p:sp>
        <p:nvSpPr>
          <p:cNvPr id="12" name="Shape 8"/>
          <p:cNvSpPr/>
          <p:nvPr/>
        </p:nvSpPr>
        <p:spPr>
          <a:xfrm>
            <a:off x="8595360" y="2331720"/>
            <a:ext cx="3047695" cy="818769"/>
          </a:xfrm>
          <a:prstGeom prst="roundRect">
            <a:avLst>
              <a:gd name="adj" fmla="val 8934"/>
            </a:avLst>
          </a:prstGeom>
          <a:solidFill>
            <a:srgbClr val="F4F5F8"/>
          </a:solidFill>
          <a:ln w="12700">
            <a:solidFill>
              <a:srgbClr val="F4F5F8"/>
            </a:solidFill>
            <a:prstDash val="solid"/>
          </a:ln>
        </p:spPr>
      </p:sp>
      <p:sp>
        <p:nvSpPr>
          <p:cNvPr id="13" name="Text 9"/>
          <p:cNvSpPr txBox="1"/>
          <p:nvPr/>
        </p:nvSpPr>
        <p:spPr>
          <a:xfrm>
            <a:off x="8732520" y="242316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Only the assets in their custody; the employee acknowledges receipt.</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Priya Nair (Employee) · My assets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HR REQUESTS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 employee raises a request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Ask HR</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employee/52-tkt-01-ask-hr" descr="Screenshot: My HR › Ask HR (Rahul Sharma, fictional data)">    </p:cNvPr>
          <p:cNvPicPr>
            <a:picLocks noChangeAspect="1"/>
          </p:cNvPicPr>
          <p:nvPr/>
        </p:nvPicPr>
        <p:blipFill>
          <a:blip r:embed="rId1"/>
          <a:stretch>
            <a:fillRect/>
          </a:stretch>
        </p:blipFill>
        <p:spPr>
          <a:xfrm>
            <a:off x="582197" y="1755648"/>
            <a:ext cx="5297214" cy="3429000"/>
          </a:xfrm>
          <a:prstGeom prst="rect">
            <a:avLst/>
          </a:prstGeom>
        </p:spPr>
      </p:pic>
      <p:sp>
        <p:nvSpPr>
          <p:cNvPr id="8" name="Screenshot frame"/>
          <p:cNvSpPr/>
          <p:nvPr/>
        </p:nvSpPr>
        <p:spPr>
          <a:xfrm>
            <a:off x="582197" y="1755648"/>
            <a:ext cx="5297214"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request goes to the HR queue with an SLA from its category.</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Rahul Sharma (Employee) · My HR › Ask HR</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Raised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employee/52-tkt-02-raised" descr="Screenshot: My HR (after submitting) (Rahul Sharma,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"Request TKT-2026-00003 raised"; listed as Submitted.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Rahul Sharma (Employee) · My HR (after submitting)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HR REQUESTS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HR queue</a:t>
            </a:r>
            <a:endParaRPr lang="en-US" sz="2800" dirty="0"/>
          </a:p>
        </p:txBody>
      </p:sp>
      <p:pic>
        <p:nvPicPr>
          <p:cNvPr id="5" name="Screenshot hr-admin/52-tkt-03-hr-queue" descr="Screenshot: Services › Service Desk › HR queue (Neha Kapoor,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2"/>
          <p:cNvSpPr/>
          <p:nvPr/>
        </p:nvSpPr>
        <p:spPr>
          <a:xfrm>
            <a:off x="6658288" y="3258922"/>
            <a:ext cx="732333" cy="326678"/>
          </a:xfrm>
          <a:prstGeom prst="roundRect">
            <a:avLst>
              <a:gd name="adj" fmla="val 13995"/>
            </a:avLst>
          </a:prstGeom>
          <a:ln w="25400">
            <a:solidFill>
              <a:srgbClr val="D97706"/>
            </a:solidFill>
            <a:prstDash val="solid"/>
          </a:ln>
        </p:spPr>
      </p:sp>
      <p:sp>
        <p:nvSpPr>
          <p:cNvPr id="8" name="Callout 1"/>
          <p:cNvSpPr txBox="1"/>
          <p:nvPr/>
        </p:nvSpPr>
        <p:spPr>
          <a:xfrm>
            <a:off x="6530272" y="2966314"/>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Bullet"/>
          <p:cNvSpPr/>
          <p:nvPr/>
        </p:nvSpPr>
        <p:spPr>
          <a:xfrm>
            <a:off x="8686800" y="1965960"/>
            <a:ext cx="109728" cy="109728"/>
          </a:xfrm>
          <a:prstGeom prst="ellipse">
            <a:avLst/>
          </a:prstGeom>
          <a:solidFill>
            <a:srgbClr val="8A90A2"/>
          </a:solidFill>
          <a:ln w="12700">
            <a:solidFill>
              <a:srgbClr val="8A90A2"/>
            </a:solidFill>
            <a:prstDash val="solid"/>
          </a:ln>
        </p:spPr>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New request.</a:t>
            </a:r>
            <a:endParaRPr lang="en-US" sz="1400" dirty="0"/>
          </a:p>
        </p:txBody>
      </p:sp>
      <p:sp>
        <p:nvSpPr>
          <p:cNvPr id="12" name="Callout 1"/>
          <p:cNvSpPr txBox="1"/>
          <p:nvPr/>
        </p:nvSpPr>
        <p:spPr>
          <a:xfrm>
            <a:off x="8595360" y="225856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9006840" y="2240280"/>
            <a:ext cx="2636215" cy="329184"/>
          </a:xfrm>
          <a:prstGeom prst="rect">
            <a:avLst/>
          </a:prstGeom>
          <a:noFill/>
          <a:ln/>
        </p:spPr>
        <p:txBody>
          <a:bodyPr wrap="square" lIns="0" tIns="0" rIns="0" bIns="0" rtlCol="0" anchor="t"/>
          <a:lstStyle/>
          <a:p>
            <a:pPr indent="0" marL="0">
              <a:buNone/>
            </a:pPr>
            <a:r>
              <a:rPr lang="en-US" sz="1400" dirty="0">
                <a:solidFill>
                  <a:schemeClr val="tx1"/>
                </a:solidFill>
              </a:rPr>
              <a:t>SLA due.</a:t>
            </a:r>
            <a:endParaRPr lang="en-US" sz="1400" dirty="0"/>
          </a:p>
        </p:txBody>
      </p:sp>
      <p:sp>
        <p:nvSpPr>
          <p:cNvPr id="14" name="Shape 10"/>
          <p:cNvSpPr/>
          <p:nvPr/>
        </p:nvSpPr>
        <p:spPr>
          <a:xfrm>
            <a:off x="8595360" y="2697480"/>
            <a:ext cx="3047695" cy="818769"/>
          </a:xfrm>
          <a:prstGeom prst="roundRect">
            <a:avLst>
              <a:gd name="adj" fmla="val 8934"/>
            </a:avLst>
          </a:prstGeom>
          <a:solidFill>
            <a:srgbClr val="F4F5F8"/>
          </a:solidFill>
          <a:ln w="12700">
            <a:solidFill>
              <a:srgbClr val="F4F5F8"/>
            </a:solidFill>
            <a:prstDash val="solid"/>
          </a:ln>
        </p:spPr>
      </p:sp>
      <p:sp>
        <p:nvSpPr>
          <p:cNvPr id="15" name="Text 11"/>
          <p:cNvSpPr txBox="1"/>
          <p:nvPr/>
        </p:nvSpPr>
        <p:spPr>
          <a:xfrm>
            <a:off x="8732520" y="278892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Category, requester, priority, status, assignee and SLA due date.</a:t>
            </a:r>
            <a:endParaRPr lang="en-US" sz="1050" dirty="0"/>
          </a:p>
        </p:txBody>
      </p:sp>
      <p:sp>
        <p:nvSpPr>
          <p:cNvPr id="16" name="Text 1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Neha Kapoor (HR Manager + Employee) · Services › Service Desk › HR queue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HR REQUESTS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Take it, reply, resolve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Reply</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52-tkt-04-reply" descr="Screenshot: HR queue › request › Reply (Neha Kapoor, fictional data)">    </p:cNvPr>
          <p:cNvPicPr>
            <a:picLocks noChangeAspect="1"/>
          </p:cNvPicPr>
          <p:nvPr/>
        </p:nvPicPr>
        <p:blipFill>
          <a:blip r:embed="rId1"/>
          <a:stretch>
            <a:fillRect/>
          </a:stretch>
        </p:blipFill>
        <p:spPr>
          <a:xfrm>
            <a:off x="548640" y="1755648"/>
            <a:ext cx="5364328" cy="3161122"/>
          </a:xfrm>
          <a:prstGeom prst="rect">
            <a:avLst/>
          </a:prstGeom>
        </p:spPr>
      </p:pic>
      <p:sp>
        <p:nvSpPr>
          <p:cNvPr id="8" name="Screenshot frame"/>
          <p:cNvSpPr/>
          <p:nvPr/>
        </p:nvSpPr>
        <p:spPr>
          <a:xfrm>
            <a:off x="548640" y="1755648"/>
            <a:ext cx="5364328" cy="3161122"/>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reply is added to the conversation the employee sees.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HR queue › request › Reply</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Resolved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52-tkt-05-resolved" descr="Screenshot: HR queue › request (after Take it, Reply, Resolve) (Neha Kapoo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Assignee, SLA and conversation kept on the request.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HR queue › request (after Take it, Reply, Resolve)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HR REQUESTS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the employee sees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My requests (Resolved tab)</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employee/52-tkt-06-my-requests" descr="Screenshot: My requests (filter cleared, Resolved tab) (Rahul Sharma,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Tip: My requests opens with a status filter that hides Resolved; clear it to see answered requests.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Rahul Sharma (Employee) · My requests (filter cleared, Resolved tab)</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The answer</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employee/52-tkt-07-request-answer" descr="Screenshot: My requests › TKT request (Rahul Sharma,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HR's resolution and the conversation; the employee can close and rate, or reopen.</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Rahul Sharma (Employee) · My requests › TKT request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13</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Exit, full &amp; final, alumni</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From resignation to a lifetime alumni record.</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Take a leaver through exit</a:t>
            </a:r>
            <a:endParaRPr lang="en-US" sz="2800" dirty="0"/>
          </a:p>
        </p:txBody>
      </p:sp>
      <p:sp>
        <p:nvSpPr>
          <p:cNvPr id="5" name="Text 2"/>
          <p:cNvSpPr txBox="1"/>
          <p:nvPr/>
        </p:nvSpPr>
        <p:spPr>
          <a:xfrm>
            <a:off x="548640" y="1463040"/>
            <a:ext cx="6949440" cy="1143000"/>
          </a:xfrm>
          <a:prstGeom prst="rect">
            <a:avLst/>
          </a:prstGeom>
          <a:noFill/>
          <a:ln/>
        </p:spPr>
        <p:txBody>
          <a:bodyPr wrap="square" lIns="0" tIns="0" rIns="0" bIns="0" rtlCol="0" anchor="t"/>
          <a:lstStyle/>
          <a:p>
            <a:pPr indent="0" marL="0">
              <a:buNone/>
            </a:pPr>
            <a:r>
              <a:rPr lang="en-US" sz="2000" dirty="0">
                <a:solidFill>
                  <a:schemeClr val="tx2"/>
                </a:solidFill>
                <a:latin typeface="Cambria" pitchFamily="34" charset="0"/>
                <a:ea typeface="Cambria" pitchFamily="34" charset="-122"/>
                <a:cs typeface="Cambria" pitchFamily="34" charset="-120"/>
              </a:rPr>
              <a:t>Record the resignation, clear every stage, settle full &amp; final, complete the exit and keep the person as an alumnus.</a:t>
            </a:r>
            <a:endParaRPr lang="en-US" sz="2000" dirty="0"/>
          </a:p>
        </p:txBody>
      </p:sp>
      <p:sp>
        <p:nvSpPr>
          <p:cNvPr id="6" name="Shape 3"/>
          <p:cNvSpPr/>
          <p:nvPr/>
        </p:nvSpPr>
        <p:spPr>
          <a:xfrm>
            <a:off x="548640" y="2788920"/>
            <a:ext cx="3576218" cy="1600200"/>
          </a:xfrm>
          <a:prstGeom prst="roundRect">
            <a:avLst>
              <a:gd name="adj" fmla="val 5714"/>
            </a:avLst>
          </a:prstGeom>
          <a:solidFill>
            <a:srgbClr val="F4F5F8"/>
          </a:solidFill>
          <a:ln w="12700">
            <a:solidFill>
              <a:srgbClr val="F4F5F8"/>
            </a:solidFill>
            <a:prstDash val="solid"/>
          </a:ln>
        </p:spPr>
      </p:sp>
      <p:sp>
        <p:nvSpPr>
          <p:cNvPr id="7" name="Text 4"/>
          <p:cNvSpPr txBox="1"/>
          <p:nvPr/>
        </p:nvSpPr>
        <p:spPr>
          <a:xfrm>
            <a:off x="777240"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WHO</a:t>
            </a:r>
            <a:endParaRPr lang="en-US" sz="1100" dirty="0"/>
          </a:p>
        </p:txBody>
      </p:sp>
      <p:sp>
        <p:nvSpPr>
          <p:cNvPr id="8" name="Text 5"/>
          <p:cNvSpPr txBox="1"/>
          <p:nvPr/>
        </p:nvSpPr>
        <p:spPr>
          <a:xfrm>
            <a:off x="777240"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employee resigns; the manager and HR clear stages; HR settles and completes.</a:t>
            </a:r>
            <a:endParaRPr lang="en-US" sz="1400" dirty="0"/>
          </a:p>
        </p:txBody>
      </p:sp>
      <p:sp>
        <p:nvSpPr>
          <p:cNvPr id="9" name="Shape 6"/>
          <p:cNvSpPr/>
          <p:nvPr/>
        </p:nvSpPr>
        <p:spPr>
          <a:xfrm>
            <a:off x="4307738" y="2788920"/>
            <a:ext cx="3576218" cy="1600200"/>
          </a:xfrm>
          <a:prstGeom prst="roundRect">
            <a:avLst>
              <a:gd name="adj" fmla="val 5714"/>
            </a:avLst>
          </a:prstGeom>
          <a:solidFill>
            <a:srgbClr val="F4F5F8"/>
          </a:solidFill>
          <a:ln w="12700">
            <a:solidFill>
              <a:srgbClr val="F4F5F8"/>
            </a:solidFill>
            <a:prstDash val="solid"/>
          </a:ln>
        </p:spPr>
      </p:sp>
      <p:sp>
        <p:nvSpPr>
          <p:cNvPr id="10" name="Text 7"/>
          <p:cNvSpPr txBox="1"/>
          <p:nvPr/>
        </p:nvSpPr>
        <p:spPr>
          <a:xfrm>
            <a:off x="4536338"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WHERE</a:t>
            </a:r>
            <a:endParaRPr lang="en-US" sz="1100" dirty="0"/>
          </a:p>
        </p:txBody>
      </p:sp>
      <p:sp>
        <p:nvSpPr>
          <p:cNvPr id="11" name="Text 8"/>
          <p:cNvSpPr txBox="1"/>
          <p:nvPr/>
        </p:nvSpPr>
        <p:spPr>
          <a:xfrm>
            <a:off x="4536338"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You › My exit; People › Lifecycle › Exit cases; Alumni</a:t>
            </a:r>
            <a:endParaRPr lang="en-US" sz="1400" dirty="0"/>
          </a:p>
        </p:txBody>
      </p:sp>
      <p:sp>
        <p:nvSpPr>
          <p:cNvPr id="12" name="Shape 9"/>
          <p:cNvSpPr/>
          <p:nvPr/>
        </p:nvSpPr>
        <p:spPr>
          <a:xfrm>
            <a:off x="8066837" y="2788920"/>
            <a:ext cx="3576218" cy="1600200"/>
          </a:xfrm>
          <a:prstGeom prst="roundRect">
            <a:avLst>
              <a:gd name="adj" fmla="val 5714"/>
            </a:avLst>
          </a:prstGeom>
          <a:solidFill>
            <a:srgbClr val="F4F5F8"/>
          </a:solidFill>
          <a:ln w="12700">
            <a:solidFill>
              <a:srgbClr val="F4F5F8"/>
            </a:solidFill>
            <a:prstDash val="solid"/>
          </a:ln>
        </p:spPr>
      </p:sp>
      <p:sp>
        <p:nvSpPr>
          <p:cNvPr id="13" name="Text 10"/>
          <p:cNvSpPr txBox="1"/>
          <p:nvPr/>
        </p:nvSpPr>
        <p:spPr>
          <a:xfrm>
            <a:off x="8295437" y="2926080"/>
            <a:ext cx="3119018"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BEFORE YOU START</a:t>
            </a:r>
            <a:endParaRPr lang="en-US" sz="1100" dirty="0"/>
          </a:p>
        </p:txBody>
      </p:sp>
      <p:sp>
        <p:nvSpPr>
          <p:cNvPr id="14" name="Text 11"/>
          <p:cNvSpPr txBox="1"/>
          <p:nvPr/>
        </p:nvSpPr>
        <p:spPr>
          <a:xfrm>
            <a:off x="8295437" y="3246120"/>
            <a:ext cx="311901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Assets in the leaver's custody must be taken back first.</a:t>
            </a:r>
            <a:endParaRPr lang="en-US" sz="1400" dirty="0"/>
          </a:p>
        </p:txBody>
      </p:sp>
      <p:sp>
        <p:nvSpPr>
          <p:cNvPr id="15" name="Status"/>
          <p:cNvSpPr txBox="1"/>
          <p:nvPr/>
        </p:nvSpPr>
        <p:spPr>
          <a:xfrm>
            <a:off x="8351215" y="1508760"/>
            <a:ext cx="329184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6" name="Shape 13"/>
          <p:cNvSpPr/>
          <p:nvPr/>
        </p:nvSpPr>
        <p:spPr>
          <a:xfrm>
            <a:off x="548640" y="4709160"/>
            <a:ext cx="1984797" cy="1143000"/>
          </a:xfrm>
          <a:prstGeom prst="roundRect">
            <a:avLst>
              <a:gd name="adj" fmla="val 8000"/>
            </a:avLst>
          </a:prstGeom>
          <a:solidFill>
            <a:srgbClr val="574BC4"/>
          </a:solidFill>
          <a:ln w="15875">
            <a:solidFill>
              <a:srgbClr val="574BC4"/>
            </a:solidFill>
            <a:prstDash val="solid"/>
          </a:ln>
        </p:spPr>
      </p:sp>
      <p:sp>
        <p:nvSpPr>
          <p:cNvPr id="17" name="Text 14"/>
          <p:cNvSpPr txBox="1"/>
          <p:nvPr/>
        </p:nvSpPr>
        <p:spPr>
          <a:xfrm>
            <a:off x="640080" y="4782312"/>
            <a:ext cx="1801917" cy="996696"/>
          </a:xfrm>
          <a:prstGeom prst="rect">
            <a:avLst/>
          </a:prstGeom>
          <a:noFill/>
          <a:ln/>
        </p:spPr>
        <p:txBody>
          <a:bodyPr wrap="square" lIns="0" tIns="0" rIns="0" bIns="0" rtlCol="0" anchor="ctr"/>
          <a:lstStyle/>
          <a:p>
            <a:pPr algn="ctr" indent="0" marL="0">
              <a:buNone/>
            </a:pPr>
            <a:r>
              <a:rPr lang="en-US" sz="1300" b="1" dirty="0">
                <a:solidFill>
                  <a:srgbClr val="FFFFFF"/>
                </a:solidFill>
              </a:rPr>
              <a:t>RESIGN</a:t>
            </a:r>
            <a:endParaRPr lang="en-US" sz="1300" dirty="0"/>
          </a:p>
          <a:p>
            <a:pPr algn="ctr" indent="0" marL="0">
              <a:buNone/>
            </a:pPr>
            <a:r>
              <a:rPr lang="en-US" sz="1100" dirty="0">
                <a:solidFill>
                  <a:srgbClr val="E4E2F7"/>
                </a:solidFill>
              </a:rPr>
              <a:t>employee</a:t>
            </a:r>
            <a:endParaRPr lang="en-US" sz="1300" dirty="0"/>
          </a:p>
        </p:txBody>
      </p:sp>
      <p:sp>
        <p:nvSpPr>
          <p:cNvPr id="18" name="Shape 15"/>
          <p:cNvSpPr/>
          <p:nvPr/>
        </p:nvSpPr>
        <p:spPr>
          <a:xfrm>
            <a:off x="2579157" y="5166360"/>
            <a:ext cx="201168" cy="228600"/>
          </a:xfrm>
          <a:prstGeom prst="rightArrow">
            <a:avLst/>
          </a:prstGeom>
          <a:solidFill>
            <a:srgbClr val="C9A45C"/>
          </a:solidFill>
          <a:ln w="12700">
            <a:solidFill>
              <a:srgbClr val="C9A45C"/>
            </a:solidFill>
            <a:prstDash val="solid"/>
          </a:ln>
        </p:spPr>
      </p:sp>
      <p:sp>
        <p:nvSpPr>
          <p:cNvPr id="19" name="Shape 16"/>
          <p:cNvSpPr/>
          <p:nvPr/>
        </p:nvSpPr>
        <p:spPr>
          <a:xfrm>
            <a:off x="2826045" y="4709160"/>
            <a:ext cx="1984797" cy="1143000"/>
          </a:xfrm>
          <a:prstGeom prst="roundRect">
            <a:avLst>
              <a:gd name="adj" fmla="val 8000"/>
            </a:avLst>
          </a:prstGeom>
          <a:solidFill>
            <a:srgbClr val="FFFFFF"/>
          </a:solidFill>
          <a:ln w="15875">
            <a:solidFill>
              <a:srgbClr val="574BC4"/>
            </a:solidFill>
            <a:prstDash val="solid"/>
          </a:ln>
        </p:spPr>
      </p:sp>
      <p:sp>
        <p:nvSpPr>
          <p:cNvPr id="20" name="Text 17"/>
          <p:cNvSpPr txBox="1"/>
          <p:nvPr/>
        </p:nvSpPr>
        <p:spPr>
          <a:xfrm>
            <a:off x="2917485"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CLEAR</a:t>
            </a:r>
            <a:endParaRPr lang="en-US" sz="1300" dirty="0"/>
          </a:p>
          <a:p>
            <a:pPr algn="ctr" indent="0" marL="0">
              <a:buNone/>
            </a:pPr>
            <a:r>
              <a:rPr lang="en-US" sz="1100" dirty="0">
                <a:solidFill>
                  <a:srgbClr val="5B6275"/>
                </a:solidFill>
              </a:rPr>
              <a:t>manager, assets, HR</a:t>
            </a:r>
            <a:endParaRPr lang="en-US" sz="1300" dirty="0"/>
          </a:p>
        </p:txBody>
      </p:sp>
      <p:sp>
        <p:nvSpPr>
          <p:cNvPr id="21" name="Shape 18"/>
          <p:cNvSpPr/>
          <p:nvPr/>
        </p:nvSpPr>
        <p:spPr>
          <a:xfrm>
            <a:off x="4856561" y="5166360"/>
            <a:ext cx="201168" cy="228600"/>
          </a:xfrm>
          <a:prstGeom prst="rightArrow">
            <a:avLst/>
          </a:prstGeom>
          <a:solidFill>
            <a:srgbClr val="C9A45C"/>
          </a:solidFill>
          <a:ln w="12700">
            <a:solidFill>
              <a:srgbClr val="C9A45C"/>
            </a:solidFill>
            <a:prstDash val="solid"/>
          </a:ln>
        </p:spPr>
      </p:sp>
      <p:sp>
        <p:nvSpPr>
          <p:cNvPr id="22" name="Shape 19"/>
          <p:cNvSpPr/>
          <p:nvPr/>
        </p:nvSpPr>
        <p:spPr>
          <a:xfrm>
            <a:off x="5103449" y="4709160"/>
            <a:ext cx="1984797" cy="1143000"/>
          </a:xfrm>
          <a:prstGeom prst="roundRect">
            <a:avLst>
              <a:gd name="adj" fmla="val 8000"/>
            </a:avLst>
          </a:prstGeom>
          <a:solidFill>
            <a:srgbClr val="FFFFFF"/>
          </a:solidFill>
          <a:ln w="15875">
            <a:solidFill>
              <a:srgbClr val="574BC4"/>
            </a:solidFill>
            <a:prstDash val="solid"/>
          </a:ln>
        </p:spPr>
      </p:sp>
      <p:sp>
        <p:nvSpPr>
          <p:cNvPr id="23" name="Text 20"/>
          <p:cNvSpPr txBox="1"/>
          <p:nvPr/>
        </p:nvSpPr>
        <p:spPr>
          <a:xfrm>
            <a:off x="5194889"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SETTLE</a:t>
            </a:r>
            <a:endParaRPr lang="en-US" sz="1300" dirty="0"/>
          </a:p>
          <a:p>
            <a:pPr algn="ctr" indent="0" marL="0">
              <a:buNone/>
            </a:pPr>
            <a:r>
              <a:rPr lang="en-US" sz="1100" dirty="0">
                <a:solidFill>
                  <a:srgbClr val="5B6275"/>
                </a:solidFill>
              </a:rPr>
              <a:t>full &amp; final</a:t>
            </a:r>
            <a:endParaRPr lang="en-US" sz="1300" dirty="0"/>
          </a:p>
        </p:txBody>
      </p:sp>
      <p:sp>
        <p:nvSpPr>
          <p:cNvPr id="24" name="Shape 21"/>
          <p:cNvSpPr/>
          <p:nvPr/>
        </p:nvSpPr>
        <p:spPr>
          <a:xfrm>
            <a:off x="7133966" y="5166360"/>
            <a:ext cx="201168" cy="228600"/>
          </a:xfrm>
          <a:prstGeom prst="rightArrow">
            <a:avLst/>
          </a:prstGeom>
          <a:solidFill>
            <a:srgbClr val="C9A45C"/>
          </a:solidFill>
          <a:ln w="12700">
            <a:solidFill>
              <a:srgbClr val="C9A45C"/>
            </a:solidFill>
            <a:prstDash val="solid"/>
          </a:ln>
        </p:spPr>
      </p:sp>
      <p:sp>
        <p:nvSpPr>
          <p:cNvPr id="25" name="Shape 22"/>
          <p:cNvSpPr/>
          <p:nvPr/>
        </p:nvSpPr>
        <p:spPr>
          <a:xfrm>
            <a:off x="7380854" y="4709160"/>
            <a:ext cx="1984797" cy="1143000"/>
          </a:xfrm>
          <a:prstGeom prst="roundRect">
            <a:avLst>
              <a:gd name="adj" fmla="val 8000"/>
            </a:avLst>
          </a:prstGeom>
          <a:solidFill>
            <a:srgbClr val="FFFFFF"/>
          </a:solidFill>
          <a:ln w="15875">
            <a:solidFill>
              <a:srgbClr val="574BC4"/>
            </a:solidFill>
            <a:prstDash val="solid"/>
          </a:ln>
        </p:spPr>
      </p:sp>
      <p:sp>
        <p:nvSpPr>
          <p:cNvPr id="26" name="Text 23"/>
          <p:cNvSpPr txBox="1"/>
          <p:nvPr/>
        </p:nvSpPr>
        <p:spPr>
          <a:xfrm>
            <a:off x="7472294"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COMPLETE</a:t>
            </a:r>
            <a:endParaRPr lang="en-US" sz="1300" dirty="0"/>
          </a:p>
          <a:p>
            <a:pPr algn="ctr" indent="0" marL="0">
              <a:buNone/>
            </a:pPr>
            <a:r>
              <a:rPr lang="en-US" sz="1100" dirty="0">
                <a:solidFill>
                  <a:srgbClr val="5B6275"/>
                </a:solidFill>
              </a:rPr>
              <a:t>Exited</a:t>
            </a:r>
            <a:endParaRPr lang="en-US" sz="1300" dirty="0"/>
          </a:p>
        </p:txBody>
      </p:sp>
      <p:sp>
        <p:nvSpPr>
          <p:cNvPr id="27" name="Shape 24"/>
          <p:cNvSpPr/>
          <p:nvPr/>
        </p:nvSpPr>
        <p:spPr>
          <a:xfrm>
            <a:off x="9411371" y="5166360"/>
            <a:ext cx="201168" cy="228600"/>
          </a:xfrm>
          <a:prstGeom prst="rightArrow">
            <a:avLst/>
          </a:prstGeom>
          <a:solidFill>
            <a:srgbClr val="C9A45C"/>
          </a:solidFill>
          <a:ln w="12700">
            <a:solidFill>
              <a:srgbClr val="C9A45C"/>
            </a:solidFill>
            <a:prstDash val="solid"/>
          </a:ln>
        </p:spPr>
      </p:sp>
      <p:sp>
        <p:nvSpPr>
          <p:cNvPr id="28" name="Shape 25"/>
          <p:cNvSpPr/>
          <p:nvPr/>
        </p:nvSpPr>
        <p:spPr>
          <a:xfrm>
            <a:off x="9658259" y="4709160"/>
            <a:ext cx="1984797" cy="1143000"/>
          </a:xfrm>
          <a:prstGeom prst="roundRect">
            <a:avLst>
              <a:gd name="adj" fmla="val 8000"/>
            </a:avLst>
          </a:prstGeom>
          <a:solidFill>
            <a:srgbClr val="FFFFFF"/>
          </a:solidFill>
          <a:ln w="15875">
            <a:solidFill>
              <a:srgbClr val="574BC4"/>
            </a:solidFill>
            <a:prstDash val="solid"/>
          </a:ln>
        </p:spPr>
      </p:sp>
      <p:sp>
        <p:nvSpPr>
          <p:cNvPr id="29" name="Text 26"/>
          <p:cNvSpPr txBox="1"/>
          <p:nvPr/>
        </p:nvSpPr>
        <p:spPr>
          <a:xfrm>
            <a:off x="9749699" y="47823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ALUMNI</a:t>
            </a:r>
            <a:endParaRPr lang="en-US" sz="1300" dirty="0"/>
          </a:p>
          <a:p>
            <a:pPr algn="ctr" indent="0" marL="0">
              <a:buNone/>
            </a:pPr>
            <a:r>
              <a:rPr lang="en-US" sz="1100" dirty="0">
                <a:solidFill>
                  <a:srgbClr val="5B6275"/>
                </a:solidFill>
              </a:rPr>
              <a:t>portal</a:t>
            </a:r>
            <a:endParaRPr lang="en-US" sz="1300" dirty="0"/>
          </a:p>
        </p:txBody>
      </p:sp>
      <p:sp>
        <p:nvSpPr>
          <p:cNvPr id="30" name="Text 27"/>
          <p:cNvSpPr txBox="1"/>
          <p:nvPr/>
        </p:nvSpPr>
        <p:spPr>
          <a:xfrm>
            <a:off x="548640" y="5916168"/>
            <a:ext cx="36576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sequence summary</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employee resigns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Resign</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employee/70-exit-01-resign" descr="Screenshot: My exit › Resign (Rahul Sharma, fictional data)">    </p:cNvPr>
          <p:cNvPicPr>
            <a:picLocks noChangeAspect="1"/>
          </p:cNvPicPr>
          <p:nvPr/>
        </p:nvPicPr>
        <p:blipFill>
          <a:blip r:embed="rId1"/>
          <a:stretch>
            <a:fillRect/>
          </a:stretch>
        </p:blipFill>
        <p:spPr>
          <a:xfrm>
            <a:off x="1682223" y="1755648"/>
            <a:ext cx="3097161" cy="3429000"/>
          </a:xfrm>
          <a:prstGeom prst="rect">
            <a:avLst/>
          </a:prstGeom>
        </p:spPr>
      </p:pic>
      <p:sp>
        <p:nvSpPr>
          <p:cNvPr id="8" name="Screenshot frame"/>
          <p:cNvSpPr/>
          <p:nvPr/>
        </p:nvSpPr>
        <p:spPr>
          <a:xfrm>
            <a:off x="1682223" y="1755648"/>
            <a:ext cx="3097161"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Reason and requested last day; blank = end of the notice period.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Rahul Sharma (Employee) · My exit › Resign</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My exit</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employee/70-exit-02-my-exit" descr="Screenshot: My exit (Rahul Sharma,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exit case with its status and last working day.</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Rahul Sharma (Employee) · My exit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Check the last working day</a:t>
            </a:r>
            <a:endParaRPr lang="en-US" sz="2800" dirty="0"/>
          </a:p>
        </p:txBody>
      </p:sp>
      <p:sp>
        <p:nvSpPr>
          <p:cNvPr id="5" name="Shape 2"/>
          <p:cNvSpPr/>
          <p:nvPr/>
        </p:nvSpPr>
        <p:spPr>
          <a:xfrm>
            <a:off x="548640" y="1463040"/>
            <a:ext cx="5432908" cy="4800600"/>
          </a:xfrm>
          <a:prstGeom prst="roundRect">
            <a:avLst>
              <a:gd name="adj" fmla="val 1905"/>
            </a:avLst>
          </a:prstGeom>
          <a:solidFill>
            <a:srgbClr val="FDF0DD"/>
          </a:solidFill>
          <a:ln w="12700">
            <a:solidFill>
              <a:srgbClr val="FDF0DD"/>
            </a:solidFill>
            <a:prstDash val="solid"/>
          </a:ln>
        </p:spPr>
      </p:sp>
      <p:sp>
        <p:nvSpPr>
          <p:cNvPr id="6" name="Text 3"/>
          <p:cNvSpPr txBox="1"/>
          <p:nvPr/>
        </p:nvSpPr>
        <p:spPr>
          <a:xfrm>
            <a:off x="777240"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Observed in training</a:t>
            </a:r>
            <a:endParaRPr lang="en-US" sz="1600" dirty="0"/>
          </a:p>
        </p:txBody>
      </p:sp>
      <p:sp>
        <p:nvSpPr>
          <p:cNvPr id="7" name="Text 4"/>
          <p:cNvSpPr txBox="1"/>
          <p:nvPr/>
        </p:nvSpPr>
        <p:spPr>
          <a:xfrm>
            <a:off x="777240" y="2084832"/>
            <a:ext cx="4975708" cy="40690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Rahul asked for 18 Dec as his last day; the exit case used the end of his notice period (20 Nov) instead.</a:t>
            </a:r>
            <a:endParaRPr lang="en-US" sz="1600" dirty="0"/>
          </a:p>
        </p:txBody>
      </p:sp>
      <p:sp>
        <p:nvSpPr>
          <p:cNvPr id="8" name="Shape 5"/>
          <p:cNvSpPr/>
          <p:nvPr/>
        </p:nvSpPr>
        <p:spPr>
          <a:xfrm>
            <a:off x="6210148" y="1463040"/>
            <a:ext cx="5432908" cy="4800600"/>
          </a:xfrm>
          <a:prstGeom prst="roundRect">
            <a:avLst>
              <a:gd name="adj" fmla="val 1905"/>
            </a:avLst>
          </a:prstGeom>
          <a:solidFill>
            <a:srgbClr val="ECEAFB"/>
          </a:solidFill>
          <a:ln w="12700">
            <a:solidFill>
              <a:srgbClr val="ECEAFB"/>
            </a:solidFill>
            <a:prstDash val="solid"/>
          </a:ln>
        </p:spPr>
      </p:sp>
      <p:sp>
        <p:nvSpPr>
          <p:cNvPr id="9" name="Text 6"/>
          <p:cNvSpPr txBox="1"/>
          <p:nvPr/>
        </p:nvSpPr>
        <p:spPr>
          <a:xfrm>
            <a:off x="6438748"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What to do</a:t>
            </a:r>
            <a:endParaRPr lang="en-US" sz="1600" dirty="0"/>
          </a:p>
        </p:txBody>
      </p:sp>
      <p:sp>
        <p:nvSpPr>
          <p:cNvPr id="10" name="Text 7"/>
          <p:cNvSpPr txBox="1"/>
          <p:nvPr/>
        </p:nvSpPr>
        <p:spPr>
          <a:xfrm>
            <a:off x="6438748" y="2084832"/>
            <a:ext cx="4975708" cy="40690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Check the last working day on the exit case and correct it before clearance if it differs from the agreed date.</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HR picks up the case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Exit cases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0-exit-03-exit-cases" descr="Screenshot: People › Lifecycle › Exit cases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resignation appears as a new case; HR can also initiate an exit.</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People › Lifecycle › Exit cases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The case</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exit-04-case" descr="Screenshot: Exit case (HR view) (Neha Kapoo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Status, dates, notice; start clearance, record the interview, generate letters, complete.</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Exit case (HR view)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Clearance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Started</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0-exit-05-clearance-started" descr="Screenshot: Exit case › Clearance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Stages created from the exit checklist; owners notified.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Exit case › Clearance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Stages</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exit-06-clearance-stages" descr="Screenshot: Exit case › Clearance (stages) (Neha Kapoo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Manager, IT, finance, assets, HR: Clear, Block or Not applicable.</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Exit case › Clearance (stages)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Assets block clearance until returned</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Asset stage refused</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0-exit-08a-asset-stage-blocked" descr="Screenshot: Exit case › Clearance › Asset clearance › Clear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"Not allowed: Assets still in custody: LT-0001. Take them back, or record a recoverable amount."</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Exit case › Clearance › Asset clearance › Clear</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Take back</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exit-08b-take-back-asset" descr="Screenshot: Asset register › LT-0001 › Take back (Kavya Menon, fictional data)">    </p:cNvPr>
          <p:cNvPicPr>
            <a:picLocks noChangeAspect="1"/>
          </p:cNvPicPr>
          <p:nvPr/>
        </p:nvPicPr>
        <p:blipFill>
          <a:blip r:embed="rId2"/>
          <a:stretch>
            <a:fillRect/>
          </a:stretch>
        </p:blipFill>
        <p:spPr>
          <a:xfrm>
            <a:off x="6278728" y="1755648"/>
            <a:ext cx="5364328" cy="1987675"/>
          </a:xfrm>
          <a:prstGeom prst="rect">
            <a:avLst/>
          </a:prstGeom>
        </p:spPr>
      </p:pic>
      <p:sp>
        <p:nvSpPr>
          <p:cNvPr id="14" name="Screenshot frame"/>
          <p:cNvSpPr/>
          <p:nvPr/>
        </p:nvSpPr>
        <p:spPr>
          <a:xfrm>
            <a:off x="6278728" y="1755648"/>
            <a:ext cx="5364328" cy="198767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Custody ends; the laptop returns to stock.</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Asset register › LT-0001 › Take back</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All stages cleared; exit interview</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Cleared</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0-exit-08-clearance-done" descr="Screenshot: Exit case › Clearance (all stages cleared)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stage cleared, with who and when (the manager cleared his own stage).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Exit case › Clearance (all stages cleared)</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Record exit interview</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exit-09-exit-interview" descr="Screenshot: Exit case › Record exit interview (Neha Kapoor, fictional data)">    </p:cNvPr>
          <p:cNvPicPr>
            <a:picLocks noChangeAspect="1"/>
          </p:cNvPicPr>
          <p:nvPr/>
        </p:nvPicPr>
        <p:blipFill>
          <a:blip r:embed="rId2"/>
          <a:stretch>
            <a:fillRect/>
          </a:stretch>
        </p:blipFill>
        <p:spPr>
          <a:xfrm>
            <a:off x="6363047" y="1755648"/>
            <a:ext cx="5195689" cy="3429000"/>
          </a:xfrm>
          <a:prstGeom prst="rect">
            <a:avLst/>
          </a:prstGeom>
        </p:spPr>
      </p:pic>
      <p:sp>
        <p:nvSpPr>
          <p:cNvPr id="14" name="Screenshot frame"/>
          <p:cNvSpPr/>
          <p:nvPr/>
        </p:nvSpPr>
        <p:spPr>
          <a:xfrm>
            <a:off x="6363047" y="1755648"/>
            <a:ext cx="5195689"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Answers feed Exit insights; averages use employee answers only.</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Neha Kapoor (HR Manager + Employee) · Exit case › Record exit interview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Full &amp; final settlement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Settlement</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0-exit-11-ff-settlement" descr="Screenshot: Exit case › Full &amp; final (Neha Kapoor, fictional data)">    </p:cNvPr>
          <p:cNvPicPr>
            <a:picLocks noChangeAspect="1"/>
          </p:cNvPicPr>
          <p:nvPr/>
        </p:nvPicPr>
        <p:blipFill>
          <a:blip r:embed="rId1"/>
          <a:stretch>
            <a:fillRect/>
          </a:stretch>
        </p:blipFill>
        <p:spPr>
          <a:xfrm>
            <a:off x="633805" y="1755648"/>
            <a:ext cx="5193997" cy="3429000"/>
          </a:xfrm>
          <a:prstGeom prst="rect">
            <a:avLst/>
          </a:prstGeom>
        </p:spPr>
      </p:pic>
      <p:sp>
        <p:nvSpPr>
          <p:cNvPr id="8" name="Screenshot frame"/>
          <p:cNvSpPr/>
          <p:nvPr/>
        </p:nvSpPr>
        <p:spPr>
          <a:xfrm>
            <a:off x="633805" y="1755648"/>
            <a:ext cx="5193997"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Earnings 43,400.06, deductions 5,146.00, net 38,254.06; Paid with reference.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Neha Kapoor (HR Manager + Employee) · Exit case › Full &amp; final</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Breakdown</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exit-12-ff-breakdown" descr="Screenshot: Full &amp; final › Breakdown (Neha Kapoor, fictional data)">    </p:cNvPr>
          <p:cNvPicPr>
            <a:picLocks noChangeAspect="1"/>
          </p:cNvPicPr>
          <p:nvPr/>
        </p:nvPicPr>
        <p:blipFill>
          <a:blip r:embed="rId2"/>
          <a:stretch>
            <a:fillRect/>
          </a:stretch>
        </p:blipFill>
        <p:spPr>
          <a:xfrm>
            <a:off x="6364272" y="1755648"/>
            <a:ext cx="5193238" cy="3429000"/>
          </a:xfrm>
          <a:prstGeom prst="rect">
            <a:avLst/>
          </a:prstGeom>
        </p:spPr>
      </p:pic>
      <p:sp>
        <p:nvSpPr>
          <p:cNvPr id="14" name="Screenshot frame"/>
          <p:cNvSpPr/>
          <p:nvPr/>
        </p:nvSpPr>
        <p:spPr>
          <a:xfrm>
            <a:off x="6364272" y="1755648"/>
            <a:ext cx="5193238"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Each line with its basis (shown as raw technical values). Gratuity is not calculated.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Neha Kapoor (HR Manager + Employee) · Full &amp; final › Breakdown</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EXIT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Complete the exit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Complete exit</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0-exit-14-complete-exit" descr="Screenshot: Exit case › Complete exit (Neha Kapoor, fictional data)">    </p:cNvPr>
          <p:cNvPicPr>
            <a:picLocks noChangeAspect="1"/>
          </p:cNvPicPr>
          <p:nvPr/>
        </p:nvPicPr>
        <p:blipFill>
          <a:blip r:embed="rId1"/>
          <a:stretch>
            <a:fillRect/>
          </a:stretch>
        </p:blipFill>
        <p:spPr>
          <a:xfrm>
            <a:off x="635885" y="1755648"/>
            <a:ext cx="5189838" cy="3429000"/>
          </a:xfrm>
          <a:prstGeom prst="rect">
            <a:avLst/>
          </a:prstGeom>
        </p:spPr>
      </p:pic>
      <p:sp>
        <p:nvSpPr>
          <p:cNvPr id="8" name="Screenshot frame"/>
          <p:cNvSpPr/>
          <p:nvPr/>
        </p:nvSpPr>
        <p:spPr>
          <a:xfrm>
            <a:off x="635885" y="1755648"/>
            <a:ext cx="5189838"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employee becomes Exited on the last working day.</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Neha Kapoor (HR Manager + Employee) · Exit case › Complete exit</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1E7F4F"/>
                </a:solidFill>
              </a:rPr>
              <a:t>Completed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exit-15-completed" descr="Screenshot: Exit case (after Complete exit) (Neha Kapoo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"Exit completed".</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Exit case (after Complete exit)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ALUMNI</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Alumni: the record continues</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Alumni list</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0-exit-17-alumni-list" descr="Screenshot: People › Lifecycle › Alumni (Neha Kapoor,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new alumni profile.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People › Lifecycle › Alumni</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Employee 360 after exit</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exit-18-employee-exited" descr="Screenshot: Employee 360 (after the exit) (Neha Kapoo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Exited / Alumni; one lifetime record keeps the whole journey.</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Employee 360 (after the exit)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ALUMNI</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Alumni portal (verified live)</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Former employee signs in</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employee/70-alumni-01-portal" descr="Screenshot: Alumni portal (former employee) (Rahul Sharma,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My requests, My documents, Payslips; Request a document or reference.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Rahul Sharma (Employee) · Alumni portal (former employee)</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HR receives the request</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0-alumni-04-hr-requests" descr="Screenshot: Alumni › Rahul Sharma › Requests (Neha Kapoor,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Verify identity, Approve &amp; generate, Mark delivered, Reject.</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Neha Kapoor (HR Manager + Employee) · Alumni › Rahul Sharma › Requests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14</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Employee imports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Upload, inspect, map, validate, approve, run: blocked today at Map columns.</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IMPORTS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Employee imports</a:t>
            </a:r>
            <a:endParaRPr lang="en-US" sz="2800" dirty="0"/>
          </a:p>
        </p:txBody>
      </p:sp>
      <p:pic>
        <p:nvPicPr>
          <p:cNvPr id="5" name="Screenshot hr-admin/75-imp-01-imports" descr="Screenshot: People › Lifecycle › All in Lifecycle › Employee import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7580884" y="2293247"/>
            <a:ext cx="603098" cy="236931"/>
          </a:xfrm>
          <a:prstGeom prst="roundRect">
            <a:avLst>
              <a:gd name="adj" fmla="val 19297"/>
            </a:avLst>
          </a:prstGeom>
          <a:ln w="25400">
            <a:solidFill>
              <a:srgbClr val="D97706"/>
            </a:solidFill>
            <a:prstDash val="solid"/>
          </a:ln>
        </p:spPr>
      </p:sp>
      <p:sp>
        <p:nvSpPr>
          <p:cNvPr id="8" name="Callout 1"/>
          <p:cNvSpPr txBox="1"/>
          <p:nvPr/>
        </p:nvSpPr>
        <p:spPr>
          <a:xfrm>
            <a:off x="7452868" y="2000639"/>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Upload CSV.</a:t>
            </a:r>
            <a:endParaRPr lang="en-US" sz="1400" dirty="0"/>
          </a:p>
        </p:txBody>
      </p:sp>
      <p:sp>
        <p:nvSpPr>
          <p:cNvPr id="12" name="Shape 8"/>
          <p:cNvSpPr/>
          <p:nvPr/>
        </p:nvSpPr>
        <p:spPr>
          <a:xfrm>
            <a:off x="8595360" y="2331720"/>
            <a:ext cx="3047695" cy="1206119"/>
          </a:xfrm>
          <a:prstGeom prst="roundRect">
            <a:avLst>
              <a:gd name="adj" fmla="val 6065"/>
            </a:avLst>
          </a:prstGeom>
          <a:solidFill>
            <a:srgbClr val="F4F5F8"/>
          </a:solidFill>
          <a:ln w="12700">
            <a:solidFill>
              <a:srgbClr val="F4F5F8"/>
            </a:solidFill>
            <a:prstDash val="solid"/>
          </a:ln>
        </p:spPr>
      </p:sp>
      <p:sp>
        <p:nvSpPr>
          <p:cNvPr id="13" name="Text 9"/>
          <p:cNvSpPr txBox="1"/>
          <p:nvPr/>
        </p:nvSpPr>
        <p:spPr>
          <a:xfrm>
            <a:off x="8732520" y="242316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Import batches with their status (Tenant HR Admin and Account Owner only). The list works; imports are blocked at Map columns (F25).</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People › Lifecycle › All in Lifecycle › Employee imports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IMPORTS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Upload and inspect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Uploaded</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5-imp-03-uploaded" descr="Screenshot: Employee import (batch)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Status Uploaded; next: Inspect file.</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import (batch)</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Inspected</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hr-admin/75-imp-04-inspected" descr="Screenshot: Employee import (after Inspect file)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"3 row(s) staged; 5 column(s) mapped automatically"; next: Map columns.</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import (after Inspect file)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IMPORTS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Map columns fails (F25)</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Map columns</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5-imp-05-map-columns" descr="Screenshot: Employee import › Map columns (Kavya Menon, fictional data)">    </p:cNvPr>
          <p:cNvPicPr>
            <a:picLocks noChangeAspect="1"/>
          </p:cNvPicPr>
          <p:nvPr/>
        </p:nvPicPr>
        <p:blipFill>
          <a:blip r:embed="rId1"/>
          <a:stretch>
            <a:fillRect/>
          </a:stretch>
        </p:blipFill>
        <p:spPr>
          <a:xfrm>
            <a:off x="632959" y="1755648"/>
            <a:ext cx="5195689" cy="3429000"/>
          </a:xfrm>
          <a:prstGeom prst="rect">
            <a:avLst/>
          </a:prstGeom>
        </p:spPr>
      </p:pic>
      <p:sp>
        <p:nvSpPr>
          <p:cNvPr id="8" name="Screenshot frame"/>
          <p:cNvSpPr/>
          <p:nvPr/>
        </p:nvSpPr>
        <p:spPr>
          <a:xfrm>
            <a:off x="632959" y="1755648"/>
            <a:ext cx="5195689" cy="3429000"/>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Column → field; what to do when the person exists.</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Kavya Menon (Tenant HR Admin + Employee) · Employee import › Map columns</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Submit</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FBE6E4"/>
          </a:solidFill>
          <a:ln/>
        </p:spPr>
        <p:txBody>
          <a:bodyPr wrap="square" lIns="0" tIns="0" rIns="0" bIns="0" rtlCol="0" anchor="ctr"/>
          <a:lstStyle/>
          <a:p>
            <a:pPr algn="ctr" indent="0" marL="0">
              <a:buNone/>
            </a:pPr>
            <a:r>
              <a:rPr lang="en-US" sz="950" b="1" dirty="0">
                <a:solidFill>
                  <a:srgbClr val="B3261E"/>
                </a:solidFill>
              </a:rPr>
              <a:t>Incomplete</a:t>
            </a:r>
            <a:endParaRPr lang="en-US" sz="950" dirty="0"/>
          </a:p>
        </p:txBody>
      </p:sp>
      <p:pic>
        <p:nvPicPr>
          <p:cNvPr id="13" name="Screenshot support/75-imp-06-map-columns-fails-f25" descr="Screenshot: Employee import (after Map columns › Submit) (Kavya Menon, fictional data)">    </p:cNvPr>
          <p:cNvPicPr>
            <a:picLocks noChangeAspect="1"/>
          </p:cNvPicPr>
          <p:nvPr/>
        </p:nvPicPr>
        <p:blipFill>
          <a:blip r:embed="rId2"/>
          <a:stretch>
            <a:fillRect/>
          </a:stretch>
        </p:blipFill>
        <p:spPr>
          <a:xfrm>
            <a:off x="6278728" y="1755648"/>
            <a:ext cx="5364328" cy="3352705"/>
          </a:xfrm>
          <a:prstGeom prst="rect">
            <a:avLst/>
          </a:prstGeom>
        </p:spPr>
      </p:pic>
      <p:sp>
        <p:nvSpPr>
          <p:cNvPr id="14" name="Screenshot frame"/>
          <p:cNvSpPr/>
          <p:nvPr/>
        </p:nvSpPr>
        <p:spPr>
          <a:xfrm>
            <a:off x="6278728" y="1755648"/>
            <a:ext cx="5364328" cy="3352705"/>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"Failed: Undefined variable $svc". The batch stays Inspected; Validate, Approve and Run never become available.</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import (after Map columns › Submit)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IMPORTS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Discard, and who may import</a:t>
            </a:r>
            <a:endParaRPr lang="en-US" sz="2800" dirty="0"/>
          </a:p>
        </p:txBody>
      </p:sp>
      <p:sp>
        <p:nvSpPr>
          <p:cNvPr id="5" name="Text 2"/>
          <p:cNvSpPr txBox="1"/>
          <p:nvPr/>
        </p:nvSpPr>
        <p:spPr>
          <a:xfrm>
            <a:off x="548640" y="1371600"/>
            <a:ext cx="3124048" cy="329184"/>
          </a:xfrm>
          <a:prstGeom prst="rect">
            <a:avLst/>
          </a:prstGeom>
          <a:noFill/>
          <a:ln/>
        </p:spPr>
        <p:txBody>
          <a:bodyPr wrap="square" lIns="0" tIns="0" rIns="0" bIns="0" rtlCol="0" anchor="ctr"/>
          <a:lstStyle/>
          <a:p>
            <a:pPr indent="0" marL="0">
              <a:buNone/>
            </a:pPr>
            <a:r>
              <a:rPr lang="en-US" sz="1300" b="1" dirty="0">
                <a:solidFill>
                  <a:schemeClr val="tx2"/>
                </a:solidFill>
              </a:rPr>
              <a:t>Discarded</a:t>
            </a:r>
            <a:endParaRPr lang="en-US" sz="1300" dirty="0"/>
          </a:p>
        </p:txBody>
      </p:sp>
      <p:sp>
        <p:nvSpPr>
          <p:cNvPr id="6" name="Status"/>
          <p:cNvSpPr txBox="1"/>
          <p:nvPr/>
        </p:nvSpPr>
        <p:spPr>
          <a:xfrm>
            <a:off x="3809848"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7" name="Screenshot hr-admin/75-imp-07-discarded" descr="Screenshot: Employee import (after Discard) (Kavya Menon, fictional data)">    </p:cNvPr>
          <p:cNvPicPr>
            <a:picLocks noChangeAspect="1"/>
          </p:cNvPicPr>
          <p:nvPr/>
        </p:nvPicPr>
        <p:blipFill>
          <a:blip r:embed="rId1"/>
          <a:stretch>
            <a:fillRect/>
          </a:stretch>
        </p:blipFill>
        <p:spPr>
          <a:xfrm>
            <a:off x="548640" y="1755648"/>
            <a:ext cx="5364328" cy="3352705"/>
          </a:xfrm>
          <a:prstGeom prst="rect">
            <a:avLst/>
          </a:prstGeom>
        </p:spPr>
      </p:pic>
      <p:sp>
        <p:nvSpPr>
          <p:cNvPr id="8" name="Screenshot frame"/>
          <p:cNvSpPr/>
          <p:nvPr/>
        </p:nvSpPr>
        <p:spPr>
          <a:xfrm>
            <a:off x="548640" y="1755648"/>
            <a:ext cx="5364328" cy="3352705"/>
          </a:xfrm>
          <a:prstGeom prst="rect">
            <a:avLst/>
          </a:prstGeom>
          <a:ln w="9525">
            <a:solidFill>
              <a:srgbClr val="D9DCE3"/>
            </a:solidFill>
            <a:prstDash val="solid"/>
          </a:ln>
        </p:spPr>
      </p:sp>
      <p:sp>
        <p:nvSpPr>
          <p:cNvPr id="9" name="Text 5"/>
          <p:cNvSpPr txBox="1"/>
          <p:nvPr/>
        </p:nvSpPr>
        <p:spPr>
          <a:xfrm>
            <a:off x="548640"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Nothing was imported.</a:t>
            </a:r>
            <a:endParaRPr lang="en-US" sz="1300" dirty="0"/>
          </a:p>
        </p:txBody>
      </p:sp>
      <p:sp>
        <p:nvSpPr>
          <p:cNvPr id="10" name="Text 6"/>
          <p:cNvSpPr txBox="1"/>
          <p:nvPr/>
        </p:nvSpPr>
        <p:spPr>
          <a:xfrm>
            <a:off x="548640"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 Kavya Menon (Tenant HR Admin + Employee) · Employee import (after Discard)</a:t>
            </a:r>
            <a:endParaRPr lang="en-US" sz="900" dirty="0"/>
          </a:p>
        </p:txBody>
      </p:sp>
      <p:sp>
        <p:nvSpPr>
          <p:cNvPr id="11" name="Text 7"/>
          <p:cNvSpPr txBox="1"/>
          <p:nvPr/>
        </p:nvSpPr>
        <p:spPr>
          <a:xfrm>
            <a:off x="6278728" y="1371600"/>
            <a:ext cx="3124048" cy="329184"/>
          </a:xfrm>
          <a:prstGeom prst="rect">
            <a:avLst/>
          </a:prstGeom>
          <a:noFill/>
          <a:ln/>
        </p:spPr>
        <p:txBody>
          <a:bodyPr wrap="square" lIns="0" tIns="0" rIns="0" bIns="0" rtlCol="0" anchor="ctr"/>
          <a:lstStyle/>
          <a:p>
            <a:pPr indent="0" marL="0">
              <a:buNone/>
            </a:pPr>
            <a:r>
              <a:rPr lang="en-US" sz="1300" b="1" dirty="0">
                <a:solidFill>
                  <a:srgbClr val="B3261E"/>
                </a:solidFill>
              </a:rPr>
              <a:t>HR Manager</a:t>
            </a:r>
            <a:endParaRPr lang="en-US" sz="1300" dirty="0"/>
          </a:p>
        </p:txBody>
      </p:sp>
      <p:sp>
        <p:nvSpPr>
          <p:cNvPr id="12" name="Status"/>
          <p:cNvSpPr txBox="1"/>
          <p:nvPr/>
        </p:nvSpPr>
        <p:spPr>
          <a:xfrm>
            <a:off x="9539935" y="1389888"/>
            <a:ext cx="2103120" cy="256032"/>
          </a:xfrm>
          <a:prstGeom prst="roundRect">
            <a:avLst>
              <a:gd name="adj" fmla="val 50000"/>
            </a:avLst>
          </a:prstGeom>
          <a:solidFill>
            <a:srgbClr val="E3F3EA"/>
          </a:solidFill>
          <a:ln/>
        </p:spPr>
        <p:txBody>
          <a:bodyPr wrap="square" lIns="0" tIns="0" rIns="0" bIns="0" rtlCol="0" anchor="ctr"/>
          <a:lstStyle/>
          <a:p>
            <a:pPr algn="ctr" indent="0" marL="0">
              <a:buNone/>
            </a:pPr>
            <a:r>
              <a:rPr lang="en-US" sz="950" b="1" dirty="0">
                <a:solidFill>
                  <a:srgbClr val="1E7F4F"/>
                </a:solidFill>
              </a:rPr>
              <a:t>Verified</a:t>
            </a:r>
            <a:endParaRPr lang="en-US" sz="950" dirty="0"/>
          </a:p>
        </p:txBody>
      </p:sp>
      <p:pic>
        <p:nvPicPr>
          <p:cNvPr id="13" name="Screenshot security-compliance/75-imp-08-hr-manager-not-available" descr="Screenshot: Employee imports (as HR Manager) (Neha Kapoor, fictional data)">    </p:cNvPr>
          <p:cNvPicPr>
            <a:picLocks noChangeAspect="1"/>
          </p:cNvPicPr>
          <p:nvPr/>
        </p:nvPicPr>
        <p:blipFill>
          <a:blip r:embed="rId2"/>
          <a:stretch>
            <a:fillRect/>
          </a:stretch>
        </p:blipFill>
        <p:spPr>
          <a:xfrm>
            <a:off x="6965837" y="1755648"/>
            <a:ext cx="3990109" cy="3429000"/>
          </a:xfrm>
          <a:prstGeom prst="rect">
            <a:avLst/>
          </a:prstGeom>
        </p:spPr>
      </p:pic>
      <p:sp>
        <p:nvSpPr>
          <p:cNvPr id="14" name="Screenshot frame"/>
          <p:cNvSpPr/>
          <p:nvPr/>
        </p:nvSpPr>
        <p:spPr>
          <a:xfrm>
            <a:off x="6965837" y="1755648"/>
            <a:ext cx="3990109" cy="3429000"/>
          </a:xfrm>
          <a:prstGeom prst="rect">
            <a:avLst/>
          </a:prstGeom>
          <a:ln w="9525">
            <a:solidFill>
              <a:srgbClr val="D9DCE3"/>
            </a:solidFill>
            <a:prstDash val="solid"/>
          </a:ln>
        </p:spPr>
      </p:sp>
      <p:sp>
        <p:nvSpPr>
          <p:cNvPr id="15" name="Text 10"/>
          <p:cNvSpPr txBox="1"/>
          <p:nvPr/>
        </p:nvSpPr>
        <p:spPr>
          <a:xfrm>
            <a:off x="6278728" y="5285232"/>
            <a:ext cx="5364328"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403 "This page is not available to you": employee.import is not in the HR Manager role.</a:t>
            </a:r>
            <a:endParaRPr lang="en-US" sz="1300" dirty="0"/>
          </a:p>
        </p:txBody>
      </p:sp>
      <p:sp>
        <p:nvSpPr>
          <p:cNvPr id="16" name="Text 11"/>
          <p:cNvSpPr txBox="1"/>
          <p:nvPr/>
        </p:nvSpPr>
        <p:spPr>
          <a:xfrm>
            <a:off x="6278728" y="6035040"/>
            <a:ext cx="5364328" cy="274320"/>
          </a:xfrm>
          <a:prstGeom prst="rect">
            <a:avLst/>
          </a:prstGeom>
          <a:noFill/>
          <a:ln/>
        </p:spPr>
        <p:txBody>
          <a:bodyPr wrap="square" lIns="0" tIns="0" rIns="0" bIns="0" rtlCol="0" anchor="t"/>
          <a:lstStyle/>
          <a:p>
            <a:pPr indent="0" marL="0">
              <a:buNone/>
            </a:pPr>
            <a:r>
              <a:rPr lang="en-US" sz="900" dirty="0">
                <a:solidFill>
                  <a:srgbClr val="8A90A2"/>
                </a:solidFill>
              </a:rPr>
              <a:t>Real screen (cropped) · Neha Kapoor (HR Manager + Employee) · Employee imports (as HR Manager)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15</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Audit history</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Prove who changed what, when and why.</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history</a:t>
            </a:r>
            <a:endParaRPr lang="en-US" sz="2800" dirty="0"/>
          </a:p>
        </p:txBody>
      </p:sp>
      <p:pic>
        <p:nvPicPr>
          <p:cNvPr id="5" name="Screenshot hr-admin/50-aud-01-change-history" descr="Screenshot: Insights › Audit › Change history (Audit event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818769"/>
          </a:xfrm>
          <a:prstGeom prst="roundRect">
            <a:avLst>
              <a:gd name="adj" fmla="val 8934"/>
            </a:avLst>
          </a:prstGeom>
          <a:solidFill>
            <a:srgbClr val="F4F5F8"/>
          </a:solidFill>
          <a:ln w="12700">
            <a:solidFill>
              <a:srgbClr val="F4F5F8"/>
            </a:solidFill>
            <a:prstDash val="solid"/>
          </a:ln>
        </p:spPr>
      </p:sp>
      <p:sp>
        <p:nvSpPr>
          <p:cNvPr id="9" name="Text 5"/>
          <p:cNvSpPr txBox="1"/>
          <p:nvPr/>
        </p:nvSpPr>
        <p:spPr>
          <a:xfrm>
            <a:off x="8732520" y="196596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Every audited event, newest first, with action, module, record, who and reason.</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Insights › Audit › Change history (Audit events)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One event: the transfer</a:t>
            </a:r>
            <a:endParaRPr lang="en-US" sz="2800" dirty="0"/>
          </a:p>
        </p:txBody>
      </p:sp>
      <p:pic>
        <p:nvPicPr>
          <p:cNvPr id="5" name="Screenshot hr-admin/50-aud-02-event-detail" descr="Screenshot: Change history › event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206119"/>
          </a:xfrm>
          <a:prstGeom prst="roundRect">
            <a:avLst>
              <a:gd name="adj" fmla="val 6065"/>
            </a:avLst>
          </a:prstGeom>
          <a:solidFill>
            <a:srgbClr val="F4F5F8"/>
          </a:solidFill>
          <a:ln w="12700">
            <a:solidFill>
              <a:srgbClr val="F4F5F8"/>
            </a:solidFill>
            <a:prstDash val="solid"/>
          </a:ln>
        </p:spPr>
      </p:sp>
      <p:sp>
        <p:nvSpPr>
          <p:cNvPr id="9" name="Text 5"/>
          <p:cNvSpPr txBox="1"/>
          <p:nvPr/>
        </p:nvSpPr>
        <p:spPr>
          <a:xfrm>
            <a:off x="8732520" y="196596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Action Transferred, reason, effective date 22 Oct 2026; field change team Platform → Mobile; who and where; integrity hash.</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Change history › event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All changes for one person</a:t>
            </a:r>
            <a:endParaRPr lang="en-US" sz="2800" dirty="0"/>
          </a:p>
        </p:txBody>
      </p:sp>
      <p:pic>
        <p:nvPicPr>
          <p:cNvPr id="5" name="Screenshot hr-admin/50-aud-03-all-changes-person" descr="Screenshot: Employee 360 › More › All changes (opens Change intelligence)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399794"/>
          </a:xfrm>
          <a:prstGeom prst="roundRect">
            <a:avLst>
              <a:gd name="adj" fmla="val 5226"/>
            </a:avLst>
          </a:prstGeom>
          <a:solidFill>
            <a:srgbClr val="F4F5F8"/>
          </a:solidFill>
          <a:ln w="12700">
            <a:solidFill>
              <a:srgbClr val="F4F5F8"/>
            </a:solidFill>
            <a:prstDash val="solid"/>
          </a:ln>
        </p:spPr>
      </p:sp>
      <p:sp>
        <p:nvSpPr>
          <p:cNvPr id="9" name="Text 5"/>
          <p:cNvSpPr txBox="1"/>
          <p:nvPr/>
        </p:nvSpPr>
        <p:spPr>
          <a:xfrm>
            <a:off x="8732520" y="1965960"/>
            <a:ext cx="2773375" cy="12169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Employee 360 › More › All changes opens Change intelligence for that person: hire, documents, transfer, reporting change, onboarding, each with Explain.</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More › All changes (opens Change intelligence)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TIPS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Common mistakes in HR operations</a:t>
            </a:r>
            <a:endParaRPr lang="en-US" sz="2800" dirty="0"/>
          </a:p>
        </p:txBody>
      </p:sp>
      <p:sp>
        <p:nvSpPr>
          <p:cNvPr id="5" name="Shape 2"/>
          <p:cNvSpPr/>
          <p:nvPr/>
        </p:nvSpPr>
        <p:spPr>
          <a:xfrm>
            <a:off x="548640" y="1463040"/>
            <a:ext cx="3545738" cy="2286000"/>
          </a:xfrm>
          <a:prstGeom prst="roundRect">
            <a:avLst>
              <a:gd name="adj" fmla="val 4000"/>
            </a:avLst>
          </a:prstGeom>
          <a:solidFill>
            <a:srgbClr val="FDF0DD"/>
          </a:solidFill>
          <a:ln w="12700">
            <a:solidFill>
              <a:srgbClr val="FDF0DD"/>
            </a:solidFill>
            <a:prstDash val="solid"/>
          </a:ln>
        </p:spPr>
      </p:sp>
      <p:sp>
        <p:nvSpPr>
          <p:cNvPr id="6" name="Text 3"/>
          <p:cNvSpPr txBox="1"/>
          <p:nvPr/>
        </p:nvSpPr>
        <p:spPr>
          <a:xfrm>
            <a:off x="777240"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Same-day changes</a:t>
            </a:r>
            <a:endParaRPr lang="en-US" sz="1600" dirty="0"/>
          </a:p>
        </p:txBody>
      </p:sp>
      <p:sp>
        <p:nvSpPr>
          <p:cNvPr id="7" name="Text 4"/>
          <p:cNvSpPr txBox="1"/>
          <p:nvPr/>
        </p:nvSpPr>
        <p:spPr>
          <a:xfrm>
            <a:off x="777240" y="20848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transfer effective today is refused ("must start after the current one"): use tomorrow's date.</a:t>
            </a:r>
            <a:endParaRPr lang="en-US" sz="1400" dirty="0"/>
          </a:p>
        </p:txBody>
      </p:sp>
      <p:sp>
        <p:nvSpPr>
          <p:cNvPr id="8" name="Shape 5"/>
          <p:cNvSpPr/>
          <p:nvPr/>
        </p:nvSpPr>
        <p:spPr>
          <a:xfrm>
            <a:off x="4322978" y="1463040"/>
            <a:ext cx="3545738" cy="2286000"/>
          </a:xfrm>
          <a:prstGeom prst="roundRect">
            <a:avLst>
              <a:gd name="adj" fmla="val 4000"/>
            </a:avLst>
          </a:prstGeom>
          <a:solidFill>
            <a:srgbClr val="ECEAFB"/>
          </a:solidFill>
          <a:ln w="12700">
            <a:solidFill>
              <a:srgbClr val="ECEAFB"/>
            </a:solidFill>
            <a:prstDash val="solid"/>
          </a:ln>
        </p:spPr>
      </p:sp>
      <p:sp>
        <p:nvSpPr>
          <p:cNvPr id="9" name="Text 6"/>
          <p:cNvSpPr txBox="1"/>
          <p:nvPr/>
        </p:nvSpPr>
        <p:spPr>
          <a:xfrm>
            <a:off x="4551578"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One person doing two steps</a:t>
            </a:r>
            <a:endParaRPr lang="en-US" sz="1600" dirty="0"/>
          </a:p>
        </p:txBody>
      </p:sp>
      <p:sp>
        <p:nvSpPr>
          <p:cNvPr id="10" name="Text 7"/>
          <p:cNvSpPr txBox="1"/>
          <p:nvPr/>
        </p:nvSpPr>
        <p:spPr>
          <a:xfrm>
            <a:off x="4551578" y="20848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Letters, documents and pay need a second person; plan who holds each role.</a:t>
            </a:r>
            <a:endParaRPr lang="en-US" sz="1400" dirty="0"/>
          </a:p>
        </p:txBody>
      </p:sp>
      <p:sp>
        <p:nvSpPr>
          <p:cNvPr id="11" name="Shape 8"/>
          <p:cNvSpPr/>
          <p:nvPr/>
        </p:nvSpPr>
        <p:spPr>
          <a:xfrm>
            <a:off x="8097317" y="1463040"/>
            <a:ext cx="3545738" cy="2286000"/>
          </a:xfrm>
          <a:prstGeom prst="roundRect">
            <a:avLst>
              <a:gd name="adj" fmla="val 4000"/>
            </a:avLst>
          </a:prstGeom>
          <a:solidFill>
            <a:srgbClr val="ECEAFB"/>
          </a:solidFill>
          <a:ln w="12700">
            <a:solidFill>
              <a:srgbClr val="ECEAFB"/>
            </a:solidFill>
            <a:prstDash val="solid"/>
          </a:ln>
        </p:spPr>
      </p:sp>
      <p:sp>
        <p:nvSpPr>
          <p:cNvPr id="12" name="Text 9"/>
          <p:cNvSpPr txBox="1"/>
          <p:nvPr/>
        </p:nvSpPr>
        <p:spPr>
          <a:xfrm>
            <a:off x="8325917" y="16093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Exits with assets out</a:t>
            </a:r>
            <a:endParaRPr lang="en-US" sz="1600" dirty="0"/>
          </a:p>
        </p:txBody>
      </p:sp>
      <p:sp>
        <p:nvSpPr>
          <p:cNvPr id="13" name="Text 10"/>
          <p:cNvSpPr txBox="1"/>
          <p:nvPr/>
        </p:nvSpPr>
        <p:spPr>
          <a:xfrm>
            <a:off x="8325917" y="2084832"/>
            <a:ext cx="3088538" cy="15544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Take assets back first; clearance refuses otherwise.</a:t>
            </a:r>
            <a:endParaRPr lang="en-US" sz="1600" dirty="0"/>
          </a:p>
        </p:txBody>
      </p:sp>
      <p:sp>
        <p:nvSpPr>
          <p:cNvPr id="14" name="Shape 11"/>
          <p:cNvSpPr/>
          <p:nvPr/>
        </p:nvSpPr>
        <p:spPr>
          <a:xfrm>
            <a:off x="548640" y="3977640"/>
            <a:ext cx="3545738" cy="2286000"/>
          </a:xfrm>
          <a:prstGeom prst="roundRect">
            <a:avLst>
              <a:gd name="adj" fmla="val 4000"/>
            </a:avLst>
          </a:prstGeom>
          <a:solidFill>
            <a:srgbClr val="FDF0DD"/>
          </a:solidFill>
          <a:ln w="12700">
            <a:solidFill>
              <a:srgbClr val="FDF0DD"/>
            </a:solidFill>
            <a:prstDash val="solid"/>
          </a:ln>
        </p:spPr>
      </p:sp>
      <p:sp>
        <p:nvSpPr>
          <p:cNvPr id="15" name="Text 12"/>
          <p:cNvSpPr txBox="1"/>
          <p:nvPr/>
        </p:nvSpPr>
        <p:spPr>
          <a:xfrm>
            <a:off x="777240" y="4123944"/>
            <a:ext cx="3088538" cy="566928"/>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Onboarding after a manager change</a:t>
            </a:r>
            <a:endParaRPr lang="en-US" sz="1500" dirty="0"/>
          </a:p>
        </p:txBody>
      </p:sp>
      <p:sp>
        <p:nvSpPr>
          <p:cNvPr id="16" name="Text 13"/>
          <p:cNvSpPr txBox="1"/>
          <p:nvPr/>
        </p:nvSpPr>
        <p:spPr>
          <a:xfrm>
            <a:off x="777240" y="4800600"/>
            <a:ext cx="3088538" cy="1353312"/>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Open onboarding tasks stay with the previous manager: reassign them.</a:t>
            </a:r>
            <a:endParaRPr lang="en-US" sz="1400" dirty="0"/>
          </a:p>
        </p:txBody>
      </p:sp>
      <p:sp>
        <p:nvSpPr>
          <p:cNvPr id="17" name="Shape 14"/>
          <p:cNvSpPr/>
          <p:nvPr/>
        </p:nvSpPr>
        <p:spPr>
          <a:xfrm>
            <a:off x="4322978" y="3977640"/>
            <a:ext cx="3545738" cy="2286000"/>
          </a:xfrm>
          <a:prstGeom prst="roundRect">
            <a:avLst>
              <a:gd name="adj" fmla="val 4000"/>
            </a:avLst>
          </a:prstGeom>
          <a:solidFill>
            <a:srgbClr val="FBE6E4"/>
          </a:solidFill>
          <a:ln w="12700">
            <a:solidFill>
              <a:srgbClr val="FBE6E4"/>
            </a:solidFill>
            <a:prstDash val="solid"/>
          </a:ln>
        </p:spPr>
      </p:sp>
      <p:sp>
        <p:nvSpPr>
          <p:cNvPr id="18" name="Text 15"/>
          <p:cNvSpPr txBox="1"/>
          <p:nvPr/>
        </p:nvSpPr>
        <p:spPr>
          <a:xfrm>
            <a:off x="4551578" y="41239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Imports</a:t>
            </a:r>
            <a:endParaRPr lang="en-US" sz="1600" dirty="0"/>
          </a:p>
        </p:txBody>
      </p:sp>
      <p:sp>
        <p:nvSpPr>
          <p:cNvPr id="19" name="Text 16"/>
          <p:cNvSpPr txBox="1"/>
          <p:nvPr/>
        </p:nvSpPr>
        <p:spPr>
          <a:xfrm>
            <a:off x="4551578" y="45994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Blocked by F25: do not retry; hire individually or ask Markedge.</a:t>
            </a:r>
            <a:endParaRPr lang="en-US" sz="1400" dirty="0"/>
          </a:p>
        </p:txBody>
      </p:sp>
      <p:sp>
        <p:nvSpPr>
          <p:cNvPr id="20" name="Shape 17"/>
          <p:cNvSpPr/>
          <p:nvPr/>
        </p:nvSpPr>
        <p:spPr>
          <a:xfrm>
            <a:off x="8097317" y="3977640"/>
            <a:ext cx="3545738" cy="2286000"/>
          </a:xfrm>
          <a:prstGeom prst="roundRect">
            <a:avLst>
              <a:gd name="adj" fmla="val 4000"/>
            </a:avLst>
          </a:prstGeom>
          <a:solidFill>
            <a:srgbClr val="ECEAFB"/>
          </a:solidFill>
          <a:ln w="12700">
            <a:solidFill>
              <a:srgbClr val="ECEAFB"/>
            </a:solidFill>
            <a:prstDash val="solid"/>
          </a:ln>
        </p:spPr>
      </p:sp>
      <p:sp>
        <p:nvSpPr>
          <p:cNvPr id="21" name="Text 18"/>
          <p:cNvSpPr txBox="1"/>
          <p:nvPr/>
        </p:nvSpPr>
        <p:spPr>
          <a:xfrm>
            <a:off x="8325917" y="4123944"/>
            <a:ext cx="308853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Errors in development mode</a:t>
            </a:r>
            <a:endParaRPr lang="en-US" sz="1600" dirty="0"/>
          </a:p>
        </p:txBody>
      </p:sp>
      <p:sp>
        <p:nvSpPr>
          <p:cNvPr id="22" name="Text 19"/>
          <p:cNvSpPr txBox="1"/>
          <p:nvPr/>
        </p:nvSpPr>
        <p:spPr>
          <a:xfrm>
            <a:off x="8325917" y="4599432"/>
            <a:ext cx="308853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History tabs and some lower sections error outside production; use Change history.</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PRACTICE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Practice (practice tenant only)</a:t>
            </a:r>
            <a:endParaRPr lang="en-US" sz="2800" dirty="0"/>
          </a:p>
        </p:txBody>
      </p:sp>
      <p:sp>
        <p:nvSpPr>
          <p:cNvPr id="5" name="Shape 2"/>
          <p:cNvSpPr/>
          <p:nvPr/>
        </p:nvSpPr>
        <p:spPr>
          <a:xfrm>
            <a:off x="548640" y="1463040"/>
            <a:ext cx="11094415" cy="914400"/>
          </a:xfrm>
          <a:prstGeom prst="roundRect">
            <a:avLst>
              <a:gd name="adj" fmla="val 10000"/>
            </a:avLst>
          </a:prstGeom>
          <a:solidFill>
            <a:srgbClr val="ECEAFB"/>
          </a:solidFill>
          <a:ln w="12700">
            <a:solidFill>
              <a:srgbClr val="ECEAFB"/>
            </a:solidFill>
            <a:prstDash val="solid"/>
          </a:ln>
        </p:spPr>
      </p:sp>
      <p:sp>
        <p:nvSpPr>
          <p:cNvPr id="6" name="Callout 1"/>
          <p:cNvSpPr txBox="1"/>
          <p:nvPr/>
        </p:nvSpPr>
        <p:spPr>
          <a:xfrm>
            <a:off x="731520" y="1737360"/>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1536192"/>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Hire a fictional employee; first try an existing person's e-mail and read the message.</a:t>
            </a:r>
            <a:endParaRPr lang="en-US" sz="1500" dirty="0"/>
          </a:p>
        </p:txBody>
      </p:sp>
      <p:sp>
        <p:nvSpPr>
          <p:cNvPr id="8" name="Shape 5"/>
          <p:cNvSpPr/>
          <p:nvPr/>
        </p:nvSpPr>
        <p:spPr>
          <a:xfrm>
            <a:off x="548640" y="2542032"/>
            <a:ext cx="11094415" cy="914400"/>
          </a:xfrm>
          <a:prstGeom prst="roundRect">
            <a:avLst>
              <a:gd name="adj" fmla="val 10000"/>
            </a:avLst>
          </a:prstGeom>
          <a:solidFill>
            <a:srgbClr val="ECEAFB"/>
          </a:solidFill>
          <a:ln w="12700">
            <a:solidFill>
              <a:srgbClr val="ECEAFB"/>
            </a:solidFill>
            <a:prstDash val="solid"/>
          </a:ln>
        </p:spPr>
      </p:sp>
      <p:sp>
        <p:nvSpPr>
          <p:cNvPr id="9" name="Callout 2"/>
          <p:cNvSpPr txBox="1"/>
          <p:nvPr/>
        </p:nvSpPr>
        <p:spPr>
          <a:xfrm>
            <a:off x="731520" y="2816352"/>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1280160" y="2615184"/>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Change the new hire's manager effective tomorrow. Where does the change appear?</a:t>
            </a:r>
            <a:endParaRPr lang="en-US" sz="1500" dirty="0"/>
          </a:p>
        </p:txBody>
      </p:sp>
      <p:sp>
        <p:nvSpPr>
          <p:cNvPr id="11" name="Shape 8"/>
          <p:cNvSpPr/>
          <p:nvPr/>
        </p:nvSpPr>
        <p:spPr>
          <a:xfrm>
            <a:off x="548640" y="3621024"/>
            <a:ext cx="11094415" cy="914400"/>
          </a:xfrm>
          <a:prstGeom prst="roundRect">
            <a:avLst>
              <a:gd name="adj" fmla="val 10000"/>
            </a:avLst>
          </a:prstGeom>
          <a:solidFill>
            <a:srgbClr val="ECEAFB"/>
          </a:solidFill>
          <a:ln w="12700">
            <a:solidFill>
              <a:srgbClr val="ECEAFB"/>
            </a:solidFill>
            <a:prstDash val="solid"/>
          </a:ln>
        </p:spPr>
      </p:sp>
      <p:sp>
        <p:nvSpPr>
          <p:cNvPr id="12" name="Callout 3"/>
          <p:cNvSpPr txBox="1"/>
          <p:nvPr/>
        </p:nvSpPr>
        <p:spPr>
          <a:xfrm>
            <a:off x="731520" y="3895344"/>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0"/>
          <p:cNvSpPr txBox="1"/>
          <p:nvPr/>
        </p:nvSpPr>
        <p:spPr>
          <a:xfrm>
            <a:off x="1280160" y="3694176"/>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Generate a letter that needs approval. Try to approve it yourself, then ask a colleague.</a:t>
            </a:r>
            <a:endParaRPr lang="en-US" sz="1500" dirty="0"/>
          </a:p>
        </p:txBody>
      </p:sp>
      <p:sp>
        <p:nvSpPr>
          <p:cNvPr id="14" name="Shape 11"/>
          <p:cNvSpPr/>
          <p:nvPr/>
        </p:nvSpPr>
        <p:spPr>
          <a:xfrm>
            <a:off x="548640" y="4700016"/>
            <a:ext cx="11094415" cy="914400"/>
          </a:xfrm>
          <a:prstGeom prst="roundRect">
            <a:avLst>
              <a:gd name="adj" fmla="val 10000"/>
            </a:avLst>
          </a:prstGeom>
          <a:solidFill>
            <a:srgbClr val="ECEAFB"/>
          </a:solidFill>
          <a:ln w="12700">
            <a:solidFill>
              <a:srgbClr val="ECEAFB"/>
            </a:solidFill>
            <a:prstDash val="solid"/>
          </a:ln>
        </p:spPr>
      </p:sp>
      <p:sp>
        <p:nvSpPr>
          <p:cNvPr id="15" name="Callout 4"/>
          <p:cNvSpPr txBox="1"/>
          <p:nvPr/>
        </p:nvSpPr>
        <p:spPr>
          <a:xfrm>
            <a:off x="731520" y="4974336"/>
            <a:ext cx="365760" cy="365760"/>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6" name="Text 13"/>
          <p:cNvSpPr txBox="1"/>
          <p:nvPr/>
        </p:nvSpPr>
        <p:spPr>
          <a:xfrm>
            <a:off x="1280160" y="4773168"/>
            <a:ext cx="10180015" cy="76809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Run an exit for a fictional employee with a laptop assigned. What blocks clearance?</a:t>
            </a:r>
            <a:endParaRPr lang="en-US" sz="1500" dirty="0"/>
          </a:p>
        </p:txBody>
      </p:sp>
      <p:sp>
        <p:nvSpPr>
          <p:cNvPr id="17" name="Text 14"/>
          <p:cNvSpPr txBox="1"/>
          <p:nvPr/>
        </p:nvSpPr>
        <p:spPr>
          <a:xfrm>
            <a:off x="548640" y="6035040"/>
            <a:ext cx="8229600" cy="256032"/>
          </a:xfrm>
          <a:prstGeom prst="rect">
            <a:avLst/>
          </a:prstGeom>
          <a:noFill/>
          <a:ln/>
        </p:spPr>
        <p:txBody>
          <a:bodyPr wrap="square" lIns="0" tIns="0" rIns="0" bIns="0" rtlCol="0" anchor="ctr"/>
          <a:lstStyle/>
          <a:p>
            <a:pPr indent="0" marL="0">
              <a:buNone/>
            </a:pPr>
            <a:r>
              <a:rPr lang="en-US" sz="1100" i="1" dirty="0">
                <a:solidFill>
                  <a:srgbClr val="5B6275"/>
                </a:solidFill>
              </a:rPr>
              <a:t>Answer key: on the next slide, and in the speaker notes.</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PRACTICE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Answer key</a:t>
            </a:r>
            <a:endParaRPr lang="en-US" sz="28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48640"/>
                <a:gridCol w="10543032"/>
              </a:tblGrid>
              <a:tr h="384048">
                <a:tc>
                  <a:txBody>
                    <a:bodyPr/>
                    <a:lstStyle/>
                    <a:p>
                      <a:pPr indent="0" marL="0">
                        <a:buNone/>
                      </a:pPr>
                      <a:r>
                        <a:rPr lang="en-US" sz="1250" b="1" dirty="0">
                          <a:solidFill>
                            <a:srgbClr val="FFFFFF"/>
                          </a:solidFill>
                        </a:rPr>
                        <a:t>#</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Answer</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1</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The wizard stops: "This person already exists… same personal email." Re-use the person or correct the details.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2</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Header (Reports to), Journey, Records › Employment and Insights › Audit › Change history.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3</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"Not allowed: The person who requested a letter cannot approve it." A second HR person approves, then Issue.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4</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Asset clearance: "Assets still in custody: … Take them back, or record a recoverable amount."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3" name="Text 0"/>
          <p:cNvSpPr txBox="1"/>
          <p:nvPr/>
        </p:nvSpPr>
        <p:spPr>
          <a:xfrm>
            <a:off x="548640" y="54864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Summary</a:t>
            </a:r>
            <a:endParaRPr lang="en-US" sz="3600" dirty="0"/>
          </a:p>
        </p:txBody>
      </p:sp>
      <p:sp>
        <p:nvSpPr>
          <p:cNvPr id="4" name="Text 1"/>
          <p:cNvSpPr txBox="1"/>
          <p:nvPr/>
        </p:nvSpPr>
        <p:spPr>
          <a:xfrm>
            <a:off x="548640" y="1463040"/>
            <a:ext cx="6766560" cy="42062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E4E6F0"/>
                </a:solidFill>
              </a:rPr>
              <a:t>The Employee 360 is the record; every change is effective-dated and audited.</a:t>
            </a:r>
            <a:endParaRPr lang="en-US" sz="1600" dirty="0"/>
          </a:p>
          <a:p>
            <a:pPr marL="228600" indent="-228600">
              <a:spcAft>
                <a:spcPts val="800"/>
              </a:spcAft>
              <a:buSzPct val="100000"/>
              <a:buChar char="•"/>
            </a:pPr>
            <a:r>
              <a:rPr lang="en-US" sz="1600" dirty="0">
                <a:solidFill>
                  <a:srgbClr val="E4E6F0"/>
                </a:solidFill>
              </a:rPr>
              <a:t>Duplicates are stopped at hire; managers and jobs change through guided steps.</a:t>
            </a:r>
            <a:endParaRPr lang="en-US" sz="1600" dirty="0"/>
          </a:p>
          <a:p>
            <a:pPr marL="228600" indent="-228600">
              <a:spcAft>
                <a:spcPts val="800"/>
              </a:spcAft>
              <a:buSzPct val="100000"/>
              <a:buChar char="•"/>
            </a:pPr>
            <a:r>
              <a:rPr lang="en-US" sz="1600" dirty="0">
                <a:solidFill>
                  <a:srgbClr val="E4E6F0"/>
                </a:solidFill>
              </a:rPr>
              <a:t>Documents, letters and pay changes need a second person.</a:t>
            </a:r>
            <a:endParaRPr lang="en-US" sz="1600" dirty="0"/>
          </a:p>
          <a:p>
            <a:pPr marL="228600" indent="-228600">
              <a:spcAft>
                <a:spcPts val="800"/>
              </a:spcAft>
              <a:buSzPct val="100000"/>
              <a:buChar char="•"/>
            </a:pPr>
            <a:r>
              <a:rPr lang="en-US" sz="1600" dirty="0">
                <a:solidFill>
                  <a:srgbClr val="E4E6F0"/>
                </a:solidFill>
              </a:rPr>
              <a:t>Payroll can be calculated and checked; finalising waits for statutory verification.</a:t>
            </a:r>
            <a:endParaRPr lang="en-US" sz="1600" dirty="0"/>
          </a:p>
          <a:p>
            <a:pPr marL="228600" indent="-228600">
              <a:spcAft>
                <a:spcPts val="800"/>
              </a:spcAft>
              <a:buSzPct val="100000"/>
              <a:buChar char="•"/>
            </a:pPr>
            <a:r>
              <a:rPr lang="en-US" sz="1600" dirty="0">
                <a:solidFill>
                  <a:srgbClr val="E4E6F0"/>
                </a:solidFill>
              </a:rPr>
              <a:t>Known defects have workarounds: Apply on behalf (F38) → use the Employee 360; imports (F25) → hire wizard; History tabs (F26) → Change history.</a:t>
            </a:r>
            <a:endParaRPr lang="en-US" sz="1600" dirty="0"/>
          </a:p>
        </p:txBody>
      </p:sp>
      <p:sp>
        <p:nvSpPr>
          <p:cNvPr id="5" name="Shape 2"/>
          <p:cNvSpPr/>
          <p:nvPr/>
        </p:nvSpPr>
        <p:spPr>
          <a:xfrm>
            <a:off x="7680960" y="1463040"/>
            <a:ext cx="3962095" cy="4206240"/>
          </a:xfrm>
          <a:prstGeom prst="roundRect">
            <a:avLst>
              <a:gd name="adj" fmla="val 2769"/>
            </a:avLst>
          </a:prstGeom>
          <a:solidFill>
            <a:srgbClr val="1E2542"/>
          </a:solidFill>
          <a:ln w="12700">
            <a:solidFill>
              <a:srgbClr val="2A3255"/>
            </a:solidFill>
            <a:prstDash val="solid"/>
          </a:ln>
        </p:spPr>
      </p:sp>
      <p:sp>
        <p:nvSpPr>
          <p:cNvPr id="6" name="Text 3"/>
          <p:cNvSpPr txBox="1"/>
          <p:nvPr/>
        </p:nvSpPr>
        <p:spPr>
          <a:xfrm>
            <a:off x="7909560" y="1645920"/>
            <a:ext cx="3566160" cy="274320"/>
          </a:xfrm>
          <a:prstGeom prst="rect">
            <a:avLst/>
          </a:prstGeom>
          <a:noFill/>
          <a:ln/>
        </p:spPr>
        <p:txBody>
          <a:bodyPr wrap="square" lIns="0" tIns="0" rIns="0" bIns="0" rtlCol="0" anchor="ctr"/>
          <a:lstStyle/>
          <a:p>
            <a:pPr indent="0" marL="0">
              <a:buNone/>
            </a:pPr>
            <a:r>
              <a:rPr lang="en-US" sz="1100" b="1" spc="150" kern="0" dirty="0">
                <a:solidFill>
                  <a:srgbClr val="E6C98F"/>
                </a:solidFill>
              </a:rPr>
              <a:t>NEXT STEPS &amp; HELP</a:t>
            </a:r>
            <a:endParaRPr lang="en-US" sz="1100" dirty="0"/>
          </a:p>
        </p:txBody>
      </p:sp>
      <p:sp>
        <p:nvSpPr>
          <p:cNvPr id="7" name="Text 4"/>
          <p:cNvSpPr txBox="1"/>
          <p:nvPr/>
        </p:nvSpPr>
        <p:spPr>
          <a:xfrm>
            <a:off x="7909560" y="2011680"/>
            <a:ext cx="3504895" cy="34747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D5D8E6"/>
                </a:solidFill>
              </a:rPr>
              <a:t>Deck 07: troubleshooting</a:t>
            </a:r>
            <a:endParaRPr lang="en-US" sz="1350" dirty="0"/>
          </a:p>
          <a:p>
            <a:pPr marL="203200" indent="-203200">
              <a:spcAft>
                <a:spcPts val="600"/>
              </a:spcAft>
              <a:buSzPct val="100000"/>
              <a:buChar char="•"/>
            </a:pPr>
            <a:r>
              <a:rPr lang="en-US" sz="1350" dirty="0">
                <a:solidFill>
                  <a:srgbClr val="D5D8E6"/>
                </a:solidFill>
              </a:rPr>
              <a:t>Deck 08: access and audit controls</a:t>
            </a:r>
            <a:endParaRPr lang="en-US" sz="1350" dirty="0"/>
          </a:p>
          <a:p>
            <a:pPr marL="203200" indent="-203200">
              <a:spcAft>
                <a:spcPts val="600"/>
              </a:spcAft>
              <a:buSzPct val="100000"/>
              <a:buChar char="•"/>
            </a:pPr>
            <a:r>
              <a:rPr lang="en-US" sz="1350" dirty="0">
                <a:solidFill>
                  <a:srgbClr val="D5D8E6"/>
                </a:solidFill>
              </a:rPr>
              <a:t>Deck 12: reports and analytics</a:t>
            </a:r>
            <a:endParaRPr lang="en-US" sz="1350" dirty="0"/>
          </a:p>
          <a:p>
            <a:pPr marL="203200" indent="-203200">
              <a:spcAft>
                <a:spcPts val="600"/>
              </a:spcAft>
              <a:buSzPct val="100000"/>
              <a:buChar char="•"/>
            </a:pPr>
            <a:r>
              <a:rPr lang="en-US" sz="1350" dirty="0">
                <a:solidFill>
                  <a:srgbClr val="D5D8E6"/>
                </a:solidFill>
              </a:rPr>
              <a:t>Your Tenant Super Admin for role changes</a:t>
            </a:r>
            <a:endParaRPr lang="en-US" sz="1350" dirty="0"/>
          </a:p>
        </p:txBody>
      </p:sp>
      <p:sp>
        <p:nvSpPr>
          <p:cNvPr id="8" name="Text 5"/>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100" dirty="0">
                <a:solidFill>
                  <a:srgbClr val="E6C98F"/>
                </a:solidFill>
              </a:rPr>
              <a:t>Release gate: NO-GO (10 of 14 gates blocked, re-verified 13 Oct 2026). Not yet generally available.</a:t>
            </a:r>
            <a:endParaRPr lang="en-US" sz="1100" dirty="0"/>
          </a:p>
        </p:txBody>
      </p:sp>
      <p:sp>
        <p:nvSpPr>
          <p:cNvPr id="9"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130</a:t>
            </a:fld>
            <a:endParaRPr lang="en-US"/>
          </a:p>
        </p:txBody>
      </p:sp>
    </p:spTree>
  </p:cSld>
  <p:clrMapOvr>
    <a:masterClrMapping/>
  </p:clrMapOvr>
</p:sld>
</file>

<file path=ppt/theme/theme1.xml><?xml version="1.0" encoding="utf-8"?>
<a:theme xmlns:a="http://schemas.openxmlformats.org/drawingml/2006/main" name="PeopleOS Training">
  <a:themeElements>
    <a:clrScheme name="PeopleOS">
      <a:dk1>
        <a:srgbClr val="1F2433"/>
      </a:dk1>
      <a:lt1>
        <a:srgbClr val="FFFFFF"/>
      </a:lt1>
      <a:dk2>
        <a:srgbClr val="141A30"/>
      </a:dk2>
      <a:lt2>
        <a:srgbClr val="F4F5F8"/>
      </a:lt2>
      <a:accent1>
        <a:srgbClr val="574BC4"/>
      </a:accent1>
      <a:accent2>
        <a:srgbClr val="C9A45C"/>
      </a:accent2>
      <a:accent3>
        <a:srgbClr val="1E7F4F"/>
      </a:accent3>
      <a:accent4>
        <a:srgbClr val="B3261E"/>
      </a:accent4>
      <a:accent5>
        <a:srgbClr val="2F6FB3"/>
      </a:accent5>
      <a:accent6>
        <a:srgbClr val="D97706"/>
      </a:accent6>
      <a:hlink>
        <a:srgbClr val="574BC4"/>
      </a:hlink>
      <a:folHlink>
        <a:srgbClr val="3E3594"/>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vector>
  </TitlesOfParts>
  <Company>Markedge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PeopleOS · HR Administrator Training</dc:title>
  <dc:subject>Run people operations: records, hiring, changes, documents, time and leave, payroll inputs, growth, compensation, letters, requests, exits and audit.</dc:subject>
  <dc:creator>Markedge PeopleOS training</dc:creator>
  <cp:lastModifiedBy>Markedge PeopleOS training</cp:lastModifiedBy>
  <cp:revision>1</cp:revision>
  <dcterms:created xsi:type="dcterms:W3CDTF">2026-10-21T10:24:43Z</dcterms:created>
  <dcterms:modified xsi:type="dcterms:W3CDTF">2026-10-21T10:24:43Z</dcterms:modified>
</cp:coreProperties>
</file>