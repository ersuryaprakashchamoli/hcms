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</p:sldIdLst>
  <p:notesMasterIdLst>
    <p:notesMasterId r:id="rId1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694a36f-9cc4-c8e2-0383-4d6c84bdf12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lan" id="{f69341ce-b05d-1a1e-5f06-b3c8c93a805f}">
          <p14:sldIdLst>
            <p14:sldId id="265"/>
            <p14:sldId id="266"/>
            <p14:sldId id="267"/>
          </p14:sldIdLst>
        </p14:section>
        <p14:section name="Provision" id="{1456f183-d32a-ddc4-0f31-86036c0d670d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Structure" id="{bcb5eb61-e085-8568-8c30-06d8abfda769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People data" id="{0fd9ac3b-c6a2-3481-73b3-7185e4ee367f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Policies and pay" id="{893238c0-4e93-85ec-4064-a3eeb2ea75db}">
          <p14:sldIdLst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Validate" id="{df0f03a9-ef46-3fcf-254a-c02e0c95fe5b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</p14:sldIdLst>
        </p14:section>
        <p14:section name="Go live and govern" id="{107f0409-c90a-6fdd-45be-43086310dabf}">
          <p14:sldIdLst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</p14:sldIdLst>
        </p14:section>
        <p14:section name="Summary" id="{10a6ccf7-55d7-248a-fa38-14cd9c83507b}">
          <p14:sldIdLst>
            <p14:sldId id="3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notesMaster" Target="notesMasters/notesMaster1.xml"/><Relationship Id="rId132" Type="http://schemas.openxmlformats.org/officeDocument/2006/relationships/presProps" Target="presProps.xml"/><Relationship Id="rId133" Type="http://schemas.openxmlformats.org/officeDocument/2006/relationships/viewProps" Target="viewProps.xml"/><Relationship Id="rId134" Type="http://schemas.openxmlformats.org/officeDocument/2006/relationships/theme" Target="theme/theme1.xml"/><Relationship Id="rId1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playbook for taking a new customer live on PeopleOS. Every screen was produced by doing the work in a fresh tenant for a fictional customer, Northwind Retail.
EVIDENCE: Executed on the training database on 21 Oct 2026: tenant "Northwind Retail Pvt Ltd" (fictional) provisioned by the platform operator and configured by its first administrator, Farah Khan (fictional).
AUDIENCE: Markedge implementation specialists and the customer's implementation team. Operator steps are for Markedge platform operators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1 of 2). Status as written in the release gate document. Ten of fourteen gates are blocked by owner decisions, external parties or missing infrastructure.
- 1 | Application and architecture integrity | PASS (workstation) | Repeat the full suites in staging
- 2 | Credential exposure and repository remediation | BLOCKED | Owner: rotation confirmation, repository visibility (O-1 to O-3)
- 3 | Authentication and operator MFA | BLOCKED | Operators enrol MFA in the target environment (O-14, O-7)
- 4 | Independent security review | BLOCKED | Engage a reviewer; triage and retest findings (O-4)
- 5 | Statutory verification and gratuity | BLOCKED | 0 of 24 rules verified; gratuity not implemented (O-5, O-12, O-18)
- 6 | Data protection, retention, legal holds | PASS (controls) / BLOCKED (policy) | Retention decisions with counsel (D8); privacy review
- 7 | Backup, restore and disaster recovery | BLOCKED | Recovery objectives and an isolated target (O-6, O-7)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2 of 2). Status as written in the release gate document. Ten of fourteen gates are blocked by owner decisions, external parties or missing infrastructure.
- 8 | Hosting, monitoring and on-call | BLOCKED | Environment, alerting, on-call (O-7, O-10, O-11)
- 9 | Signup and tenant provisioning | PASS (disabled) / BLOCKED (activation) | Only if self-service signup is wanted at launch (D10)
- 10 | Billing, tax and payment controls | PASS (disabled) / BLOCKED (activation) | Only for paid billing (B-4, B-7, B-8, B-9)
- 11 | Tenant deletion and offboarding | PASS (disabled) / BLOCKED (activation) | Retention decisions, register disk, review (D8)
- 12 | Regression and target-environment testing | BLOCKED | A staging environment (O-7, O-8)
- 13 | Owner decisions and written approvals | BLOCKED | All owner action items
- 14 | Deployment, rollback, post-deployment checks | BLOCKED | Rehearse in staging; authorise (O-7 to O-9)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screenshot is a genuine capture from the running application on a disposable database. The full list, with what each one shows, is in SCREENSHOT-INVENTORY.md.
EVIDENCE: docs/presentations/peopleos/SCREENSHOT-INVENTORY.md and PEOPLEOS-PRESENTATION-ACCURACY-REGISTER.md.
SAY: How these screens were produced.
- Real application: PeopleOS at commit 72c96a73, run locally. No application file or setting was changed for the training.
- Disposable database: hcm_training_showcase: the fictional Demo Group plus a fictional customer, Northwind Retail, provisioned and configured from empty during this training.
- Workflows executed: Requests were submitted, approved, rejected and processed so that every state shown really happened.
- Nothing switched on: Public signup, live payments and tenant deletion stayed off. The operator used MFA. No secret is shown.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order of the stages matters: structure before people, people before policies, everything before UAT.
RESOURCES: supporting/PeopleOS-Customer-Implementation-Checklist.xlsx (one row per stage) and supporting/PeopleOS-Go-Live-Handover-Checklist.xlsx.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operator console and the customer's tenant are the same application, but different accounts with different permissions. Operators enter a tenant only explicitly, and every action is audited.
EVIDENCE: Executed on the training database on 21 Oct 2026: tenant "Northwind Retail Pvt Ltd" (fictional) provisioned by the platform operator and configured by its first administrator, Farah Khan (fictional).
SAY: Two administrators, two different jobs.
LEFT, Markedge platform operator: Signs in with MFA, works outside any tenant: creates tenants, watches platform health. Never configures the customer's HR data.
RIGHT, Customer tenant administrator: Invited by the operator; configures the organisation, people, policies and access inside one tenant.
OBSERVE: point out what differs between the two screens.
EVIDENCE: left = client-onboarding/90-onb-01-platform-home [Markedge Platform Admin (Platform operator), Platform home (operator)]; right = client-onboarding/90-onb-12-empty-tenant-home [Farah Khan (Tenant Super Admin (Northwind Retail, first administrator)), Home (new tenant, administration lens)].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slide and the next show all 28 stages. Red stages cannot be completed today: data import (defect F25), statutory verification (0 of 24 rules) and go-live approval (release gate NO-GO).
SAY: 28 stages in seven phases. Light blue = configured in PeopleOS · lilac = Markedge operator action · green = automated · grey = manual, outside PeopleOS · red = blocked.
Plan: 1. Discovery and implementation plan
Provision: 2. Tenant provisioning, 3. First administrator activation
Structure: 4. Company set-up, 5. Legal entities, 6. Establishments and locations, 7. Organisation structure, 8. Job architecture and positions
People data: 9. Employee data preparation, 10. Data load, 11. Person matching and duplicates, 12. Roles, users and access scope, 13. Reporting relationships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28 stages in seven phases (continued). Every stage has a card in this deck with: responsible party, inputs, navigation, what to configure, expected outcome, verification, evidence, common errors, dependencies and acceptance criteria.
Policies and pay: 14. Attendance and shifts, 15. Leave policies, 16. Payroll components and structures, 17. Statutory configuration and verification, 18. Workflows and approvals, 19. Notifications and communication, 20. Security policy and sign-in
Validate: 21. Employee and manager readiness, 22. Data validation and reconciliation, 23. User acceptance testing, 24. Defect logging and resolution, 25. Security and access validation
Go live: 26. Go-live readiness and approval, 27. Post-go-live monitoring and support handover, 28. Customer training and ongoing governance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Plan. Agree scope, data owners and the timeline before anything is configured.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Markedge implementation lead with the customer HR lead.
SAY: Agree scope (modules, countries, payroll in or out), roles, data owners, timeline.
VERIFY: Customer sign-off on the scope document. EVIDENCE TO KEEP: Scope and plan, signed.
WATCH FOR: Promising payroll go-live while statutory rules are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Collect personal data through the customer's secure channel, never by e-mail.
AVOID: committing to a payroll go-live date: statutory verification is a release gate (0 of 24 rules verified).
SAY: Ask the customer for these before kickoff.
- Organisation: Companies and legal employers, registered establishments, sites, business units, departments, teams, cost centres.
- Jobs and people: Designations, levels, grades, employment types; the employee master with managers; who the HR, payroll and IT owners are.
- Policies: Leave types and rules, shifts and weekly patterns, holiday lists per location, approval chains, notification needs.
- Pay and statutory: Salary components and structures, registrations (PF, ESI, PT, LWF, TAN). Decide in writing whether payroll is in scope while rules are unverified.
- Access: Who administers, who approves, which HR users cover which companies; MFA and SSO (OIDC) decisions.
- Integrations: Attendance devices, identity provider, API/SCIM consumers, webhooks. Recruitment systems connect only through the Integration Hub.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Provision. A Markedge operator creates the tenant; the customer's first administrator activates it.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Markedge platform operator (MFA required).
SAY: Tier, data region (metadata), name, slug (suggested from the name; check it before saving), status, locale, currency, first administrator; audit reason.
VERIFY: Tenant row is Active; invitation sent (or resend from the Tenants list). EVIDENCE TO KEEP: Tenants list screenshot; audit entry.
WATCH FOR: Mail not configured: "Tenant created, but the invitation e-mail was not sent".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Only platform operators see this page. Operators must use an authenticator app (MFA) to get here.
EVIDENCE: Executed on the training database on 21 Oct 2026: tenant "Northwind Retail Pvt Ltd" (fictional) provisioned by the platform operator and configured by its first administrator, Farah Khan (fictional).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OBSERVE: Northwind Retail Pvt Ltd, IN, Asia/Kolkata, INR; first administrator Farah Khan (fictional). The slug is suggested from the name and replaced the typed "northwind" with "northwind-retail-pvt-ltd": check it before saving.
SAY: Tier and region are recorded but do not route data to a separate database today (deferred).
EVIDENCE: Executed on the training database on 21 Oct 2026: tenant "Northwind Retail Pvt Ltd" (fictional) provisioned by the platform operator and configured by its first administrator, Farah Khan (fictional).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 e-mail address can belong to only one organisation (owner decision D-17 is still open). Use the customer administrator's company address.
SAY: Duplicates are refused; the new tenant appears.
LEFT, Same tenant submitted again: "The slug has already been taken." and "The email has already been taken." Nothing is created.
RIGHT, Tenants list: Northwind Retail is Active with 1 user (the invited administrator). Send invitation re-sends the e-mail.
OBSERVE: point out what differs between the two screens.
EVIDENCE: left = client-onboarding/90-onb-04-duplicate-tenant-refused [Markedge Platform Admin (Platform operator), Tenants › New tenant (validation)]; right = client-onboarding/90-onb-05-tenants-with-northwind [Markedge Platform Admin (Platform operator), Admin › Platform › Tenants].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save asks for a reason and is listed in the tenant's History.
ON SCREEN: Open the tenant record.
WALK THROUGH: (1) Status is read-only here. (2) Lifecycle changes use Suspend / Reactivate on the list. (3) Tier and region metadata.
LEARNERS SHOULD SEE: Operator-only settings: tier, data region, status, trial metadata, locale defaults
SCREEN: Tenants › Edit tenant. Signed in as Markedge Platform Admin (Platform operator). Prerequisite: Platform operator account with MFA.
EVIDENCE: screenshot screenshots/client-onboarding/90-onb-06-tenant-edit.png,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administrator.
SAY: Choose a password; sign in.
VERIFY: Users list shows the administrator Active. EVIDENCE TO KEEP: Users list.
WATCH FOR: Expired or used link; one e-mail address can belong to only one organisation.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This is the e-mail PeopleOS sent, rendered from the training server's mail log; it is not an application screen.
ACTION FOR MARKEDGE: production mail configuration (sender name, domain) is part of hosting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Activate the account.
LEFT, Accept your invitation: Choose a password, confirm it, then Activate my account.
RIGHT, Password rules: "The password field must be at least 8 characters." The account stays invited until a valid password is set.
OBSERVE: point out what differs between the two screens.
EVIDENCE: left = client-onboarding/90-onb-08-accept-invitation [Farah Khan (invited, not yet active) (Invited first administrator), Accept your invitation (/admin/invitation/…)]; right = client-onboarding/90-onb-09-password-rules [Farah Khan (invited, not yet active) (Invited first administrator), Accept your invitation (validation)].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SUPPORT: if a customer reports an expired link, the operator uses Send invitation on the Tenants list (stage 2).
SAY: Ready to sign in; the link cannot be reused.
LEFT, After activation: "Your account is ready. Sign in with your new password."
RIGHT, Same link opened again: "This invitation link is invalid or has expired. Ask your administrator to send a new one."
OBSERVE: point out what differs between the two screens.
EVIDENCE: left = client-onboarding/90-onb-10-account-ready-sign-in [Farah Khan (Tenant Super Admin (Northwind Retail, first administrator)), Sign in (after activation)]; right = client-onboarding/90-onb-11-invitation-used [Signed out (Visitor), Accept your invitation (used link)].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Act on the governance items before inviting anyone else: require MFA (stage 20) and plan HR scope (stage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Structure. Build the organisation the people will sit in: companies, legal employers, sites, units and jobs.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Admin › All modules. Search finds a module by name.
ON SCREEN: Open Admin Centre.
WALK THROUGH: (1) Organisation and positions. (2) Access and security. (3) Change Centre (governed changes).
LEARNERS SHOULD SEE: Every module grouped by area, with a search box and the Change Centre
SCREEN: Admin › All modules (Admin Centre). Signed in as Farah Khan (Tenant Super Admin (Northwind Retail, first administrator)). Prerequisite: Signed in as the tenant administrator (Tenant Super Admin of Northwind Retail).
EVIDENCE: screenshot screenshots/client-onboarding/90-onb-13-admin-centre.png,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Admin › Setup › What do you want to configure? groups set-up screens and individual settings by topic.
ON SCREEN: Open the configuration finder.
WALK THROUGH: (1) Organisation structure. (2) Statutory compliance. (3) Access and security.
LEARNERS SHOULD SEE: Set-up screens and individual settings grouped by topic (organisation, time and leave, pay, statutory, access …)
SCREEN: Admin › Setup › What do you want to configure?. Signed in as Farah Khan (Tenant Super Admin (Northwind Retail, first administrator)). Prerequisite: Signed in as the tenant administrator (Tenant Super Admin of Northwind Retail).
EVIDENCE: screenshot screenshots/client-onboarding/90-onb-14-configuration-finder.png,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administrator.
SAY: Company name, legal name, code, effective from.
VERIFY: Companies, Legal Entities and Establishments lists. EVIDENCE TO KEEP: Companies list.
WATCH FOR: Duplicate codes (unique within the tenant).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new tenant has no company yet.
ON SCREEN: Open Organisation › Companies in the new tenant.
WALK THROUGH: (1) Start here: New company.
LEARNERS SHOULD SEE: "No companies yet"; New company
SCREEN: Organisation › Companies (empty). Signed in as Farah Khan (Tenant Super Admin (Northwind Retail, first administrator)). Prerequisite: Signed in as the tenant administrator (Tenant Super Admin of Northwind Retail).
EVIDENCE: screenshot screenshots/client-onboarding/90-onb-15-companies-empty.png,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Company name, legal name, code and effective date.
ON SCREEN: Name, code, legal name, status, locale and the effective-from date.
WALK THROUGH: (1) Company details.
LEARNERS SHOULD SEE: Company record effective from 1 Apr 2026
SCREEN: Companies › New company. Signed in as Farah Khan (Tenant Super Admin (Northwind Retail, first administrator)). Prerequisite: Signed in as the tenant administrator (Tenant Super Admin of Northwind Retail).
EVIDENCE: screenshot screenshots/client-onboarding/90-onb-16-new-company.png,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Northwind Retail (NWR), effective 01 Apr 2026.
ON SCREEN: Back to the list.
WALK THROUGH: (1) The new company with its code and effective date.
LEARNERS SHOULD SEE: Northwind Retail (NWR) effective from 01 Apr 2026
SCREEN: Organisation › Companies. Signed in as Farah Khan (Tenant Super Admin (Northwind Retail, first administrator)). Prerequisite: Signed in as the tenant administrator (Tenant Super Admin of Northwind Retail).
EVIDENCE: screenshot screenshots/client-onboarding/90-onb-17-company-saved.png,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 with finance.
SAY: Review and complete the primary legal entity created with the company; add more only for additional legal employers.
VERIFY: List shows each entity and its status. EVIDENCE TO KEEP: Legal entities list.
WATCH FOR: Treating a location as a legal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Creating the company already created a primary legal entity; complete it, and add another only for an additional legal employer. A review of the values appears before Create.
ON SCREEN: Company, code, legal name, trade name, legal form, country, incorporation identifier, status and effective dates.
LEARNERS SHOULD SEE: The statutory employer behind the company; a review of the values appears before Create
SCREEN: Organisation › Legal entities › New legal entity. Signed in as Farah Khan (Tenant Super Admin (Northwind Retail, first administrator)). Prerequisite: Signed in as the tenant administrator (Tenant Super Admin of Northwind Retail).
EVIDENCE: screenshot screenshots/client-onboarding/90-onb-18-new-legal-entity.png,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training run shows the automatic primary entity and one added by hand (the establishment that follows hangs off the added one). For a single employer, complete the automatic entity instead.
ON SCREEN: Back to the list.
WALK THROUGH: (1) The legal entity with its company and status.
LEARNERS SHOULD SEE: Two legal entities: the primary one created automatically with the company (Northwind Retail Pvt Ltd, NWR) and the one added here; each with Submit for verification
SCREEN: Organisation › Legal entities. Signed in as Farah Khan (Tenant Super Admin (Northwind Retail, first administrator)). Prerequisite: Signed in as the tenant administrator (Tenant Super Admin of Northwind Retail).
EVIDENCE: screenshot screenshots/client-onboarding/90-onb-19-legal-entity-saved.png,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administrator.
SAY: Complete the principal establishment created with the company; add further registered places of work; locations with state.
VERIFY: Locations appear in hire and position forms. EVIDENCE TO KEEP: Lists.
WATCH FOR: Locations cannot be linked to an establishment on screen (F10); the state list holds 13 Indian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registered place of work; its state drives state-level rules (professional tax, labour welfare fund). A principal establishment already exists for the company.
ON SCREEN: Legal entity, code, name, type, address, state, district, postal code, status and dates.
LEARNERS SHOULD SEE: A registered place of work; the state drives state-level statutory rules (professional tax, labour welfare fund)
SCREEN: Organisation › Establishments › New establishment. Signed in as Farah Khan (Tenant Super Admin (Northwind Retail, first administrator)). Prerequisite: Signed in as the tenant administrator (Tenant Super Admin of Northwind Retail).
EVIDENCE: screenshot screenshots/client-onboarding/90-onb-20-new-establishment.png,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Statutory profiles attach to establishments (stage 17).
ON SCREEN: Back to the list.
WALK THROUGH: (1) Bengaluru head office under the legal entity.
LEARNERS SHOULD SEE: Two establishments: the principal establishment created automatically for the primary legal entity and Bengaluru head office added here
SCREEN: Organisation › Establishments. Signed in as Farah Khan (Tenant Super Admin (Northwind Retail, first administrator)). Prerequisite: Signed in as the tenant administrator (Tenant Super Admin of Northwind Retail).
EVIDENCE: screenshot screenshots/client-onboarding/90-onb-21-establishment-saved.png,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physical site for people, assets and attendance; used in the hire wizard and in holiday and schedule rules.
ON SCREEN: Company, name, code, type, address, state, postal code, country, time zone and dates.
LEARNERS SHOULD SEE: A physical site for people, assets and attendance
SCREEN: Organisation › Locations › New location. Signed in as Farah Khan (Tenant Super Admin (Northwind Retail, first administrator)). Prerequisite: Signed in as the tenant administrator (Tenant Super Admin of Northwind Retail).
EVIDENCE: screenshot screenshots/client-onboarding/90-onb-22-new-location.png,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Known limit: a location cannot be linked to an establishment on screen (F10).
ON SCREEN: Back to the list.
WALK THROUGH: (1) Bengaluru HQ (BLR) for the company.
LEARNERS SHOULD SEE: Bengaluru HQ (BLR) for the company
SCREEN: Organisation › Locations. Signed in as Farah Khan (Tenant Super Admin (Northwind Retail, first administrator)). Prerequisite: Signed in as the tenant administrator (Tenant Super Admin of Northwind Retail).
EVIDENCE: screenshot screenshots/client-onboarding/90-onb-23-location-saved.png,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lead.
SAY: Create units under their parents.
VERIFY: Org map shows the tree. EVIDENCE TO KEEP: Org map screenshot.
WATCH FOR: Mixing financial and reporting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Retail Operations: the parent of the store departments.
ON SCREEN: Company, name, code, description, status and effective date.
WALK THROUGH: (1) Business unit details for the company.
LEARNERS SHOULD SEE: An effective-dated unit of the company; where it sits in the hierarchy is arranged in the Organisation Designer
SCREEN: Business units › New. Signed in as Farah Khan (Tenant Super Admin (Northwind Retail, first administrator)). Prerequisite: Signed in as the tenant administrator (Tenant Super Admin of Northwind Retail).
EVIDENCE: screenshot screenshots/client-onboarding/90-onb-24-new-business-unit.png,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Units are effective-dated; their place in the hierarchy is set in the Organisation Designer.
ON SCREEN: Company, name, code, description, status and effective date.
WALK THROUGH: (1) Company. (2) Name. (3) Effective from.
LEARNERS SHOULD SEE: An effective-dated unit of the company; where it sits in the hierarchy is arranged in the Organisation Designer
SCREEN: Departments › New. Signed in as Farah Khan (Tenant Super Admin (Northwind Retail, first administrator)). Prerequisite: Signed in as the tenant administrator (Tenant Super Admin of Northwind Retail).
EVIDENCE: screenshot screenshots/client-onboarding/90-onb-25-new-department.png,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Business units, divisions, teams, cost and profit centres follow the same pattern.
ON SCREEN: Open Departments.
WALK THROUGH: (1) Store Operations and People &amp; Culture with their dates.
LEARNERS SHOULD SEE: Store Operations and People &amp; Culture with their parents and dates
SCREEN: Organisation › Departments. Signed in as Farah Khan (Tenant Super Admin (Northwind Retail, first administrator)). Prerequisite: Signed in as the tenant administrator (Tenant Super Admin of Northwind Retail).
EVIDENCE: screenshot screenshots/client-onboarding/90-onb-26-departments.png,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tree starts from the company.
ON SCREEN: Add the company as the root: type Company, use an existing unit, reason for change.
WALK THROUGH: (1) Unit type: Company. (2) Use an existing unit. (3) Reason for change.
LEARNERS SHOULD SEE: The tree starts from the company
SCREEN: Organisation Designer › Add root unit. Signed in as Farah Khan (Tenant Super Admin (Northwind Retail, first administrator)). Prerequisite: Company and units created; signed in as the tenant administrator.
EVIDENCE: screenshot screenshots/client-onboarding/90-onb-29-designer-add-root.png,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Each placement is recorded in the audit trail.
ON SCREEN: Add child under Northwind Retail: type Business Unit, use the existing unit "Retail Operations", reason for change.
WALK THROUGH: (1) Unit type: Business Unit. (2) Existing unit: Retail Operations. (3) Reason for change.
LEARNERS SHOULD SEE: The unit is placed under its parent; the change is recorded in the audit trail
SCREEN: Organisation Designer › Add unit under Northwind Retail. Signed in as Farah Khan (Tenant Super Admin (Northwind Retail, first administrator)). Prerequisite: Company and units created; signed in as the tenant administrator.
EVIDENCE: screenshot screenshots/client-onboarding/90-onb-30-designer-add-child.png,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Check the tree and the chart.
LEFT, Tree: Company → business unit → department → team. Each node: Add child, Rename, Move, Deactivate, Remove from tree.
RIGHT, Chart: The same structure as a chart. The Org map adds people once they are hired.
OBSERVE: point out what differs between the two screens.
EVIDENCE: left = client-onboarding/90-onb-31-designer-tree [Farah Khan (Tenant Super Admin (Northwind Retail, first administrator)), Organisation Designer (tree)]; right = client-onboarding/90-onb-32-designer-chart [Farah Khan (Tenant Super Admin (Northwind Retail, first administrator)), Organisation Designer (chart)].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lead.
SAY: Reference lists; draft positions.
VERIFY: Hire wizard drop-downs show the values. EVIDENCE TO KEEP: Lists.
WATCH FOR: FTE fields refuse whole numbers such as 1 (F8): leave blank.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Employment types, categories, work modes and levels L1–L6 are seeded; designations, grades and job families start empty.
ON SCREEN: Review the starting values every new tenant receives.
WALK THROUGH: (1) Seeded value. (2) Add your own.
LEARNERS SHOULD SEE: Employment types (Full-time, Part-time, Contract, Intern …), employee categories, work modes and levels L1–L6 are seeded; designations, grades and job families start empty
SCREEN: Admin › Setup › Employment types. Signed in as Farah Khan (Tenant Super Admin (Northwind Retail, first administrator)). Prerequisite: Organisation set up; signed in as the tenant administrator.
EVIDENCE: screenshot screenshots/client-onboarding/90-onb-33-seeded-employment-types.png,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Designations carry the job attributes used on hire.
ON SCREEN: Name, code, level and other job attributes, effective date.
WALK THROUGH: (1) Name. (2) Code. (3) Level. (4) Effective from.
LEARNERS SHOULD SEE: Designations are effective-dated and carry the job attributes used on hire
SCREEN: Admin › Setup › Designations › New designation. Signed in as Farah Khan (Tenant Super Admin (Northwind Retail, first administrator)). Prerequisite: Organisation set up; signed in as the tenant administrator.
EVIDENCE: screenshot screenshots/client-onboarding/90-onb-34-new-designation.png,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These appear in the hire wizard's Position step.
ON SCREEN: Back to the list.
WALK THROUGH: (1) Store Manager (L4), Retail Associate (L2), HR Executive (L3).
LEARNERS SHOULD SEE: Store Manager (L4), Retail Associate (L2), HR Executive (L3)
SCREEN: Admin › Setup › Designations. Signed in as Farah Khan (Tenant Super Admin (Northwind Retail, first administrator)). Prerequisite: Organisation set up; signed in as the tenant administrator.
EVIDENCE: screenshot screenshots/client-onboarding/90-onb-35-designations.png,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draft position; it is proposed, approved and opened before it is filled.
ON SCREEN: Code, effective date, title, company, employment type, worker type, grade, occupancy, headcount, reason.
WALK THROUGH: (1) Code. (2) Title. (3) Grade. (4) Seats. (5) FTE: leave blank (defect F8 refuses whole numbers).
LEARNERS SHOULD SEE: A draft position; it goes through propose → approve → open before it is filled
SCREEN: Organisation › Workforce › Positions › New position. Signed in as Farah Khan (Tenant Super Admin (Northwind Retail, first administrator)). Prerequisite: Organisation set up; signed in as the tenant administrator.
EVIDENCE: screenshot screenshots/client-onboarding/90-onb-36-new-position.png,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Use positions when the customer manages headcount by seat; otherwise skip.
ON SCREEN: Back to the list.
WALK THROUGH: (1) POS-SM-01 in Draft (the form on the previous slide was re-shot later with another code and cancelled).
LEARNERS SHOULD SEE: POS-SM-01 in Draft
SCREEN: Organisation › Workforce › Positions. Signed in as Farah Khan (Tenant Super Admin (Northwind Retail, first administrator)). Prerequisite: Organisation set up; signed in as the tenant administrator.
EVIDENCE: screenshot screenshots/client-onboarding/90-onb-37-positions.png,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People data. Prepare the data, load people once, set managers, invite users with the right reach.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data owner.
SAY: Clean names, e-mails, joining dates, managers, units; one row per person.
VERIFY: Row counts reconcile with payroll headcount. EVIDENCE TO KEEP: Data file and reconciliation sheet.
WATCH FOR: Personal identifiers sent by e-mail; duplicate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 with Markedge.
SAY: Upload works; Map columns fails with "Undefined variable $svc" (F25).
VERIFY: Import status. EVIDENCE TO KEEP: Import record and error message.
WATCH FOR: F25 defect. Workarounds: the Hire employee wizard per person (verified in this training), or POST /api/v1/employees with an API key (in the OpenAPI specification; not exercised in this training).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import then goes Inspect → Map columns → Validate → Approve → Run.
ON SCREEN: Upload a CSV prepared from the customer’s data (fictional rows).
WALK THROUGH: (1) Upload CSV.
LEARNERS SHOULD SEE: The file is stored; the import then goes Inspect → Map columns → Validate → Approve → Run
SCREEN: People › Lifecycle › Employee imports › Upload CSV. Signed in as Farah Khan (Tenant Super Admin (Northwind Retail, first administrator)). Prerequisite: Signed in as the tenant administrator.
EVIDENCE: screenshot screenshots/client-onboarding/90-onb-91-import-upload.png,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Inspect, then map the columns.
LEFT, Inspected: Headers and row count read from the file; status inspected.
RIGHT, Map columns: Each CSV column mapped to a PeopleOS field; on duplicates: update or skip.
OBSERVE: point out what differs between the two screens.
EVIDENCE: left = client-onboarding/90-onb-92a-import-inspected [Farah Khan (Tenant Super Admin (Northwind Retail, first administrator)), Employee import (after Inspect file)]; right = client-onboarding/90-onb-92-import-map-columns [Farah Khan (Tenant Super Admin (Northwind Retail, first administrator)), Employee import › Map columns].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Imports cannot pass "inspected" from the screen (defect F25). Load people with the Hire employee wizard, or through POST /api/v1/employees (not exercised in this training) until fixed.
ON SCREEN: Submit the column mapping.
WALK THROUGH: (1) Map columns fails with "Undefined variable $svc".
LEARNERS SHOULD SEE: Observed: "Failed
Undefined variable $svc" — the mapping is not saved, so the import cannot pass "inspected" from the screen (known defect F25)
SCREEN: Employee import (after Map columns). Signed in as Farah Khan (Tenant Super Admin (Northwind Retail, first administrator)). Prerequisite: Signed in as the tenant administrator.
EVIDENCE: screenshot screenshots/client-onboarding/90-onb-93-import-map-fails.png,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HR.
SAY: Nothing: the wizard checks for an existing person.
VERIFY: Directory shows one record per person. EVIDENCE TO KEEP: Wizard warning screenshot.
WATCH FOR: Ignoring a "possible duplicate"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person is checked against existing people before you continue.
ON SCREEN: Name, date of birth, personal details and personal e-mail.
WALK THROUGH: (1) Step 1 of 4. (2) Name. (3) Personal e-mail.
LEARNERS SHOULD SEE: The person is checked against existing people before you continue
SCREEN: Hire employee › 01 Person. Signed in as Farah Khan (Tenant Super Admin (Northwind Retail, first administrator)). Prerequisite: Organisation, designations and levels configured; employee.create permission.
EVIDENCE: screenshot screenshots/client-onboarding/90-onb-38-hire-person.png,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Definite matches are refused; possible matches are warned. One person, one lifetime record.
ON SCREEN: Enter a person who already exists (same name, date of birth and personal e-mail) and press Next.
WALK THROUGH: (1) "This person already exists". (2) Re-use the existing person.
LEARNERS SHOULD SEE: PeopleOS matches the existing person and stops or warns before a duplicate is created
SCREEN: Hire employee › 01 Person (duplicate check). Signed in as Farah Khan (Tenant Super Admin (Northwind Retail, first administrator)). Prerequisite: Organisation, designations and levels configured; employee.create permission.
EVIDENCE: screenshot screenshots/client-onboarding/90-onb-45-duplicate-person.png,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Employee code is generated when left blank
ON SCREEN: Joining date, probation end, employee code, work e-mail and phone.
WALK THROUGH: (1) Joining date. (2) Employee code (generated when blank). (3) Work e-mail.
LEARNERS SHOULD SEE: Employee code is generated when left blank
SCREEN: Hire employee › 02 Employment. Signed in as Farah Khan (Tenant Super Admin (Northwind Retail, first administrator)). Prerequisite: Organisation, designations and levels configured; employee.create permission.
EVIDENCE: screenshot screenshots/client-onboarding/90-onb-39-hire-employment.png,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Values come from the structure built in stages 4–8.
ON SCREEN: Company, location, business unit, department, team, designation, level, employment type, category, work mode.
WALK THROUGH: (1) Company (the only required field). (2) Department. (3) Designation. (4) Employment type.
LEARNERS SHOULD SEE: Only Company is required; the rest place the person in the structure built earlier
SCREEN: Hire employee › 03 Position. Signed in as Farah Khan (Tenant Super Admin (Northwind Retail, first administrator)). Prerequisite: Organisation, designations and levels configured; employee.create permission.
EVIDENCE: screenshot screenshots/client-onboarding/90-onb-40-hire-position.png,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reason is recorded in the audit trail
ON SCREEN: Reporting line (none for the first manager) and the reason.
WALK THROUGH: (1) Line manager (none for the first manager). (2) Reason for change. (3) Create employee.
LEARNERS SHOULD SEE: The reason is recorded in the audit trail
SCREEN: Hire employee › 04 Manager. Signed in as Farah Khan (Tenant Super Admin (Northwind Retail, first administrator)). Prerequisite: Organisation, designations and levels configured; employee.create permission.
EVIDENCE: screenshot screenshots/client-onboarding/90-onb-41-hire-manager.png,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Vivek Rao (EMP00001), joins Nov 2026.
ON SCREEN: Create employee.
WALK THROUGH: (1) Confirmation. (2) The new Employee 360: Preboarding, one lifetime record.
LEARNERS SHOULD SEE: Vivek Rao (EMP00001) opens in Employee 360: Preboarding, One lifetime record, joins Nov 2026
SCREEN: Employee record (after Create employee). Signed in as Farah Khan (Tenant Super Admin (Northwind Retail, first administrator)). Prerequisite: Organisation, designations and levels configured; employee.create permission.
EVIDENCE: screenshot screenshots/client-onboarding/90-onb-43-hire-created.png,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Records the actual joining date (here earlier than the planned date) and moves Preboarding → Joined → Probation.
ON SCREEN: Confirm the actual joining date with a reason.
WALK THROUGH: (1) Reason for change.
LEARNERS SHOULD SEE: Lifecycle moves Preboarding → Joined → Probation
SCREEN: Employee 360 › Action › Mark as joined. Signed in as Farah Khan (Tenant Super Admin (Northwind Retail, first administrator)). Prerequisite: Employees hired; employee.lifecycle / employee.position permissions.
EVIDENCE: screenshot screenshots/client-onboarding/90-onb-46-mark-as-joined.png,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Load managers first and mark them as joined, so they can be chosen as line managers.
ON SCREEN: Submit.
WALK THROUGH: (1) "Joined — Now in probation."
LEARNERS SHOULD SEE: "Joined — Now in probation."; the status badge shows Probation
SCREEN: Employee 360 (after Mark as joined). Signed in as Farah Khan (Tenant Super Admin (Northwind Retail, first administrator)). Prerequisite: Employees hired; employee.lifecycle / employee.position permissions.
EVIDENCE: screenshot screenshots/client-onboarding/90-onb-47-joined-probation.png,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administrator.
SAY: Invite users with roles; set organisation scope for HR users.
VERIFY: Sign in as each role (test accounts) and check the menus. EVIDENCE TO KEEP: Users list; role matrix.
WATCH FOR: Leaving HR users without scope gives them the whole tenant (Home warns); Tenant HR Admin cannot edit role permissions (F5).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14 roles, from Account Owner to Tenant Super Admin. Only a Tenant Super Admin edits role permissions.
ON SCREEN: Open Roles.
WALK THROUGH: (1) A system role with its permission and user counts. (2) New role (custom roles).
LEARNERS SHOULD SEE: 14 system roles provisioned with the tenant (Account Owner … Tenant Super Admin), each with its permission count and users; New role
SCREEN: Admin › Setup › Roles. Signed in as Farah Khan (Tenant Super Admin (Northwind Retail, first administrator)). Prerequisite: Signed in as the tenant administrator (user.manage, role.view).
EVIDENCE: screenshot screenshots/client-onboarding/90-onb-54-roles.png,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Permission keys grouped by module. Changes are audited with the keys granted and removed.
ON SCREEN: Open a role to see its permissions.
LEARNERS SHOULD SEE: Permission keys grouped by module; only a Tenant Super Admin edits role permissions
SCREEN: Roles › HR Executive (edit). Signed in as Farah Khan (Tenant Super Admin (Northwind Retail, first administrator)). Prerequisite: Signed in as the tenant administrator (user.manage, role.view).
EVIDENCE: screenshot screenshots/client-onboarding/90-onb-55-role-permissions.png,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user receives an invitation e-mail and chooses a password; nobody else ever sees it.
ON SCREEN: Name, e-mail, role HR Executive, access scope limited to the Northwind Retail company.
WALK THROUGH: (1) Work e-mail. (2) Roles. (3) Access scope: company. (4) Create user.
LEARNERS SHOULD SEE: The user is invited by e-mail; the scope restricts which employees and units they can reach (dimensions combine with AND)
SCREEN: Admin › Setup › Users › New user. Signed in as Farah Khan (Tenant Super Admin (Northwind Retail, first administrator)). Prerequisite: Signed in as the tenant administrator (user.manage, role.view).
EVIDENCE: screenshot screenshots/client-onboarding/90-onb-56-new-user.png,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Invited, then listed.
LEFT, After Create user (development mode): The History panel errors (F26, non-production strict mode). The user was still created and invited, as the list shows.
RIGHT, Users: Farah Khan (Tenant Super Admin, Active) and Rohit Menon (HR Executive, Invited).
OBSERVE: point out what differs between the two screens.
EVIDENCE: left = client-onboarding/90-onb-57-user-created [Farah Khan (Tenant Super Admin (Northwind Retail, first administrator)), Users › Edit user (opened after Create user)]; right = client-onboarding/90-onb-58-users [Farah Khan (Tenant Super Admin (Northwind Retail, first administrator)), Admin › Setup › Users].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Always test access by signing in as each role (with test accounts in UAT), not only as the super administrator.
SAY: Check what the role really sees.
LEFT, HR Executive Home: A narrower menu than the administrator; Home shows people operations.
RIGHT, Roles, as an HR Executive: Refused: the HR Executive role does not include role.view.
OBSERVE: point out what differs between the two screens.
EVIDENCE: left = client-onboarding/90-onb-59-hr-executive-home [Rohit Menon (HR Executive (Northwind Retail)), Home (HR Executive, Northwind Retail)]; right = client-onboarding/90-onb-60-hr-executive-roles-denied [Rohit Menon (HR Executive (Northwind Retail)), Roles (as HR Executive)].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HR.
SAY: Primary line manager; functional, dotted, mentor etc. where used. Only employed people can be chosen: hire and Mark as joined the managers first.
VERIFY: Org map; a test leave request reaches the manager. EVIDENCE TO KEEP: Org map.
WATCH FOR: Missing managers: approvals have nobody to route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"No options match your search": Vivek Rao was still Preboarding. Hire without a manager, then use Change manager.
ON SCREEN: Hire Ishita Sen and search for Vivek Rao as her line manager.
WALK THROUGH: (1) Line manager search finds nobody. (·) "No options match your search."
LEARNERS SHOULD SEE: "No options match your search": only employed people (joined, probation, confirmed …) can be line managers; Vivek is still Preboarding. Ishita was created without a manager and linked later with Change manager
SCREEN: Hire employee › 04 Manager (Line manager search). Signed in as Farah Khan (Tenant Super Admin (Northwind Retail, first administrator)). Prerequisite: Organisation, designations and levels configured; employee.create permission.
EVIDENCE: screenshot screenshots/client-onboarding/90-onb-44-hire-with-manager.png,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Step 1 of 3 shows today’s reporting lines
ON SCREEN: Choose which relationship changes (line manager, dotted line, project …).
WALK THROUGH: (1) Which relationship changes (line, dotted, project…). (2) Next.
LEARNERS SHOULD SEE: Step 1 of 3 shows today’s reporting lines
SCREEN: Employee 360 › Action › Change manager (01 Context). Signed in as Farah Khan (Tenant Super Admin (Northwind Retail, first administrator)). Prerequisite: Employees hired; employee.lifecycle / employee.position permissions.
EVIDENCE: screenshot screenshots/client-onboarding/90-onb-48-change-manager-context.png,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Only employed people are offered as managers
ON SCREEN: Pick the new manager and the date the change takes effect.
WALK THROUGH: (1) New manager. (2) Effective from.
LEARNERS SHOULD SEE: Only employed people are offered as managers
SCREEN: Change manager (02 Change). Signed in as Farah Khan (Tenant Super Admin (Northwind Retail, first administrator)). Prerequisite: Employees hired; employee.lifecycle / employee.position permissions.
EVIDENCE: screenshot screenshots/client-onboarding/90-onb-49-change-manager-change.png,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Before → After shown side by side.
ON SCREEN: Review Before → After and give the reason.
WALK THROUGH: (1) Reason for change. (2) Confirm reporting change.
LEARNERS SHOULD SEE: The old and new reporting line side by side; Confirm reporting change
SCREEN: Change manager (03 Review). Signed in as Farah Khan (Tenant Super Admin (Northwind Retail, first administrator)). Prerequisite: Employees hired; employee.lifecycle / employee.position permissions.
EVIDENCE: screenshot screenshots/client-onboarding/90-onb-50-change-manager-review.png,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Ishita Sen now reports to Vivek Rao; the change is in her history.
ON SCREEN: Confirm reporting change.
WALK THROUGH: (1) Confirmation. (2) Reports to.
LEARNERS SHOULD SEE: Ishita Sen now reports to Vivek Rao; the change is in her history
SCREEN: Employee 360 (after the change). Signed in as Farah Khan (Tenant Super Admin (Northwind Retail, first administrator)). Prerequisite: Employees hired; employee.lifecycle / employee.position permissions.
EVIDENCE: screenshot screenshots/client-onboarding/90-onb-51-reporting-changed.png,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Verify: org map and directory.
LEFT, Org map: Vivek Rao with Ishita Sen reporting to him.
RIGHT, Directory: The three Northwind employees and their manager. Role, department and location show "—": these hires were placed with the company only.
OBSERVE: point out what differs between the two screens.
EVIDENCE: left = client-onboarding/90-onb-52-org-map-with-people [Farah Khan (Tenant Super Admin (Northwind Retail, first administrator)), Organisation › Org map]; right = client-onboarding/90-onb-53-directory [Farah Khan (Tenant Super Admin (Northwind Retail, first administrator)), People › Directory].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Policies and pay. Time, leave, pay, statutory, workflows, notifications and sign-in security.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(attendance).
SAY: Shifts, schedules with rules, holiday calendars with rules, devices.
VERIFY: Process a test day; check records. EVIDENCE TO KEEP: Attendance records.
WATCH FOR: Holiday type and half-day are ignored: every holiday is a full day (F39); late-mark actions not applied (F40).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Start and end times, breaks and grace rules; a review panel shows the shift before it is created.
ON SCREEN: Name, code, type, start and end, full/half-day minutes, breaks, grace and overtime thresholds, effective date.
LEARNERS SHOULD SEE: Attendance status, late marks and overtime are computed from these values
SCREEN: Time &amp; leave › Shifts › New shift. Signed in as Farah Khan (Tenant Super Admin (Northwind Retail, first administrator)). Prerequisite: Signed in as the tenant administrator (attendance.manage).
EVIDENCE: screenshot screenshots/client-onboarding/90-onb-61-new-shift.png,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weekly pattern of shifts and weekly offs.
ON SCREEN: A weekly pattern: the general shift Monday to Friday, weekly off at the weekend.
LEARNERS SHOULD SEE: Schedules can rotate over several weeks (Add to weeks); rules on the saved schedule decide who it applies to
SCREEN: Time &amp; leave › Work schedules › New work schedule. Signed in as Farah Khan (Tenant Super Admin (Northwind Retail, first administrator)). Prerequisite: Signed in as the tenant administrator (attendance.manage).
EVIDENCE: screenshot screenshots/client-onboarding/90-onb-62-new-work-schedule.png,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Applies-to rules decide who works the schedule; individuals can be assigned from the Employee 360.
ON SCREEN: Open the saved schedule.
LEARNERS SHOULD SEE: Weekly pattern, "Applies to" rules (who follows the schedule) and History
SCREEN: Work schedule (edit page). Signed in as Farah Khan (Tenant Super Admin (Northwind Retail, first administrator)). Prerequisite: Signed in as the tenant administrator (attendance.manage).
EVIDENCE: screenshot screenshots/client-onboarding/90-onb-63-work-schedule-saved.png,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 calendar per location or group; assigned by rule.
ON SCREEN: Name, code, year, status.
LEARNERS SHOULD SEE: Holidays and the "Applies to" rules are added on the saved calendar
SCREEN: Time &amp; leave › Holiday calendars › New holiday calendar. Signed in as Farah Khan (Tenant Super Admin (Northwind Retail, first administrator)). Prerequisite: Signed in as the tenant administrator (attendance.manage).
EVIDENCE: screenshot screenshots/client-onboarding/90-onb-64-new-holiday-calendar.png,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 F39: holiday type and the half-day switch are stored but ignored; every calendar date counts as a full holiday. Tell the customer before they enter half days.
SAY: Add holidays and assign the calendar.
LEFT, New holiday: The date counts as a holiday for everyone the calendar applies to.
RIGHT, Calendar saved: Holidays Kannada Rajyotsava (1 Nov) and Christmas; Applies to and History tabs.
OBSERVE: point out what differs between the two screens.
EVIDENCE: left = client-onboarding/90-onb-65-new-holiday [Farah Khan (Tenant Super Admin (Northwind Retail, first administrator)), Holiday calendar › Holidays › New holiday]; right = client-onboarding/90-onb-66-holiday-calendar-saved [Farah Khan (Tenant Super Admin (Northwind Retail, first administrator)), Holiday calendar (edit page)].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HR.
SAY: Types; policy versions (accrual, probation, notice, carry forward, encashment).
VERIFY: Balances for sample employees. EVIDENCE TO KEEP: Balances list.
WATCH FOR: Hourly leave and sandwich rules not available (F43); encashment has no amount or payroll posting (F41).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Earned, Casual, Sick, Maternity, Paternity, Bereavement, Compensatory off, Restricted holiday, Leave without pay.
ON SCREEN: Review the leave types every new tenant receives.
WALK THROUGH: (1) A seeded type with its flags. (2) New leave type.
LEARNERS SHOULD SEE: Earned, Casual, Sick, Maternity, Paternity, Bereavement, Compensatory off, Restricted holiday and Leave without pay — paid / half day / encashable flags and who they apply to
SCREEN: Time &amp; leave › Leave types. Signed in as Farah Khan (Tenant Super Admin (Northwind Retail, first administrator)). Prerequisite: Signed in as the tenant administrator (attendance.manage, leave.manage, policy.manage).
EVIDENCE: screenshot screenshots/client-onboarding/90-onb-67-leave-types.png,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rules go on a draft version of the saved policy, which is then published.
ON SCREEN: Type Leave policy, name, code, description.
WALK THROUGH: (1) Policy type: Leave policy. (2) Name.
LEARNERS SHOULD SEE: The rules themselves are set on a draft version of the saved policy, then published
SCREEN: Workflows › Policies › New policy. Signed in as Farah Khan (Tenant Super Admin (Northwind Retail, first administrator)). Prerequisite: Signed in as the tenant administrator (attendance.manage, leave.manage, policy.manage).
EVIDENCE: screenshot screenshots/client-onboarding/90-onb-68-new-leave-policy.png,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Nothing applies until the version is published.
ON SCREEN: For each leave type: days per year, accrual, pro-ration, eligibility, carry-forward, encashment, notice and limits.
WALK THROUGH: (1) Leave type. (2) Days per year. (3) Accrual. (4) Carry-forward.
LEARNERS SHOULD SEE: The draft version holds the rules; nothing applies until it is published
SCREEN: Policy › Versions &amp; settings › Edit draft. Signed in as Farah Khan (Tenant Super Admin (Northwind Retail, first administrator)). Prerequisite: Leave policy created (draft v1); policy.manage.
EVIDENCE: screenshot screenshots/client-onboarding/90-onb-70-leave-entitlements.png,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VERIFY: after publishing, check Balances for two sample employees (accruals run monthly; Run accrual now is on the Balances page).
SAY: Publish the version.
LEFT, Publish draft: The version becomes active from its effective date; earlier versions are kept.
RIGHT, Published: v1 Published by Farah Khan, effective 21 Oct 2026. Assignment rules decide who it applies to.
OBSERVE: point out what differs between the two screens.
EVIDENCE: left = client-onboarding/90-onb-71-publish-policy [Farah Khan (Tenant Super Admin (Northwind Retail, first administrator)), Policy › Publish draft]; right = client-onboarding/90-onb-72-policy-published [Farah Khan (Tenant Super Admin (Northwind Retail, first administrator)), Workflows › Policies › Northwind leave policy (after publishing)].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payroll lead.
SAY: Components with formulas; structure versions (approval).
VERIFY: Calculate a test run; Payroll Auditor. EVIDENCE TO KEEP: Run breakdown.
WATCH FOR: Statutory components are reserved; monthly frequency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Basic (40% of monthly CTC), HRA (50% of basic), Conveyance, Special allowance (balancing), Bonus…; statutory lines are never configured here.
ON SCREEN: Review the starting components every new tenant receives.
WALK THROUGH: (1) A formula-based component. (2) New salary component.
LEARNERS SHOULD SEE: Basic (40 % of monthly CTC), HRA (50 % of basic), Conveyance, Special allowance (balancing), Bonus …; each with a formula, order and flags; statutory lines are never configured here
SCREEN: People › Pay › Salary components. Signed in as Farah Khan (Tenant Super Admin (Northwind Retail, first administrator)). Prerequisite: Signed in as the tenant administrator (payroll.manage, compliance.manage).
EVIDENCE: screenshot screenshots/client-onboarding/90-onb-73-salary-components.png,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Edit a component; review the structure.
LEFT, Basic (edit): The formula is validated on save; a reason is required and approval may apply (Change Centre).
RIGHT, Salary structures: Standard structure v1 is seeded; new versions are drafted, submitted and approved.
OBSERVE: point out what differs between the two screens.
EVIDENCE: left = client-onboarding/90-onb-74-salary-component-edit [Farah Khan (Tenant Super Admin (Northwind Retail, first administrator)), Salary components › Basic (edit)]; right = client-onboarding/90-onb-75-salary-structures [Farah Khan (Tenant Super Admin (Northwind Retail, first administrator)), People › Pay › Salary structures].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payroll (registrations); Markedge (rule verification).
SAY: Customer records registrations against an establishment first, then establishment statutory profiles; two platform administrators verify each rule with evidence.
VERIFY: Compliance control room shows no unverified rule. EVIDENCE TO KEEP: Verification register.
WATCH FOR: 0 of 24 rules verified today; gratuity not calculated; no rules for USA, UK, EU; a profile recorded before its registration has no registration linked.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"A EPF establishment code registration belongs to an establishment." Nothing is saved. Create establishments first (stage 6).
ON SCREEN: Submit an EPF establishment code at entity level (no establishment chosen).
WALK THROUGH: (1) The rule message.
LEARNERS SHOULD SEE: "A EPF establishment code registration belongs to an establishment." Nothing is saved
SCREEN: Statutory registrations › New registration (refused). Signed in as Farah Khan (Tenant Super Admin (Northwind Retail, first administrator)). Prerequisite: Signed in as the tenant administrator (payroll.manage, compliance.manage).
EVIDENCE: screenshot screenshots/client-onboarding/90-onb-76a-registration-needs-establishment.png,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EPF, ESIC, PT, LWF and TAN registrations are effective-dated records.
ON SCREEN: Legal entity, establishment, registration type, number, name, jurisdiction, state, effective date, reason.
WALK THROUGH: (1) Legal entity. (2) Establishment. (3) Registration type. (4) Number.
LEARNERS SHOULD SEE: The employer’s EPF / ESIC / PT / LWF / TAN registrations held as effective-dated records
SCREEN: People › Pay › Statutory registrations › New registration. Signed in as Farah Khan (Tenant Super Admin (Northwind Retail, first administrator)). Prerequisite: Signed in as the tenant administrator (payroll.manage, compliance.manage).
EVIDENCE: screenshot screenshots/client-onboarding/90-onb-76-new-statutory-registration.png,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Registrations and statutory profiles.
LEFT, Statutory registrations: The EPF establishment code with its state and effective date.
RIGHT, New statutory profile: Tells payroll which statutes apply where. Record the registration first: a profile saved earlier has no registration linked.
OBSERVE: point out what differs between the two screens.
EVIDENCE: left = client-onboarding/90-onb-77-statutory-registrations [Farah Khan (Tenant Super Admin (Northwind Retail, first administrator)), People › Pay › Statutory registrations]; right = client-onboarding/90-onb-78-new-establishment-statutory-profile [Farah Khan (Tenant Super Admin (Northwind Retail, first administrator)), People › Pay › Statutory profiles › New profile].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Payroll can be configured and calculated, but not finalised, until two platform administrators verify each rule against official evidence. This is release gate 5 (owner decisions O-5, O-12, O-18). Agree in writing whether payroll is in the customer's first go-live.
SAY: Rule verification is Markedge's job, and it is not done.
LEFT, Compliance control room: Rules this tenant needs per establishment and whether each is verified; the production gate.
RIGHT, Compliance rules (read only): Rule versions shipped by the platform with their verification status: 0 of 24 verified.
OBSERVE: point out what differs between the two screens.
EVIDENCE: left = client-onboarding/90-onb-80-compliance-control-room [Farah Khan (Tenant Super Admin (Northwind Retail, first administrator)), People › Pay › Control room (compliance)]; right = client-onboarding/90-onb-81-compliance-rules [Farah Khan (Tenant Super Admin (Northwind Retail, first administrator)), People › Pay › Compliance rules (read only for the tenant)].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with Markedge.
SAY: Publish workflow versions; leave/attendance approvals go to the line manager by default.
VERIFY: Run each request type once in UAT. EVIDENCE TO KEEP: Workflow runs.
WATCH FOR: "Generate document" step skipped (F33).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Create a workflow.
LEFT, New workflow: Name, trigger event (here: probation ending soon) and subject.
RIGHT, Workflow saved: Versions, the step builder and history.
OBSERVE: point out what differs between the two screens.
EVIDENCE: left = client-onboarding/90-onb-82-new-workflow [Farah Khan (Tenant Super Admin (Northwind Retail, first administrator)), Workflows › Workflows › New workflow]; right = client-onboarding/90-onb-83-workflow-saved [Farah Khan (Tenant Super Admin (Northwind Retail, first administrator)), Workflow (after creating)].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Start → End; approval, task, notification and condition steps go between them. Running instances keep the version they started on. Known limit: "Generate document" steps are skipped (F33).
ON SCREEN: Open the builder of the draft version.
LEARNERS SHOULD SEE: Start → End nodes; steps (approval, task, notification, condition …) are added between them, then the version is checked and published
SCREEN: Workflow › Versions &amp; builder › Open builder. Signed in as Farah Khan (Tenant Super Admin (Northwind Retail, first administrator)). Prerequisite: Workflow created; workflow.manage.
EVIDENCE: screenshot screenshots/client-onboarding/90-onb-94-workflow-builder.png,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Probation confirmation v1 in the Demo tenant: 6 nodes, manager then HR approval.
ON SCREEN: Open Versions &amp; builder.
LEARNERS SHOULD SEE: Versioned definitions: a published version is immutable; changes are made in a new draft and published; running instances keep their version
SCREEN: Workflow › Versions &amp; builder. Signed in as Kavya Menon (Tenant HR Admin + Employee). Prerequisite: workflow.manage / policy.manage / notification.manage.
EVIDENCE: screenshot screenshots/client-onboarding/85-wf-03-workflow-versions.png,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HR.
SAY: Edit starter rules and templates.
VERIFY: Delivery log shows sent items. EVIDENCE TO KEEP: Delivery log.
WATCH FOR: No role can create or delete rules (F18); SMS, WhatsApp, push send nothing (F19).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 rules and no New action (F18). E-mail notices for leave and approvals are not sent unless a rule exists. Markedge must seed or enable rules until this is fixed.
ON SCREEN: Open Notification rules in a new tenant.
LEARNERS SHOULD SEE: No rules and no "New" action: rules cannot be created or deleted from the screen (known limitation F18), so e-mail notices for leave and approvals are not sent unless a rule exists
SCREEN: Communication › Notification rules. Signed in as Farah Khan (Tenant Super Admin (Northwind Retail, first administrator)). Prerequisite: Signed in as the tenant administrator.
EVIDENCE: screenshot screenshots/client-onboarding/90-onb-84-notification-rules.png,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Each delivery with channel and status. SMS, WhatsApp and push send nothing (F19). Queued items need a queue worker.
ON SCREEN: Open the Delivery log.
LEARNERS SHOULD SEE: Every notification delivery with channel, event, status (sent / queued / failed) and View; failed deliveries can be sent again
SCREEN: Communication › Delivery log. Signed in as Kavya Menon (Tenant HR Admin + Employee). Prerequisite: workflow.manage / policy.manage / notification.manage.
EVIDENCE: screenshot screenshots/client-onboarding/85-wf-09-delivery-log.png,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administrator.
SAY: Require MFA (recommended); idle timeout; OIDC connection.
VERIFY: Sign in as a test user. EVIDENCE TO KEEP: Security policy screenshot.
WATCH FOR: Password expiry is stored but not enforced (F2); SAML not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Require MFA, session and idle timeouts, password rules, retention days. Recommend MFA required for all administrators. Password expiry is stored but not enforced (F2).
ON SCREEN: Review access, password, retention and data-warehouse settings.
WALK THROUGH: (3) Save policy
LEARNERS SHOULD SEE: Require MFA, session and idle timeouts, password rules, retention days; Save policy. Shown only, not changed in this walkthrough
SCREEN: Admin › Platform › Security policy. Signed in as Farah Khan (Tenant Super Admin (Northwind Retail, first administrator)). Prerequisite: Signed in as the tenant administrator.
EVIDENCE: screenshot screenshots/client-onboarding/90-onb-85-security-policy.png,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Settings and feature flags.
LEFT, Settings: Seeded keys (attendance windows, probation months, code padding…). Several keys have no effect (F30).
RIGHT, Feature flags: AI assistants on; external language model off; configuration approval off by default.
OBSERVE: point out what differs between the two screens.
EVIDENCE: left = client-onboarding/90-onb-86-settings [Farah Khan (Tenant Super Admin (Northwind Retail, first administrator)), Admin › Setup › Settings]; right = client-onboarding/90-onb-87-feature-flags [Farah Khan (Tenant Super Admin (Northwind Retail, first administrator)), Admin › Setup › Feature flags].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Validate. Train pilot users, reconcile data, run UAT, fix defects and test access.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with Markedge trainer.
SAY: Invite pilot users; run the exercises.
VERIFY: Exercise completion. EVIDENCE TO KEEP: Attendance list.
WATCH FOR: Training before data is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data owner.
SAY: Run headcount reports and compare.
VERIFY: Signed reconciliation. EVIDENCE TO KEEP: Export and reconciliation sheet.
WATCH FOR: Report builder filter/group lists empty (F44): use starter reports and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Compare counts by department with the customer's source file. A "—" group means records without a department.
ON SCREEN: Run the starter report.
WALK THROUGH: (1) Grouped results. (2) Export CSV.
LEARNERS SHOULD SEE: Chart and grouped results computed from the records this user may see; Export CSV
SCREEN: Report: Headcount by department. Signed in as Kavya Menon (Tenant HR Admin + Employee). Prerequisite: report.view / report.manage and permission on the report’s dataset.
EVIDENCE: screenshot screenshots/analytics/80-ins-06-report-result.png,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UAT lead.
SAY: Execute cases, record actual results and evidence.
VERIFY: Pass rate and open defects. EVIDENCE TO KEEP: UAT workbook with screenshots.
WATCH FOR: Testing with real personal data in a shared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11 covers UAT execution and go-live criteria in detail.
SAY: UAT: what to test, with what.
- Test cases: supporting/PeopleOS-UAT-Test-Cases.xlsx: steps, expected result, and what Markedge observed in the training environment.
- Test accounts: One test user per role; never test only as the super administrator.
- Synthetic data: Use invented people in a UAT tenant. Never real personal identifiers in a shared environment.
- Evidence: A screenshot per step that changes the screen; record actual results and defect references.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Markedge support and engineering.
SAY: Log, triage, fix, retest.
VERIFY: Retest evidence. EVIDENCE TO KEEP: Defect log.
WATCH FOR: Closing without retest.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docs/reports/documentation-gaps.md; each re-observed or confirmed in code on 21 Oct 2026 (F25, F38, F44 live in this training).
SAY: Known defects to log before UAT starts. 
- F25 | Employee / punch import: Map columns fails | Bulk load impossible from the screen | Hire wizard per person; API (not exercised here)
- F38 | Leave requests › Apply on behalf: server error | HR cannot apply leave from the list | Employee 360 › Records › Time › Leave › Apply for leave
- F44 | Report builder field lists empty | No new grouped reports | Starter reports; People analytics
- F18 | Notification rules cannot be created | No e-mail for leave and approvals | Markedge seeds rules
- F17 | Give feedback errors on MySQL | Employee sees an error; HR not notified | None on screen
- F26 | History tab errors outside production | Seen in UAT if not production mode | Use Change history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administrator with Markedge.
SAY: Sign in as each role; try restricted pages.
VERIFY: Restricted pages show "not available". EVIDENCE TO KEEP: Access test log.
WATCH FOR: Testing only as a super administrator.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"This page is not available to you." A Tenant HR Admin cannot edit role permissions; only a Tenant Super Admin can.
ON SCREEN: Tenant HR Admin opens /admin/roles/4/edit (the HR Manager role).
WALK THROUGH: (1) Access refused.
LEARNERS SHOULD SEE: HTTP 403 "This page is not available to you": the Tenant HR Admin holds role.view only and cannot change role permissions (finding F5); the Tenant Super Admin can
SCREEN: Roles › HR Manager › Edit (as Tenant HR Admin). Signed in as Kavya Menon (Tenant HR Admin + Employee). Prerequisite: role.manage (Tenant Super Admin only by default, F5).
EVIDENCE: screenshot screenshots/security-compliance/85-acc-08-role-edit-denied-hr-admin.png,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7, Go live and govern. Decide together, monitor, hand over to support, and keep governing.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sponsor and Markedge.
SAY: Go/no-go meeting.
VERIFY: Release gate GO and customer sign-off. EVIDENCE TO KEEP: Signed approval.
WATCH FOR: Going live while the release gate is NO-GO.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Operators check readiness before any go-live: statutory status, operator MFA, demo accounts, backup and DR evidence.
ON SCREEN: Open Platform readiness.
LEARNERS SHOULD SEE: Each check with PASS / WARN / FAIL / BLOCKED (statutory rules, MFA, demo accounts, backups, scheduler …)
SCREEN: Admin › Platform › Platform readiness. Signed in as Markedge Platform Admin (Platform operator). Prerequisite: Platform operator (is_platform_admin) signed in with MFA.
EVIDENCE: screenshot screenshots/platform-admin/95-pl-23-readiness.png,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Markedge support and platform operations.
SAY: Daily checks during hypercare; hand over to support.
VERIFY: No failed jobs; tickets within SLA. EVIDENCE TO KEEP: Hypercare log, handover checklist.
WATCH FOR: No scheduler or queue worker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Platform › Operations: queues, failed jobs and scheduled commands. Requires a running queue worker and scheduler (hosting gate 8).
ON SCREEN: Open Operations.
LEARNERS SHOULD SEE: Platform health, queue depth, failed jobs by job, scheduler heartbeat, per-tenant status
SCREEN: Admin › Platform › Operations. Signed in as Markedge Platform Admin (Platform operator). Prerequisite: Platform operator (is_platform_admin) signed in with MFA.
EVIDENCE: screenshot screenshots/platform-admin/95-pl-21-operations.png,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RESPONSIBLE: Customer HR with Markedge.
SAY: Quarterly access review; policy version reviews; release notes.
VERIFY: Review minutes; Change history › Verify integrity reports "Chain intact". EVIDENCE TO KEEP: Access review records.
WATCH FOR: Unreviewed tenant-wide HR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Govern changes after go-live.
LEFT, Change Centre: Pending approval, scheduled, published, rejected. Empty here: configuration approval is off and creates apply immediately (F29).
RIGHT, Change history: Every create, change, invitation, sign-in and role change of the implementation, newest first.
OBSERVE: point out what differs between the two screens.
EVIDENCE: left = client-onboarding/90-onb-88-change-centre [Farah Khan (Tenant Super Admin (Northwind Retail, first administrator)), Admin › Setup › Change Centre]; right = client-onboarding/90-onb-89-audit-trail [Farah Khan (Tenant Super Admin (Northwind Retail, first administrator)), Insights › Audit › Change history (Audit events)].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"Chain intact: 287 events verified" for the whole Northwind implementation. Keep this as evidence at handover and at each quarterly review.
ON SCREEN: Verify integrity.
WALK THROUGH: (1) The result.
LEARNERS SHOULD SEE: The tenant’s audit hash chain is checked and the result shown
SCREEN: Change history › Verify integrity. Signed in as Farah Khan (Tenant Super Admin (Northwind Retail, first administrator)). Prerequisite: Signed in as the tenant administrator.
EVIDENCE: screenshot screenshots/client-onboarding/90-onb-90-audit-verified.png,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Be explicit with customers about these items in the plan and the statement of work.
SAY: What Markedge still does by hand.
- Bulk data load: Until F25 is fixed: hire wizard per person, or an API load by Markedge.
- Notification rules: Seed or enable rules for the customer (F18).
- Statutory verification: Two platform administrators verify each rule with official evidence (0 of 24 today).
- Mail and branding: Production sender name and domain (invitations show "Laravel" in development).
- Hosting and support: Environment, monitoring, on-call, backup and restore tests: release gates 7 and 8.
- Commercial terms: Plans, prices and billing are switched off (shadow mode); contracts handled outside PeopleOS.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2026: tenant "Northwind Retail Pvt Ltd" (fictional) provisioned by the platform operator and configured by its first administrator, Farah Khan (fictional).
SAY: Recap the key points:
- Operators provision and invite; customer administrators configure.
- Build structure first, then people, then policies.
- Most screens were executed on a fictional tenant built from empty; a few come from the Demo tenant and say so.
- Import, statutory verification and go-live are blocked today; plan around them.
- Use the implementation and handover checklists as the record of each stage.
POINT TO: supporting/PeopleOS-Customer-Implementation-Checklist.xlsx; supporting/PeopleOS-Go-Live-Handover-Checklist.xlsx; Deck 11: UAT and go-live; Deck 05: platform operator tasks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Client onboarding playbook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Client onboarding playbook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image" Target="../media/image-7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image" Target="../media/image-7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image" Target="../media/image-8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image" Target="../media/image-9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image" Target="../media/image-9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image" Target="../media/image-9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image" Target="../media/image-9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image" Target="../media/image-10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image" Target="../media/image-10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image" Target="../media/image-12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04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Onboarding and Implementation Playbook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Markedge takes a new corporate customer from kickoff to an operating PeopleOS tenant, stage by stage, on the real screens.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Markedge implementation specialists, the customer's implementation team, and Markedge platform operators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client-onboarding/90-onb-31-designer-tree" descr="Screenshot: Organisation Designer (tre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(1 of 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533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written in the release gate document. Ten of fourteen gates are blocked by owner decisions, external parties or missing infrastructure.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Application and architecture integrity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</a:rPr>
                        <a:t>PASS (workstation)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Repeat the full suites in staging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Credential exposure and repository remediation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Owner: rotation confirmation, repository visibility (O-1 to O-3)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Authentication and operator MFA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Operators enrol MFA in the target environment (O-14,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Independent security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Engage a reviewer; triage and retest findings (O-4)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Statutory verification and gratuity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0 of 24 rules verified; gratuity not implemented (O-5, O-12, O-18)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Data protection, retention, legal holds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(controls) / BLOCKED (policy)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 with counsel (D8); privacy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Backup, restore and disaster recovery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Recovery objectives and an isolated target (O-6,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(2 of 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Hosting, monitoring and on-call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Environment, alerting, on-call (O-7, O-10, O-11)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Signup and tenant provisioning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if self-service signup is wanted at launch (D10)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Billing, tax and payment controls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for paid billing (B-4, B-7, B-8, B-9)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Tenant deletion and offboarding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decisions, register disk, review (D8)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Regression and target-environment testing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 staging environment (O-7, O-8)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 decisions and written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All owner action items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Deployment, rollback, post-deployment checks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Rehearse in staging; authorise (O-7 to O-9)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ABOUT THIS TRAINING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screens were produced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PeopleOS at commit 72c96a73, run locally. No application file or setting was changed for the training.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database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hcm_training_showcase: the fictional Demo Group plus a fictional customer, Northwind Retail, provisioned and configured from empty during this training.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executed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were submitted, approved, rejected and processed so that every state shown really happened.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switched 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signup, live payments and tenant deletion stayed off. The operator used MFA. No secret is shown.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Separate the two administrator roles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Markedge platform operator versus the customer's tenant administrator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Provision and hand over a tenant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operator workflow, invitation, first sign-in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 the organisation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company, legal entity, establishment, location, units, job architecture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Load people safely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hire wizard, duplicate check, reporting lines; import status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Configure policies and payroll inputs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attendance, leave, pay, statutory, workflows, security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Validate, test and go live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reconciliation, UAT, access checks, go/no-go, handover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ROLES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administrators, two different jobs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Markedge platform operator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01-platform-home" descr="Screenshot: Platform home (operator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with MFA, works outside any tenant: creates tenants, watches platform health. Never configures the customer's HR data.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Platform home (operator)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Customer tenant administrator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12-empty-tenant-home" descr="Screenshot: Home (new tenant, administration lens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 by the operator; configures the organisation, people, policies and access inside one tenant.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Home (new tenant, administration lens)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JOURNEY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stages in seven phases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2670734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Plan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D9DBE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1. Discovery and implementation plan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356534" y="1463040"/>
            <a:ext cx="2670734" cy="566928"/>
          </a:xfrm>
          <a:prstGeom prst="roundRect">
            <a:avLst>
              <a:gd name="adj" fmla="val 12903"/>
            </a:avLst>
          </a:prstGeom>
          <a:solidFill>
            <a:srgbClr val="141A3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Provision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56534" y="2148840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CEAF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2. Tenant provisioning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356534" y="2734056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3. First administrator activation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164428" y="1463040"/>
            <a:ext cx="2670734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Structure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164428" y="2148840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4. Company set-up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164428" y="2734056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5. Legal entities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164428" y="3319272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6. Establishments and locations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164428" y="3904488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7. Organisation structure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164428" y="4489704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8. Job architecture and positions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972321" y="1463040"/>
            <a:ext cx="2670734" cy="566928"/>
          </a:xfrm>
          <a:prstGeom prst="roundRect">
            <a:avLst>
              <a:gd name="adj" fmla="val 12903"/>
            </a:avLst>
          </a:prstGeom>
          <a:solidFill>
            <a:srgbClr val="141A3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People data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972321" y="2148840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D9DBE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9. Employee data preparation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972321" y="2734056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FBE6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10. Data load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972321" y="3319272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3F3E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11. Person matching and duplicates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972321" y="3904488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12. Roles, users and access scope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972321" y="4489704"/>
            <a:ext cx="2670734" cy="512064"/>
          </a:xfrm>
          <a:prstGeom prst="roundRect">
            <a:avLst>
              <a:gd name="adj" fmla="val 10714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13. Reporting relationships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15584"/>
            <a:ext cx="8168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= configured in PeopleOS · lilac = Markedge operator action · green = automated · grey = manual, outside PeopleOS · red = blocked.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899855" y="5870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diagram, not a screenshot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JOURNEY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stages in seven phases (continued)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3606698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Policies and pay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14. Attendance and shifts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64823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15. Leave policies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80806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16. Payroll components and structures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96789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FBE6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17. Statutory configuration and verification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12771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18. Workflows and approvals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728754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19. Notifications and communication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244737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20. Security policy and sign-in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292498" y="1463040"/>
            <a:ext cx="3606698" cy="566928"/>
          </a:xfrm>
          <a:prstGeom prst="roundRect">
            <a:avLst>
              <a:gd name="adj" fmla="val 12903"/>
            </a:avLst>
          </a:prstGeom>
          <a:solidFill>
            <a:srgbClr val="141A3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292498" y="2148840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D9DBE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21. Employee and manager readiness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292498" y="2664823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22. Data validation and reconciliation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292498" y="3180806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D9DBE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23. User acceptance testing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292498" y="3696789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D9DBE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24. Defect logging and resolution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292498" y="4212771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4EE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25. Security and access validation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036357" y="1463040"/>
            <a:ext cx="3606698" cy="566928"/>
          </a:xfrm>
          <a:prstGeom prst="roundRect">
            <a:avLst>
              <a:gd name="adj" fmla="val 12903"/>
            </a:avLst>
          </a:prstGeom>
          <a:solidFill>
            <a:srgbClr val="574BC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 live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036357" y="2148840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FBE6E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26. Go-live readiness and approval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036357" y="2664823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ECEAF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27. Post-go-live monitoring and support handover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036357" y="3180806"/>
            <a:ext cx="3606698" cy="442831"/>
          </a:xfrm>
          <a:prstGeom prst="roundRect">
            <a:avLst>
              <a:gd name="adj" fmla="val 12389"/>
            </a:avLst>
          </a:prstGeom>
          <a:solidFill>
            <a:srgbClr val="D9DBE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28. Customer training and ongoing governance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815584"/>
            <a:ext cx="8168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 card in this deck with: responsible party, inputs, navigation, what to configure, expected outcome, verification, evidence, common errors, dependencies and acceptance criteria.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899855" y="5870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diagram, not a screenshot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scope, data owners and the timeline before anything is configured.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· Discovery and implementation plan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Manual (outside PeopleOS)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implementation lead with the customer HR lead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 charts, entity list, policies (leave, attendance, payroll), headcount, integrations, go-live date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Outside PeopleOS (workshops, plan)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Agree scope (modules, countries, payroll in or out), roles, data owners, timeline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Signed scope and plan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sign-off on the scope document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Scope and plan, signed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Promising payroll go-live while statutory rules are unverified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Release gate NO-GO: general availability not yet declared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Scope lists every module and whether payroll statutory processing is in scope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 · DISCOVERY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customer for these before kickoff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and legal employers, registered establishments, sites, business units, departments, teams, cost centres.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and people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Designations, levels, grades, employment types; the employee master with managers; who the HR, payroll and IT owners are.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and rules, shifts and weekly patterns, holiday lists per location, approval chains, notification needs.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and statutory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components and structures, registrations (PF, ESI, PT, LWF, TAN). Decide in writing whether payroll is in scope while rules are unverified.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administers, who approves, which HR users cover which companies; MFA and SSO (OIDC) decisions.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devices, identity provider, API/SCIM consumers, webhooks. Recruitment systems connect only through the Integration 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Markedge operator creates the tenant; the customer's first administrator activates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· Tenant provisioning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3594"/>
                </a:solidFill>
              </a:rPr>
              <a:t>Operator action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platform operator (MFA required)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name, slug, country, time zone, currency, first administrator name and e-mail, reason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 home › Manage tenants › New tenant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Tier, data region (metadata), name, slug (suggested from the name; check it before saving), status, locale, currency, first administrator; audit reason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Tenant created with default organisation set-up; invitation e-mailed to the first administrator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Tenant row is Active; invitation sent (or resend from the Tenants list)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Tenants list screenshot; audit entry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Mail not configured: "Tenant created, but the invitation e-mail was not sent"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Production mail transport (gate 8)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Tenant exists, first administrator invited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 · PROVISIONING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operator's Tenants list</a:t>
            </a:r>
            <a:endParaRPr lang="en-US" sz="2800" dirty="0"/>
          </a:p>
        </p:txBody>
      </p:sp>
      <p:pic>
        <p:nvPicPr>
          <p:cNvPr id="5" name="Screenshot client-onboarding/90-onb-02-tenants-list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591654" y="2293247"/>
            <a:ext cx="592328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920349" y="3409696"/>
            <a:ext cx="341037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7279335" y="3409696"/>
            <a:ext cx="463093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7463638" y="200063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6792333" y="31170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7151319" y="31170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tenant starts provisioning.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works inside a tenant (audited).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9799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96164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Suspend blocks a tenant's sign-ins.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59664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68808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Admin › Platform › Tenants lists every tenant with slug, status, country and users.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Markedge Platform Admin (Platform operator) · Admin › Platform › Tenants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 · PROVISIONING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tenant</a:t>
            </a:r>
            <a:endParaRPr lang="en-US" sz="2800" dirty="0"/>
          </a:p>
        </p:txBody>
      </p:sp>
      <p:pic>
        <p:nvPicPr>
          <p:cNvPr id="5" name="Screenshot client-onboarding/90-onb-03-new-tenant-form" descr="Screenshot: Tenants › New tenant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998" y="1417320"/>
            <a:ext cx="5403403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755998" y="1417320"/>
            <a:ext cx="5403403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990400" y="2994201"/>
            <a:ext cx="1123299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186759" y="2994201"/>
            <a:ext cx="1123299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3186759" y="3396031"/>
            <a:ext cx="1123299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4602298" y="2994201"/>
            <a:ext cx="526642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box 5"/>
          <p:cNvSpPr/>
          <p:nvPr/>
        </p:nvSpPr>
        <p:spPr>
          <a:xfrm>
            <a:off x="3186759" y="4933337"/>
            <a:ext cx="1123299" cy="200915"/>
          </a:xfrm>
          <a:prstGeom prst="roundRect">
            <a:avLst>
              <a:gd name="adj" fmla="val 227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2" name="Callout box 6"/>
          <p:cNvSpPr/>
          <p:nvPr/>
        </p:nvSpPr>
        <p:spPr>
          <a:xfrm>
            <a:off x="1880809" y="5444758"/>
            <a:ext cx="5150737" cy="310505"/>
          </a:xfrm>
          <a:prstGeom prst="roundRect">
            <a:avLst>
              <a:gd name="adj" fmla="val 1472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3" name="Callout 1"/>
          <p:cNvSpPr txBox="1"/>
          <p:nvPr/>
        </p:nvSpPr>
        <p:spPr>
          <a:xfrm>
            <a:off x="1679504" y="29666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Callout 2"/>
          <p:cNvSpPr txBox="1"/>
          <p:nvPr/>
        </p:nvSpPr>
        <p:spPr>
          <a:xfrm>
            <a:off x="3779706" y="29666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Callout 3"/>
          <p:cNvSpPr txBox="1"/>
          <p:nvPr/>
        </p:nvSpPr>
        <p:spPr>
          <a:xfrm>
            <a:off x="2875863" y="336847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Callout 4"/>
          <p:cNvSpPr txBox="1"/>
          <p:nvPr/>
        </p:nvSpPr>
        <p:spPr>
          <a:xfrm>
            <a:off x="4474282" y="270159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llout 5"/>
          <p:cNvSpPr txBox="1"/>
          <p:nvPr/>
        </p:nvSpPr>
        <p:spPr>
          <a:xfrm>
            <a:off x="2875863" y="490577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Callout 6"/>
          <p:cNvSpPr txBox="1"/>
          <p:nvPr/>
        </p:nvSpPr>
        <p:spPr>
          <a:xfrm>
            <a:off x="1569913" y="547199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1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2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Tier (shared infrastructure).</a:t>
            </a:r>
            <a:endParaRPr lang="en-US" sz="1200" dirty="0"/>
          </a:p>
        </p:txBody>
      </p:sp>
      <p:sp>
        <p:nvSpPr>
          <p:cNvPr id="22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region (metadata today).</a:t>
            </a:r>
            <a:endParaRPr lang="en-US" sz="1200" dirty="0"/>
          </a:p>
        </p:txBody>
      </p:sp>
      <p:sp>
        <p:nvSpPr>
          <p:cNvPr id="24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06840" y="2606040"/>
            <a:ext cx="2636215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Slug: unique; suggested from the name.</a:t>
            </a:r>
            <a:endParaRPr lang="en-US" sz="1200" dirty="0"/>
          </a:p>
        </p:txBody>
      </p:sp>
      <p:sp>
        <p:nvSpPr>
          <p:cNvPr id="26" name="Callout 4"/>
          <p:cNvSpPr txBox="1"/>
          <p:nvPr/>
        </p:nvSpPr>
        <p:spPr>
          <a:xfrm>
            <a:off x="8595360" y="3105912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06840" y="3087624"/>
            <a:ext cx="2636215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Locale defaults: country, zone, currency.</a:t>
            </a:r>
            <a:endParaRPr lang="en-US" sz="1200" dirty="0"/>
          </a:p>
        </p:txBody>
      </p:sp>
      <p:sp>
        <p:nvSpPr>
          <p:cNvPr id="28" name="Callout 5"/>
          <p:cNvSpPr txBox="1"/>
          <p:nvPr/>
        </p:nvSpPr>
        <p:spPr>
          <a:xfrm>
            <a:off x="8595360" y="3587496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006840" y="3569208"/>
            <a:ext cx="2636215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 administrator: name, e-mail.</a:t>
            </a:r>
            <a:endParaRPr lang="en-US" sz="1200" dirty="0"/>
          </a:p>
        </p:txBody>
      </p:sp>
      <p:sp>
        <p:nvSpPr>
          <p:cNvPr id="30" name="Callout 6"/>
          <p:cNvSpPr txBox="1"/>
          <p:nvPr/>
        </p:nvSpPr>
        <p:spPr>
          <a:xfrm>
            <a:off x="8595360" y="406908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006840" y="405079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Reason for change (audited).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595360" y="4507992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732520" y="4599432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first administrator is invited as Tenant Super Admin; operators never see passwords.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Tenants › New tenant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 · PROVISIONING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are refused; the new tenant appears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Same tenant submitted again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04-duplicate-tenant-refused" descr="Screenshot: Tenants › New tenant (validation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263" y="1755648"/>
            <a:ext cx="3149082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1656263" y="1755648"/>
            <a:ext cx="3149082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slug has already been taken." and "The email has already been taken." Nothing is created.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Markedge Platform Admin (Platform operator) · Tenants › New tenant (validation)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Tenants list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05-tenants-with-northwind" descr="Screenshot: Admin › Platform › Tenants (Markedge Platform Admi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Retail is Active with 1 user (the invited administrator). Send invitation re-sends the e-mail.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Markedge Platform Admin (Platform operator) · Admin › Platform › Tenants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 · PROVISIONING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Operator-only tenant settings</a:t>
            </a:r>
            <a:endParaRPr lang="en-US" sz="2800" dirty="0"/>
          </a:p>
        </p:txBody>
      </p:sp>
      <p:pic>
        <p:nvPicPr>
          <p:cNvPr id="5" name="Screenshot client-onboarding/90-onb-06-tenant-edit" descr="Screenshot: Tenants › Edit tenant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27960" y="3785865"/>
            <a:ext cx="106067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27960" y="3975579"/>
            <a:ext cx="1060671" cy="206960"/>
          </a:xfrm>
          <a:prstGeom prst="roundRect">
            <a:avLst>
              <a:gd name="adj" fmla="val 2209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127960" y="3027011"/>
            <a:ext cx="106067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817064" y="375270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connector 2"/>
          <p:cNvSpPr/>
          <p:nvPr/>
        </p:nvSpPr>
        <p:spPr>
          <a:xfrm>
            <a:off x="1815187" y="4079059"/>
            <a:ext cx="312773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</a:ln>
        </p:spPr>
      </p:sp>
      <p:sp>
        <p:nvSpPr>
          <p:cNvPr id="12" name="Callout 2"/>
          <p:cNvSpPr txBox="1"/>
          <p:nvPr/>
        </p:nvSpPr>
        <p:spPr>
          <a:xfrm>
            <a:off x="1559155" y="395104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817064" y="29938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5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 is read-only here.</a:t>
            </a:r>
            <a:endParaRPr lang="en-US" sz="1400" dirty="0"/>
          </a:p>
        </p:txBody>
      </p:sp>
      <p:sp>
        <p:nvSpPr>
          <p:cNvPr id="17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006840" y="224028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Lifecycle changes use Suspend / Reactivate on the list.</a:t>
            </a:r>
            <a:endParaRPr lang="en-US" sz="1400" dirty="0"/>
          </a:p>
        </p:txBody>
      </p:sp>
      <p:sp>
        <p:nvSpPr>
          <p:cNvPr id="19" name="Callout 3"/>
          <p:cNvSpPr txBox="1"/>
          <p:nvPr/>
        </p:nvSpPr>
        <p:spPr>
          <a:xfrm>
            <a:off x="8595360" y="301904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006840" y="3000756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Tier and region metadata.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595360" y="3457956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32520" y="3549396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save asks for a reason and is listed in the tenant's History.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Tenants › Edit tenant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· First administrator activation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Invitation e-mail (link valid 72 hours, single use)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Invitation link › Accept your invitation › Activate my account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Choose a password; sign in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Administrator signed in to an empty tenant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list shows the administrator Active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Expired or used link; one e-mail address can belong to only one organisation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2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Administrator can sign in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3 · ACTIVATION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invitation e-mail</a:t>
            </a:r>
            <a:endParaRPr lang="en-US" sz="2800" dirty="0"/>
          </a:p>
        </p:txBody>
      </p:sp>
      <p:pic>
        <p:nvPicPr>
          <p:cNvPr id="5" name="Screenshot client-onboarding/90-onb-07-invitation-email" descr="Screenshot: Invitation e-mail (rendered from the outgoing message) (Farah Khan (invited)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3955119" y="3330719"/>
            <a:ext cx="1008753" cy="251291"/>
          </a:xfrm>
          <a:prstGeom prst="roundRect">
            <a:avLst>
              <a:gd name="adj" fmla="val 181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075601" y="3696885"/>
            <a:ext cx="2767787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3644223" y="332834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764705" y="365502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Accept the invitation opens the activation page.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link works once and expires (72 hours by default).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269996"/>
            <a:ext cx="3047695" cy="1787144"/>
          </a:xfrm>
          <a:prstGeom prst="roundRect">
            <a:avLst>
              <a:gd name="adj" fmla="val 409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361436"/>
            <a:ext cx="2773375" cy="160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Shown here: the outgoing message rendered in a browser, link removed. The sender appears as "Laravel" because the application name and mail sender are not set in this development environment: set APP_NAME and MAIL_FROM_NAME in production.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sent by PeopleOS, rendered from the outgoing message (link removed). Not an application screen.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3 · ACTIVATION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the account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Accept your invitation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08-accept-invitation" descr="Screenshot: Accept your invitation (/admin/invitation/…) (Farah Khan (invited, not yet active)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81" y="1755648"/>
            <a:ext cx="3934047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1263781" y="1755648"/>
            <a:ext cx="3934047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password, confirm it, then Activate my account.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(invited, not yet active) (Invited first administrator) · Accept your invitation (/admin/invitation/…)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Password rules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09-password-rules" descr="Screenshot: Accept your invitation (validation) (Farah Khan (invited, not yet active)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112" y="1755648"/>
            <a:ext cx="373155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7095112" y="1755648"/>
            <a:ext cx="373155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password field must be at least 8 characters." The account stays invited until a valid password is set.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(invited, not yet active) (Invited first administrator) · Accept your invitation (validation)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3 · ACTIVATION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sign in; the link cannot be reused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After activation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10-account-ready-sign-in" descr="Screenshot: Sign in (after activation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is ready. Sign in with your new password."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Sign in (after activation)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Same link opened again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11-invitation-used" descr="Screenshot: Accept your invitation (used link) (Signed out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117109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117109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invitation link is invalid or has expired. Ask your administrator to send a new one."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Accept your invitation (used link)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3 · ACTIVATION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sign-in: an empty tenant</a:t>
            </a:r>
            <a:endParaRPr lang="en-US" sz="2800" dirty="0"/>
          </a:p>
        </p:txBody>
      </p:sp>
      <p:pic>
        <p:nvPicPr>
          <p:cNvPr id="5" name="Screenshot client-onboarding/90-onb-12-empty-tenant-home" descr="Screenshot: Home (new tenant, administration lens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353150" y="2289658"/>
            <a:ext cx="915416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2354275"/>
            <a:ext cx="2538036" cy="172314"/>
          </a:xfrm>
          <a:prstGeom prst="roundRect">
            <a:avLst>
              <a:gd name="adj" fmla="val 2653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3463307" y="4429218"/>
            <a:ext cx="437964" cy="140005"/>
          </a:xfrm>
          <a:prstGeom prst="roundRect">
            <a:avLst>
              <a:gd name="adj" fmla="val 3265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6225134" y="19970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1799031" y="231241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3335291" y="413661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Admin Centre: the administrator's starting point.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65328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634996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Governance warnings to act on (MFA not required; unscoped approvers).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341376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3395472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a glance: 1 active user, 14 system roles.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4030472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4121912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tenant comes with system roles, default settings, starter policies and seeded reference lists, but no organisation or people.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Home (new tenant, administration lens)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organisation the people will sit in: companies, legal employers, sites, units and jobs.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WHERE CONFIGURATION LIVES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Centre: every module by area</a:t>
            </a:r>
            <a:endParaRPr lang="en-US" sz="2800" dirty="0"/>
          </a:p>
        </p:txBody>
      </p:sp>
      <p:pic>
        <p:nvPicPr>
          <p:cNvPr id="5" name="Screenshot client-onboarding/90-onb-13-admin-centre" descr="Screenshot: Admin › All modules (Admin Centr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454554" y="3427645"/>
            <a:ext cx="1529283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3"/>
          <p:cNvSpPr/>
          <p:nvPr/>
        </p:nvSpPr>
        <p:spPr>
          <a:xfrm>
            <a:off x="7501907" y="2469151"/>
            <a:ext cx="685665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143658" y="337860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191011" y="242011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Organisation and positions.</a:t>
            </a:r>
            <a:endParaRPr lang="en-US" sz="1400" dirty="0"/>
          </a:p>
        </p:txBody>
      </p:sp>
      <p:sp>
        <p:nvSpPr>
          <p:cNvPr id="14" name="Bullet"/>
          <p:cNvSpPr/>
          <p:nvPr/>
        </p:nvSpPr>
        <p:spPr>
          <a:xfrm>
            <a:off x="8686800" y="25095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and security.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78384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Centre (governed changes).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595360" y="341884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32520" y="351028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Admin › All modules. Search finds a module by name.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Admin › All modules (Admin Centre)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WHERE CONFIGURATION LIVES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sure where a setting is? Ask the finder</a:t>
            </a:r>
            <a:endParaRPr lang="en-US" sz="2800" dirty="0"/>
          </a:p>
        </p:txBody>
      </p:sp>
      <p:pic>
        <p:nvPicPr>
          <p:cNvPr id="5" name="Screenshot client-onboarding/90-onb-14-configuration-finder" descr="Screenshot: Admin › Setup › What do you want to configure?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454554" y="3420466"/>
            <a:ext cx="1033882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983838" y="5829266"/>
            <a:ext cx="1033882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143658" y="337142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3672942" y="578022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Organisation structure.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Statutory compliance.</a:t>
            </a:r>
            <a:endParaRPr lang="en-US" sz="1400" dirty="0"/>
          </a:p>
        </p:txBody>
      </p:sp>
      <p:sp>
        <p:nvSpPr>
          <p:cNvPr id="16" name="Bullet"/>
          <p:cNvSpPr/>
          <p:nvPr/>
        </p:nvSpPr>
        <p:spPr>
          <a:xfrm>
            <a:off x="8686800" y="269748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and security.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595360" y="306324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32520" y="315468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Admin › Setup › What do you want to configure? groups set-up screens and individual settings by topic.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Admin › Setup › What do you want to configure?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 · Company set-up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Company names, legal names, codes, effective dates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Organisation › Organisation › Companies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Company name, legal name, code, effective from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Company listed; PeopleOS also creates a primary legal entity and a principal establishment for it automatically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Companies, Legal Entities and Establishments lists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Companies 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Duplicate codes (unique within the tenant)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employing company exists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4 · COMPANY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empty Companies list</a:t>
            </a:r>
            <a:endParaRPr lang="en-US" sz="2800" dirty="0"/>
          </a:p>
        </p:txBody>
      </p:sp>
      <p:pic>
        <p:nvPicPr>
          <p:cNvPr id="5" name="Screenshot client-onboarding/90-onb-15-companies-empty" descr="Screenshot: Organisation › Companies (empty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here: New company.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3317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4231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new tenant has no company yet.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Companies (empty)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4 · COMPANY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company</a:t>
            </a:r>
            <a:endParaRPr lang="en-US" sz="2800" dirty="0"/>
          </a:p>
        </p:txBody>
      </p:sp>
      <p:pic>
        <p:nvPicPr>
          <p:cNvPr id="5" name="Screenshot client-onboarding/90-onb-16-new-company" descr="Screenshot: Companies › New compan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276871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8266" y="32673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 details.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Company name, legal name, code and effective date.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Companies › New company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4 · COMPANY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saved</a:t>
            </a:r>
            <a:endParaRPr lang="en-US" sz="2800" dirty="0"/>
          </a:p>
        </p:txBody>
      </p:sp>
      <p:pic>
        <p:nvPicPr>
          <p:cNvPr id="5" name="Screenshot client-onboarding/90-onb-17-company-saved" descr="Screenshot: Organisation › Compani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319949"/>
            <a:ext cx="6074054" cy="348217"/>
          </a:xfrm>
          <a:prstGeom prst="roundRect">
            <a:avLst>
              <a:gd name="adj" fmla="val 1313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3660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new company with its code and effective date.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Northwind Retail (NWR), effective 01 Apr 2026.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Companies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 · Legal entities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 with finance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Legal employer details (PAN, TAN, CIN where applicable)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Organisation › All in Organisation › Legal Entities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Review and complete the primary legal entity created with the company; add more only for additional legal employers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Legal entities recorded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List shows each entity and its status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Legal entities 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Treating a location as a legal identity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4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legal employer recorded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5 · LEGAL ENTITY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further legal employer (only if needed)</a:t>
            </a:r>
            <a:endParaRPr lang="en-US" sz="2800" dirty="0"/>
          </a:p>
        </p:txBody>
      </p:sp>
      <p:pic>
        <p:nvPicPr>
          <p:cNvPr id="5" name="Screenshot client-onboarding/90-onb-18-new-legal-entity" descr="Screenshot: Organisation › Legal entities › New legal entit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405" y="1417320"/>
            <a:ext cx="510059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7405" y="1417320"/>
            <a:ext cx="510059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8847" y="2062484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028847" y="2563435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028847" y="3064386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4507036" y="3724730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717951" y="205970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1717951" y="256065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717951" y="306160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4196140" y="37219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Legal name.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Legal form.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Creating the company already created a primary legal entity; complete it, and add another only for an additional legal employer. A review of the values appears before Create.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Organisation › Legal entities › New legal entity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5 · LEGAL ENTITY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entities listed</a:t>
            </a:r>
            <a:endParaRPr lang="en-US" sz="2800" dirty="0"/>
          </a:p>
        </p:txBody>
      </p:sp>
      <p:pic>
        <p:nvPicPr>
          <p:cNvPr id="5" name="Screenshot client-onboarding/90-onb-19-legal-entity-saved" descr="Screenshot: Organisation › Legal entiti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legal entity with its company and status.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50952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60096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training run shows the automatic primary entity and one added by hand (the establishment that follows hangs off the added one). For a single employer, complete the automatic entity instead.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Legal entities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6 · Establishments and locations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Registered places of work (PF/ESI codes, PT/LWF state); physical sites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Organisation › All in Organisation › Establishments; Organisation › Locations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Complete the principal establishment created with the company; add further registered places of work; locations with state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Establishments and locations listed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Locations appear in hire and position forms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Lists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Locations cannot be linked to an establishment on screen (F10); the state list holds 13 Indian states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site where people work exists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6 · ESTABLISHMENTS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registered establishment</a:t>
            </a:r>
            <a:endParaRPr lang="en-US" sz="2800" dirty="0"/>
          </a:p>
        </p:txBody>
      </p:sp>
      <p:pic>
        <p:nvPicPr>
          <p:cNvPr id="5" name="Screenshot client-onboarding/90-onb-20-new-establishment" descr="Screenshot: Organisation › Establishments › New establishment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405" y="1417320"/>
            <a:ext cx="510059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7405" y="1417320"/>
            <a:ext cx="510059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8847" y="2062484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507036" y="2563435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028847" y="4362304"/>
            <a:ext cx="2387107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717951" y="205970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196140" y="256065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1717951" y="435952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Legal entity.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District.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registered place of work; its state drives state-level rules (professional tax, labour welfare fund). A principal establishment already exists for the company.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Organisation › Establishments › New establishment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6 · ESTABLISHMENTS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Establishment listed</a:t>
            </a:r>
            <a:endParaRPr lang="en-US" sz="2800" dirty="0"/>
          </a:p>
        </p:txBody>
      </p:sp>
      <p:pic>
        <p:nvPicPr>
          <p:cNvPr id="5" name="Screenshot client-onboarding/90-onb-21-establishment-saved" descr="Screenshot: Organisation › Establishment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Bengaluru head office under the legal entity.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509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600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Statutory profiles attach to establishments (stage 17).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Establishments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6 · LOCATIONS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physical location</a:t>
            </a:r>
            <a:endParaRPr lang="en-US" sz="2800" dirty="0"/>
          </a:p>
        </p:txBody>
      </p:sp>
      <p:pic>
        <p:nvPicPr>
          <p:cNvPr id="5" name="Screenshot client-onboarding/90-onb-22-new-location" descr="Screenshot: Organisation › Locations › New location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2" y="1417320"/>
            <a:ext cx="723931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838042" y="1417320"/>
            <a:ext cx="723931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physical site for people, assets and attendance; used in the hire wizard and in holiday and schedule rules.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Organisation › Locations › New location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6 · LOCATIONS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listed</a:t>
            </a:r>
            <a:endParaRPr lang="en-US" sz="2800" dirty="0"/>
          </a:p>
        </p:txBody>
      </p:sp>
      <p:pic>
        <p:nvPicPr>
          <p:cNvPr id="5" name="Screenshot client-onboarding/90-onb-23-location-saved" descr="Screenshot: Organisation › Location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319949"/>
            <a:ext cx="6074054" cy="348217"/>
          </a:xfrm>
          <a:prstGeom prst="roundRect">
            <a:avLst>
              <a:gd name="adj" fmla="val 1313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3660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Bengaluru HQ (BLR) for the company.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Known limit: a location cannot be linked to an establishment on screen (F10).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Locations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7 · Organisation structure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lead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Business units, divisions, departments, teams, cost and profit centres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Organisation › Departments / Teams; Organisation Designer; Org map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 units under their parents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Organisation tree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 map shows the tree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 map screenshot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Mixing financial and reporting units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4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Tree matches the agreed org chart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7 · STRUCTURE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business unit</a:t>
            </a:r>
            <a:endParaRPr lang="en-US" sz="2800" dirty="0"/>
          </a:p>
        </p:txBody>
      </p:sp>
      <p:pic>
        <p:nvPicPr>
          <p:cNvPr id="5" name="Screenshot client-onboarding/90-onb-24-new-business-unit" descr="Screenshot: Business units › New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276871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8266" y="32673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unit details for the company.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Retail Operations: the parent of the store departments.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Business units › New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7 · STRUCTURE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organisation units</a:t>
            </a:r>
            <a:endParaRPr lang="en-US" sz="2800" dirty="0"/>
          </a:p>
        </p:txBody>
      </p:sp>
      <p:pic>
        <p:nvPicPr>
          <p:cNvPr id="5" name="Screenshot client-onboarding/90-onb-25-new-department" descr="Screenshot: Departments › New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276871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649980" y="3276871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5319268" y="3406106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928266" y="32673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444289" y="32673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008372" y="33965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Effective from.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Units are effective-dated; their place in the hierarchy is set in the Organisation Designer.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Departments › New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7 · STRUCTURE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 listed</a:t>
            </a:r>
            <a:endParaRPr lang="en-US" sz="2800" dirty="0"/>
          </a:p>
        </p:txBody>
      </p:sp>
      <p:pic>
        <p:nvPicPr>
          <p:cNvPr id="5" name="Screenshot client-onboarding/90-onb-26-departments" descr="Screenshot: Organisation › Department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628678"/>
            <a:ext cx="6074054" cy="348217"/>
          </a:xfrm>
          <a:prstGeom prst="roundRect">
            <a:avLst>
              <a:gd name="adj" fmla="val 1313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67477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 Operations and People &amp; Culture with their dates.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726436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817876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Business units, divisions, teams, cost and profit centres follow the same pattern.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Departments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7 · STRUCTURE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Designer: add the root</a:t>
            </a:r>
            <a:endParaRPr lang="en-US" sz="2800" dirty="0"/>
          </a:p>
        </p:txBody>
      </p:sp>
      <p:pic>
        <p:nvPicPr>
          <p:cNvPr id="5" name="Screenshot client-onboarding/90-onb-29-designer-add-root" descr="Screenshot: Organisation Designer › Add root unit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572204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4572204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23152" y="2254976"/>
            <a:ext cx="7469097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095976" y="3057729"/>
            <a:ext cx="209414" cy="209414"/>
          </a:xfrm>
          <a:prstGeom prst="roundRect">
            <a:avLst>
              <a:gd name="adj" fmla="val 2183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723152" y="4453822"/>
            <a:ext cx="7469097" cy="593339"/>
          </a:xfrm>
          <a:prstGeom prst="roundRect">
            <a:avLst>
              <a:gd name="adj" fmla="val 770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7661896" y="231892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1967960" y="27651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7661896" y="46224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 type: Company.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an existing unit.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for change.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tree starts from the company.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Designer › Add root unit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7 · STRUCTURE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units under their parents</a:t>
            </a:r>
            <a:endParaRPr lang="en-US" sz="2800" dirty="0"/>
          </a:p>
        </p:txBody>
      </p:sp>
      <p:pic>
        <p:nvPicPr>
          <p:cNvPr id="5" name="Screenshot client-onboarding/90-onb-30-designer-add-child" descr="Screenshot: Organisation Designer › Add unit under Northwind Retail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572204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4572204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23152" y="2254976"/>
            <a:ext cx="7469097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23152" y="3685971"/>
            <a:ext cx="7469097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723152" y="4453822"/>
            <a:ext cx="7469097" cy="593339"/>
          </a:xfrm>
          <a:prstGeom prst="roundRect">
            <a:avLst>
              <a:gd name="adj" fmla="val 770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7661896" y="231892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7661896" y="374991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7661896" y="46224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 type: Business Unit.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Existing unit: Retail Operations.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7838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for change.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24104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33248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placement is recorded in the audit trail.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Designer › Add unit under Northwind Retail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7 · STRUCTURE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tree and the chart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Tree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31-designer-tree" descr="Screenshot: Organisation Designer (tre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→ business unit → department → team. Each node: Add child, Rename, Move, Deactivate, Remove from tree.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Organisation Designer (tree)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Chart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32-designer-chart" descr="Screenshot: Organisation Designer (chart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 as a chart. The Org map adds people once they are hired.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Organisation Designer (chart)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8 · Job architecture and positions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lead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Designations, levels, grades, job families, employment types, categories, work modes; positions if used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› Setup › All in Setup › Designations, Grades, Levels…; Organisation › Workforce › Positions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Reference lists; draft positions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Lists available in the hire wizard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Hire wizard drop-downs show the values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Lists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FTE fields refuse whole numbers such as 1 (F8): leave blank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7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designation and grade in the data file exists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8 · JOB ARCHITECTURE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the seeded reference lists</a:t>
            </a:r>
            <a:endParaRPr lang="en-US" sz="2800" dirty="0"/>
          </a:p>
        </p:txBody>
      </p:sp>
      <p:pic>
        <p:nvPicPr>
          <p:cNvPr id="5" name="Screenshot client-onboarding/90-onb-33-seeded-employment-types" descr="Screenshot: Admin › Setup › Employment typ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4547684"/>
            <a:ext cx="6074054" cy="351807"/>
          </a:xfrm>
          <a:prstGeom prst="roundRect">
            <a:avLst>
              <a:gd name="adj" fmla="val 1299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193178" y="2293247"/>
            <a:ext cx="990803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799031" y="45955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6882282" y="228369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Seeded value.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your own.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Employment types, categories, work modes and levels L1–L6 are seeded; designations, grades and job families start empty.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Admin › Setup › Employment types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8 · JOB ARCHITECTURE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designations</a:t>
            </a:r>
            <a:endParaRPr lang="en-US" sz="2800" dirty="0"/>
          </a:p>
        </p:txBody>
      </p:sp>
      <p:pic>
        <p:nvPicPr>
          <p:cNvPr id="5" name="Screenshot client-onboarding/90-onb-34-new-designation" descr="Screenshot: Admin › Setup › Designations › New designation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825" y="1417320"/>
            <a:ext cx="532975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792825" y="1417320"/>
            <a:ext cx="532975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4031" y="2972706"/>
            <a:ext cx="1107988" cy="198177"/>
          </a:xfrm>
          <a:prstGeom prst="roundRect">
            <a:avLst>
              <a:gd name="adj" fmla="val 2307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204083" y="2972706"/>
            <a:ext cx="1107988" cy="198177"/>
          </a:xfrm>
          <a:prstGeom prst="roundRect">
            <a:avLst>
              <a:gd name="adj" fmla="val 2307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024031" y="3495172"/>
            <a:ext cx="1107988" cy="198177"/>
          </a:xfrm>
          <a:prstGeom prst="roundRect">
            <a:avLst>
              <a:gd name="adj" fmla="val 2307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4600327" y="3080803"/>
            <a:ext cx="1107988" cy="198177"/>
          </a:xfrm>
          <a:prstGeom prst="roundRect">
            <a:avLst>
              <a:gd name="adj" fmla="val 2307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713135" y="294377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3781718" y="294377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713135" y="346624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5177963" y="305187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Level.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Effective from.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Designations carry the job attributes used on hire.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Admin › Setup › Designations › New designation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8 · JOB ARCHITECTURE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Designations listed</a:t>
            </a:r>
            <a:endParaRPr lang="en-US" sz="2800" dirty="0"/>
          </a:p>
        </p:txBody>
      </p:sp>
      <p:pic>
        <p:nvPicPr>
          <p:cNvPr id="5" name="Screenshot client-onboarding/90-onb-35-designations" descr="Screenshot: Admin › Setup › Designation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 Manager (L4), Retail Associate (L2), HR Executive (L3).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726436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817876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These appear in the hire wizard's Position step.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Admin › Setup › Designations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8 · POSITIONS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Positions (optional)</a:t>
            </a:r>
            <a:endParaRPr lang="en-US" sz="2800" dirty="0"/>
          </a:p>
        </p:txBody>
      </p:sp>
      <p:pic>
        <p:nvPicPr>
          <p:cNvPr id="5" name="Screenshot client-onboarding/90-onb-36-new-position" descr="Screenshot: Organisation › Workforce › Positions › New position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405" y="1417320"/>
            <a:ext cx="510059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7405" y="1417320"/>
            <a:ext cx="510059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1257" y="1963812"/>
            <a:ext cx="4872886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021257" y="2965714"/>
            <a:ext cx="4872886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710361" y="196103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710361" y="296293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Title.</a:t>
            </a:r>
            <a:endParaRPr lang="en-US" sz="1400" dirty="0"/>
          </a:p>
        </p:txBody>
      </p:sp>
      <p:sp>
        <p:nvSpPr>
          <p:cNvPr id="16" name="Bullet"/>
          <p:cNvSpPr/>
          <p:nvPr/>
        </p:nvSpPr>
        <p:spPr>
          <a:xfrm>
            <a:off x="8686800" y="269748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Grade.</a:t>
            </a:r>
            <a:endParaRPr lang="en-US" sz="1400" dirty="0"/>
          </a:p>
        </p:txBody>
      </p:sp>
      <p:sp>
        <p:nvSpPr>
          <p:cNvPr id="18" name="Bullet"/>
          <p:cNvSpPr/>
          <p:nvPr/>
        </p:nvSpPr>
        <p:spPr>
          <a:xfrm>
            <a:off x="8686800" y="306324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Seats.</a:t>
            </a:r>
            <a:endParaRPr lang="en-US" sz="1400" dirty="0"/>
          </a:p>
        </p:txBody>
      </p:sp>
      <p:sp>
        <p:nvSpPr>
          <p:cNvPr id="20" name="Bullet"/>
          <p:cNvSpPr/>
          <p:nvPr/>
        </p:nvSpPr>
        <p:spPr>
          <a:xfrm>
            <a:off x="8686800" y="342900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006840" y="333756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FTE: leave blank (defect F8 refuses whole numbers).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595360" y="397256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32520" y="406400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draft position; it is proposed, approved and opened before it is filled.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Organisation › Workforce › Positions › New position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8 · POSITIONS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position listed</a:t>
            </a:r>
            <a:endParaRPr lang="en-US" sz="2800" dirty="0"/>
          </a:p>
        </p:txBody>
      </p:sp>
      <p:pic>
        <p:nvPicPr>
          <p:cNvPr id="5" name="Screenshot client-onboarding/90-onb-37-positions" descr="Screenshot: Organisation › Workforce › Position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319949"/>
            <a:ext cx="6074054" cy="348217"/>
          </a:xfrm>
          <a:prstGeom prst="roundRect">
            <a:avLst>
              <a:gd name="adj" fmla="val 1313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36604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9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POS-SM-01 in Draft (the form on the previous slide was re-shot later with another code and cancelled).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943352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3034792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Use positions when the customer manages headcount by seat; otherwise skip.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Organisation › Workforce › Positions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data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data, load people once, set managers, invite users with the right reach.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9 · Employee data preparation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Manual (outside PeopleOS)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data owner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Current employee master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Outside PeopleOS (spreadsheet)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Clean names, e-mails, joining dates, managers, units; one row per person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Validated data file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Row counts reconcile with payroll headcount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file and reconciliation sheet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Personal identifiers sent by e-mail; duplicate people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Stages 4–8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owner signs off the file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10 · Data load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Blocked (defect or gate)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 with Markedge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Validated data file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Lifecycle › All in Lifecycle › Employee imports (Upload → Inspect → Map columns → Validate → Approve → Run)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Upload works; Map columns fails with "Undefined variable $svc" (F25)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Import cannot progress past "inspected" from the screen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Import status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Import record and error message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F25 defect. Workarounds: the Hire employee wizard per person (verified in this training), or POST /api/v1/employees with an API key (in the OpenAPI specification; not exercised in this training)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Engineering fix for F25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row loaded once; counts reconcile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DATA LOAD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import: upload the file</a:t>
            </a:r>
            <a:endParaRPr lang="en-US" sz="2800" dirty="0"/>
          </a:p>
        </p:txBody>
      </p:sp>
      <p:pic>
        <p:nvPicPr>
          <p:cNvPr id="5" name="Screenshot client-onboarding/90-onb-91-import-upload" descr="Screenshot: People › Lifecycle › Employee imports › Upload CSV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405" y="1417320"/>
            <a:ext cx="510059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7405" y="1417320"/>
            <a:ext cx="510059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CSV.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import then goes Inspect → Map columns → Validate → Approve → Run.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People › Lifecycle › Employee imports › Upload CSV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DATA LOAD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Inspect, then map the columns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Inspected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92a-import-inspected" descr="Screenshot: Employee import (after Inspect fil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and row count read from the file; status inspected.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Employee import (after Inspect file)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Map columns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92-import-map-columns" descr="Screenshot: Employee import › Map columns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047" y="1755648"/>
            <a:ext cx="519568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3047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CSV column mapped to a PeopleOS field; on duplicates: update or skip.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Employee import › Map columns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DATA LOAD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import today: blocked at Map columns</a:t>
            </a:r>
            <a:endParaRPr lang="en-US" sz="2800" dirty="0"/>
          </a:p>
        </p:txBody>
      </p:sp>
      <p:pic>
        <p:nvPicPr>
          <p:cNvPr id="5" name="Screenshot client-onboarding/90-onb-93-import-map-fails" descr="Screenshot: Employee import (after Map columns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463093"/>
          </a:xfrm>
          <a:prstGeom prst="roundRect">
            <a:avLst>
              <a:gd name="adj" fmla="val 98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85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Map columns fails with "Undefined variable $svc".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Imports cannot pass "inspected" from the screen (defect F25). Load people with the Hire employee wizard, or through POST /api/v1/employees (not exercised in this training) until fixed.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import (after Map columns)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11 · Person matching and duplicates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F4F"/>
                </a:solidFill>
              </a:rPr>
              <a:t>Automated by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 details at hire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Lifecycle › Employees › Hire employee (Person step)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Nothing: the wizard checks for an existing person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Definite duplicates refused; possible duplicates warned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Directory shows one record per person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Wizard warning screenshot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Ignoring a "possible duplicate" warning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duplicate person records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10–11 · HIRE WIZARD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employee: 1 Person</a:t>
            </a:r>
            <a:endParaRPr lang="en-US" sz="2800" dirty="0"/>
          </a:p>
        </p:txBody>
      </p:sp>
      <p:pic>
        <p:nvPicPr>
          <p:cNvPr id="5" name="Screenshot client-onboarding/90-onb-38-hire-person" descr="Screenshot: Hire employee › 01 Person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4479" y="2469368"/>
            <a:ext cx="862335" cy="344934"/>
          </a:xfrm>
          <a:prstGeom prst="roundRect">
            <a:avLst>
              <a:gd name="adj" fmla="val 1325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024479" y="3504170"/>
            <a:ext cx="1575198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024479" y="4642451"/>
            <a:ext cx="1575198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896463" y="217676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1713583" y="347101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1713583" y="460929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 1 of 4.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Personal e-mail.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595360" y="306324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32520" y="315468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person is checked against existing people before you continue.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Hire employee › 01 Person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11 · PERSON MATCHING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 before anything is created</a:t>
            </a:r>
            <a:endParaRPr lang="en-US" sz="2800" dirty="0"/>
          </a:p>
        </p:txBody>
      </p:sp>
      <p:pic>
        <p:nvPicPr>
          <p:cNvPr id="5" name="Screenshot client-onboarding/90-onb-45-duplicate-person" descr="Screenshot: Hire employee › 01 Person (duplicate check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678485"/>
          </a:xfrm>
          <a:prstGeom prst="roundRect">
            <a:avLst>
              <a:gd name="adj" fmla="val 673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3248152"/>
            <a:ext cx="6074054" cy="538480"/>
          </a:xfrm>
          <a:prstGeom prst="roundRect">
            <a:avLst>
              <a:gd name="adj" fmla="val 849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48401" y="169316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799031" y="33893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"This person already exists".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Re-use the existing person.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5308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4452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Definite matches are refused; possible matches are warned. One person, one lifetime record.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Hire employee › 01 Person (duplicate check)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HIRE WIZARD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employee: 2 Employment</a:t>
            </a:r>
            <a:endParaRPr lang="en-US" sz="2800" dirty="0"/>
          </a:p>
        </p:txBody>
      </p:sp>
      <p:pic>
        <p:nvPicPr>
          <p:cNvPr id="5" name="Screenshot client-onboarding/90-onb-39-hire-employment" descr="Screenshot: Hire employee › 02 Employment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398926"/>
            <a:ext cx="1967247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216735" y="3398926"/>
            <a:ext cx="1967247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109927" y="4023563"/>
            <a:ext cx="1967247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799031" y="33893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5905839" y="33893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1799031" y="401401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Joining date.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Employee code (generated when blank).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7838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 e-mail.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Hire employee › 02 Employment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HIRE WIZARD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employee: 3 Position</a:t>
            </a:r>
            <a:endParaRPr lang="en-US" sz="2800" dirty="0"/>
          </a:p>
        </p:txBody>
      </p:sp>
      <p:pic>
        <p:nvPicPr>
          <p:cNvPr id="5" name="Screenshot client-onboarding/90-onb-40-hire-position" descr="Screenshot: Hire employee › 03 Position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248152"/>
            <a:ext cx="1967247" cy="387706"/>
          </a:xfrm>
          <a:prstGeom prst="roundRect">
            <a:avLst>
              <a:gd name="adj" fmla="val 117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163331" y="3722014"/>
            <a:ext cx="1967247" cy="387706"/>
          </a:xfrm>
          <a:prstGeom prst="roundRect">
            <a:avLst>
              <a:gd name="adj" fmla="val 117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109927" y="4195877"/>
            <a:ext cx="1967247" cy="387706"/>
          </a:xfrm>
          <a:prstGeom prst="roundRect">
            <a:avLst>
              <a:gd name="adj" fmla="val 117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2109927" y="4669739"/>
            <a:ext cx="1967247" cy="387706"/>
          </a:xfrm>
          <a:prstGeom prst="roundRect">
            <a:avLst>
              <a:gd name="adj" fmla="val 117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799031" y="331398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3852435" y="378785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799031" y="426171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1799031" y="47355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 (the only required field).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7838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Designation.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31678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31496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Employment type.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60680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69824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Values come from the structure built in stages 4–8.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Hire employee › 03 Position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HIRE WIZARD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employee: 4 Manager</a:t>
            </a:r>
            <a:endParaRPr lang="en-US" sz="2800" dirty="0"/>
          </a:p>
        </p:txBody>
      </p:sp>
      <p:pic>
        <p:nvPicPr>
          <p:cNvPr id="5" name="Screenshot client-onboarding/90-onb-41-hire-manager" descr="Screenshot: Hire employee › 04 Manager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248152"/>
            <a:ext cx="6074054" cy="387706"/>
          </a:xfrm>
          <a:prstGeom prst="roundRect">
            <a:avLst>
              <a:gd name="adj" fmla="val 117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3872789"/>
            <a:ext cx="6074054" cy="366166"/>
          </a:xfrm>
          <a:prstGeom prst="roundRect">
            <a:avLst>
              <a:gd name="adj" fmla="val 1248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7397801" y="4475886"/>
            <a:ext cx="78618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1799031" y="331398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1799031" y="39278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7086905" y="446633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 manager (none for the first manager).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for change.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8021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7838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employee.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Hire employee › 04 Manager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HIRE WIZARD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created</a:t>
            </a:r>
            <a:endParaRPr lang="en-US" sz="2800" dirty="0"/>
          </a:p>
        </p:txBody>
      </p:sp>
      <p:pic>
        <p:nvPicPr>
          <p:cNvPr id="5" name="Screenshot client-onboarding/90-onb-43-hire-created" descr="Screenshot: Employee record (after Create employe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551481" y="2085035"/>
            <a:ext cx="2067763" cy="226162"/>
          </a:xfrm>
          <a:prstGeom prst="roundRect">
            <a:avLst>
              <a:gd name="adj" fmla="val 202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240585" y="207010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new Employee 360: Preboarding, one lifetime record.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92196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83636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Vivek Rao (EMP00001), joins Nov 2026.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record (after Create employee)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LIFECYCLE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as joined on the first day</a:t>
            </a:r>
            <a:endParaRPr lang="en-US" sz="2800" dirty="0"/>
          </a:p>
        </p:txBody>
      </p:sp>
      <p:pic>
        <p:nvPicPr>
          <p:cNvPr id="5" name="Screenshot client-onboarding/90-onb-46-mark-as-joined" descr="Screenshot: Employee 360 › Action › Mark as joined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314120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3141209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for change.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Records the actual joining date (here earlier than the planned date) and moves Preboarding → Joined → Probation.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360 › Action › Mark as joined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10 · LIFECYCLE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in probation</a:t>
            </a:r>
            <a:endParaRPr lang="en-US" sz="2800" dirty="0"/>
          </a:p>
        </p:txBody>
      </p:sp>
      <p:pic>
        <p:nvPicPr>
          <p:cNvPr id="5" name="Screenshot client-onboarding/90-onb-47-joined-probation" descr="Screenshot: Employee 360 (after Mark as joined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463093"/>
          </a:xfrm>
          <a:prstGeom prst="roundRect">
            <a:avLst>
              <a:gd name="adj" fmla="val 98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85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"Joined — Now in probation."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509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600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Load managers first and mark them as joined, so they can be chosen as line managers.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360 (after Mark as joined)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12 · Roles, users and access scope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Who does what; which companies or units each HR user covers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› Setup › Users (New user = invitation); Admin › Setup › Roles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Invite users with roles; set organisation scope for HR users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invited and active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 in as each role (test accounts) and check the menus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list; role matrix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Leaving HR users without scope gives them the whole tenant (Home warns); Tenant HR Admin cannot edit role permissions (F5)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user sees only what the role matrix says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12 · 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Roles: 14 system roles arrive with the tenant</a:t>
            </a:r>
            <a:endParaRPr lang="en-US" sz="2800" dirty="0"/>
          </a:p>
        </p:txBody>
      </p:sp>
      <p:pic>
        <p:nvPicPr>
          <p:cNvPr id="5" name="Screenshot client-onboarding/90-onb-54-roles" descr="Screenshot: Admin › Setup › Rol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5857985"/>
            <a:ext cx="6074054" cy="351807"/>
          </a:xfrm>
          <a:prstGeom prst="roundRect">
            <a:avLst>
              <a:gd name="adj" fmla="val 1299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706529" y="2293247"/>
            <a:ext cx="481042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799031" y="590587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578513" y="200063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system role with its permission and user counts.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role (custom roles).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87528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96672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14 roles, from Account Owner to Tenant Super Admin. Only a Tenant Super Admin edits role permissions.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Admin › Setup › Roles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12 · 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role may do</a:t>
            </a:r>
            <a:endParaRPr lang="en-US" sz="2800" dirty="0"/>
          </a:p>
        </p:txBody>
      </p:sp>
      <p:pic>
        <p:nvPicPr>
          <p:cNvPr id="5" name="Screenshot client-onboarding/90-onb-55-role-permissions" descr="Screenshot: Roles › HR Executive (edit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Permission keys grouped by module. Changes are audited with the keys granted and removed.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Roles › HR Executive (edit)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12 · 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a user with a role and a scope</a:t>
            </a:r>
            <a:endParaRPr lang="en-US" sz="2800" dirty="0"/>
          </a:p>
        </p:txBody>
      </p:sp>
      <p:pic>
        <p:nvPicPr>
          <p:cNvPr id="5" name="Screenshot client-onboarding/90-onb-56-new-user" descr="Screenshot: Admin › Setup › Users › New user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3257618" y="2906284"/>
            <a:ext cx="106067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594236" y="2906284"/>
            <a:ext cx="2190330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127960" y="4271647"/>
            <a:ext cx="106067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2024479" y="5392682"/>
            <a:ext cx="46566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2946722" y="287312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6254214" y="287312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817064" y="42384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1896463" y="510007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 e-mail.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Roles.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scope: company.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user.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user receives an invitation e-mail and chooses a password; nobody else ever sees it.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Admin › Setup › Users › New user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12 · 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Invited, then listed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After Create user (development mode)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</a:rPr>
              <a:t>Incomplete</a:t>
            </a:r>
            <a:endParaRPr lang="en-US" sz="950" dirty="0"/>
          </a:p>
        </p:txBody>
      </p:sp>
      <p:pic>
        <p:nvPicPr>
          <p:cNvPr id="7" name="Screenshot client-onboarding/90-onb-57-user-created" descr="Screenshot: Users › Edit user (opened after Create user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panel errors (F26, non-production strict mode). The user was still created and invited, as the list shows.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Users › Edit user (opened after Create user)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Users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58-users" descr="Screenshot: Admin › Setup › Users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Farah Khan (Tenant Super Admin, Active) and Rohit Menon (HR Executive, Invited).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Admin › Setup › Users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12 · 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what the role really sees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HR Executive Home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59-hr-executive-home" descr="Screenshot: Home (HR Executive, Northwind Retail) (Rohit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narrower menu than the administrator; Home shows people operations.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Rohit Menon (HR Executive (Northwind Retail)) · Home (HR Executive, Northwind Retail)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Roles, as an HR Executive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60-hr-executive-roles-denied" descr="Screenshot: Roles (as HR Executive) (Rohit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37" y="1755648"/>
            <a:ext cx="399010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965837" y="1755648"/>
            <a:ext cx="399010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the HR Executive role does not include role.view.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Rohit Menon (HR Executive (Northwind Retail)) · Roles (as HR Executive)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13 · Reporting relationships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Manager of each employee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Hire employee (Manager step) or Employee 360 › Action › Change manager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Primary line manager; functional, dotted, mentor etc. where used. Only employed people can be chosen: hire and Mark as joined the managers first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 chart and approvals route to managers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 map; a test leave request reaches the manager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Org map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managers: approvals have nobody to route to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active employee has a primary manager (except the top)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13 · REPORTING LINES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employed people can be managers</a:t>
            </a:r>
            <a:endParaRPr lang="en-US" sz="2800" dirty="0"/>
          </a:p>
        </p:txBody>
      </p:sp>
      <p:pic>
        <p:nvPicPr>
          <p:cNvPr id="5" name="Screenshot client-onboarding/90-onb-44-hire-with-manager" descr="Screenshot: Hire employee › 04 Manager (Line manager search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248152"/>
            <a:ext cx="6074054" cy="387706"/>
          </a:xfrm>
          <a:prstGeom prst="roundRect">
            <a:avLst>
              <a:gd name="adj" fmla="val 1179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31398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 manager search finds nobody.</a:t>
            </a:r>
            <a:endParaRPr lang="en-US" sz="1400" dirty="0"/>
          </a:p>
        </p:txBody>
      </p:sp>
      <p:sp>
        <p:nvSpPr>
          <p:cNvPr id="12" name="Bullet"/>
          <p:cNvSpPr/>
          <p:nvPr/>
        </p:nvSpPr>
        <p:spPr>
          <a:xfrm>
            <a:off x="8686800" y="25095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"No options match your search."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305308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32520" y="314452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"No options match your search": Vivek Rao was still Preboarding. Hire without a manager, then use Change manager.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Hire employee › 04 Manager (Line manager search)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13 · REPORTING LINES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manager: 1 Context</a:t>
            </a:r>
            <a:endParaRPr lang="en-US" sz="2800" dirty="0"/>
          </a:p>
        </p:txBody>
      </p:sp>
      <p:pic>
        <p:nvPicPr>
          <p:cNvPr id="5" name="Screenshot client-onboarding/90-onb-48-change-manager-context" descr="Screenshot: Employee 360 › Action › Change manager (01 Context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101023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4101023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23152" y="4430554"/>
            <a:ext cx="7469097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645445" y="4954089"/>
            <a:ext cx="552620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7661896" y="449450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334549" y="501803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relationship changes (line, dotted, project…).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360 › Action › Change manager (01 Context)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13 · REPORTING LINES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manager: 2 Change</a:t>
            </a:r>
            <a:endParaRPr lang="en-US" sz="2800" dirty="0"/>
          </a:p>
        </p:txBody>
      </p:sp>
      <p:pic>
        <p:nvPicPr>
          <p:cNvPr id="5" name="Screenshot client-onboarding/90-onb-49-change-manager-change" descr="Screenshot: Change manager (02 Chang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3769451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3769451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23152" y="3336948"/>
            <a:ext cx="7469097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723152" y="4104799"/>
            <a:ext cx="7469097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7661896" y="340089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7661896" y="416874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manager.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Effective from.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Change manager (02 Change)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13 · REPORTING LINES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manager: 3 Review</a:t>
            </a:r>
            <a:endParaRPr lang="en-US" sz="2800" dirty="0"/>
          </a:p>
        </p:txBody>
      </p:sp>
      <p:pic>
        <p:nvPicPr>
          <p:cNvPr id="5" name="Screenshot client-onboarding/90-onb-50-change-manager-review" descr="Screenshot: Change manager (03 Review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50239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4502399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23152" y="4384017"/>
            <a:ext cx="7469097" cy="593339"/>
          </a:xfrm>
          <a:prstGeom prst="roundRect">
            <a:avLst>
              <a:gd name="adj" fmla="val 770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394779" y="5361282"/>
            <a:ext cx="1797470" cy="383926"/>
          </a:xfrm>
          <a:prstGeom prst="roundRect">
            <a:avLst>
              <a:gd name="adj" fmla="val 1190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7661896" y="455267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6083883" y="542522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for change.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reporting change.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Before → After shown side by side.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Change manager (03 Review)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13 · REPORTING LINES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line recorded</a:t>
            </a:r>
            <a:endParaRPr lang="en-US" sz="2800" dirty="0"/>
          </a:p>
        </p:txBody>
      </p:sp>
      <p:pic>
        <p:nvPicPr>
          <p:cNvPr id="5" name="Screenshot client-onboarding/90-onb-51-reporting-changed" descr="Screenshot: Employee 360 (after the chang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5606457" y="2497870"/>
            <a:ext cx="394885" cy="157954"/>
          </a:xfrm>
          <a:prstGeom prst="roundRect">
            <a:avLst>
              <a:gd name="adj" fmla="val 289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5478441" y="220526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Confirmation.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to.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Ishita Sen now reports to Vivek Rao; the change is in her history.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360 (after the change)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13 · REPORTING LINES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Verify: org map and directory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Org map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52-org-map-with-people" descr="Screenshot: Organisation › Org map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Rao with Ishita Sen reporting to him.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Organisation › Org map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Directory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53-directory" descr="Screenshot: People › Directory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Northwind employees and their manager. Role, department and location show "—": these hires were placed with the company only.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People › Directory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and pay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leave, pay, statutory, workflows, notifications and sign-in security.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14 · Attendance and shifts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(attendance)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Shifts, weekly patterns, holiday list, devices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Time &amp; leave › All in Time &amp; leave › Shifts, Work Schedules, Holiday Calendars, Devices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Shifts, schedules with rules, holiday calendars with rules, devices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Attendance processes per schedule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Process a test day; check records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Attendance records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Holiday type and half-day are ignored: every holiday is a full day (F39); late-mark actions not applied (F40)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7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sample week processes as expected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14 ·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shifts</a:t>
            </a:r>
            <a:endParaRPr lang="en-US" sz="2800" dirty="0"/>
          </a:p>
        </p:txBody>
      </p:sp>
      <p:pic>
        <p:nvPicPr>
          <p:cNvPr id="5" name="Screenshot client-onboarding/90-onb-61-new-shift" descr="Screenshot: Time &amp; leave › Shifts › New shift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27960" y="3285711"/>
            <a:ext cx="684119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594236" y="2906284"/>
            <a:ext cx="684119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4594236" y="3285711"/>
            <a:ext cx="684119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5723895" y="5151228"/>
            <a:ext cx="1060671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999944" y="299310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4466220" y="261367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4283340" y="32525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5412999" y="51180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/ end.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/ half day.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Grace.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Overtime.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Start and end times, breaks and grace rules; a review panel shows the shift before it is created.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Time &amp; leave › Shifts › New shift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14 ·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work schedule</a:t>
            </a:r>
            <a:endParaRPr lang="en-US" sz="2800" dirty="0"/>
          </a:p>
        </p:txBody>
      </p:sp>
      <p:pic>
        <p:nvPicPr>
          <p:cNvPr id="5" name="Screenshot client-onboarding/90-onb-62-new-work-schedule" descr="Screenshot: Time &amp; leave › Work schedules › New work schedule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161" y="1417320"/>
            <a:ext cx="6937078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989161" y="1417320"/>
            <a:ext cx="6937078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weekly pattern of shifts and weekly offs.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Time &amp; leave › Work schedules › New work schedule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14 ·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saved: assign it by rule</a:t>
            </a:r>
            <a:endParaRPr lang="en-US" sz="2800" dirty="0"/>
          </a:p>
        </p:txBody>
      </p:sp>
      <p:pic>
        <p:nvPicPr>
          <p:cNvPr id="5" name="Screenshot client-onboarding/90-onb-63-work-schedule-saved" descr="Screenshot: Work schedule (edit pag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Applies-to rules decide who works the schedule; individuals can be assigned from the Employee 360.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Work schedule (edit page)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14 ·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holiday calendar</a:t>
            </a:r>
            <a:endParaRPr lang="en-US" sz="2800" dirty="0"/>
          </a:p>
        </p:txBody>
      </p:sp>
      <p:pic>
        <p:nvPicPr>
          <p:cNvPr id="5" name="Screenshot client-onboarding/90-onb-64-new-holiday-calendar" descr="Screenshot: Time &amp; leave › Holiday calendars › New holiday calendar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538931"/>
            <a:ext cx="854388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120253" y="3538931"/>
            <a:ext cx="854388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111146" y="32463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3992237" y="32463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One calendar per location or group; assigned by rule.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Time &amp; leave › Holiday calendars › New holiday calendar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14 ·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holidays and assign the calendar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New holiday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65-new-holiday" descr="Screenshot: Holiday calendar › Holidays › New holida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counts as a holiday for everyone the calendar applies to.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Holiday calendar › Holidays › New holiday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Calendar saved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66-holiday-calendar-saved" descr="Screenshot: Holiday calendar (edit page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19935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19935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Kannada Rajyotsava (1 Nov) and Christmas; Applies to and History tabs.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Holiday calendar (edit page)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15 · Leave policies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Leave types and entitlements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Time &amp; leave › All in Time &amp; leave › Leave types; Workflows › Policies (Leave policy)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Types; policy versions (accrual, probation, notice, carry forward, encashment)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Balances accrue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Balances for sample employees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Balances 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Hourly leave and sandwich rules not available (F43); encashment has no amount or payroll posting (F41)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Sample balances match the customer's policy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15 · 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types arrive seeded</a:t>
            </a:r>
            <a:endParaRPr lang="en-US" sz="2800" dirty="0"/>
          </a:p>
        </p:txBody>
      </p:sp>
      <p:pic>
        <p:nvPicPr>
          <p:cNvPr id="5" name="Screenshot client-onboarding/90-onb-67-leave-types" descr="Screenshot: Time &amp; leave › Leave typ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2"/>
          <p:cNvSpPr/>
          <p:nvPr/>
        </p:nvSpPr>
        <p:spPr>
          <a:xfrm>
            <a:off x="7462418" y="2293247"/>
            <a:ext cx="721563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7334402" y="200063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seeded type with its flags.</a:t>
            </a:r>
            <a:endParaRPr lang="en-US" sz="140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24180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leave type.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287528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32520" y="296672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Earned, Casual, Sick, Maternity, Paternity, Bereavement, Compensatory off, Restricted holiday, Leave without pay.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Time &amp; leave › Leave types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15 · 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leave policy</a:t>
            </a:r>
            <a:endParaRPr lang="en-US" sz="2800" dirty="0"/>
          </a:p>
        </p:txBody>
      </p:sp>
      <p:pic>
        <p:nvPicPr>
          <p:cNvPr id="5" name="Screenshot client-onboarding/90-onb-68-new-leave-policy" descr="Screenshot: Workflows › Policies › New polic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9162" y="3276871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239162" y="3750733"/>
            <a:ext cx="1324661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928266" y="326732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928266" y="374118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Policy type: Leave policy.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rules go on a draft version of the saved policy, which is then published.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Workflows › Policies › New policy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15 · 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entitlements on the draft version</a:t>
            </a:r>
            <a:endParaRPr lang="en-US" sz="2800" dirty="0"/>
          </a:p>
        </p:txBody>
      </p:sp>
      <p:pic>
        <p:nvPicPr>
          <p:cNvPr id="5" name="Screenshot client-onboarding/90-onb-70-leave-entitlements" descr="Screenshot: Policy › Versions &amp; settings › Edit draft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3306483" y="2730943"/>
            <a:ext cx="511652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884248" y="2730943"/>
            <a:ext cx="511652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4464886" y="2730943"/>
            <a:ext cx="511652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3884248" y="3731251"/>
            <a:ext cx="511652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3178467" y="243833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3756232" y="243833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4336870" y="243833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3756232" y="343864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Leave type.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 per year.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Accrual.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Carry-forward.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applies until the version is published.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Policy › Versions &amp; settings › Edit draft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15 · 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version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Publish draft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71-publish-policy" descr="Screenshot: Policy › Publish draft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232294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232294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becomes active from its effective date; earlier versions are kept.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Policy › Publish draft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Published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72-policy-published" descr="Screenshot: Workflows › Policies › Northwind leave policy (after publishing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1751864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1751864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Published by Farah Khan, effective 21 Oct 2026. Assignment rules decide who it applies to.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Workflows › Policies › Northwind leave policy (after publishing)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16 · Payroll components and structures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payroll lead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Salary components, structures, CTC per employee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Pay › All in Pay › Salary components, Salary structures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Components with formulas; structure versions (approval)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Runs can be calculated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Calculate a test run; Payroll Auditor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breakdown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Statutory components are reserved; monthly frequency only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run gross and net match a reference calculation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16 · PAY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components arrive seeded</a:t>
            </a:r>
            <a:endParaRPr lang="en-US" sz="2800" dirty="0"/>
          </a:p>
        </p:txBody>
      </p:sp>
      <p:pic>
        <p:nvPicPr>
          <p:cNvPr id="5" name="Screenshot client-onboarding/90-onb-73-salary-components" descr="Screenshot: People › Pay › Salary component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2"/>
          <p:cNvSpPr/>
          <p:nvPr/>
        </p:nvSpPr>
        <p:spPr>
          <a:xfrm>
            <a:off x="7189589" y="2293247"/>
            <a:ext cx="997983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6878693" y="228369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formula-based component.</a:t>
            </a:r>
            <a:endParaRPr lang="en-US" sz="140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salary component.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95360" y="269748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32520" y="278892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Basic (40% of monthly CTC), HRA (50% of basic), Conveyance, Special allowance (balancing), Bonus…; statutory lines are never configured here.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People › Pay › Salary components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16 · PAY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a component; review the structure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Basic (edit)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74-salary-component-edit" descr="Screenshot: Salary components › Basic (edit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is validated on save; a reason is required and approval may apply (Change Centre).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Salary components › Basic (edit)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Salary structures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75-salary-structures" descr="Screenshot: People › Pay › Salary structures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structure v1 is seeded; new versions are drafted, submitted and approved.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People › Pay › Salary structures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17 · Statutory configuration and verification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Blocked (defect or gate)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payroll (registrations); Markedge (rule verification)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Registrations (PF, ESI, PT, LWF, TAN), establishment profiles; official rule evidence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Pay › All in Pay › Statutory registrations, Statutory profiles; Compliance control room; Rule verification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Customer records registrations against an establishment first, then establishment statutory profiles; two platform administrators verify each rule with evidence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Finalisation allowed only when rules are verified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Compliance control room shows no unverified rule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Verification register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of 24 rules verified today; gratuity not calculated; no rules for USA, UK, EU; a profile recorded before its registration has no registration linked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Owner decisions O-5, O-12, O-18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rules in scope verified, or payroll excluded from scope in writing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17 · STATUTORY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Registrations belong to an establishment</a:t>
            </a:r>
            <a:endParaRPr lang="en-US" sz="2800" dirty="0"/>
          </a:p>
        </p:txBody>
      </p:sp>
      <p:pic>
        <p:nvPicPr>
          <p:cNvPr id="5" name="Screenshot client-onboarding/90-onb-76a-registration-needs-establishment" descr="Screenshot: Statutory registrations › New registration (refused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441554"/>
          </a:xfrm>
          <a:prstGeom prst="roundRect">
            <a:avLst>
              <a:gd name="adj" fmla="val 1035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7469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rule message.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"A EPF establishment code registration belongs to an establishment." Nothing is saved. Create establishments first (stage 6).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Statutory registrations › New registration (refused)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17 · STATUTORY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 statutory registration</a:t>
            </a:r>
            <a:endParaRPr lang="en-US" sz="2800" dirty="0"/>
          </a:p>
        </p:txBody>
      </p:sp>
      <p:pic>
        <p:nvPicPr>
          <p:cNvPr id="5" name="Screenshot client-onboarding/90-onb-76-new-statutory-registration" descr="Screenshot: People › Pay › Statutory registrations › New registration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405" y="1417320"/>
            <a:ext cx="5100591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7405" y="1417320"/>
            <a:ext cx="5100591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021257" y="1963812"/>
            <a:ext cx="4872886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021257" y="2464763"/>
            <a:ext cx="4872886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2021257" y="2965714"/>
            <a:ext cx="4872886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box 4"/>
          <p:cNvSpPr/>
          <p:nvPr/>
        </p:nvSpPr>
        <p:spPr>
          <a:xfrm>
            <a:off x="2021257" y="3466664"/>
            <a:ext cx="4872886" cy="250475"/>
          </a:xfrm>
          <a:prstGeom prst="roundRect">
            <a:avLst>
              <a:gd name="adj" fmla="val 1825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1" name="Callout 1"/>
          <p:cNvSpPr txBox="1"/>
          <p:nvPr/>
        </p:nvSpPr>
        <p:spPr>
          <a:xfrm>
            <a:off x="1710361" y="196103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Callout 2"/>
          <p:cNvSpPr txBox="1"/>
          <p:nvPr/>
        </p:nvSpPr>
        <p:spPr>
          <a:xfrm>
            <a:off x="1710361" y="246198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Callout 3"/>
          <p:cNvSpPr txBox="1"/>
          <p:nvPr/>
        </p:nvSpPr>
        <p:spPr>
          <a:xfrm>
            <a:off x="1710361" y="296293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4"/>
          <p:cNvSpPr txBox="1"/>
          <p:nvPr/>
        </p:nvSpPr>
        <p:spPr>
          <a:xfrm>
            <a:off x="1710361" y="34638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Legal entity.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Establishment.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Registration type.</a:t>
            </a:r>
            <a:endParaRPr lang="en-US" sz="1400" dirty="0"/>
          </a:p>
        </p:txBody>
      </p:sp>
      <p:sp>
        <p:nvSpPr>
          <p:cNvPr id="22" name="Callout 4"/>
          <p:cNvSpPr txBox="1"/>
          <p:nvPr/>
        </p:nvSpPr>
        <p:spPr>
          <a:xfrm>
            <a:off x="8595360" y="29900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97180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Number.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595360" y="342900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32520" y="352044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EPF, ESIC, PT, LWF and TAN registrations are effective-dated records.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People › Pay › Statutory registrations › New registration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17 · STATUTORY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Registrations and statutory profiles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Statutory registrations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77-statutory-registrations" descr="Screenshot: People › Pay › Statutory registration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EPF establishment code with its state and effective date.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People › Pay › Statutory registrations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New statutory profile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78-new-establishment-statutory-profile" descr="Screenshot: People › Pay › Statutory profiles › New profile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047" y="1755648"/>
            <a:ext cx="5195689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3047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payroll which statutes apply where. Record the registration first: a profile saved earlier has no registration linked.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People › Pay › Statutory profiles › New profile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17 · STATUTORY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verification is Markedge's job, and it is not done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Compliance control room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B3"/>
                </a:solidFill>
              </a:rPr>
              <a:t>After configuration</a:t>
            </a:r>
            <a:endParaRPr lang="en-US" sz="950" dirty="0"/>
          </a:p>
        </p:txBody>
      </p:sp>
      <p:pic>
        <p:nvPicPr>
          <p:cNvPr id="7" name="Screenshot client-onboarding/90-onb-80-compliance-control-room" descr="Screenshot: People › Pay › Control room (compliance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this tenant needs per establishment and whether each is verified; the production gate.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People › Pay › Control room (compliance)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Compliance rules (read only)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</a:rPr>
              <a:t>Disabled (gate)</a:t>
            </a:r>
            <a:endParaRPr lang="en-US" sz="950" dirty="0"/>
          </a:p>
        </p:txBody>
      </p:sp>
      <p:pic>
        <p:nvPicPr>
          <p:cNvPr id="13" name="Screenshot client-onboarding/90-onb-81-compliance-rules" descr="Screenshot: People › Pay › Compliance rules (read only for the tenant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versions shipped by the platform with their verification status: 0 of 24 verified.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People › Pay › Compliance rules (read only for the tenant)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18 · Workflows and approvals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with Markedge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Approval chains per request type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Workflows › Workflows (builder, versions); Workflows › Policies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Publish workflow versions; leave/attendance approvals go to the line manager by default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Requests route correctly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each request type once in UAT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Workflow runs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"Generate document" step skipped (F33)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request type reaches the right approver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18 · WORKFLOWS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workflow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New workflow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82-new-workflow" descr="Screenshot: Workflows › Workflows › New workflow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85" y="1755648"/>
            <a:ext cx="5193238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4185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trigger event (here: probation ending soon) and subject.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Workflows › Workflows › New workflow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Workflow saved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83-workflow-saved" descr="Screenshot: Workflow (after creating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Versions, the step builder and history.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Farah Khan (Tenant Super Admin (Northwind Retail, first administrator)) · Workflow (after creating)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18 · WORKFLOWS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steps in the builder, then publish</a:t>
            </a:r>
            <a:endParaRPr lang="en-US" sz="2800" dirty="0"/>
          </a:p>
        </p:txBody>
      </p:sp>
      <p:pic>
        <p:nvPicPr>
          <p:cNvPr id="5" name="Screenshot client-onboarding/90-onb-94-workflow-builder" descr="Screenshot: Workflow › Versions &amp; builder › Open builder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Start → End; approval, task, notification and condition steps go between them. Running instances keep the version they started on. Known limit: "Generate document" steps are skipped (F33).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Workflow › Versions &amp; builder › Open builder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18 · WORKFLOWS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published workflow (Demo tenant)</a:t>
            </a:r>
            <a:endParaRPr lang="en-US" sz="2800" dirty="0"/>
          </a:p>
        </p:txBody>
      </p:sp>
      <p:pic>
        <p:nvPicPr>
          <p:cNvPr id="5" name="Screenshot client-onboarding/85-wf-03-workflow-versions" descr="Screenshot: Workflow › Versions &amp; builder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3091912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417320"/>
            <a:ext cx="7818120" cy="3091912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Probation confirmation v1 in the Demo tenant: 6 nodes, manager then HR approval.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Kavya Menon (Tenant HR Admin + Employee) · Workflow › Versions &amp; builder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19 · Notifications and communication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events notify whom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Communication › Notification rules, Notification templates, Delivery log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Edit starter rules and templates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E-mail and in-app notices sent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Delivery log shows sent items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Delivery log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role can create or delete rules (F18); SMS, WhatsApp, push send nothing (F19)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Production mail transport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Agreed notifications appear in the delivery log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19 · NOTIFICATIONS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rules: none, and none can be created</a:t>
            </a:r>
            <a:endParaRPr lang="en-US" sz="2800" dirty="0"/>
          </a:p>
        </p:txBody>
      </p:sp>
      <p:pic>
        <p:nvPicPr>
          <p:cNvPr id="5" name="Screenshot client-onboarding/90-onb-84-notification-rules" descr="Screenshot: Communication › Notification rul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rules and no New action (F18). E-mail notices for leave and approvals are not sent unless a rule exists. Markedge must seed or enable rules until this is fixed.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Communication › Notification rules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19 · NOTIFICATIONS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log (Demo tenant)</a:t>
            </a:r>
            <a:endParaRPr lang="en-US" sz="2800" dirty="0"/>
          </a:p>
        </p:txBody>
      </p:sp>
      <p:pic>
        <p:nvPicPr>
          <p:cNvPr id="5" name="Screenshot client-onboarding/85-wf-09-delivery-log" descr="Screenshot: Communication › Delivery log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3208426" y="2688133"/>
            <a:ext cx="667715" cy="204622"/>
          </a:xfrm>
          <a:prstGeom prst="roundRect">
            <a:avLst>
              <a:gd name="adj" fmla="val 2234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3080410" y="239552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Queued.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delivery with channel and status. SMS, WhatsApp and push send nothing (F19). Queued items need a queue worker.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Kavya Menon (Tenant HR Admin + Employee) · Communication › Delivery log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20 · Security policy and sign-in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MFA decision, password and session rules, SSO (OIDC)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› Platform › Security policy; Single sign-on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Require MFA (recommended); idle timeout; OIDC connection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enforced at sign-in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 in as a test user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Security policy screenshot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Password expiry is stored but not enforced (F2); SAML not supported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12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MFA required for administrators at least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20 · SECURITY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policy</a:t>
            </a:r>
            <a:endParaRPr lang="en-US" sz="2800" dirty="0"/>
          </a:p>
        </p:txBody>
      </p:sp>
      <p:pic>
        <p:nvPicPr>
          <p:cNvPr id="5" name="Screenshot client-onboarding/90-onb-85-security-policy" descr="Screenshot: Admin › Platform › Security polic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3"/>
          <p:cNvSpPr/>
          <p:nvPr/>
        </p:nvSpPr>
        <p:spPr>
          <a:xfrm>
            <a:off x="6419511" y="2061196"/>
            <a:ext cx="471410" cy="189714"/>
          </a:xfrm>
          <a:prstGeom prst="roundRect">
            <a:avLst>
              <a:gd name="adj" fmla="val 2409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6291495" y="176858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policy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Require MFA, session and idle timeouts, password rules, retention days. Recommend MFA required for all administrators. Password expiry is stored but not enforced (F2).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Admin › Platform › Security policy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20 · CONFIGURATION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and feature flags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Settings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86-settings" descr="Screenshot: Admin › Setup › Setting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keys (attendance windows, probation months, code padding…). Several keys have no effect (F30).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Admin › Setup › Settings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Feature flags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87-feature-flags" descr="Screenshot: Admin › Setup › Feature flags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on; external language model off; configuration approval off by default.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Admin › Setup › Feature flags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pilot users, reconcile data, run UAT, fix defects and test access.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21 · Employee and manager readiness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Manual (outside PeopleOS)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with Markedge trainer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Decks 1 and 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Training sessions; Home of each persona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Invite pilot users; run the exercises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Pilot users trained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Exercise completion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Attendance 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Training before data is final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Stages 10–15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Pilot group completes the exercises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22 · Data validation and reconciliation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data owner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 counts by company, unit, status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Insights › Reports (starter reports, Export CSV); People analytics; Employees register filters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headcount reports and compare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Counts reconcile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Signed reconciliation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Export and reconciliation sheet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 builder filter/group lists empty (F44): use starter reports and filters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Zero unexplained differences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22 · RECONCILIATION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with a starter report (Demo tenant)</a:t>
            </a:r>
            <a:endParaRPr lang="en-US" sz="2800" dirty="0"/>
          </a:p>
        </p:txBody>
      </p:sp>
      <p:pic>
        <p:nvPicPr>
          <p:cNvPr id="5" name="Screenshot analytics/80-ins-06-report-result" descr="Screenshot: Report: Headcount by department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188" y="1417320"/>
            <a:ext cx="6793025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061188" y="1417320"/>
            <a:ext cx="6793025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514140" y="4757224"/>
            <a:ext cx="5094769" cy="113217"/>
          </a:xfrm>
          <a:prstGeom prst="roundRect">
            <a:avLst>
              <a:gd name="adj" fmla="val 4038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784940" y="2244434"/>
            <a:ext cx="638419" cy="207565"/>
          </a:xfrm>
          <a:prstGeom prst="roundRect">
            <a:avLst>
              <a:gd name="adj" fmla="val 2202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203244" y="468581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6656924" y="195182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Grouped results.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Export CSV.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Compare counts by department with the customer's source file. A "—" group means records without a department.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Kavya Menon (Tenant HR Admin + Employee) · Report: Headcount by department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23 · User acceptance testing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Manual (outside PeopleOS)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UAT lead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UAT test cases (supporting workbook)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module as the tester's role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Execute cases, record actual results and evidence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UAT log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 rate and open defects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UAT workbook with screenshots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Testing with real personal data in a shared environment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Stages 2–22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critical cases pass; no open critical defect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23 · UAT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UAT: what to test, with what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supporting/PeopleOS-UAT-Test-Cases.xlsx: steps, expected result, and what Markedge observed in the training environment.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user per role; never test only as the super administrator.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invented people in a UAT tenant. Never real personal identifiers in a shared environment.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per step that changes the screen; record actual results and defect references.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24 · Defect logging and resolution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Manual (outside PeopleOS)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support and engineering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Failed test cases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Outside PeopleOS (defect tracker)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Log, triage, fix, retest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Defects closed or accepted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Retest 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Defect log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Closing without retest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23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Known defects (F25, F38, F44, F17…) fixed or accepted in writing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24 · DEFECTS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defects to log before UAT starts</a:t>
            </a:r>
            <a:endParaRPr lang="en-US" sz="280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840480"/>
                <a:gridCol w="3319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Ref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Defect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Effect on implementation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Workaround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F25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Employee / punch import: Map columns fails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Bulk load impossible from the screen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Hire wizard per person; API (not exercised here)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F38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Leave requests › Apply on behalf: server error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HR cannot apply leave from the list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Employee 360 › Records › Time › Leave › Apply for leave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F44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Report builder field lists empty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No new grouped reports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Starter reports; People analytics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F18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Notification rules cannot be created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No e-mail for leave and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Markedge seeds rules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F17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Give feedback errors on MySQL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Employee sees an error; HR not notified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None on screen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F26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History tab errors outside production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Seen in UAT if not production mode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Use Change history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25 · Security and access validation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3"/>
                </a:solidFill>
              </a:rPr>
              <a:t>Configuration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 with Markedge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 matrix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› Setup › Roles, Users; Insights › Audit › Change history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 in as each role; try restricted pages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Access matches the matrix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Restricted pages show "not available"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Access test log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Testing only as a super administrator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12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role sees more than agreed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25 · ACCESS VALIDATION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test: a refusal is a pass</a:t>
            </a:r>
            <a:endParaRPr lang="en-US" sz="2800" dirty="0"/>
          </a:p>
        </p:txBody>
      </p:sp>
      <p:pic>
        <p:nvPicPr>
          <p:cNvPr id="5" name="Screenshot security-compliance/85-acc-08-role-edit-denied-hr-admin" descr="Screenshot: Roles › HR Manager › Edit (as Tenant HR Admin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refused.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"This page is not available to you." A Tenant HR Admin cannot edit role permissions; only a Tenant Super Admin can.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Kavya Menon (Tenant HR Admin + Employee) · Roles › HR Manager › Edit (as Tenant HR Admin)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 and govern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together, monitor, hand over to support, and keep governing.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26 · Go-live readiness and approval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Blocked (defect or gate)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sponsor and Markedge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UAT sign-off, reconciliation, open defects, release gate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 readiness (operator); outside PeopleOS (approval)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Go/no-go meeting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Written go-live approval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Release gate GO and customer sign-off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Signed approval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Going live while the release gate is NO-GO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Release gate (10 of 14 gates blocked today)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 decision recorded by both parties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26 · GO-LIVE READINESS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readiness (operator)</a:t>
            </a:r>
            <a:endParaRPr lang="en-US" sz="2800" dirty="0"/>
          </a:p>
        </p:txBody>
      </p:sp>
      <p:pic>
        <p:nvPicPr>
          <p:cNvPr id="5" name="Screenshot platform-admin/95-pl-23-readiness" descr="Screenshot: Admin › Platform › Platform readines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Operators check readiness before any go-live: statutory status, operator MFA, demo accounts, backup and DR evidence.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Admin › Platform › Platform readiness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27 · Post-go-live monitoring and support handover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3594"/>
                </a:solidFill>
              </a:rPr>
              <a:t>Operator action in PeopleOS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support and platform operations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Hypercare plan, contacts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 › Operations (queues, failed jobs); Platform audit trail; Delivery log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Daily checks during hypercare; hand over to support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Stable operation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failed jobs; tickets within SLA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Hypercare log, handover checklist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scheduler or queue worker running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Hosting and on-call (gate 8)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Handover checklist signed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27 · HYPERCARE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queues and failed jobs</a:t>
            </a:r>
            <a:endParaRPr lang="en-US" sz="2800" dirty="0"/>
          </a:p>
        </p:txBody>
      </p:sp>
      <p:pic>
        <p:nvPicPr>
          <p:cNvPr id="5" name="Screenshot platform-admin/95-pl-21-operations" descr="Screenshot: Admin › Platform › Operation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Platform › Operations: queues, failed jobs and scheduled commands. Requires a running queue worker and scheduler (hosting gate 8).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Admin › Platform › Operations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STAGE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28 · Customer training and ongoing governance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34095" y="29260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Manual (outside PeopleOS)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RESPONSIBLE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with Markedge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87288" y="141732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4448" y="147218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REQUIRED INPUTS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Training library; governance calendar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WHERE IN PEOPLEOS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Change Centre; Change history; Reports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288" y="2408530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4448" y="2463394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WHAT TO CONFIGURE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Quarterly access review; policy version reviews; release notes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OUTCOME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Governance rhythm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87288" y="339973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345460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HOW TO VERIFY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Review minutes; Change history › Verify integrity reports "Chain intact"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RETAIN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Access review records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7288" y="4390949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448" y="4445813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COMMON ERRORS AND LIMITS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Unreviewed tenant-wide HR access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DEPENDENCIES AND BLOCKERS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Stage 27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87288" y="5382158"/>
            <a:ext cx="5455768" cy="881482"/>
          </a:xfrm>
          <a:prstGeom prst="roundRect">
            <a:avLst>
              <a:gd name="adj" fmla="val 62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4448" y="5437022"/>
            <a:ext cx="518144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 quarterly review held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28 · GOVERNANCE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changes after go-live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Change Centre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client-onboarding/90-onb-88-change-centre" descr="Screenshot: Admin › Setup › Change Centre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approval, scheduled, published, rejected. Empty here: configuration approval is off and creates apply immediately (F29).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Admin › Setup › Change Centre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Change history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89-audit-trail" descr="Screenshot: Insights › Audit › Change history (Audit events) (Farah Kha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change, invitation, sign-in and role change of the implementation, newest first.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Insights › Audit › Change history (Audit events)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STAGE 28 · GOVERNANCE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audit chain</a:t>
            </a:r>
            <a:endParaRPr lang="en-US" sz="2800" dirty="0"/>
          </a:p>
        </p:txBody>
      </p:sp>
      <p:pic>
        <p:nvPicPr>
          <p:cNvPr id="5" name="Screenshot client-onboarding/90-onb-90-audit-verified" descr="Screenshot: Change history › Verify integrity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result.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"Chain intact: 287 events verified" for the whole Northwind implementation. Keep this as evidence at handover and at each quarterly review.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Change history › Verify integrity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MANUAL WORK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Markedge still does by hand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load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F25 is fixed: hire wizard per person, or an API load by Markedge.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rules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or enable rules for the customer (F18).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verification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 administrators verify each rule with official evidence (0 of 24 today).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and branding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sender name and domain (invitations show "Laravel" in development).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support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monitoring, on-call, backup and restore tests: release gates 7 and 8.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prices and billing are switched off (shadow mode); contracts handled outside PeopleOS.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Operators provision and invite; customer administrators configure.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Build structure first, then people, then policies.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Most screens were executed on a fictional tenant built from empty; a few come from the Demo tenant and say so.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Import, statutory verification and go-live are blocked today; plan around them.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Use the implementation and handover checklists as the record of each stage.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supporting/PeopleOS-Customer-Implementation-Checklist.xlsx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supporting/PeopleOS-Go-Live-Handover-Checklist.xlsx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11: UAT and go-live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05: platform operator tasks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129</Slides>
  <Notes>129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129</vt:i4>
      </vt:variant>
    </vt:vector>
  </HeadingPairs>
  <TitlesOfParts>
    <vt:vector size="1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Client Onboarding and Implementation Playbook</dc:title>
  <dc:subject>How Markedge takes a new corporate customer from kickoff to an operating PeopleOS tenant, stage by stage, on the real screens.</dc:subject>
  <dc:creator>Markedge PeopleOS training</dc:creator>
  <cp:lastModifiedBy>Markedge PeopleOS training</cp:lastModifiedBy>
  <cp:revision>1</cp:revision>
  <dcterms:created xsi:type="dcterms:W3CDTF">2026-10-21T10:25:20Z</dcterms:created>
  <dcterms:modified xsi:type="dcterms:W3CDTF">2026-10-21T10:25:20Z</dcterms:modified>
</cp:coreProperties>
</file>